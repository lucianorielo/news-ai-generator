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6" r:id="rId2"/>
    <p:sldId id="257" r:id="rId3"/>
    <p:sldId id="258" r:id="rId4"/>
    <p:sldId id="259" r:id="rId5"/>
    <p:sldId id="268" r:id="rId6"/>
    <p:sldId id="269" r:id="rId7"/>
    <p:sldId id="261" r:id="rId8"/>
    <p:sldId id="270" r:id="rId9"/>
    <p:sldId id="271" r:id="rId10"/>
    <p:sldId id="272" r:id="rId11"/>
    <p:sldId id="275" r:id="rId12"/>
    <p:sldId id="27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562" autoAdjust="0"/>
  </p:normalViewPr>
  <p:slideViewPr>
    <p:cSldViewPr snapToGrid="0" snapToObjects="1">
      <p:cViewPr varScale="1">
        <p:scale>
          <a:sx n="126" d="100"/>
          <a:sy n="126" d="100"/>
        </p:scale>
        <p:origin x="161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298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1145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s-ES" b="0" i="0" dirty="0">
              <a:solidFill>
                <a:srgbClr val="BFBFBF"/>
              </a:solidFill>
              <a:effectLst/>
              <a:latin typeface="-apple-system"/>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s-ES" b="0" i="0" dirty="0">
                <a:solidFill>
                  <a:srgbClr val="BFBFBF"/>
                </a:solidFill>
                <a:effectLst/>
                <a:latin typeface="-apple-system"/>
              </a:rPr>
              <a:t>Evalúo en tres capas: cada una cubre algo que las otras no ven.</a:t>
            </a:r>
          </a:p>
          <a:p>
            <a:pPr algn="l"/>
            <a:r>
              <a:rPr lang="es-ES" b="0" i="0" dirty="0">
                <a:solidFill>
                  <a:srgbClr val="BFBFBF"/>
                </a:solidFill>
                <a:effectLst/>
                <a:latin typeface="-apple-system"/>
              </a:rPr>
              <a:t>- La capa </a:t>
            </a:r>
            <a:r>
              <a:rPr lang="es-ES" b="1" i="0" dirty="0">
                <a:solidFill>
                  <a:srgbClr val="BFBFBF"/>
                </a:solidFill>
                <a:effectLst/>
                <a:latin typeface="-apple-system"/>
              </a:rPr>
              <a:t>textual</a:t>
            </a:r>
            <a:r>
              <a:rPr lang="es-ES" b="0" i="0" dirty="0">
                <a:solidFill>
                  <a:srgbClr val="BFBFBF"/>
                </a:solidFill>
                <a:effectLst/>
                <a:latin typeface="-apple-system"/>
              </a:rPr>
              <a:t>, con ROUGE-L, mide solapamiento de la </a:t>
            </a:r>
            <a:r>
              <a:rPr lang="es-ES" b="0" i="0" dirty="0" err="1">
                <a:solidFill>
                  <a:srgbClr val="BFBFBF"/>
                </a:solidFill>
                <a:effectLst/>
                <a:latin typeface="-apple-system"/>
              </a:rPr>
              <a:t>narritiva</a:t>
            </a:r>
            <a:r>
              <a:rPr lang="es-ES" b="0" i="0" dirty="0">
                <a:solidFill>
                  <a:srgbClr val="BFBFBF"/>
                </a:solidFill>
                <a:effectLst/>
                <a:latin typeface="-apple-system"/>
              </a:rPr>
              <a:t> generada, con la noticia real de ese día. Es la más conservadora, si el modelo dice lo mismo con otras palabras, ROUGE baja. Por eso lo trato como piso, no como criterio principal.</a:t>
            </a:r>
          </a:p>
          <a:p>
            <a:pPr algn="l"/>
            <a:r>
              <a:rPr lang="es-ES" b="0" i="0" dirty="0">
                <a:solidFill>
                  <a:srgbClr val="BFBFBF"/>
                </a:solidFill>
                <a:effectLst/>
                <a:latin typeface="-apple-system"/>
              </a:rPr>
              <a:t>- La capa </a:t>
            </a:r>
            <a:r>
              <a:rPr lang="es-ES" b="1" i="0" dirty="0">
                <a:solidFill>
                  <a:srgbClr val="BFBFBF"/>
                </a:solidFill>
                <a:effectLst/>
                <a:latin typeface="-apple-system"/>
              </a:rPr>
              <a:t>semántica</a:t>
            </a:r>
            <a:r>
              <a:rPr lang="es-ES" b="0" i="0" dirty="0">
                <a:solidFill>
                  <a:srgbClr val="BFBFBF"/>
                </a:solidFill>
                <a:effectLst/>
                <a:latin typeface="-apple-system"/>
              </a:rPr>
              <a:t> cubre esa limitación. </a:t>
            </a:r>
            <a:r>
              <a:rPr lang="es-ES" b="0" i="0" dirty="0" err="1">
                <a:solidFill>
                  <a:srgbClr val="BFBFBF"/>
                </a:solidFill>
                <a:effectLst/>
                <a:latin typeface="-apple-system"/>
              </a:rPr>
              <a:t>BERTScore</a:t>
            </a:r>
            <a:r>
              <a:rPr lang="es-ES" b="0" i="0" dirty="0">
                <a:solidFill>
                  <a:srgbClr val="BFBFBF"/>
                </a:solidFill>
                <a:effectLst/>
                <a:latin typeface="-apple-system"/>
              </a:rPr>
              <a:t> compara por </a:t>
            </a:r>
            <a:r>
              <a:rPr lang="es-ES" b="0" i="0" dirty="0" err="1">
                <a:solidFill>
                  <a:srgbClr val="BFBFBF"/>
                </a:solidFill>
                <a:effectLst/>
                <a:latin typeface="-apple-system"/>
              </a:rPr>
              <a:t>embeddings</a:t>
            </a:r>
            <a:r>
              <a:rPr lang="es-ES" b="0" i="0" dirty="0">
                <a:solidFill>
                  <a:srgbClr val="BFBFBF"/>
                </a:solidFill>
                <a:effectLst/>
                <a:latin typeface="-apple-system"/>
              </a:rPr>
              <a:t> y capta similitud cuando cambian las palabras pero el sentido se mantiene. Y </a:t>
            </a:r>
            <a:r>
              <a:rPr lang="es-ES" b="0" i="0" dirty="0" err="1">
                <a:solidFill>
                  <a:srgbClr val="BFBFBF"/>
                </a:solidFill>
                <a:effectLst/>
                <a:latin typeface="-apple-system"/>
              </a:rPr>
              <a:t>FinBERT</a:t>
            </a:r>
            <a:r>
              <a:rPr lang="es-ES" b="0" i="0" dirty="0">
                <a:solidFill>
                  <a:srgbClr val="BFBFBF"/>
                </a:solidFill>
                <a:effectLst/>
                <a:latin typeface="-apple-system"/>
              </a:rPr>
              <a:t> clasifica el sentimiento financiero, positivo, neutral o negativo, y me dice si el tono generado coincide con el tono real.</a:t>
            </a:r>
          </a:p>
          <a:p>
            <a:pPr algn="l"/>
            <a:r>
              <a:rPr lang="es-ES" b="0" i="0" dirty="0">
                <a:solidFill>
                  <a:srgbClr val="BFBFBF"/>
                </a:solidFill>
                <a:effectLst/>
                <a:latin typeface="-apple-system"/>
              </a:rPr>
              <a:t>- La capa </a:t>
            </a:r>
            <a:r>
              <a:rPr lang="es-ES" b="1" i="0" dirty="0">
                <a:solidFill>
                  <a:srgbClr val="BFBFBF"/>
                </a:solidFill>
                <a:effectLst/>
                <a:latin typeface="-apple-system"/>
              </a:rPr>
              <a:t>financiera</a:t>
            </a:r>
            <a:r>
              <a:rPr lang="es-ES" b="0" i="0" dirty="0">
                <a:solidFill>
                  <a:srgbClr val="BFBFBF"/>
                </a:solidFill>
                <a:effectLst/>
                <a:latin typeface="-apple-system"/>
              </a:rPr>
              <a:t> es la pregunta </a:t>
            </a:r>
            <a:r>
              <a:rPr lang="es-ES" b="0" i="0" dirty="0" err="1">
                <a:solidFill>
                  <a:srgbClr val="BFBFBF"/>
                </a:solidFill>
                <a:effectLst/>
                <a:latin typeface="-apple-system"/>
              </a:rPr>
              <a:t>downstream</a:t>
            </a:r>
            <a:r>
              <a:rPr lang="es-ES" b="0" i="0" dirty="0">
                <a:solidFill>
                  <a:srgbClr val="BFBFBF"/>
                </a:solidFill>
                <a:effectLst/>
                <a:latin typeface="-apple-system"/>
              </a:rPr>
              <a:t>: convierto el sentimiento o la dirección generada en una señal +1, -1 o 0 y la comparo con la dirección real del activo en t+1. Mide si la generación sirve para algo, más allá de parecerse al texto real.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sz="1200" b="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sz="1200" b="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hape 2"/>
          <p:cNvSpPr/>
          <p:nvPr/>
        </p:nvSpPr>
        <p:spPr>
          <a:xfrm>
            <a:off x="640080" y="1792224"/>
            <a:ext cx="3657600" cy="0"/>
          </a:xfrm>
          <a:prstGeom prst="line">
            <a:avLst/>
          </a:prstGeom>
          <a:noFill/>
          <a:ln w="9525">
            <a:solidFill>
              <a:srgbClr val="BFBFBF"/>
            </a:solidFill>
            <a:prstDash val="solid"/>
          </a:ln>
        </p:spPr>
        <p:txBody>
          <a:bodyPr/>
          <a:lstStyle/>
          <a:p>
            <a:endParaRPr lang="es-AR"/>
          </a:p>
        </p:txBody>
      </p:sp>
      <p:sp>
        <p:nvSpPr>
          <p:cNvPr id="6" name="Text 3"/>
          <p:cNvSpPr/>
          <p:nvPr/>
        </p:nvSpPr>
        <p:spPr>
          <a:xfrm>
            <a:off x="640080" y="2514600"/>
            <a:ext cx="10908792" cy="2377440"/>
          </a:xfrm>
          <a:prstGeom prst="rect">
            <a:avLst/>
          </a:prstGeom>
          <a:noFill/>
          <a:ln/>
        </p:spPr>
        <p:txBody>
          <a:bodyPr wrap="square" lIns="0" tIns="0" rIns="0" bIns="0" rtlCol="0" anchor="t"/>
          <a:lstStyle/>
          <a:p>
            <a:pPr marL="0" indent="0" algn="l">
              <a:spcAft>
                <a:spcPts val="200"/>
              </a:spcAft>
              <a:buNone/>
            </a:pPr>
            <a:r>
              <a:rPr lang="en-US" sz="4400" dirty="0">
                <a:solidFill>
                  <a:srgbClr val="FFFFFF"/>
                </a:solidFill>
                <a:latin typeface="Georgia" pitchFamily="34" charset="0"/>
                <a:ea typeface="Georgia" pitchFamily="34" charset="-122"/>
                <a:cs typeface="Georgia" pitchFamily="34" charset="-120"/>
              </a:rPr>
              <a:t>Fine-tuning de GPT-2</a:t>
            </a:r>
            <a:endParaRPr lang="en-US" sz="4400" dirty="0"/>
          </a:p>
          <a:p>
            <a:pPr marL="0" indent="0" algn="l">
              <a:spcAft>
                <a:spcPts val="200"/>
              </a:spcAft>
              <a:buNone/>
            </a:pPr>
            <a:r>
              <a:rPr lang="en-US" sz="4400" dirty="0">
                <a:solidFill>
                  <a:srgbClr val="FFFFFF"/>
                </a:solidFill>
                <a:latin typeface="Georgia" pitchFamily="34" charset="0"/>
                <a:ea typeface="Georgia" pitchFamily="34" charset="-122"/>
                <a:cs typeface="Georgia" pitchFamily="34" charset="-120"/>
              </a:rPr>
              <a:t>para generación de narrativas</a:t>
            </a:r>
            <a:endParaRPr lang="en-US" sz="4400" dirty="0"/>
          </a:p>
          <a:p>
            <a:pPr marL="0" indent="0" algn="l">
              <a:spcAft>
                <a:spcPts val="200"/>
              </a:spcAft>
              <a:buNone/>
            </a:pPr>
            <a:r>
              <a:rPr lang="en-US" sz="4400" dirty="0">
                <a:solidFill>
                  <a:srgbClr val="FFFFFF"/>
                </a:solidFill>
                <a:latin typeface="Georgia" pitchFamily="34" charset="0"/>
                <a:ea typeface="Georgia" pitchFamily="34" charset="-122"/>
                <a:cs typeface="Georgia" pitchFamily="34" charset="-120"/>
              </a:rPr>
              <a:t>financieras</a:t>
            </a:r>
            <a:endParaRPr lang="en-US" sz="4400" dirty="0"/>
          </a:p>
        </p:txBody>
      </p:sp>
      <p:sp>
        <p:nvSpPr>
          <p:cNvPr id="7" name="Text 4"/>
          <p:cNvSpPr/>
          <p:nvPr/>
        </p:nvSpPr>
        <p:spPr>
          <a:xfrm>
            <a:off x="640080" y="5212080"/>
            <a:ext cx="8229600" cy="1097280"/>
          </a:xfrm>
          <a:prstGeom prst="rect">
            <a:avLst/>
          </a:prstGeom>
          <a:noFill/>
          <a:ln/>
        </p:spPr>
        <p:txBody>
          <a:bodyPr wrap="square" lIns="0" tIns="0" rIns="0" bIns="0" rtlCol="0" anchor="t"/>
          <a:lstStyle/>
          <a:p>
            <a:pPr marL="0" indent="0" algn="l">
              <a:buNone/>
            </a:pPr>
            <a:r>
              <a:rPr lang="en-US" sz="1300" dirty="0">
                <a:solidFill>
                  <a:srgbClr val="BFBFBF"/>
                </a:solidFill>
                <a:latin typeface="Calibri" pitchFamily="34" charset="0"/>
                <a:ea typeface="Calibri" pitchFamily="34" charset="-122"/>
                <a:cs typeface="Calibri" pitchFamily="34" charset="-120"/>
              </a:rPr>
              <a:t>Un pipeline de NLP generativo aplicado a finanzas: dado un contexto financiero previo, adaptamos un modelo de lenguaje causal para producir la narrativa del día siguiente y la evaluamos de forma crítica.</a:t>
            </a:r>
            <a:endParaRPr lang="en-US" sz="1300" dirty="0"/>
          </a:p>
        </p:txBody>
      </p:sp>
      <p:sp>
        <p:nvSpPr>
          <p:cNvPr id="8" name="Text 7">
            <a:extLst>
              <a:ext uri="{FF2B5EF4-FFF2-40B4-BE49-F238E27FC236}">
                <a16:creationId xmlns:a16="http://schemas.microsoft.com/office/drawing/2014/main" id="{D5F1878D-66BF-D41B-2432-D7943F80AF58}"/>
              </a:ext>
            </a:extLst>
          </p:cNvPr>
          <p:cNvSpPr/>
          <p:nvPr/>
        </p:nvSpPr>
        <p:spPr>
          <a:xfrm>
            <a:off x="640080" y="624380"/>
            <a:ext cx="7772400" cy="795528"/>
          </a:xfrm>
          <a:prstGeom prst="rect">
            <a:avLst/>
          </a:prstGeom>
          <a:noFill/>
          <a:ln/>
        </p:spPr>
        <p:txBody>
          <a:bodyPr wrap="square" lIns="0" tIns="0" rIns="0" bIns="0" rtlCol="0" anchor="ctr"/>
          <a:lstStyle/>
          <a:p>
            <a:pPr marL="0" indent="0">
              <a:buNone/>
            </a:pPr>
            <a:r>
              <a:rPr lang="en-US" sz="1050" b="1" kern="0" spc="200" dirty="0">
                <a:solidFill>
                  <a:schemeClr val="bg1">
                    <a:lumMod val="75000"/>
                  </a:schemeClr>
                </a:solidFill>
                <a:latin typeface="Calibri" pitchFamily="34" charset="0"/>
                <a:ea typeface="Calibri" pitchFamily="34" charset="-122"/>
                <a:cs typeface="Calibri" pitchFamily="34" charset="-120"/>
              </a:rPr>
              <a:t>PROCESAMIENTO DE LENGUAJE NATURAL</a:t>
            </a:r>
          </a:p>
          <a:p>
            <a:pPr marL="0" indent="0">
              <a:buNone/>
            </a:pPr>
            <a:endParaRPr lang="en-US" sz="1050" b="1" kern="0" spc="200" dirty="0">
              <a:solidFill>
                <a:schemeClr val="bg1">
                  <a:lumMod val="75000"/>
                </a:schemeClr>
              </a:solidFill>
              <a:latin typeface="Calibri" pitchFamily="34" charset="0"/>
              <a:ea typeface="Calibri" pitchFamily="34" charset="-122"/>
              <a:cs typeface="Calibri" pitchFamily="34" charset="-120"/>
            </a:endParaRPr>
          </a:p>
          <a:p>
            <a:pPr marL="0" indent="0">
              <a:buNone/>
            </a:pPr>
            <a:r>
              <a:rPr lang="en-US" sz="1050" b="1" kern="0" spc="200" dirty="0">
                <a:solidFill>
                  <a:schemeClr val="bg1">
                    <a:lumMod val="75000"/>
                  </a:schemeClr>
                </a:solidFill>
                <a:latin typeface="Calibri" pitchFamily="34" charset="0"/>
                <a:ea typeface="Calibri" pitchFamily="34" charset="-122"/>
                <a:cs typeface="Calibri" pitchFamily="34" charset="-120"/>
              </a:rPr>
              <a:t>Universidad de San Andres - Luciano Rielo</a:t>
            </a:r>
            <a:endParaRPr lang="en-US" sz="1050" dirty="0">
              <a:solidFill>
                <a:schemeClr val="bg1">
                  <a:lumMod val="75000"/>
                </a:schemeClr>
              </a:solidFill>
            </a:endParaRPr>
          </a:p>
        </p:txBody>
      </p:sp>
    </p:spTree>
    <p:extLst>
      <p:ext uri="{BB962C8B-B14F-4D97-AF65-F5344CB8AC3E}">
        <p14:creationId xmlns:p14="http://schemas.microsoft.com/office/powerpoint/2010/main" val="696192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854964"/>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Capas</a:t>
            </a:r>
            <a:r>
              <a:rPr lang="en-US" sz="2800" b="1" dirty="0">
                <a:solidFill>
                  <a:srgbClr val="23304A"/>
                </a:solidFill>
                <a:latin typeface="Arial" panose="020B0604020202020204" pitchFamily="34" charset="0"/>
                <a:ea typeface="Georgia" pitchFamily="34" charset="-122"/>
                <a:cs typeface="Arial" panose="020B0604020202020204" pitchFamily="34" charset="0"/>
              </a:rPr>
              <a:t> de </a:t>
            </a:r>
            <a:r>
              <a:rPr lang="en-US" sz="2800" b="1" dirty="0" err="1">
                <a:solidFill>
                  <a:srgbClr val="23304A"/>
                </a:solidFill>
                <a:latin typeface="Arial" panose="020B0604020202020204" pitchFamily="34" charset="0"/>
                <a:ea typeface="Georgia" pitchFamily="34" charset="-122"/>
                <a:cs typeface="Arial" panose="020B0604020202020204" pitchFamily="34" charset="0"/>
              </a:rPr>
              <a:t>análisis</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02</a:t>
            </a:r>
            <a:endParaRPr lang="en-US" sz="1500" dirty="0">
              <a:latin typeface="Arial" panose="020B0604020202020204" pitchFamily="34" charset="0"/>
              <a:cs typeface="Arial" panose="020B0604020202020204" pitchFamily="34" charset="0"/>
            </a:endParaRPr>
          </a:p>
        </p:txBody>
      </p:sp>
      <p:sp>
        <p:nvSpPr>
          <p:cNvPr id="6" name="Shape 4"/>
          <p:cNvSpPr/>
          <p:nvPr/>
        </p:nvSpPr>
        <p:spPr>
          <a:xfrm>
            <a:off x="64008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8" name="Shape 6"/>
          <p:cNvSpPr/>
          <p:nvPr/>
        </p:nvSpPr>
        <p:spPr>
          <a:xfrm>
            <a:off x="914400" y="2350008"/>
            <a:ext cx="566928" cy="566928"/>
          </a:xfrm>
          <a:prstGeom prst="ellipse">
            <a:avLst/>
          </a:prstGeom>
          <a:solidFill>
            <a:schemeClr val="tx2">
              <a:lumMod val="75000"/>
            </a:schemeClr>
          </a:solidFill>
          <a:ln w="12700">
            <a:solidFill>
              <a:srgbClr val="333333"/>
            </a:solidFill>
            <a:prstDash val="solid"/>
          </a:ln>
        </p:spPr>
        <p:txBody>
          <a:bodyPr/>
          <a:lstStyle/>
          <a:p>
            <a:endParaRPr lang="es-AR"/>
          </a:p>
        </p:txBody>
      </p:sp>
      <p:sp>
        <p:nvSpPr>
          <p:cNvPr id="9" name="Text 7"/>
          <p:cNvSpPr/>
          <p:nvPr/>
        </p:nvSpPr>
        <p:spPr>
          <a:xfrm>
            <a:off x="914400" y="235000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1</a:t>
            </a:r>
            <a:endParaRPr lang="en-US" sz="2200" dirty="0">
              <a:latin typeface="Arial" panose="020B0604020202020204" pitchFamily="34" charset="0"/>
              <a:cs typeface="Arial" panose="020B0604020202020204" pitchFamily="34" charset="0"/>
            </a:endParaRPr>
          </a:p>
        </p:txBody>
      </p:sp>
      <p:pic>
        <p:nvPicPr>
          <p:cNvPr id="10" name="Image 0" descr="icon_text.png"/>
          <p:cNvPicPr>
            <a:picLocks noChangeAspect="1"/>
          </p:cNvPicPr>
          <p:nvPr/>
        </p:nvPicPr>
        <p:blipFill>
          <a:blip r:embed="rId3"/>
          <a:stretch>
            <a:fillRect/>
          </a:stretch>
        </p:blipFill>
        <p:spPr>
          <a:xfrm>
            <a:off x="3383280" y="2368296"/>
            <a:ext cx="384048" cy="384048"/>
          </a:xfrm>
          <a:prstGeom prst="rect">
            <a:avLst/>
          </a:prstGeom>
        </p:spPr>
      </p:pic>
      <p:sp>
        <p:nvSpPr>
          <p:cNvPr id="11" name="Text 8"/>
          <p:cNvSpPr/>
          <p:nvPr/>
        </p:nvSpPr>
        <p:spPr>
          <a:xfrm>
            <a:off x="91440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Calidad textual</a:t>
            </a:r>
            <a:endParaRPr lang="en-US" sz="1500" dirty="0">
              <a:latin typeface="Arial" panose="020B0604020202020204" pitchFamily="34" charset="0"/>
              <a:cs typeface="Arial" panose="020B0604020202020204" pitchFamily="34" charset="0"/>
            </a:endParaRPr>
          </a:p>
        </p:txBody>
      </p:sp>
      <p:sp>
        <p:nvSpPr>
          <p:cNvPr id="12" name="Text 9"/>
          <p:cNvSpPr/>
          <p:nvPr/>
        </p:nvSpPr>
        <p:spPr>
          <a:xfrm>
            <a:off x="91440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¿Puede GPT-2 generar texto financiero plausible? ¿El fine-tuning mejora frente al modelo base?</a:t>
            </a:r>
            <a:endParaRPr lang="en-US" sz="1100" dirty="0">
              <a:latin typeface="Arial" panose="020B0604020202020204" pitchFamily="34" charset="0"/>
              <a:cs typeface="Arial" panose="020B0604020202020204" pitchFamily="34" charset="0"/>
            </a:endParaRPr>
          </a:p>
        </p:txBody>
      </p:sp>
      <p:sp>
        <p:nvSpPr>
          <p:cNvPr id="13" name="Shape 10"/>
          <p:cNvSpPr/>
          <p:nvPr/>
        </p:nvSpPr>
        <p:spPr>
          <a:xfrm>
            <a:off x="434340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15" name="Shape 12"/>
          <p:cNvSpPr/>
          <p:nvPr/>
        </p:nvSpPr>
        <p:spPr>
          <a:xfrm>
            <a:off x="4617720" y="2350008"/>
            <a:ext cx="566928" cy="566928"/>
          </a:xfrm>
          <a:prstGeom prst="ellipse">
            <a:avLst/>
          </a:prstGeom>
          <a:solidFill>
            <a:srgbClr val="2A7F8C"/>
          </a:solidFill>
          <a:ln w="12700">
            <a:solidFill>
              <a:srgbClr val="333333"/>
            </a:solidFill>
            <a:prstDash val="solid"/>
          </a:ln>
        </p:spPr>
        <p:txBody>
          <a:bodyPr/>
          <a:lstStyle/>
          <a:p>
            <a:endParaRPr lang="es-AR"/>
          </a:p>
        </p:txBody>
      </p:sp>
      <p:sp>
        <p:nvSpPr>
          <p:cNvPr id="16" name="Text 13"/>
          <p:cNvSpPr/>
          <p:nvPr/>
        </p:nvSpPr>
        <p:spPr>
          <a:xfrm>
            <a:off x="4617720" y="235000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2</a:t>
            </a:r>
            <a:endParaRPr lang="en-US" sz="2200" dirty="0">
              <a:latin typeface="Arial" panose="020B0604020202020204" pitchFamily="34" charset="0"/>
              <a:cs typeface="Arial" panose="020B0604020202020204" pitchFamily="34" charset="0"/>
            </a:endParaRPr>
          </a:p>
        </p:txBody>
      </p:sp>
      <p:pic>
        <p:nvPicPr>
          <p:cNvPr id="17" name="Image 1" descr="icon_balance.png"/>
          <p:cNvPicPr>
            <a:picLocks noChangeAspect="1"/>
          </p:cNvPicPr>
          <p:nvPr/>
        </p:nvPicPr>
        <p:blipFill>
          <a:blip r:embed="rId4"/>
          <a:stretch>
            <a:fillRect/>
          </a:stretch>
        </p:blipFill>
        <p:spPr>
          <a:xfrm>
            <a:off x="7086600" y="2368296"/>
            <a:ext cx="384048" cy="384048"/>
          </a:xfrm>
          <a:prstGeom prst="rect">
            <a:avLst/>
          </a:prstGeom>
        </p:spPr>
      </p:pic>
      <p:sp>
        <p:nvSpPr>
          <p:cNvPr id="18" name="Text 14"/>
          <p:cNvSpPr/>
          <p:nvPr/>
        </p:nvSpPr>
        <p:spPr>
          <a:xfrm>
            <a:off x="461772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Alineación semántica</a:t>
            </a:r>
            <a:endParaRPr lang="en-US" sz="1500" dirty="0">
              <a:latin typeface="Arial" panose="020B0604020202020204" pitchFamily="34" charset="0"/>
              <a:cs typeface="Arial" panose="020B0604020202020204" pitchFamily="34" charset="0"/>
            </a:endParaRPr>
          </a:p>
        </p:txBody>
      </p:sp>
      <p:sp>
        <p:nvSpPr>
          <p:cNvPr id="19" name="Text 15"/>
          <p:cNvSpPr/>
          <p:nvPr/>
        </p:nvSpPr>
        <p:spPr>
          <a:xfrm>
            <a:off x="461772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¿La narrativa generada mantiene un tono y un sentimiento coherentes con la noticia real?</a:t>
            </a:r>
            <a:endParaRPr lang="en-US" sz="1100" dirty="0">
              <a:latin typeface="Arial" panose="020B0604020202020204" pitchFamily="34" charset="0"/>
              <a:cs typeface="Arial" panose="020B0604020202020204" pitchFamily="34" charset="0"/>
            </a:endParaRPr>
          </a:p>
        </p:txBody>
      </p:sp>
      <p:sp>
        <p:nvSpPr>
          <p:cNvPr id="20" name="Shape 16"/>
          <p:cNvSpPr/>
          <p:nvPr/>
        </p:nvSpPr>
        <p:spPr>
          <a:xfrm>
            <a:off x="804672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22" name="Shape 18"/>
          <p:cNvSpPr/>
          <p:nvPr/>
        </p:nvSpPr>
        <p:spPr>
          <a:xfrm>
            <a:off x="8321040" y="2350008"/>
            <a:ext cx="566928" cy="566928"/>
          </a:xfrm>
          <a:prstGeom prst="ellipse">
            <a:avLst/>
          </a:prstGeom>
          <a:solidFill>
            <a:schemeClr val="tx2">
              <a:lumMod val="40000"/>
              <a:lumOff val="60000"/>
            </a:schemeClr>
          </a:solidFill>
          <a:ln w="12700">
            <a:solidFill>
              <a:srgbClr val="333333"/>
            </a:solidFill>
            <a:prstDash val="solid"/>
          </a:ln>
        </p:spPr>
        <p:txBody>
          <a:bodyPr/>
          <a:lstStyle/>
          <a:p>
            <a:endParaRPr lang="es-AR"/>
          </a:p>
        </p:txBody>
      </p:sp>
      <p:sp>
        <p:nvSpPr>
          <p:cNvPr id="23" name="Text 19"/>
          <p:cNvSpPr/>
          <p:nvPr/>
        </p:nvSpPr>
        <p:spPr>
          <a:xfrm>
            <a:off x="8323823" y="23474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3</a:t>
            </a:r>
            <a:endParaRPr lang="en-US" sz="2200" dirty="0">
              <a:latin typeface="Arial" panose="020B0604020202020204" pitchFamily="34" charset="0"/>
              <a:cs typeface="Arial" panose="020B0604020202020204" pitchFamily="34" charset="0"/>
            </a:endParaRPr>
          </a:p>
        </p:txBody>
      </p:sp>
      <p:pic>
        <p:nvPicPr>
          <p:cNvPr id="24" name="Image 2" descr="icon_chart.png"/>
          <p:cNvPicPr>
            <a:picLocks noChangeAspect="1"/>
          </p:cNvPicPr>
          <p:nvPr/>
        </p:nvPicPr>
        <p:blipFill>
          <a:blip r:embed="rId5"/>
          <a:stretch>
            <a:fillRect/>
          </a:stretch>
        </p:blipFill>
        <p:spPr>
          <a:xfrm>
            <a:off x="10789920" y="2368296"/>
            <a:ext cx="384048" cy="384048"/>
          </a:xfrm>
          <a:prstGeom prst="rect">
            <a:avLst/>
          </a:prstGeom>
        </p:spPr>
      </p:pic>
      <p:sp>
        <p:nvSpPr>
          <p:cNvPr id="25" name="Text 20"/>
          <p:cNvSpPr/>
          <p:nvPr/>
        </p:nvSpPr>
        <p:spPr>
          <a:xfrm>
            <a:off x="832104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Utilidad downstream</a:t>
            </a:r>
            <a:endParaRPr lang="en-US" sz="1500" dirty="0">
              <a:latin typeface="Arial" panose="020B0604020202020204" pitchFamily="34" charset="0"/>
              <a:cs typeface="Arial" panose="020B0604020202020204" pitchFamily="34" charset="0"/>
            </a:endParaRPr>
          </a:p>
        </p:txBody>
      </p:sp>
      <p:sp>
        <p:nvSpPr>
          <p:cNvPr id="26" name="Text 21"/>
          <p:cNvSpPr/>
          <p:nvPr/>
        </p:nvSpPr>
        <p:spPr>
          <a:xfrm>
            <a:off x="832104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¿La señal que aparece en la narrativa se relaciona con la dirección real del activo?</a:t>
            </a:r>
            <a:endParaRPr lang="en-US" sz="1100" dirty="0">
              <a:latin typeface="Arial" panose="020B0604020202020204" pitchFamily="34" charset="0"/>
              <a:cs typeface="Arial" panose="020B0604020202020204" pitchFamily="34" charset="0"/>
            </a:endParaRPr>
          </a:p>
        </p:txBody>
      </p:sp>
      <p:sp>
        <p:nvSpPr>
          <p:cNvPr id="32" name="Text 7">
            <a:extLst>
              <a:ext uri="{FF2B5EF4-FFF2-40B4-BE49-F238E27FC236}">
                <a16:creationId xmlns:a16="http://schemas.microsoft.com/office/drawing/2014/main" id="{D8980A2B-3426-6159-48E5-1951E46DF5AE}"/>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
        <p:nvSpPr>
          <p:cNvPr id="2" name="Shape 19">
            <a:extLst>
              <a:ext uri="{FF2B5EF4-FFF2-40B4-BE49-F238E27FC236}">
                <a16:creationId xmlns:a16="http://schemas.microsoft.com/office/drawing/2014/main" id="{2F6BC30A-B1BB-606A-1986-97447C031CAF}"/>
              </a:ext>
            </a:extLst>
          </p:cNvPr>
          <p:cNvSpPr/>
          <p:nvPr/>
        </p:nvSpPr>
        <p:spPr>
          <a:xfrm>
            <a:off x="642823" y="4786884"/>
            <a:ext cx="10908792" cy="868680"/>
          </a:xfrm>
          <a:prstGeom prst="rect">
            <a:avLst/>
          </a:prstGeom>
          <a:solidFill>
            <a:srgbClr val="EDEDED"/>
          </a:solidFill>
          <a:ln w="6350">
            <a:solidFill>
              <a:srgbClr val="E0E0E0"/>
            </a:solidFill>
            <a:prstDash val="solid"/>
          </a:ln>
        </p:spPr>
        <p:txBody>
          <a:bodyPr/>
          <a:lstStyle/>
          <a:p>
            <a:endParaRPr lang="es-AR"/>
          </a:p>
        </p:txBody>
      </p:sp>
      <p:sp>
        <p:nvSpPr>
          <p:cNvPr id="7" name="Text 20">
            <a:extLst>
              <a:ext uri="{FF2B5EF4-FFF2-40B4-BE49-F238E27FC236}">
                <a16:creationId xmlns:a16="http://schemas.microsoft.com/office/drawing/2014/main" id="{E6274983-B488-E2DC-D85A-A3A46EC42BA6}"/>
              </a:ext>
            </a:extLst>
          </p:cNvPr>
          <p:cNvSpPr/>
          <p:nvPr/>
        </p:nvSpPr>
        <p:spPr>
          <a:xfrm>
            <a:off x="917143" y="4878324"/>
            <a:ext cx="10360152" cy="685800"/>
          </a:xfrm>
          <a:prstGeom prst="rect">
            <a:avLst/>
          </a:prstGeom>
          <a:noFill/>
          <a:ln/>
        </p:spPr>
        <p:txBody>
          <a:bodyPr wrap="square" lIns="0" tIns="0" rIns="0" bIns="0" rtlCol="0" anchor="ctr"/>
          <a:lstStyle/>
          <a:p>
            <a:pPr marL="0" indent="0" algn="l">
              <a:buNone/>
            </a:pPr>
            <a:r>
              <a:rPr lang="en-US" sz="1100" b="1" i="1" dirty="0">
                <a:solidFill>
                  <a:srgbClr val="111111"/>
                </a:solidFill>
                <a:latin typeface="Georgia" pitchFamily="34" charset="0"/>
                <a:ea typeface="Georgia" pitchFamily="34" charset="-122"/>
                <a:cs typeface="Georgia" pitchFamily="34" charset="-120"/>
              </a:rPr>
              <a:t>Idea central.   </a:t>
            </a:r>
            <a:r>
              <a:rPr lang="en-US" sz="1100" dirty="0">
                <a:solidFill>
                  <a:srgbClr val="333333"/>
                </a:solidFill>
                <a:latin typeface="Calibri" pitchFamily="34" charset="0"/>
                <a:ea typeface="Calibri" pitchFamily="34" charset="-122"/>
                <a:cs typeface="Calibri" pitchFamily="34" charset="-120"/>
              </a:rPr>
              <a:t>Una respuesta puede ser positiva en una capa y negativa en otra. Un texto puede sonar financiero sin tener el sentimiento correcto, o acertar una dirección por sesgo de datos generando una narrativa pobre.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488608"/>
            <a:ext cx="10863072"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Conceptos de NLP utilizados</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03</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350927"/>
            <a:ext cx="10881360" cy="365760"/>
          </a:xfrm>
          <a:prstGeom prst="rect">
            <a:avLst/>
          </a:prstGeom>
          <a:noFill/>
          <a:ln/>
        </p:spPr>
        <p:txBody>
          <a:bodyPr wrap="square" lIns="0" tIns="0" rIns="0" bIns="0" rtlCol="0" anchor="ctr"/>
          <a:lstStyle/>
          <a:p>
            <a:pPr marL="0" indent="0">
              <a:buNone/>
            </a:pPr>
            <a:r>
              <a:rPr lang="en-US" sz="1250" dirty="0">
                <a:solidFill>
                  <a:srgbClr val="667085"/>
                </a:solidFill>
                <a:latin typeface="Arial" panose="020B0604020202020204" pitchFamily="34" charset="0"/>
                <a:ea typeface="Calibri" pitchFamily="34" charset="-122"/>
                <a:cs typeface="Arial" panose="020B0604020202020204" pitchFamily="34" charset="0"/>
              </a:rPr>
              <a:t>Partimos de GPT-2 preentrenado y lo adaptamos al dominio financiero. El entrenamiento sigue siendo modelado de lenguaje causal.</a:t>
            </a:r>
            <a:endParaRPr lang="en-US" sz="1250" dirty="0">
              <a:latin typeface="Arial" panose="020B0604020202020204" pitchFamily="34" charset="0"/>
              <a:cs typeface="Arial" panose="020B0604020202020204" pitchFamily="34" charset="0"/>
            </a:endParaRPr>
          </a:p>
        </p:txBody>
      </p:sp>
      <p:sp>
        <p:nvSpPr>
          <p:cNvPr id="6" name="Shape 4"/>
          <p:cNvSpPr/>
          <p:nvPr/>
        </p:nvSpPr>
        <p:spPr>
          <a:xfrm>
            <a:off x="64008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8" name="Image 0" descr="icon_exchange.png"/>
          <p:cNvPicPr>
            <a:picLocks noChangeAspect="1"/>
          </p:cNvPicPr>
          <p:nvPr/>
        </p:nvPicPr>
        <p:blipFill>
          <a:blip r:embed="rId3"/>
          <a:stretch>
            <a:fillRect/>
          </a:stretch>
        </p:blipFill>
        <p:spPr>
          <a:xfrm>
            <a:off x="841248" y="2258568"/>
            <a:ext cx="310896" cy="310896"/>
          </a:xfrm>
          <a:prstGeom prst="rect">
            <a:avLst/>
          </a:prstGeom>
        </p:spPr>
      </p:pic>
      <p:sp>
        <p:nvSpPr>
          <p:cNvPr id="9" name="Text 6"/>
          <p:cNvSpPr/>
          <p:nvPr/>
        </p:nvSpPr>
        <p:spPr>
          <a:xfrm>
            <a:off x="124358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Transfer learning</a:t>
            </a:r>
            <a:endParaRPr lang="en-US" sz="1350" dirty="0">
              <a:latin typeface="Arial" panose="020B0604020202020204" pitchFamily="34" charset="0"/>
              <a:cs typeface="Arial" panose="020B0604020202020204" pitchFamily="34" charset="0"/>
            </a:endParaRPr>
          </a:p>
        </p:txBody>
      </p:sp>
      <p:sp>
        <p:nvSpPr>
          <p:cNvPr id="10" name="Text 7"/>
          <p:cNvSpPr/>
          <p:nvPr/>
        </p:nvSpPr>
        <p:spPr>
          <a:xfrm>
            <a:off x="85953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Reutilizamos el conocimiento general del lenguaje aprendido en preentrenamiento.</a:t>
            </a:r>
            <a:endParaRPr lang="en-US" sz="1080" dirty="0">
              <a:latin typeface="Arial" panose="020B0604020202020204" pitchFamily="34" charset="0"/>
              <a:cs typeface="Arial" panose="020B0604020202020204" pitchFamily="34" charset="0"/>
            </a:endParaRPr>
          </a:p>
        </p:txBody>
      </p:sp>
      <p:sp>
        <p:nvSpPr>
          <p:cNvPr id="11" name="Shape 8"/>
          <p:cNvSpPr/>
          <p:nvPr/>
        </p:nvSpPr>
        <p:spPr>
          <a:xfrm>
            <a:off x="434340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3" name="Image 1" descr="icon_brain.png"/>
          <p:cNvPicPr>
            <a:picLocks noChangeAspect="1"/>
          </p:cNvPicPr>
          <p:nvPr/>
        </p:nvPicPr>
        <p:blipFill>
          <a:blip r:embed="rId4"/>
          <a:stretch>
            <a:fillRect/>
          </a:stretch>
        </p:blipFill>
        <p:spPr>
          <a:xfrm>
            <a:off x="4544568" y="2258568"/>
            <a:ext cx="310896" cy="310896"/>
          </a:xfrm>
          <a:prstGeom prst="rect">
            <a:avLst/>
          </a:prstGeom>
        </p:spPr>
      </p:pic>
      <p:sp>
        <p:nvSpPr>
          <p:cNvPr id="14" name="Text 10"/>
          <p:cNvSpPr/>
          <p:nvPr/>
        </p:nvSpPr>
        <p:spPr>
          <a:xfrm>
            <a:off x="494690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GPT-2 / LM causal</a:t>
            </a:r>
            <a:endParaRPr lang="en-US" sz="1350" dirty="0">
              <a:latin typeface="Arial" panose="020B0604020202020204" pitchFamily="34" charset="0"/>
              <a:cs typeface="Arial" panose="020B0604020202020204" pitchFamily="34" charset="0"/>
            </a:endParaRPr>
          </a:p>
        </p:txBody>
      </p:sp>
      <p:sp>
        <p:nvSpPr>
          <p:cNvPr id="15" name="Text 11"/>
          <p:cNvSpPr/>
          <p:nvPr/>
        </p:nvSpPr>
        <p:spPr>
          <a:xfrm>
            <a:off x="456285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Modelo autoregresivo: predice el siguiente token condicionado por los anteriores.</a:t>
            </a:r>
            <a:endParaRPr lang="en-US" sz="1080" dirty="0">
              <a:latin typeface="Arial" panose="020B0604020202020204" pitchFamily="34" charset="0"/>
              <a:cs typeface="Arial" panose="020B0604020202020204" pitchFamily="34" charset="0"/>
            </a:endParaRPr>
          </a:p>
        </p:txBody>
      </p:sp>
      <p:sp>
        <p:nvSpPr>
          <p:cNvPr id="16" name="Shape 12"/>
          <p:cNvSpPr/>
          <p:nvPr/>
        </p:nvSpPr>
        <p:spPr>
          <a:xfrm>
            <a:off x="804672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8" name="Image 2" descr="icon_code.png"/>
          <p:cNvPicPr>
            <a:picLocks noChangeAspect="1"/>
          </p:cNvPicPr>
          <p:nvPr/>
        </p:nvPicPr>
        <p:blipFill>
          <a:blip r:embed="rId5"/>
          <a:stretch>
            <a:fillRect/>
          </a:stretch>
        </p:blipFill>
        <p:spPr>
          <a:xfrm>
            <a:off x="8247888" y="2258568"/>
            <a:ext cx="310896" cy="310896"/>
          </a:xfrm>
          <a:prstGeom prst="rect">
            <a:avLst/>
          </a:prstGeom>
        </p:spPr>
      </p:pic>
      <p:sp>
        <p:nvSpPr>
          <p:cNvPr id="19" name="Text 14"/>
          <p:cNvSpPr/>
          <p:nvPr/>
        </p:nvSpPr>
        <p:spPr>
          <a:xfrm>
            <a:off x="865022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Tokenización subword</a:t>
            </a:r>
            <a:endParaRPr lang="en-US" sz="1350" dirty="0">
              <a:latin typeface="Arial" panose="020B0604020202020204" pitchFamily="34" charset="0"/>
              <a:cs typeface="Arial" panose="020B0604020202020204" pitchFamily="34" charset="0"/>
            </a:endParaRPr>
          </a:p>
        </p:txBody>
      </p:sp>
      <p:sp>
        <p:nvSpPr>
          <p:cNvPr id="20" name="Text 15"/>
          <p:cNvSpPr/>
          <p:nvPr/>
        </p:nvSpPr>
        <p:spPr>
          <a:xfrm>
            <a:off x="826617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El texto se divide en unidades subléxicas, no necesariamente palabras completas.</a:t>
            </a:r>
            <a:endParaRPr lang="en-US" sz="1080" dirty="0">
              <a:latin typeface="Arial" panose="020B0604020202020204" pitchFamily="34" charset="0"/>
              <a:cs typeface="Arial" panose="020B0604020202020204" pitchFamily="34" charset="0"/>
            </a:endParaRPr>
          </a:p>
        </p:txBody>
      </p:sp>
      <p:sp>
        <p:nvSpPr>
          <p:cNvPr id="21" name="Shape 16"/>
          <p:cNvSpPr/>
          <p:nvPr/>
        </p:nvSpPr>
        <p:spPr>
          <a:xfrm>
            <a:off x="64008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3" name="Image 3" descr="icon_layers.png"/>
          <p:cNvPicPr>
            <a:picLocks noChangeAspect="1"/>
          </p:cNvPicPr>
          <p:nvPr/>
        </p:nvPicPr>
        <p:blipFill>
          <a:blip r:embed="rId6"/>
          <a:stretch>
            <a:fillRect/>
          </a:stretch>
        </p:blipFill>
        <p:spPr>
          <a:xfrm>
            <a:off x="841248" y="4087368"/>
            <a:ext cx="310896" cy="310896"/>
          </a:xfrm>
          <a:prstGeom prst="rect">
            <a:avLst/>
          </a:prstGeom>
        </p:spPr>
      </p:pic>
      <p:sp>
        <p:nvSpPr>
          <p:cNvPr id="24" name="Text 18"/>
          <p:cNvSpPr/>
          <p:nvPr/>
        </p:nvSpPr>
        <p:spPr>
          <a:xfrm>
            <a:off x="124358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Embeddings contextuales</a:t>
            </a:r>
            <a:endParaRPr lang="en-US" sz="1350" dirty="0">
              <a:latin typeface="Arial" panose="020B0604020202020204" pitchFamily="34" charset="0"/>
              <a:cs typeface="Arial" panose="020B0604020202020204" pitchFamily="34" charset="0"/>
            </a:endParaRPr>
          </a:p>
        </p:txBody>
      </p:sp>
      <p:sp>
        <p:nvSpPr>
          <p:cNvPr id="25" name="Text 19"/>
          <p:cNvSpPr/>
          <p:nvPr/>
        </p:nvSpPr>
        <p:spPr>
          <a:xfrm>
            <a:off x="85953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Cada token se representa según su contexto, no de forma fija.</a:t>
            </a:r>
            <a:endParaRPr lang="en-US" sz="1080" dirty="0">
              <a:latin typeface="Arial" panose="020B0604020202020204" pitchFamily="34" charset="0"/>
              <a:cs typeface="Arial" panose="020B0604020202020204" pitchFamily="34" charset="0"/>
            </a:endParaRPr>
          </a:p>
        </p:txBody>
      </p:sp>
      <p:sp>
        <p:nvSpPr>
          <p:cNvPr id="26" name="Shape 20"/>
          <p:cNvSpPr/>
          <p:nvPr/>
        </p:nvSpPr>
        <p:spPr>
          <a:xfrm>
            <a:off x="434340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8" name="Image 4" descr="icon_sliders.png"/>
          <p:cNvPicPr>
            <a:picLocks noChangeAspect="1"/>
          </p:cNvPicPr>
          <p:nvPr/>
        </p:nvPicPr>
        <p:blipFill>
          <a:blip r:embed="rId7"/>
          <a:stretch>
            <a:fillRect/>
          </a:stretch>
        </p:blipFill>
        <p:spPr>
          <a:xfrm>
            <a:off x="4544568" y="4087368"/>
            <a:ext cx="310896" cy="310896"/>
          </a:xfrm>
          <a:prstGeom prst="rect">
            <a:avLst/>
          </a:prstGeom>
        </p:spPr>
      </p:pic>
      <p:sp>
        <p:nvSpPr>
          <p:cNvPr id="29" name="Text 22"/>
          <p:cNvSpPr/>
          <p:nvPr/>
        </p:nvSpPr>
        <p:spPr>
          <a:xfrm>
            <a:off x="494690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Fine-tuning</a:t>
            </a:r>
            <a:endParaRPr lang="en-US" sz="1350" dirty="0">
              <a:latin typeface="Arial" panose="020B0604020202020204" pitchFamily="34" charset="0"/>
              <a:cs typeface="Arial" panose="020B0604020202020204" pitchFamily="34" charset="0"/>
            </a:endParaRPr>
          </a:p>
        </p:txBody>
      </p:sp>
      <p:sp>
        <p:nvSpPr>
          <p:cNvPr id="30" name="Text 23"/>
          <p:cNvSpPr/>
          <p:nvPr/>
        </p:nvSpPr>
        <p:spPr>
          <a:xfrm>
            <a:off x="456285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Ajustamos los pesos del modelo sobre un corpus financiero específico.</a:t>
            </a:r>
            <a:endParaRPr lang="en-US" sz="1080" dirty="0">
              <a:latin typeface="Arial" panose="020B0604020202020204" pitchFamily="34" charset="0"/>
              <a:cs typeface="Arial" panose="020B0604020202020204" pitchFamily="34" charset="0"/>
            </a:endParaRPr>
          </a:p>
        </p:txBody>
      </p:sp>
      <p:sp>
        <p:nvSpPr>
          <p:cNvPr id="31" name="Shape 24"/>
          <p:cNvSpPr/>
          <p:nvPr/>
        </p:nvSpPr>
        <p:spPr>
          <a:xfrm>
            <a:off x="804672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33" name="Image 5" descr="icon_search.png"/>
          <p:cNvPicPr>
            <a:picLocks noChangeAspect="1"/>
          </p:cNvPicPr>
          <p:nvPr/>
        </p:nvPicPr>
        <p:blipFill>
          <a:blip r:embed="rId8"/>
          <a:stretch>
            <a:fillRect/>
          </a:stretch>
        </p:blipFill>
        <p:spPr>
          <a:xfrm>
            <a:off x="8247888" y="4087368"/>
            <a:ext cx="310896" cy="310896"/>
          </a:xfrm>
          <a:prstGeom prst="rect">
            <a:avLst/>
          </a:prstGeom>
        </p:spPr>
      </p:pic>
      <p:sp>
        <p:nvSpPr>
          <p:cNvPr id="34" name="Text 26"/>
          <p:cNvSpPr/>
          <p:nvPr/>
        </p:nvSpPr>
        <p:spPr>
          <a:xfrm>
            <a:off x="865022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Evaluación generativa</a:t>
            </a:r>
            <a:endParaRPr lang="en-US" sz="1350" dirty="0">
              <a:latin typeface="Arial" panose="020B0604020202020204" pitchFamily="34" charset="0"/>
              <a:cs typeface="Arial" panose="020B0604020202020204" pitchFamily="34" charset="0"/>
            </a:endParaRPr>
          </a:p>
        </p:txBody>
      </p:sp>
      <p:sp>
        <p:nvSpPr>
          <p:cNvPr id="35" name="Text 27"/>
          <p:cNvSpPr/>
          <p:nvPr/>
        </p:nvSpPr>
        <p:spPr>
          <a:xfrm>
            <a:off x="826617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La calidad de la generación requiere métricas más allá de la pérdida.</a:t>
            </a:r>
            <a:endParaRPr lang="en-US" sz="1080" dirty="0">
              <a:latin typeface="Arial" panose="020B0604020202020204" pitchFamily="34" charset="0"/>
              <a:cs typeface="Arial" panose="020B0604020202020204" pitchFamily="34" charset="0"/>
            </a:endParaRPr>
          </a:p>
        </p:txBody>
      </p:sp>
      <p:sp>
        <p:nvSpPr>
          <p:cNvPr id="37" name="Text 7">
            <a:extLst>
              <a:ext uri="{FF2B5EF4-FFF2-40B4-BE49-F238E27FC236}">
                <a16:creationId xmlns:a16="http://schemas.microsoft.com/office/drawing/2014/main" id="{7111F171-549B-0BDF-D63E-27AB2E910371}"/>
              </a:ext>
            </a:extLst>
          </p:cNvPr>
          <p:cNvSpPr/>
          <p:nvPr/>
        </p:nvSpPr>
        <p:spPr>
          <a:xfrm>
            <a:off x="3749040" y="5943202"/>
            <a:ext cx="7772400"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Pipeline</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04</a:t>
            </a:r>
            <a:endParaRPr lang="en-US" sz="1500" dirty="0">
              <a:latin typeface="Arial" panose="020B0604020202020204" pitchFamily="34" charset="0"/>
              <a:cs typeface="Arial" panose="020B0604020202020204" pitchFamily="34" charset="0"/>
            </a:endParaRPr>
          </a:p>
        </p:txBody>
      </p:sp>
      <p:sp>
        <p:nvSpPr>
          <p:cNvPr id="46" name="Shape 33"/>
          <p:cNvSpPr/>
          <p:nvPr/>
        </p:nvSpPr>
        <p:spPr>
          <a:xfrm>
            <a:off x="640080" y="4709160"/>
            <a:ext cx="10846156" cy="777240"/>
          </a:xfrm>
          <a:prstGeom prst="rect">
            <a:avLst/>
          </a:prstGeom>
          <a:solidFill>
            <a:srgbClr val="EAF1F4"/>
          </a:solidFill>
          <a:ln w="12700">
            <a:solidFill>
              <a:srgbClr val="D6DEE4"/>
            </a:solidFill>
            <a:prstDash val="solid"/>
          </a:ln>
        </p:spPr>
        <p:txBody>
          <a:bodyPr/>
          <a:lstStyle/>
          <a:p>
            <a:endParaRPr lang="es-AR"/>
          </a:p>
        </p:txBody>
      </p:sp>
      <p:sp>
        <p:nvSpPr>
          <p:cNvPr id="48" name="Text 34"/>
          <p:cNvSpPr/>
          <p:nvPr/>
        </p:nvSpPr>
        <p:spPr>
          <a:xfrm>
            <a:off x="824332" y="4709160"/>
            <a:ext cx="10661904" cy="777240"/>
          </a:xfrm>
          <a:prstGeom prst="rect">
            <a:avLst/>
          </a:prstGeom>
          <a:noFill/>
          <a:ln/>
        </p:spPr>
        <p:txBody>
          <a:bodyPr wrap="square" lIns="0" tIns="0" rIns="0" bIns="0" rtlCol="0" anchor="ctr"/>
          <a:lstStyle/>
          <a:p>
            <a:pPr marL="0" indent="0">
              <a:lnSpc>
                <a:spcPct val="112000"/>
              </a:lnSpc>
              <a:buNone/>
            </a:pPr>
            <a:r>
              <a:rPr lang="en-US" sz="1100" b="1" dirty="0">
                <a:solidFill>
                  <a:srgbClr val="2A7F8C"/>
                </a:solidFill>
                <a:latin typeface="Arial" panose="020B0604020202020204" pitchFamily="34" charset="0"/>
                <a:ea typeface="Calibri" pitchFamily="34" charset="-122"/>
                <a:cs typeface="Arial" panose="020B0604020202020204" pitchFamily="34" charset="0"/>
              </a:rPr>
              <a:t>Split temporal:  </a:t>
            </a:r>
            <a:r>
              <a:rPr lang="en-US" sz="1100" dirty="0">
                <a:solidFill>
                  <a:srgbClr val="23304A"/>
                </a:solidFill>
                <a:latin typeface="Arial" panose="020B0604020202020204" pitchFamily="34" charset="0"/>
                <a:ea typeface="Calibri" pitchFamily="34" charset="-122"/>
                <a:cs typeface="Arial" panose="020B0604020202020204" pitchFamily="34" charset="0"/>
              </a:rPr>
              <a:t>el contexto del día t nunca incluye información futura; el target es la narrativa del día t+1. La misma evaluación se aplica a todos los runs para que sean comparables.</a:t>
            </a:r>
            <a:endParaRPr lang="en-US" sz="1100" dirty="0">
              <a:latin typeface="Arial" panose="020B0604020202020204" pitchFamily="34" charset="0"/>
              <a:cs typeface="Arial" panose="020B0604020202020204" pitchFamily="34" charset="0"/>
            </a:endParaRPr>
          </a:p>
        </p:txBody>
      </p:sp>
      <p:sp>
        <p:nvSpPr>
          <p:cNvPr id="50" name="Text 7">
            <a:extLst>
              <a:ext uri="{FF2B5EF4-FFF2-40B4-BE49-F238E27FC236}">
                <a16:creationId xmlns:a16="http://schemas.microsoft.com/office/drawing/2014/main" id="{F182E096-EAE7-4076-96E0-AAE033DB3696}"/>
              </a:ext>
            </a:extLst>
          </p:cNvPr>
          <p:cNvSpPr/>
          <p:nvPr/>
        </p:nvSpPr>
        <p:spPr>
          <a:xfrm>
            <a:off x="3749040" y="5943202"/>
            <a:ext cx="7772400" cy="795528"/>
          </a:xfrm>
          <a:prstGeom prst="rect">
            <a:avLst/>
          </a:prstGeom>
          <a:noFill/>
          <a:ln/>
        </p:spPr>
        <p:txBody>
          <a:bodyPr wrap="square" lIns="0" tIns="0" rIns="0" bIns="0" rtlCol="0" anchor="ctr"/>
          <a:lstStyle/>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100" dirty="0">
              <a:solidFill>
                <a:schemeClr val="bg2">
                  <a:lumMod val="75000"/>
                </a:schemeClr>
              </a:solidFill>
              <a:latin typeface="Arial" panose="020B0604020202020204" pitchFamily="34" charset="0"/>
              <a:cs typeface="Arial" panose="020B0604020202020204" pitchFamily="34" charset="0"/>
            </a:endParaRPr>
          </a:p>
        </p:txBody>
      </p:sp>
      <p:sp>
        <p:nvSpPr>
          <p:cNvPr id="2" name="Shape 6">
            <a:extLst>
              <a:ext uri="{FF2B5EF4-FFF2-40B4-BE49-F238E27FC236}">
                <a16:creationId xmlns:a16="http://schemas.microsoft.com/office/drawing/2014/main" id="{44E6B359-4619-5CC3-D0B7-B9DBCA18C273}"/>
              </a:ext>
            </a:extLst>
          </p:cNvPr>
          <p:cNvSpPr/>
          <p:nvPr/>
        </p:nvSpPr>
        <p:spPr>
          <a:xfrm>
            <a:off x="822960" y="2788920"/>
            <a:ext cx="10543032" cy="0"/>
          </a:xfrm>
          <a:prstGeom prst="line">
            <a:avLst/>
          </a:prstGeom>
          <a:noFill/>
          <a:ln w="6350">
            <a:solidFill>
              <a:srgbClr val="BFBFBF"/>
            </a:solidFill>
            <a:prstDash val="solid"/>
          </a:ln>
        </p:spPr>
        <p:txBody>
          <a:bodyPr/>
          <a:lstStyle/>
          <a:p>
            <a:endParaRPr lang="es-AR"/>
          </a:p>
        </p:txBody>
      </p:sp>
      <p:sp>
        <p:nvSpPr>
          <p:cNvPr id="47" name="Shape 7">
            <a:extLst>
              <a:ext uri="{FF2B5EF4-FFF2-40B4-BE49-F238E27FC236}">
                <a16:creationId xmlns:a16="http://schemas.microsoft.com/office/drawing/2014/main" id="{481A209E-5FA8-B1FF-69A4-0BEFF7E0993E}"/>
              </a:ext>
            </a:extLst>
          </p:cNvPr>
          <p:cNvSpPr/>
          <p:nvPr/>
        </p:nvSpPr>
        <p:spPr>
          <a:xfrm>
            <a:off x="1549146" y="2743200"/>
            <a:ext cx="0" cy="91440"/>
          </a:xfrm>
          <a:prstGeom prst="line">
            <a:avLst/>
          </a:prstGeom>
          <a:noFill/>
          <a:ln w="12700">
            <a:solidFill>
              <a:srgbClr val="555555"/>
            </a:solidFill>
            <a:prstDash val="solid"/>
          </a:ln>
        </p:spPr>
        <p:txBody>
          <a:bodyPr/>
          <a:lstStyle/>
          <a:p>
            <a:endParaRPr lang="es-AR"/>
          </a:p>
        </p:txBody>
      </p:sp>
      <p:sp>
        <p:nvSpPr>
          <p:cNvPr id="49" name="Text 8">
            <a:extLst>
              <a:ext uri="{FF2B5EF4-FFF2-40B4-BE49-F238E27FC236}">
                <a16:creationId xmlns:a16="http://schemas.microsoft.com/office/drawing/2014/main" id="{005D101D-B863-8002-FD6B-EF24EB866320}"/>
              </a:ext>
            </a:extLst>
          </p:cNvPr>
          <p:cNvSpPr/>
          <p:nvPr/>
        </p:nvSpPr>
        <p:spPr>
          <a:xfrm>
            <a:off x="640080"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01</a:t>
            </a:r>
            <a:endParaRPr lang="en-US" sz="1100" dirty="0"/>
          </a:p>
        </p:txBody>
      </p:sp>
      <p:sp>
        <p:nvSpPr>
          <p:cNvPr id="51" name="Text 9">
            <a:extLst>
              <a:ext uri="{FF2B5EF4-FFF2-40B4-BE49-F238E27FC236}">
                <a16:creationId xmlns:a16="http://schemas.microsoft.com/office/drawing/2014/main" id="{BF1224E5-B705-5CA5-3AE4-AE666CF5F91D}"/>
              </a:ext>
            </a:extLst>
          </p:cNvPr>
          <p:cNvSpPr/>
          <p:nvPr/>
        </p:nvSpPr>
        <p:spPr>
          <a:xfrm>
            <a:off x="640080"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Datos</a:t>
            </a:r>
            <a:endParaRPr lang="en-US" sz="1600" dirty="0"/>
          </a:p>
        </p:txBody>
      </p:sp>
      <p:sp>
        <p:nvSpPr>
          <p:cNvPr id="52" name="Text 10">
            <a:extLst>
              <a:ext uri="{FF2B5EF4-FFF2-40B4-BE49-F238E27FC236}">
                <a16:creationId xmlns:a16="http://schemas.microsoft.com/office/drawing/2014/main" id="{8EBF7787-9E04-538C-2B81-E99732031068}"/>
              </a:ext>
            </a:extLst>
          </p:cNvPr>
          <p:cNvSpPr/>
          <p:nvPr/>
        </p:nvSpPr>
        <p:spPr>
          <a:xfrm>
            <a:off x="731520"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FNSPID:</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noticias + datos de mercado</a:t>
            </a:r>
            <a:endParaRPr lang="en-US" sz="1000" dirty="0"/>
          </a:p>
        </p:txBody>
      </p:sp>
      <p:sp>
        <p:nvSpPr>
          <p:cNvPr id="53" name="Shape 11">
            <a:extLst>
              <a:ext uri="{FF2B5EF4-FFF2-40B4-BE49-F238E27FC236}">
                <a16:creationId xmlns:a16="http://schemas.microsoft.com/office/drawing/2014/main" id="{279316DC-F7BC-7C98-49CB-EAD012091650}"/>
              </a:ext>
            </a:extLst>
          </p:cNvPr>
          <p:cNvSpPr/>
          <p:nvPr/>
        </p:nvSpPr>
        <p:spPr>
          <a:xfrm>
            <a:off x="3367278" y="2743200"/>
            <a:ext cx="0" cy="91440"/>
          </a:xfrm>
          <a:prstGeom prst="line">
            <a:avLst/>
          </a:prstGeom>
          <a:noFill/>
          <a:ln w="12700">
            <a:solidFill>
              <a:srgbClr val="555555"/>
            </a:solidFill>
            <a:prstDash val="solid"/>
          </a:ln>
        </p:spPr>
        <p:txBody>
          <a:bodyPr/>
          <a:lstStyle/>
          <a:p>
            <a:endParaRPr lang="es-AR"/>
          </a:p>
        </p:txBody>
      </p:sp>
      <p:sp>
        <p:nvSpPr>
          <p:cNvPr id="54" name="Text 12">
            <a:extLst>
              <a:ext uri="{FF2B5EF4-FFF2-40B4-BE49-F238E27FC236}">
                <a16:creationId xmlns:a16="http://schemas.microsoft.com/office/drawing/2014/main" id="{D887DE54-1A86-E6B1-16A6-8F0B9FB66118}"/>
              </a:ext>
            </a:extLst>
          </p:cNvPr>
          <p:cNvSpPr/>
          <p:nvPr/>
        </p:nvSpPr>
        <p:spPr>
          <a:xfrm>
            <a:off x="2458212"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02</a:t>
            </a:r>
            <a:endParaRPr lang="en-US" sz="1100" dirty="0"/>
          </a:p>
        </p:txBody>
      </p:sp>
      <p:sp>
        <p:nvSpPr>
          <p:cNvPr id="55" name="Text 13">
            <a:extLst>
              <a:ext uri="{FF2B5EF4-FFF2-40B4-BE49-F238E27FC236}">
                <a16:creationId xmlns:a16="http://schemas.microsoft.com/office/drawing/2014/main" id="{86009E85-A738-AF92-15C6-CE4495034408}"/>
              </a:ext>
            </a:extLst>
          </p:cNvPr>
          <p:cNvSpPr/>
          <p:nvPr/>
        </p:nvSpPr>
        <p:spPr>
          <a:xfrm>
            <a:off x="2458212"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Prompts</a:t>
            </a:r>
            <a:endParaRPr lang="en-US" sz="1600" dirty="0"/>
          </a:p>
        </p:txBody>
      </p:sp>
      <p:sp>
        <p:nvSpPr>
          <p:cNvPr id="56" name="Text 14">
            <a:extLst>
              <a:ext uri="{FF2B5EF4-FFF2-40B4-BE49-F238E27FC236}">
                <a16:creationId xmlns:a16="http://schemas.microsoft.com/office/drawing/2014/main" id="{10508C87-8566-A87B-15AC-1F38D79CA4C2}"/>
              </a:ext>
            </a:extLst>
          </p:cNvPr>
          <p:cNvSpPr/>
          <p:nvPr/>
        </p:nvSpPr>
        <p:spPr>
          <a:xfrm>
            <a:off x="2549652"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Ventana de contexto</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por ticker y fecha</a:t>
            </a:r>
            <a:endParaRPr lang="en-US" sz="1000" dirty="0"/>
          </a:p>
        </p:txBody>
      </p:sp>
      <p:sp>
        <p:nvSpPr>
          <p:cNvPr id="57" name="Shape 15">
            <a:extLst>
              <a:ext uri="{FF2B5EF4-FFF2-40B4-BE49-F238E27FC236}">
                <a16:creationId xmlns:a16="http://schemas.microsoft.com/office/drawing/2014/main" id="{E60B6514-19E1-4683-E500-DB0F9083879F}"/>
              </a:ext>
            </a:extLst>
          </p:cNvPr>
          <p:cNvSpPr/>
          <p:nvPr/>
        </p:nvSpPr>
        <p:spPr>
          <a:xfrm>
            <a:off x="5185410" y="2743200"/>
            <a:ext cx="0" cy="91440"/>
          </a:xfrm>
          <a:prstGeom prst="line">
            <a:avLst/>
          </a:prstGeom>
          <a:noFill/>
          <a:ln w="12700">
            <a:solidFill>
              <a:srgbClr val="555555"/>
            </a:solidFill>
            <a:prstDash val="solid"/>
          </a:ln>
        </p:spPr>
        <p:txBody>
          <a:bodyPr/>
          <a:lstStyle/>
          <a:p>
            <a:endParaRPr lang="es-AR"/>
          </a:p>
        </p:txBody>
      </p:sp>
      <p:sp>
        <p:nvSpPr>
          <p:cNvPr id="58" name="Text 16">
            <a:extLst>
              <a:ext uri="{FF2B5EF4-FFF2-40B4-BE49-F238E27FC236}">
                <a16:creationId xmlns:a16="http://schemas.microsoft.com/office/drawing/2014/main" id="{C7B96785-0EF3-027A-82C9-8D921AE3771B}"/>
              </a:ext>
            </a:extLst>
          </p:cNvPr>
          <p:cNvSpPr/>
          <p:nvPr/>
        </p:nvSpPr>
        <p:spPr>
          <a:xfrm>
            <a:off x="4276344"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03</a:t>
            </a:r>
            <a:endParaRPr lang="en-US" sz="1100" dirty="0"/>
          </a:p>
        </p:txBody>
      </p:sp>
      <p:sp>
        <p:nvSpPr>
          <p:cNvPr id="59" name="Text 17">
            <a:extLst>
              <a:ext uri="{FF2B5EF4-FFF2-40B4-BE49-F238E27FC236}">
                <a16:creationId xmlns:a16="http://schemas.microsoft.com/office/drawing/2014/main" id="{EE67FB0D-15A9-D38C-C351-E92384F8C16B}"/>
              </a:ext>
            </a:extLst>
          </p:cNvPr>
          <p:cNvSpPr/>
          <p:nvPr/>
        </p:nvSpPr>
        <p:spPr>
          <a:xfrm>
            <a:off x="4276344"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Split temporal</a:t>
            </a:r>
            <a:endParaRPr lang="en-US" sz="1600" dirty="0"/>
          </a:p>
        </p:txBody>
      </p:sp>
      <p:sp>
        <p:nvSpPr>
          <p:cNvPr id="60" name="Text 18">
            <a:extLst>
              <a:ext uri="{FF2B5EF4-FFF2-40B4-BE49-F238E27FC236}">
                <a16:creationId xmlns:a16="http://schemas.microsoft.com/office/drawing/2014/main" id="{9077BCFD-5D49-6B88-406B-2EDF36BE02AA}"/>
              </a:ext>
            </a:extLst>
          </p:cNvPr>
          <p:cNvSpPr/>
          <p:nvPr/>
        </p:nvSpPr>
        <p:spPr>
          <a:xfrm>
            <a:off x="4367784"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Train / val / test</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sin fugas de futuro</a:t>
            </a:r>
            <a:endParaRPr lang="en-US" sz="1000" dirty="0"/>
          </a:p>
        </p:txBody>
      </p:sp>
      <p:sp>
        <p:nvSpPr>
          <p:cNvPr id="61" name="Shape 19">
            <a:extLst>
              <a:ext uri="{FF2B5EF4-FFF2-40B4-BE49-F238E27FC236}">
                <a16:creationId xmlns:a16="http://schemas.microsoft.com/office/drawing/2014/main" id="{5F861EAF-784A-CE54-BBDD-985BE89F24C2}"/>
              </a:ext>
            </a:extLst>
          </p:cNvPr>
          <p:cNvSpPr/>
          <p:nvPr/>
        </p:nvSpPr>
        <p:spPr>
          <a:xfrm>
            <a:off x="7003542" y="2743200"/>
            <a:ext cx="0" cy="91440"/>
          </a:xfrm>
          <a:prstGeom prst="line">
            <a:avLst/>
          </a:prstGeom>
          <a:noFill/>
          <a:ln w="12700">
            <a:solidFill>
              <a:srgbClr val="555555"/>
            </a:solidFill>
            <a:prstDash val="solid"/>
          </a:ln>
        </p:spPr>
        <p:txBody>
          <a:bodyPr/>
          <a:lstStyle/>
          <a:p>
            <a:endParaRPr lang="es-AR"/>
          </a:p>
        </p:txBody>
      </p:sp>
      <p:sp>
        <p:nvSpPr>
          <p:cNvPr id="62" name="Text 20">
            <a:extLst>
              <a:ext uri="{FF2B5EF4-FFF2-40B4-BE49-F238E27FC236}">
                <a16:creationId xmlns:a16="http://schemas.microsoft.com/office/drawing/2014/main" id="{E94DC1BB-BA5F-2B7F-D248-5D8F7CF74B59}"/>
              </a:ext>
            </a:extLst>
          </p:cNvPr>
          <p:cNvSpPr/>
          <p:nvPr/>
        </p:nvSpPr>
        <p:spPr>
          <a:xfrm>
            <a:off x="6094476"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04</a:t>
            </a:r>
            <a:endParaRPr lang="en-US" sz="1100" dirty="0"/>
          </a:p>
        </p:txBody>
      </p:sp>
      <p:sp>
        <p:nvSpPr>
          <p:cNvPr id="63" name="Text 21">
            <a:extLst>
              <a:ext uri="{FF2B5EF4-FFF2-40B4-BE49-F238E27FC236}">
                <a16:creationId xmlns:a16="http://schemas.microsoft.com/office/drawing/2014/main" id="{473FDBDE-E976-098F-6414-DBA555006D18}"/>
              </a:ext>
            </a:extLst>
          </p:cNvPr>
          <p:cNvSpPr/>
          <p:nvPr/>
        </p:nvSpPr>
        <p:spPr>
          <a:xfrm>
            <a:off x="6094476"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Fine-tuning</a:t>
            </a:r>
            <a:endParaRPr lang="en-US" sz="1600" dirty="0"/>
          </a:p>
        </p:txBody>
      </p:sp>
      <p:sp>
        <p:nvSpPr>
          <p:cNvPr id="64" name="Text 22">
            <a:extLst>
              <a:ext uri="{FF2B5EF4-FFF2-40B4-BE49-F238E27FC236}">
                <a16:creationId xmlns:a16="http://schemas.microsoft.com/office/drawing/2014/main" id="{2A3FA88F-943D-0069-1F4A-1A9E9AA6A6A0}"/>
              </a:ext>
            </a:extLst>
          </p:cNvPr>
          <p:cNvSpPr/>
          <p:nvPr/>
        </p:nvSpPr>
        <p:spPr>
          <a:xfrm>
            <a:off x="6185916"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Adaptación de GPT-2</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al corpus</a:t>
            </a:r>
            <a:endParaRPr lang="en-US" sz="1000" dirty="0"/>
          </a:p>
        </p:txBody>
      </p:sp>
      <p:sp>
        <p:nvSpPr>
          <p:cNvPr id="65" name="Shape 23">
            <a:extLst>
              <a:ext uri="{FF2B5EF4-FFF2-40B4-BE49-F238E27FC236}">
                <a16:creationId xmlns:a16="http://schemas.microsoft.com/office/drawing/2014/main" id="{52609A05-DB8C-AA6F-1672-10108F7CBF4C}"/>
              </a:ext>
            </a:extLst>
          </p:cNvPr>
          <p:cNvSpPr/>
          <p:nvPr/>
        </p:nvSpPr>
        <p:spPr>
          <a:xfrm>
            <a:off x="8821674" y="2743200"/>
            <a:ext cx="0" cy="91440"/>
          </a:xfrm>
          <a:prstGeom prst="line">
            <a:avLst/>
          </a:prstGeom>
          <a:noFill/>
          <a:ln w="12700">
            <a:solidFill>
              <a:srgbClr val="555555"/>
            </a:solidFill>
            <a:prstDash val="solid"/>
          </a:ln>
        </p:spPr>
        <p:txBody>
          <a:bodyPr/>
          <a:lstStyle/>
          <a:p>
            <a:endParaRPr lang="es-AR"/>
          </a:p>
        </p:txBody>
      </p:sp>
      <p:sp>
        <p:nvSpPr>
          <p:cNvPr id="66" name="Text 24">
            <a:extLst>
              <a:ext uri="{FF2B5EF4-FFF2-40B4-BE49-F238E27FC236}">
                <a16:creationId xmlns:a16="http://schemas.microsoft.com/office/drawing/2014/main" id="{66E9C794-1F2D-0EF2-F502-D20B41FC0AC4}"/>
              </a:ext>
            </a:extLst>
          </p:cNvPr>
          <p:cNvSpPr/>
          <p:nvPr/>
        </p:nvSpPr>
        <p:spPr>
          <a:xfrm>
            <a:off x="7912608"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05</a:t>
            </a:r>
            <a:endParaRPr lang="en-US" sz="1100" dirty="0"/>
          </a:p>
        </p:txBody>
      </p:sp>
      <p:sp>
        <p:nvSpPr>
          <p:cNvPr id="67" name="Text 25">
            <a:extLst>
              <a:ext uri="{FF2B5EF4-FFF2-40B4-BE49-F238E27FC236}">
                <a16:creationId xmlns:a16="http://schemas.microsoft.com/office/drawing/2014/main" id="{01A9857E-BE04-1304-4E13-5B4371074073}"/>
              </a:ext>
            </a:extLst>
          </p:cNvPr>
          <p:cNvSpPr/>
          <p:nvPr/>
        </p:nvSpPr>
        <p:spPr>
          <a:xfrm>
            <a:off x="7912608"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Generación</a:t>
            </a:r>
            <a:endParaRPr lang="en-US" sz="1600" dirty="0"/>
          </a:p>
        </p:txBody>
      </p:sp>
      <p:sp>
        <p:nvSpPr>
          <p:cNvPr id="68" name="Text 26">
            <a:extLst>
              <a:ext uri="{FF2B5EF4-FFF2-40B4-BE49-F238E27FC236}">
                <a16:creationId xmlns:a16="http://schemas.microsoft.com/office/drawing/2014/main" id="{CF662453-3907-CC05-5F4D-07EECF9C0C56}"/>
              </a:ext>
            </a:extLst>
          </p:cNvPr>
          <p:cNvSpPr/>
          <p:nvPr/>
        </p:nvSpPr>
        <p:spPr>
          <a:xfrm>
            <a:off x="8004048"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Narrativas</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sobre el conjunto de test</a:t>
            </a:r>
            <a:endParaRPr lang="en-US" sz="1000" dirty="0"/>
          </a:p>
        </p:txBody>
      </p:sp>
      <p:sp>
        <p:nvSpPr>
          <p:cNvPr id="69" name="Shape 27">
            <a:extLst>
              <a:ext uri="{FF2B5EF4-FFF2-40B4-BE49-F238E27FC236}">
                <a16:creationId xmlns:a16="http://schemas.microsoft.com/office/drawing/2014/main" id="{AD7B2DF9-14DA-CA1A-ECEA-D09BF13408AF}"/>
              </a:ext>
            </a:extLst>
          </p:cNvPr>
          <p:cNvSpPr/>
          <p:nvPr/>
        </p:nvSpPr>
        <p:spPr>
          <a:xfrm>
            <a:off x="10639806" y="2743200"/>
            <a:ext cx="0" cy="91440"/>
          </a:xfrm>
          <a:prstGeom prst="line">
            <a:avLst/>
          </a:prstGeom>
          <a:noFill/>
          <a:ln w="12700">
            <a:solidFill>
              <a:srgbClr val="555555"/>
            </a:solidFill>
            <a:prstDash val="solid"/>
          </a:ln>
        </p:spPr>
        <p:txBody>
          <a:bodyPr/>
          <a:lstStyle/>
          <a:p>
            <a:endParaRPr lang="es-AR"/>
          </a:p>
        </p:txBody>
      </p:sp>
      <p:sp>
        <p:nvSpPr>
          <p:cNvPr id="70" name="Text 28">
            <a:extLst>
              <a:ext uri="{FF2B5EF4-FFF2-40B4-BE49-F238E27FC236}">
                <a16:creationId xmlns:a16="http://schemas.microsoft.com/office/drawing/2014/main" id="{24FDE16B-500E-21EA-5479-DFC20B4C5482}"/>
              </a:ext>
            </a:extLst>
          </p:cNvPr>
          <p:cNvSpPr/>
          <p:nvPr/>
        </p:nvSpPr>
        <p:spPr>
          <a:xfrm>
            <a:off x="9730740" y="2286000"/>
            <a:ext cx="1818132" cy="457200"/>
          </a:xfrm>
          <a:prstGeom prst="rect">
            <a:avLst/>
          </a:prstGeom>
          <a:noFill/>
          <a:ln/>
        </p:spPr>
        <p:txBody>
          <a:bodyPr wrap="square" lIns="0" tIns="0" rIns="0" bIns="0" rtlCol="0" anchor="ctr"/>
          <a:lstStyle/>
          <a:p>
            <a:pPr marL="0" indent="0" algn="ctr">
              <a:buNone/>
            </a:pPr>
            <a:r>
              <a:rPr lang="en-US" sz="1100" i="1" kern="0" spc="200" dirty="0">
                <a:solidFill>
                  <a:srgbClr val="777777"/>
                </a:solidFill>
                <a:latin typeface="Georgia" pitchFamily="34" charset="0"/>
                <a:ea typeface="Georgia" pitchFamily="34" charset="-122"/>
                <a:cs typeface="Arial" panose="020B0604020202020204" pitchFamily="34" charset="0"/>
              </a:rPr>
              <a:t>06</a:t>
            </a:r>
            <a:endParaRPr lang="en-US" sz="1100" dirty="0"/>
          </a:p>
        </p:txBody>
      </p:sp>
      <p:sp>
        <p:nvSpPr>
          <p:cNvPr id="71" name="Text 29">
            <a:extLst>
              <a:ext uri="{FF2B5EF4-FFF2-40B4-BE49-F238E27FC236}">
                <a16:creationId xmlns:a16="http://schemas.microsoft.com/office/drawing/2014/main" id="{0B62C875-36E6-662A-AC7E-DF7A5078E5A5}"/>
              </a:ext>
            </a:extLst>
          </p:cNvPr>
          <p:cNvSpPr/>
          <p:nvPr/>
        </p:nvSpPr>
        <p:spPr>
          <a:xfrm>
            <a:off x="9730740" y="2971800"/>
            <a:ext cx="1818132" cy="411480"/>
          </a:xfrm>
          <a:prstGeom prst="rect">
            <a:avLst/>
          </a:prstGeom>
          <a:noFill/>
          <a:ln/>
        </p:spPr>
        <p:txBody>
          <a:bodyPr wrap="square" lIns="0" tIns="0" rIns="0" bIns="0" rtlCol="0" anchor="t"/>
          <a:lstStyle/>
          <a:p>
            <a:pPr marL="0" indent="0" algn="ctr">
              <a:buNone/>
            </a:pPr>
            <a:r>
              <a:rPr lang="en-US" sz="1600" b="1" dirty="0">
                <a:solidFill>
                  <a:srgbClr val="111111"/>
                </a:solidFill>
                <a:latin typeface="Georgia" pitchFamily="34" charset="0"/>
                <a:ea typeface="Georgia" pitchFamily="34" charset="-122"/>
                <a:cs typeface="Arial" panose="020B0604020202020204" pitchFamily="34" charset="0"/>
              </a:rPr>
              <a:t>Evaluación</a:t>
            </a:r>
            <a:endParaRPr lang="en-US" sz="1600" dirty="0"/>
          </a:p>
        </p:txBody>
      </p:sp>
      <p:sp>
        <p:nvSpPr>
          <p:cNvPr id="72" name="Text 30">
            <a:extLst>
              <a:ext uri="{FF2B5EF4-FFF2-40B4-BE49-F238E27FC236}">
                <a16:creationId xmlns:a16="http://schemas.microsoft.com/office/drawing/2014/main" id="{D7D9CE94-409E-0FE2-D1E1-9181172850EB}"/>
              </a:ext>
            </a:extLst>
          </p:cNvPr>
          <p:cNvSpPr/>
          <p:nvPr/>
        </p:nvSpPr>
        <p:spPr>
          <a:xfrm>
            <a:off x="9822180" y="3429000"/>
            <a:ext cx="1635252" cy="1097280"/>
          </a:xfrm>
          <a:prstGeom prst="rect">
            <a:avLst/>
          </a:prstGeom>
          <a:noFill/>
          <a:ln/>
        </p:spPr>
        <p:txBody>
          <a:bodyPr wrap="square" lIns="0" tIns="0" rIns="0" bIns="0" rtlCol="0" anchor="t"/>
          <a:lstStyle/>
          <a:p>
            <a:pPr marL="0" indent="0" algn="ctr">
              <a:buNone/>
            </a:pPr>
            <a:r>
              <a:rPr lang="en-US" sz="1000" dirty="0">
                <a:solidFill>
                  <a:srgbClr val="555555"/>
                </a:solidFill>
                <a:latin typeface="Calibri" pitchFamily="34" charset="0"/>
                <a:ea typeface="Calibri" pitchFamily="34" charset="-122"/>
                <a:cs typeface="Calibri" pitchFamily="34" charset="-120"/>
              </a:rPr>
              <a:t>Textual · semántica</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 financiera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Construcción del dataset</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640080" y="1481328"/>
            <a:ext cx="10881360" cy="365760"/>
          </a:xfrm>
          <a:prstGeom prst="rect">
            <a:avLst/>
          </a:prstGeom>
          <a:noFill/>
          <a:ln/>
        </p:spPr>
        <p:txBody>
          <a:bodyPr wrap="square" lIns="0" tIns="0" rIns="0" bIns="0" rtlCol="0" anchor="ctr"/>
          <a:lstStyle/>
          <a:p>
            <a:pPr marL="0" indent="0">
              <a:buNone/>
            </a:pPr>
            <a:r>
              <a:rPr lang="en-US" sz="1250" dirty="0">
                <a:solidFill>
                  <a:srgbClr val="667085"/>
                </a:solidFill>
                <a:latin typeface="Arial" panose="020B0604020202020204" pitchFamily="34" charset="0"/>
                <a:ea typeface="Calibri" pitchFamily="34" charset="-122"/>
                <a:cs typeface="Arial" panose="020B0604020202020204" pitchFamily="34" charset="0"/>
              </a:rPr>
              <a:t>La data cruda se transforma en pares prompt/target con labels derivadas del dato real.</a:t>
            </a:r>
            <a:endParaRPr lang="en-US" sz="1250" dirty="0">
              <a:latin typeface="Arial" panose="020B0604020202020204" pitchFamily="34" charset="0"/>
              <a:cs typeface="Arial" panose="020B0604020202020204" pitchFamily="34" charset="0"/>
            </a:endParaRPr>
          </a:p>
        </p:txBody>
      </p:sp>
      <p:sp>
        <p:nvSpPr>
          <p:cNvPr id="24" name="Shape 18"/>
          <p:cNvSpPr/>
          <p:nvPr/>
        </p:nvSpPr>
        <p:spPr>
          <a:xfrm>
            <a:off x="5971032" y="2057400"/>
            <a:ext cx="5580583" cy="237744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6" name="Image 4" descr="icon_tags.png"/>
          <p:cNvPicPr>
            <a:picLocks noChangeAspect="1"/>
          </p:cNvPicPr>
          <p:nvPr/>
        </p:nvPicPr>
        <p:blipFill>
          <a:blip r:embed="rId3"/>
          <a:stretch>
            <a:fillRect/>
          </a:stretch>
        </p:blipFill>
        <p:spPr>
          <a:xfrm>
            <a:off x="6190488" y="2258568"/>
            <a:ext cx="292608" cy="292608"/>
          </a:xfrm>
          <a:prstGeom prst="rect">
            <a:avLst/>
          </a:prstGeom>
        </p:spPr>
      </p:pic>
      <p:sp>
        <p:nvSpPr>
          <p:cNvPr id="27" name="Text 20"/>
          <p:cNvSpPr/>
          <p:nvPr/>
        </p:nvSpPr>
        <p:spPr>
          <a:xfrm>
            <a:off x="6574536" y="2221992"/>
            <a:ext cx="47576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Supervisión: cómo se etiqueta el target</a:t>
            </a:r>
            <a:endParaRPr lang="en-US" sz="1250" dirty="0">
              <a:latin typeface="Arial" panose="020B0604020202020204" pitchFamily="34" charset="0"/>
              <a:cs typeface="Arial" panose="020B0604020202020204" pitchFamily="34" charset="0"/>
            </a:endParaRPr>
          </a:p>
        </p:txBody>
      </p:sp>
      <p:pic>
        <p:nvPicPr>
          <p:cNvPr id="28" name="Image 5" descr="icon_up.png"/>
          <p:cNvPicPr>
            <a:picLocks noChangeAspect="1"/>
          </p:cNvPicPr>
          <p:nvPr/>
        </p:nvPicPr>
        <p:blipFill>
          <a:blip r:embed="rId4"/>
          <a:stretch>
            <a:fillRect/>
          </a:stretch>
        </p:blipFill>
        <p:spPr>
          <a:xfrm>
            <a:off x="6217920" y="2952037"/>
            <a:ext cx="219456" cy="219456"/>
          </a:xfrm>
          <a:prstGeom prst="rect">
            <a:avLst/>
          </a:prstGeom>
        </p:spPr>
      </p:pic>
      <p:sp>
        <p:nvSpPr>
          <p:cNvPr id="29" name="Text 21"/>
          <p:cNvSpPr/>
          <p:nvPr/>
        </p:nvSpPr>
        <p:spPr>
          <a:xfrm>
            <a:off x="6547104" y="2869741"/>
            <a:ext cx="4775911" cy="566928"/>
          </a:xfrm>
          <a:prstGeom prst="rect">
            <a:avLst/>
          </a:prstGeom>
          <a:noFill/>
          <a:ln/>
        </p:spPr>
        <p:txBody>
          <a:bodyPr wrap="square" lIns="0" tIns="0" rIns="0" bIns="0" rtlCol="0" anchor="ctr"/>
          <a:lstStyle/>
          <a:p>
            <a:pPr marL="0" indent="0">
              <a:lnSpc>
                <a:spcPct val="113000"/>
              </a:lnSpc>
              <a:buNone/>
            </a:pPr>
            <a:r>
              <a:rPr lang="en-US" sz="980" b="1" dirty="0">
                <a:solidFill>
                  <a:srgbClr val="23304A"/>
                </a:solidFill>
                <a:latin typeface="Arial" panose="020B0604020202020204" pitchFamily="34" charset="0"/>
                <a:ea typeface="Calibri" pitchFamily="34" charset="-122"/>
                <a:cs typeface="Arial" panose="020B0604020202020204" pitchFamily="34" charset="0"/>
              </a:rPr>
              <a:t>Dirección.  </a:t>
            </a:r>
            <a:r>
              <a:rPr lang="en-US" sz="980" dirty="0">
                <a:solidFill>
                  <a:srgbClr val="667085"/>
                </a:solidFill>
                <a:latin typeface="Arial" panose="020B0604020202020204" pitchFamily="34" charset="0"/>
                <a:ea typeface="Calibri" pitchFamily="34" charset="-122"/>
                <a:cs typeface="Arial" panose="020B0604020202020204" pitchFamily="34" charset="0"/>
              </a:rPr>
              <a:t>del retorno real de t+1, con umbral de ±0.1 % para separar up · flat · down.</a:t>
            </a:r>
            <a:endParaRPr lang="en-US" sz="980" dirty="0">
              <a:latin typeface="Arial" panose="020B0604020202020204" pitchFamily="34" charset="0"/>
              <a:cs typeface="Arial" panose="020B0604020202020204" pitchFamily="34" charset="0"/>
            </a:endParaRPr>
          </a:p>
        </p:txBody>
      </p:sp>
      <p:pic>
        <p:nvPicPr>
          <p:cNvPr id="30" name="Image 6" descr="icon_book.png"/>
          <p:cNvPicPr>
            <a:picLocks noChangeAspect="1"/>
          </p:cNvPicPr>
          <p:nvPr/>
        </p:nvPicPr>
        <p:blipFill>
          <a:blip r:embed="rId5"/>
          <a:stretch>
            <a:fillRect/>
          </a:stretch>
        </p:blipFill>
        <p:spPr>
          <a:xfrm>
            <a:off x="6217920" y="3555541"/>
            <a:ext cx="219456" cy="219456"/>
          </a:xfrm>
          <a:prstGeom prst="rect">
            <a:avLst/>
          </a:prstGeom>
        </p:spPr>
      </p:pic>
      <p:sp>
        <p:nvSpPr>
          <p:cNvPr id="31" name="Text 22"/>
          <p:cNvSpPr/>
          <p:nvPr/>
        </p:nvSpPr>
        <p:spPr>
          <a:xfrm>
            <a:off x="6547104" y="3473245"/>
            <a:ext cx="4775911" cy="566928"/>
          </a:xfrm>
          <a:prstGeom prst="rect">
            <a:avLst/>
          </a:prstGeom>
          <a:noFill/>
          <a:ln/>
        </p:spPr>
        <p:txBody>
          <a:bodyPr wrap="square" lIns="0" tIns="0" rIns="0" bIns="0" rtlCol="0" anchor="ctr"/>
          <a:lstStyle/>
          <a:p>
            <a:pPr marL="0" indent="0">
              <a:lnSpc>
                <a:spcPct val="113000"/>
              </a:lnSpc>
              <a:buNone/>
            </a:pPr>
            <a:r>
              <a:rPr lang="en-US" sz="980" b="1" dirty="0">
                <a:solidFill>
                  <a:srgbClr val="23304A"/>
                </a:solidFill>
                <a:latin typeface="Arial" panose="020B0604020202020204" pitchFamily="34" charset="0"/>
                <a:ea typeface="Calibri" pitchFamily="34" charset="-122"/>
                <a:cs typeface="Arial" panose="020B0604020202020204" pitchFamily="34" charset="0"/>
              </a:rPr>
              <a:t>Sentimiento.  </a:t>
            </a:r>
            <a:r>
              <a:rPr lang="en-US" sz="980" dirty="0">
                <a:solidFill>
                  <a:srgbClr val="667085"/>
                </a:solidFill>
                <a:latin typeface="Arial" panose="020B0604020202020204" pitchFamily="34" charset="0"/>
                <a:ea typeface="Calibri" pitchFamily="34" charset="-122"/>
                <a:cs typeface="Arial" panose="020B0604020202020204" pitchFamily="34" charset="0"/>
              </a:rPr>
              <a:t>lexicón de palabras positivas y negativas sobre los titulares reales de t+1, no FinBERT.</a:t>
            </a:r>
            <a:endParaRPr lang="en-US" sz="980" dirty="0">
              <a:latin typeface="Arial" panose="020B0604020202020204" pitchFamily="34" charset="0"/>
              <a:cs typeface="Arial" panose="020B0604020202020204" pitchFamily="34" charset="0"/>
            </a:endParaRPr>
          </a:p>
        </p:txBody>
      </p:sp>
      <p:sp>
        <p:nvSpPr>
          <p:cNvPr id="34" name="Shape 25"/>
          <p:cNvSpPr/>
          <p:nvPr/>
        </p:nvSpPr>
        <p:spPr>
          <a:xfrm>
            <a:off x="6382512" y="4648200"/>
            <a:ext cx="5111496" cy="128016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36" name="Image 7" descr="icon_cut.png"/>
          <p:cNvPicPr>
            <a:picLocks noChangeAspect="1"/>
          </p:cNvPicPr>
          <p:nvPr/>
        </p:nvPicPr>
        <p:blipFill>
          <a:blip r:embed="rId6"/>
          <a:stretch>
            <a:fillRect/>
          </a:stretch>
        </p:blipFill>
        <p:spPr>
          <a:xfrm>
            <a:off x="6601968" y="4849368"/>
            <a:ext cx="274320" cy="274320"/>
          </a:xfrm>
          <a:prstGeom prst="rect">
            <a:avLst/>
          </a:prstGeom>
        </p:spPr>
      </p:pic>
      <p:sp>
        <p:nvSpPr>
          <p:cNvPr id="37" name="Text 27"/>
          <p:cNvSpPr/>
          <p:nvPr/>
        </p:nvSpPr>
        <p:spPr>
          <a:xfrm>
            <a:off x="6967728" y="4794504"/>
            <a:ext cx="4553712" cy="384048"/>
          </a:xfrm>
          <a:prstGeom prst="rect">
            <a:avLst/>
          </a:prstGeom>
          <a:noFill/>
          <a:ln/>
        </p:spPr>
        <p:txBody>
          <a:bodyPr wrap="square" lIns="0" tIns="0" rIns="0" bIns="0" rtlCol="0" anchor="ctr"/>
          <a:lstStyle/>
          <a:p>
            <a:pPr marL="0" indent="0">
              <a:buNone/>
            </a:pPr>
            <a:r>
              <a:rPr lang="en-US" sz="1200" b="1" dirty="0">
                <a:solidFill>
                  <a:srgbClr val="23304A"/>
                </a:solidFill>
                <a:latin typeface="Arial" panose="020B0604020202020204" pitchFamily="34" charset="0"/>
                <a:ea typeface="Calibri" pitchFamily="34" charset="-122"/>
                <a:cs typeface="Arial" panose="020B0604020202020204" pitchFamily="34" charset="0"/>
              </a:rPr>
              <a:t>Split estrictamente temporal</a:t>
            </a:r>
            <a:endParaRPr lang="en-US" sz="1200" dirty="0">
              <a:latin typeface="Arial" panose="020B0604020202020204" pitchFamily="34" charset="0"/>
              <a:cs typeface="Arial" panose="020B0604020202020204" pitchFamily="34" charset="0"/>
            </a:endParaRPr>
          </a:p>
        </p:txBody>
      </p:sp>
      <p:sp>
        <p:nvSpPr>
          <p:cNvPr id="38" name="Text 28"/>
          <p:cNvSpPr/>
          <p:nvPr/>
        </p:nvSpPr>
        <p:spPr>
          <a:xfrm>
            <a:off x="6620256" y="5178552"/>
            <a:ext cx="4873752" cy="685800"/>
          </a:xfrm>
          <a:prstGeom prst="rect">
            <a:avLst/>
          </a:prstGeom>
          <a:noFill/>
          <a:ln/>
        </p:spPr>
        <p:txBody>
          <a:bodyPr wrap="square" lIns="0" tIns="0" rIns="0" bIns="0" rtlCol="0" anchor="ctr"/>
          <a:lstStyle/>
          <a:p>
            <a:pPr marL="0" indent="0">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70 / 15 / 15 ordenado por fecha, sin shuffle. Evita el leakage de información futura, fundamental en finanzas.</a:t>
            </a:r>
            <a:endParaRPr lang="en-US" sz="980" dirty="0">
              <a:latin typeface="Arial" panose="020B0604020202020204" pitchFamily="34" charset="0"/>
              <a:cs typeface="Arial" panose="020B0604020202020204" pitchFamily="34" charset="0"/>
            </a:endParaRPr>
          </a:p>
        </p:txBody>
      </p:sp>
      <p:sp>
        <p:nvSpPr>
          <p:cNvPr id="45" name="Text 7">
            <a:extLst>
              <a:ext uri="{FF2B5EF4-FFF2-40B4-BE49-F238E27FC236}">
                <a16:creationId xmlns:a16="http://schemas.microsoft.com/office/drawing/2014/main" id="{4FD5CD8B-C6AE-63F7-45C7-B02BA5D575EA}"/>
              </a:ext>
            </a:extLst>
          </p:cNvPr>
          <p:cNvSpPr/>
          <p:nvPr/>
        </p:nvSpPr>
        <p:spPr>
          <a:xfrm>
            <a:off x="6947452" y="6010977"/>
            <a:ext cx="4573988" cy="795528"/>
          </a:xfrm>
          <a:prstGeom prst="rect">
            <a:avLst/>
          </a:prstGeom>
          <a:noFill/>
          <a:ln/>
        </p:spPr>
        <p:txBody>
          <a:bodyPr wrap="square" lIns="0" tIns="0" rIns="0" bIns="0" rtlCol="0" anchor="ctr"/>
          <a:lstStyle/>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050" dirty="0">
              <a:solidFill>
                <a:schemeClr val="bg2">
                  <a:lumMod val="75000"/>
                </a:schemeClr>
              </a:solidFill>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53130044-A522-9425-F75C-A216E5483ADC}"/>
              </a:ext>
            </a:extLst>
          </p:cNvPr>
          <p:cNvSpPr/>
          <p:nvPr/>
        </p:nvSpPr>
        <p:spPr>
          <a:xfrm>
            <a:off x="640080" y="2377440"/>
            <a:ext cx="5486400" cy="365760"/>
          </a:xfrm>
          <a:prstGeom prst="rect">
            <a:avLst/>
          </a:prstGeom>
          <a:noFill/>
          <a:ln/>
        </p:spPr>
        <p:txBody>
          <a:bodyPr wrap="square" lIns="0" tIns="0" rIns="0" bIns="0" rtlCol="0" anchor="ctr"/>
          <a:lstStyle/>
          <a:p>
            <a:pPr marL="0" indent="0" algn="l">
              <a:buNone/>
            </a:pPr>
            <a:r>
              <a:rPr lang="en-US" sz="1500" b="1" dirty="0">
                <a:solidFill>
                  <a:srgbClr val="111111"/>
                </a:solidFill>
                <a:latin typeface="Georgia" pitchFamily="34" charset="0"/>
                <a:ea typeface="Georgia" pitchFamily="34" charset="-122"/>
                <a:cs typeface="Georgia" pitchFamily="34" charset="-120"/>
              </a:rPr>
              <a:t>Ventana temporal  ·  k = 3 días</a:t>
            </a:r>
            <a:endParaRPr lang="en-US" sz="1500" dirty="0"/>
          </a:p>
        </p:txBody>
      </p:sp>
      <p:sp>
        <p:nvSpPr>
          <p:cNvPr id="4" name="Text 8">
            <a:extLst>
              <a:ext uri="{FF2B5EF4-FFF2-40B4-BE49-F238E27FC236}">
                <a16:creationId xmlns:a16="http://schemas.microsoft.com/office/drawing/2014/main" id="{E8F66171-ED22-F530-D2DA-98C1A11A13E2}"/>
              </a:ext>
            </a:extLst>
          </p:cNvPr>
          <p:cNvSpPr/>
          <p:nvPr/>
        </p:nvSpPr>
        <p:spPr>
          <a:xfrm>
            <a:off x="640080" y="2743200"/>
            <a:ext cx="5486400" cy="457200"/>
          </a:xfrm>
          <a:prstGeom prst="rect">
            <a:avLst/>
          </a:prstGeom>
          <a:noFill/>
          <a:ln/>
        </p:spPr>
        <p:txBody>
          <a:bodyPr wrap="square" lIns="0" tIns="0" rIns="0" bIns="0" rtlCol="0" anchor="t"/>
          <a:lstStyle/>
          <a:p>
            <a:pPr marL="0" indent="0" algn="l">
              <a:buNone/>
            </a:pPr>
            <a:r>
              <a:rPr lang="en-US" sz="1000" dirty="0">
                <a:solidFill>
                  <a:srgbClr val="555555"/>
                </a:solidFill>
                <a:latin typeface="Calibri" pitchFamily="34" charset="0"/>
                <a:ea typeface="Calibri" pitchFamily="34" charset="-122"/>
                <a:cs typeface="Calibri" pitchFamily="34" charset="-120"/>
              </a:rPr>
              <a:t>El prompt agrega las noticias previas de t-2, t-1 y t. El target es la narrativa del día t+1.</a:t>
            </a:r>
            <a:endParaRPr lang="en-US" sz="1000" dirty="0"/>
          </a:p>
        </p:txBody>
      </p:sp>
      <p:sp>
        <p:nvSpPr>
          <p:cNvPr id="7" name="Shape 9">
            <a:extLst>
              <a:ext uri="{FF2B5EF4-FFF2-40B4-BE49-F238E27FC236}">
                <a16:creationId xmlns:a16="http://schemas.microsoft.com/office/drawing/2014/main" id="{E648BC6A-A5D2-99F3-73CD-0B8AE90486A4}"/>
              </a:ext>
            </a:extLst>
          </p:cNvPr>
          <p:cNvSpPr/>
          <p:nvPr/>
        </p:nvSpPr>
        <p:spPr>
          <a:xfrm>
            <a:off x="640080" y="3474720"/>
            <a:ext cx="868680" cy="685800"/>
          </a:xfrm>
          <a:prstGeom prst="rect">
            <a:avLst/>
          </a:prstGeom>
          <a:solidFill>
            <a:srgbClr val="EDEDED"/>
          </a:solidFill>
          <a:ln w="6350">
            <a:solidFill>
              <a:srgbClr val="BFBFBF"/>
            </a:solidFill>
            <a:prstDash val="solid"/>
          </a:ln>
        </p:spPr>
        <p:txBody>
          <a:bodyPr/>
          <a:lstStyle/>
          <a:p>
            <a:endParaRPr lang="es-AR"/>
          </a:p>
        </p:txBody>
      </p:sp>
      <p:sp>
        <p:nvSpPr>
          <p:cNvPr id="25" name="Text 10">
            <a:extLst>
              <a:ext uri="{FF2B5EF4-FFF2-40B4-BE49-F238E27FC236}">
                <a16:creationId xmlns:a16="http://schemas.microsoft.com/office/drawing/2014/main" id="{1F5063DB-88A9-EE7D-0A93-9CA807524491}"/>
              </a:ext>
            </a:extLst>
          </p:cNvPr>
          <p:cNvSpPr/>
          <p:nvPr/>
        </p:nvSpPr>
        <p:spPr>
          <a:xfrm>
            <a:off x="640080" y="3474720"/>
            <a:ext cx="868680" cy="685800"/>
          </a:xfrm>
          <a:prstGeom prst="rect">
            <a:avLst/>
          </a:prstGeom>
          <a:noFill/>
          <a:ln/>
        </p:spPr>
        <p:txBody>
          <a:bodyPr wrap="square" lIns="0" tIns="0" rIns="0" bIns="0" rtlCol="0" anchor="ctr"/>
          <a:lstStyle/>
          <a:p>
            <a:pPr marL="0" indent="0" algn="ctr">
              <a:buNone/>
            </a:pPr>
            <a:r>
              <a:rPr lang="en-US" sz="1800" i="1" dirty="0">
                <a:solidFill>
                  <a:srgbClr val="111111"/>
                </a:solidFill>
                <a:latin typeface="Georgia" pitchFamily="34" charset="0"/>
                <a:ea typeface="Georgia" pitchFamily="34" charset="-122"/>
                <a:cs typeface="Georgia" pitchFamily="34" charset="-120"/>
              </a:rPr>
              <a:t>t-2</a:t>
            </a:r>
            <a:endParaRPr lang="en-US" sz="1800" dirty="0"/>
          </a:p>
        </p:txBody>
      </p:sp>
      <p:sp>
        <p:nvSpPr>
          <p:cNvPr id="32" name="Shape 11">
            <a:extLst>
              <a:ext uri="{FF2B5EF4-FFF2-40B4-BE49-F238E27FC236}">
                <a16:creationId xmlns:a16="http://schemas.microsoft.com/office/drawing/2014/main" id="{059CA6AD-0483-BD5C-9863-43B85C889CAD}"/>
              </a:ext>
            </a:extLst>
          </p:cNvPr>
          <p:cNvSpPr/>
          <p:nvPr/>
        </p:nvSpPr>
        <p:spPr>
          <a:xfrm>
            <a:off x="1737360" y="3474720"/>
            <a:ext cx="868680" cy="685800"/>
          </a:xfrm>
          <a:prstGeom prst="rect">
            <a:avLst/>
          </a:prstGeom>
          <a:solidFill>
            <a:srgbClr val="EDEDED"/>
          </a:solidFill>
          <a:ln w="6350">
            <a:solidFill>
              <a:srgbClr val="BFBFBF"/>
            </a:solidFill>
            <a:prstDash val="solid"/>
          </a:ln>
        </p:spPr>
        <p:txBody>
          <a:bodyPr/>
          <a:lstStyle/>
          <a:p>
            <a:endParaRPr lang="es-AR"/>
          </a:p>
        </p:txBody>
      </p:sp>
      <p:sp>
        <p:nvSpPr>
          <p:cNvPr id="33" name="Text 12">
            <a:extLst>
              <a:ext uri="{FF2B5EF4-FFF2-40B4-BE49-F238E27FC236}">
                <a16:creationId xmlns:a16="http://schemas.microsoft.com/office/drawing/2014/main" id="{DBB687D3-C649-82DA-7550-F00D758A335D}"/>
              </a:ext>
            </a:extLst>
          </p:cNvPr>
          <p:cNvSpPr/>
          <p:nvPr/>
        </p:nvSpPr>
        <p:spPr>
          <a:xfrm>
            <a:off x="1737360" y="3474720"/>
            <a:ext cx="868680" cy="685800"/>
          </a:xfrm>
          <a:prstGeom prst="rect">
            <a:avLst/>
          </a:prstGeom>
          <a:noFill/>
          <a:ln/>
        </p:spPr>
        <p:txBody>
          <a:bodyPr wrap="square" lIns="0" tIns="0" rIns="0" bIns="0" rtlCol="0" anchor="ctr"/>
          <a:lstStyle/>
          <a:p>
            <a:pPr marL="0" indent="0" algn="ctr">
              <a:buNone/>
            </a:pPr>
            <a:r>
              <a:rPr lang="en-US" sz="1800" i="1" dirty="0">
                <a:solidFill>
                  <a:srgbClr val="111111"/>
                </a:solidFill>
                <a:latin typeface="Georgia" pitchFamily="34" charset="0"/>
                <a:ea typeface="Georgia" pitchFamily="34" charset="-122"/>
                <a:cs typeface="Georgia" pitchFamily="34" charset="-120"/>
              </a:rPr>
              <a:t>t-1</a:t>
            </a:r>
            <a:endParaRPr lang="en-US" sz="1800" dirty="0"/>
          </a:p>
        </p:txBody>
      </p:sp>
      <p:sp>
        <p:nvSpPr>
          <p:cNvPr id="35" name="Shape 13">
            <a:extLst>
              <a:ext uri="{FF2B5EF4-FFF2-40B4-BE49-F238E27FC236}">
                <a16:creationId xmlns:a16="http://schemas.microsoft.com/office/drawing/2014/main" id="{BB26D5CE-3CE7-F849-8C1D-B77E9EFE8265}"/>
              </a:ext>
            </a:extLst>
          </p:cNvPr>
          <p:cNvSpPr/>
          <p:nvPr/>
        </p:nvSpPr>
        <p:spPr>
          <a:xfrm>
            <a:off x="2834640" y="3474720"/>
            <a:ext cx="868680" cy="685800"/>
          </a:xfrm>
          <a:prstGeom prst="rect">
            <a:avLst/>
          </a:prstGeom>
          <a:solidFill>
            <a:srgbClr val="EDEDED"/>
          </a:solidFill>
          <a:ln w="6350">
            <a:solidFill>
              <a:srgbClr val="BFBFBF"/>
            </a:solidFill>
            <a:prstDash val="solid"/>
          </a:ln>
        </p:spPr>
        <p:txBody>
          <a:bodyPr/>
          <a:lstStyle/>
          <a:p>
            <a:endParaRPr lang="es-AR"/>
          </a:p>
        </p:txBody>
      </p:sp>
      <p:sp>
        <p:nvSpPr>
          <p:cNvPr id="39" name="Text 14">
            <a:extLst>
              <a:ext uri="{FF2B5EF4-FFF2-40B4-BE49-F238E27FC236}">
                <a16:creationId xmlns:a16="http://schemas.microsoft.com/office/drawing/2014/main" id="{309A6295-6477-5569-2264-E6E23E9F0923}"/>
              </a:ext>
            </a:extLst>
          </p:cNvPr>
          <p:cNvSpPr/>
          <p:nvPr/>
        </p:nvSpPr>
        <p:spPr>
          <a:xfrm>
            <a:off x="2834640" y="3474720"/>
            <a:ext cx="868680" cy="685800"/>
          </a:xfrm>
          <a:prstGeom prst="rect">
            <a:avLst/>
          </a:prstGeom>
          <a:noFill/>
          <a:ln/>
        </p:spPr>
        <p:txBody>
          <a:bodyPr wrap="square" lIns="0" tIns="0" rIns="0" bIns="0" rtlCol="0" anchor="ctr"/>
          <a:lstStyle/>
          <a:p>
            <a:pPr marL="0" indent="0" algn="ctr">
              <a:buNone/>
            </a:pPr>
            <a:r>
              <a:rPr lang="en-US" sz="1800" i="1" dirty="0">
                <a:solidFill>
                  <a:srgbClr val="111111"/>
                </a:solidFill>
                <a:latin typeface="Georgia" pitchFamily="34" charset="0"/>
                <a:ea typeface="Georgia" pitchFamily="34" charset="-122"/>
                <a:cs typeface="Georgia" pitchFamily="34" charset="-120"/>
              </a:rPr>
              <a:t>t</a:t>
            </a:r>
            <a:endParaRPr lang="en-US" sz="1800" dirty="0"/>
          </a:p>
        </p:txBody>
      </p:sp>
      <p:sp>
        <p:nvSpPr>
          <p:cNvPr id="40" name="Shape 15">
            <a:extLst>
              <a:ext uri="{FF2B5EF4-FFF2-40B4-BE49-F238E27FC236}">
                <a16:creationId xmlns:a16="http://schemas.microsoft.com/office/drawing/2014/main" id="{24B53F16-A902-F4D7-D62F-19F08BDEEF40}"/>
              </a:ext>
            </a:extLst>
          </p:cNvPr>
          <p:cNvSpPr/>
          <p:nvPr/>
        </p:nvSpPr>
        <p:spPr>
          <a:xfrm>
            <a:off x="3931920" y="3474720"/>
            <a:ext cx="868680" cy="685800"/>
          </a:xfrm>
          <a:prstGeom prst="rect">
            <a:avLst/>
          </a:prstGeom>
          <a:solidFill>
            <a:srgbClr val="111111"/>
          </a:solidFill>
          <a:ln w="6350">
            <a:solidFill>
              <a:srgbClr val="111111"/>
            </a:solidFill>
            <a:prstDash val="solid"/>
          </a:ln>
        </p:spPr>
        <p:txBody>
          <a:bodyPr/>
          <a:lstStyle/>
          <a:p>
            <a:endParaRPr lang="es-AR"/>
          </a:p>
        </p:txBody>
      </p:sp>
      <p:sp>
        <p:nvSpPr>
          <p:cNvPr id="41" name="Text 16">
            <a:extLst>
              <a:ext uri="{FF2B5EF4-FFF2-40B4-BE49-F238E27FC236}">
                <a16:creationId xmlns:a16="http://schemas.microsoft.com/office/drawing/2014/main" id="{08D8C504-21B6-E5A5-5561-940F47457530}"/>
              </a:ext>
            </a:extLst>
          </p:cNvPr>
          <p:cNvSpPr/>
          <p:nvPr/>
        </p:nvSpPr>
        <p:spPr>
          <a:xfrm>
            <a:off x="3931920" y="3474720"/>
            <a:ext cx="868680" cy="685800"/>
          </a:xfrm>
          <a:prstGeom prst="rect">
            <a:avLst/>
          </a:prstGeom>
          <a:noFill/>
          <a:ln/>
        </p:spPr>
        <p:txBody>
          <a:bodyPr wrap="square" lIns="0" tIns="0" rIns="0" bIns="0" rtlCol="0" anchor="ctr"/>
          <a:lstStyle/>
          <a:p>
            <a:pPr marL="0" indent="0" algn="ctr">
              <a:buNone/>
            </a:pPr>
            <a:r>
              <a:rPr lang="en-US" sz="1800" i="1" dirty="0">
                <a:solidFill>
                  <a:srgbClr val="FFFFFF"/>
                </a:solidFill>
                <a:latin typeface="Georgia" pitchFamily="34" charset="0"/>
                <a:ea typeface="Georgia" pitchFamily="34" charset="-122"/>
                <a:cs typeface="Georgia" pitchFamily="34" charset="-120"/>
              </a:rPr>
              <a:t>t+1</a:t>
            </a:r>
            <a:endParaRPr lang="en-US" sz="1800" dirty="0"/>
          </a:p>
        </p:txBody>
      </p:sp>
      <p:sp>
        <p:nvSpPr>
          <p:cNvPr id="42" name="Shape 17">
            <a:extLst>
              <a:ext uri="{FF2B5EF4-FFF2-40B4-BE49-F238E27FC236}">
                <a16:creationId xmlns:a16="http://schemas.microsoft.com/office/drawing/2014/main" id="{B39C98A7-AD68-3102-5685-376DFBA68E87}"/>
              </a:ext>
            </a:extLst>
          </p:cNvPr>
          <p:cNvSpPr/>
          <p:nvPr/>
        </p:nvSpPr>
        <p:spPr>
          <a:xfrm>
            <a:off x="3749040" y="3822192"/>
            <a:ext cx="137160" cy="0"/>
          </a:xfrm>
          <a:prstGeom prst="line">
            <a:avLst/>
          </a:prstGeom>
          <a:noFill/>
          <a:ln w="9525">
            <a:solidFill>
              <a:srgbClr val="555555"/>
            </a:solidFill>
            <a:prstDash val="solid"/>
            <a:tailEnd type="triangle"/>
          </a:ln>
        </p:spPr>
        <p:txBody>
          <a:bodyPr/>
          <a:lstStyle/>
          <a:p>
            <a:endParaRPr lang="es-AR"/>
          </a:p>
        </p:txBody>
      </p:sp>
      <p:sp>
        <p:nvSpPr>
          <p:cNvPr id="43" name="Text 18">
            <a:extLst>
              <a:ext uri="{FF2B5EF4-FFF2-40B4-BE49-F238E27FC236}">
                <a16:creationId xmlns:a16="http://schemas.microsoft.com/office/drawing/2014/main" id="{8F169470-AC54-0B0C-630E-FB42F6729FFA}"/>
              </a:ext>
            </a:extLst>
          </p:cNvPr>
          <p:cNvSpPr/>
          <p:nvPr/>
        </p:nvSpPr>
        <p:spPr>
          <a:xfrm>
            <a:off x="640080" y="4251960"/>
            <a:ext cx="3063240" cy="228600"/>
          </a:xfrm>
          <a:prstGeom prst="rect">
            <a:avLst/>
          </a:prstGeom>
          <a:noFill/>
          <a:ln/>
        </p:spPr>
        <p:txBody>
          <a:bodyPr wrap="square" lIns="0" tIns="0" rIns="0" bIns="0" rtlCol="0" anchor="ctr"/>
          <a:lstStyle/>
          <a:p>
            <a:pPr marL="0" indent="0" algn="ctr">
              <a:buNone/>
            </a:pPr>
            <a:r>
              <a:rPr lang="en-US" sz="800" b="1" kern="0" spc="300" dirty="0">
                <a:solidFill>
                  <a:srgbClr val="777777"/>
                </a:solidFill>
                <a:latin typeface="Calibri" pitchFamily="34" charset="0"/>
                <a:ea typeface="Calibri" pitchFamily="34" charset="-122"/>
                <a:cs typeface="Calibri" pitchFamily="34" charset="-120"/>
              </a:rPr>
              <a:t>VENTANA DE CONTEXTO (PROMPT)</a:t>
            </a:r>
            <a:endParaRPr lang="en-US" sz="800" dirty="0"/>
          </a:p>
        </p:txBody>
      </p:sp>
      <p:sp>
        <p:nvSpPr>
          <p:cNvPr id="44" name="Text 19">
            <a:extLst>
              <a:ext uri="{FF2B5EF4-FFF2-40B4-BE49-F238E27FC236}">
                <a16:creationId xmlns:a16="http://schemas.microsoft.com/office/drawing/2014/main" id="{B7ECFDAD-EC95-01E8-E5AB-A15CFC0305E0}"/>
              </a:ext>
            </a:extLst>
          </p:cNvPr>
          <p:cNvSpPr/>
          <p:nvPr/>
        </p:nvSpPr>
        <p:spPr>
          <a:xfrm>
            <a:off x="3931920" y="4251960"/>
            <a:ext cx="868680" cy="228600"/>
          </a:xfrm>
          <a:prstGeom prst="rect">
            <a:avLst/>
          </a:prstGeom>
          <a:noFill/>
          <a:ln/>
        </p:spPr>
        <p:txBody>
          <a:bodyPr wrap="square" lIns="0" tIns="0" rIns="0" bIns="0" rtlCol="0" anchor="ctr"/>
          <a:lstStyle/>
          <a:p>
            <a:pPr marL="0" indent="0" algn="ctr">
              <a:buNone/>
            </a:pPr>
            <a:r>
              <a:rPr lang="en-US" sz="800" b="1" kern="0" spc="300" dirty="0">
                <a:solidFill>
                  <a:srgbClr val="111111"/>
                </a:solidFill>
                <a:latin typeface="Calibri" pitchFamily="34" charset="0"/>
                <a:ea typeface="Calibri" pitchFamily="34" charset="-122"/>
                <a:cs typeface="Calibri" pitchFamily="34" charset="-120"/>
              </a:rPr>
              <a:t>TARGET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Finetuning: </a:t>
            </a:r>
            <a:r>
              <a:rPr lang="en-US" sz="2800" b="1" dirty="0" err="1">
                <a:solidFill>
                  <a:srgbClr val="23304A"/>
                </a:solidFill>
                <a:latin typeface="Arial" panose="020B0604020202020204" pitchFamily="34" charset="0"/>
                <a:ea typeface="Georgia" pitchFamily="34" charset="-122"/>
                <a:cs typeface="Arial" panose="020B0604020202020204" pitchFamily="34" charset="0"/>
              </a:rPr>
              <a:t>supervisado</a:t>
            </a:r>
            <a:r>
              <a:rPr lang="en-US" sz="2800" b="1" dirty="0">
                <a:solidFill>
                  <a:srgbClr val="23304A"/>
                </a:solidFill>
                <a:latin typeface="Arial" panose="020B0604020202020204" pitchFamily="34" charset="0"/>
                <a:ea typeface="Georgia" pitchFamily="34" charset="-122"/>
                <a:cs typeface="Arial" panose="020B0604020202020204" pitchFamily="34" charset="0"/>
              </a:rPr>
              <a:t> &amp; prompt / target</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06</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481328"/>
            <a:ext cx="10881360" cy="365760"/>
          </a:xfrm>
          <a:prstGeom prst="rect">
            <a:avLst/>
          </a:prstGeom>
          <a:noFill/>
          <a:ln/>
        </p:spPr>
        <p:txBody>
          <a:bodyPr wrap="square" lIns="0" tIns="0" rIns="0" bIns="0" rtlCol="0" anchor="ctr"/>
          <a:lstStyle/>
          <a:p>
            <a:pPr marL="0" indent="0">
              <a:buNone/>
            </a:pPr>
            <a:r>
              <a:rPr lang="en-US" sz="1250" dirty="0" err="1">
                <a:latin typeface="Arial" panose="020B0604020202020204" pitchFamily="34" charset="0"/>
                <a:cs typeface="Arial" panose="020B0604020202020204" pitchFamily="34" charset="0"/>
              </a:rPr>
              <a:t>Preprocesamiento</a:t>
            </a:r>
            <a:r>
              <a:rPr lang="en-US" sz="1250" dirty="0">
                <a:latin typeface="Arial" panose="020B0604020202020204" pitchFamily="34" charset="0"/>
                <a:cs typeface="Arial" panose="020B0604020202020204" pitchFamily="34" charset="0"/>
              </a:rPr>
              <a:t> del dataset con prompt/competition.</a:t>
            </a:r>
          </a:p>
        </p:txBody>
      </p:sp>
      <p:sp>
        <p:nvSpPr>
          <p:cNvPr id="6" name="Shape 4"/>
          <p:cNvSpPr/>
          <p:nvPr/>
        </p:nvSpPr>
        <p:spPr>
          <a:xfrm>
            <a:off x="640080" y="2011680"/>
            <a:ext cx="5989320" cy="3310128"/>
          </a:xfrm>
          <a:prstGeom prst="rect">
            <a:avLst/>
          </a:prstGeom>
          <a:solidFill>
            <a:schemeClr val="tx1"/>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p>
        </p:txBody>
      </p:sp>
      <p:sp>
        <p:nvSpPr>
          <p:cNvPr id="7" name="Shape 5"/>
          <p:cNvSpPr/>
          <p:nvPr/>
        </p:nvSpPr>
        <p:spPr>
          <a:xfrm>
            <a:off x="640080" y="2011680"/>
            <a:ext cx="5989320" cy="384048"/>
          </a:xfrm>
          <a:prstGeom prst="rect">
            <a:avLst/>
          </a:prstGeom>
          <a:solidFill>
            <a:schemeClr val="tx1">
              <a:lumMod val="85000"/>
              <a:lumOff val="15000"/>
            </a:schemeClr>
          </a:solidFill>
          <a:ln w="12700">
            <a:solidFill>
              <a:srgbClr val="333333"/>
            </a:solidFill>
            <a:prstDash val="solid"/>
          </a:ln>
        </p:spPr>
        <p:txBody>
          <a:bodyPr/>
          <a:lstStyle/>
          <a:p>
            <a:endParaRPr lang="es-AR"/>
          </a:p>
        </p:txBody>
      </p:sp>
      <p:sp>
        <p:nvSpPr>
          <p:cNvPr id="8" name="Shape 6"/>
          <p:cNvSpPr/>
          <p:nvPr/>
        </p:nvSpPr>
        <p:spPr>
          <a:xfrm>
            <a:off x="841248" y="2139696"/>
            <a:ext cx="128016" cy="128016"/>
          </a:xfrm>
          <a:prstGeom prst="ellipse">
            <a:avLst/>
          </a:prstGeom>
          <a:solidFill>
            <a:srgbClr val="B0413E"/>
          </a:solidFill>
          <a:ln w="12700">
            <a:solidFill>
              <a:srgbClr val="333333"/>
            </a:solidFill>
            <a:prstDash val="solid"/>
          </a:ln>
        </p:spPr>
        <p:txBody>
          <a:bodyPr/>
          <a:lstStyle/>
          <a:p>
            <a:endParaRPr lang="es-AR"/>
          </a:p>
        </p:txBody>
      </p:sp>
      <p:sp>
        <p:nvSpPr>
          <p:cNvPr id="9" name="Shape 7"/>
          <p:cNvSpPr/>
          <p:nvPr/>
        </p:nvSpPr>
        <p:spPr>
          <a:xfrm>
            <a:off x="1078992" y="2139696"/>
            <a:ext cx="128016" cy="128016"/>
          </a:xfrm>
          <a:prstGeom prst="ellipse">
            <a:avLst/>
          </a:prstGeom>
          <a:solidFill>
            <a:srgbClr val="C8923B"/>
          </a:solidFill>
          <a:ln w="12700">
            <a:solidFill>
              <a:srgbClr val="333333"/>
            </a:solidFill>
            <a:prstDash val="solid"/>
          </a:ln>
        </p:spPr>
        <p:txBody>
          <a:bodyPr/>
          <a:lstStyle/>
          <a:p>
            <a:endParaRPr lang="es-AR"/>
          </a:p>
        </p:txBody>
      </p:sp>
      <p:sp>
        <p:nvSpPr>
          <p:cNvPr id="10" name="Shape 8"/>
          <p:cNvSpPr/>
          <p:nvPr/>
        </p:nvSpPr>
        <p:spPr>
          <a:xfrm>
            <a:off x="1316736" y="2139696"/>
            <a:ext cx="128016" cy="128016"/>
          </a:xfrm>
          <a:prstGeom prst="ellipse">
            <a:avLst/>
          </a:prstGeom>
          <a:solidFill>
            <a:srgbClr val="3F7D58"/>
          </a:solidFill>
          <a:ln w="12700">
            <a:solidFill>
              <a:srgbClr val="333333"/>
            </a:solidFill>
            <a:prstDash val="solid"/>
          </a:ln>
        </p:spPr>
        <p:txBody>
          <a:bodyPr/>
          <a:lstStyle/>
          <a:p>
            <a:endParaRPr lang="es-AR"/>
          </a:p>
        </p:txBody>
      </p:sp>
      <p:sp>
        <p:nvSpPr>
          <p:cNvPr id="11" name="Text 9"/>
          <p:cNvSpPr/>
          <p:nvPr/>
        </p:nvSpPr>
        <p:spPr>
          <a:xfrm>
            <a:off x="1737360" y="2011680"/>
            <a:ext cx="4709160" cy="384048"/>
          </a:xfrm>
          <a:prstGeom prst="rect">
            <a:avLst/>
          </a:prstGeom>
          <a:noFill/>
          <a:ln/>
        </p:spPr>
        <p:txBody>
          <a:bodyPr wrap="square" lIns="0" tIns="0" rIns="0" bIns="0" rtlCol="0" anchor="ctr"/>
          <a:lstStyle/>
          <a:p>
            <a:pPr marL="0" indent="0">
              <a:buNone/>
            </a:pPr>
            <a:r>
              <a:rPr lang="en-US" sz="950" dirty="0">
                <a:solidFill>
                  <a:srgbClr val="8FA6C4"/>
                </a:solidFill>
                <a:latin typeface="Consolas" pitchFamily="34" charset="0"/>
                <a:ea typeface="Consolas" pitchFamily="34" charset="-122"/>
                <a:cs typeface="Consolas" pitchFamily="34" charset="-120"/>
              </a:rPr>
              <a:t>prompt  ·  ejemplo abreviado</a:t>
            </a:r>
            <a:endParaRPr lang="en-US" sz="950" dirty="0"/>
          </a:p>
        </p:txBody>
      </p:sp>
      <p:sp>
        <p:nvSpPr>
          <p:cNvPr id="12" name="Text 10"/>
          <p:cNvSpPr/>
          <p:nvPr/>
        </p:nvSpPr>
        <p:spPr>
          <a:xfrm>
            <a:off x="932688" y="2542032"/>
            <a:ext cx="5486400" cy="2596896"/>
          </a:xfrm>
          <a:prstGeom prst="rect">
            <a:avLst/>
          </a:prstGeom>
          <a:noFill/>
          <a:ln/>
        </p:spPr>
        <p:txBody>
          <a:bodyPr wrap="square" lIns="0" tIns="0" rIns="0" bIns="0" rtlCol="0" anchor="ctr"/>
          <a:lstStyle/>
          <a:p>
            <a:pPr marL="0" indent="0">
              <a:lnSpc>
                <a:spcPct val="122000"/>
              </a:lnSpc>
              <a:buNone/>
            </a:pPr>
            <a:r>
              <a:rPr lang="en-US" sz="1050" dirty="0">
                <a:solidFill>
                  <a:srgbClr val="6FB8C4"/>
                </a:solidFill>
                <a:latin typeface="Consolas" pitchFamily="34" charset="0"/>
                <a:ea typeface="Consolas" pitchFamily="34" charset="-122"/>
                <a:cs typeface="Consolas" pitchFamily="34" charset="-120"/>
              </a:rPr>
              <a:t>[TICKER: AMD]</a:t>
            </a:r>
            <a:endParaRPr lang="en-US" sz="1050" dirty="0"/>
          </a:p>
          <a:p>
            <a:pPr marL="0" indent="0">
              <a:lnSpc>
                <a:spcPct val="122000"/>
              </a:lnSpc>
              <a:buNone/>
            </a:pPr>
            <a:r>
              <a:rPr lang="en-US" sz="1050" dirty="0">
                <a:solidFill>
                  <a:srgbClr val="6FB8C4"/>
                </a:solidFill>
                <a:latin typeface="Consolas" pitchFamily="34" charset="0"/>
                <a:ea typeface="Consolas" pitchFamily="34" charset="-122"/>
                <a:cs typeface="Consolas" pitchFamily="34" charset="-120"/>
              </a:rPr>
              <a:t>[DATE: 2023-04-18]</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[PRICE_CHANGE: -0.10%]</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[VOLUME_RATIO: 0.80]</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[RSI: 36.50]</a:t>
            </a:r>
            <a:endParaRPr lang="en-US" sz="1050" dirty="0"/>
          </a:p>
          <a:p>
            <a:pPr marL="0" indent="0">
              <a:lnSpc>
                <a:spcPct val="122000"/>
              </a:lnSpc>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lnSpc>
                <a:spcPct val="122000"/>
              </a:lnSpc>
              <a:buNone/>
            </a:pPr>
            <a:r>
              <a:rPr lang="en-US" sz="1050" dirty="0">
                <a:solidFill>
                  <a:srgbClr val="9FB0CC"/>
                </a:solidFill>
                <a:latin typeface="Consolas" pitchFamily="34" charset="0"/>
                <a:ea typeface="Consolas" pitchFamily="34" charset="-122"/>
                <a:cs typeface="Consolas" pitchFamily="34" charset="-120"/>
              </a:rPr>
              <a:t>[PREVIOUS NEWS]</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- 2023-04-16: analysts trim AMD estimates</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- 2023-04-17: chip sector slides on macro</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- 2023-04-18: AMD sinks as market gains</a:t>
            </a:r>
            <a:endParaRPr lang="en-US" sz="1050" dirty="0"/>
          </a:p>
          <a:p>
            <a:pPr marL="0" indent="0">
              <a:lnSpc>
                <a:spcPct val="122000"/>
              </a:lnSpc>
              <a:buNone/>
            </a:pPr>
            <a:r>
              <a:rPr lang="en-US" sz="1050" dirty="0">
                <a:solidFill>
                  <a:srgbClr val="8FA6C4"/>
                </a:solidFill>
                <a:latin typeface="Consolas" pitchFamily="34" charset="0"/>
                <a:ea typeface="Consolas" pitchFamily="34" charset="-122"/>
                <a:cs typeface="Consolas" pitchFamily="34" charset="-120"/>
              </a:rPr>
              <a:t>                       &lt;-- ventana k=3</a:t>
            </a:r>
            <a:endParaRPr lang="en-US" sz="1050" dirty="0"/>
          </a:p>
          <a:p>
            <a:pPr marL="0" indent="0">
              <a:lnSpc>
                <a:spcPct val="122000"/>
              </a:lnSpc>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lnSpc>
                <a:spcPct val="122000"/>
              </a:lnSpc>
              <a:buNone/>
            </a:pPr>
            <a:r>
              <a:rPr lang="en-US" sz="1050" dirty="0">
                <a:solidFill>
                  <a:srgbClr val="82C49B"/>
                </a:solidFill>
                <a:latin typeface="Consolas" pitchFamily="34" charset="0"/>
                <a:ea typeface="Consolas" pitchFamily="34" charset="-122"/>
                <a:cs typeface="Consolas" pitchFamily="34" charset="-120"/>
              </a:rPr>
              <a:t>[NEXT DAY NEWS]   &lt;-- target</a:t>
            </a:r>
            <a:endParaRPr lang="en-US" sz="1050" dirty="0"/>
          </a:p>
        </p:txBody>
      </p:sp>
      <p:sp>
        <p:nvSpPr>
          <p:cNvPr id="13" name="Shape 11"/>
          <p:cNvSpPr/>
          <p:nvPr/>
        </p:nvSpPr>
        <p:spPr>
          <a:xfrm>
            <a:off x="640080" y="5468112"/>
            <a:ext cx="5989320" cy="566928"/>
          </a:xfrm>
          <a:prstGeom prst="rect">
            <a:avLst/>
          </a:prstGeom>
          <a:solidFill>
            <a:srgbClr val="EAF1F4"/>
          </a:solidFill>
          <a:ln w="12700">
            <a:solidFill>
              <a:srgbClr val="D6DEE4"/>
            </a:solidFill>
            <a:prstDash val="solid"/>
          </a:ln>
        </p:spPr>
        <p:txBody>
          <a:bodyPr/>
          <a:lstStyle/>
          <a:p>
            <a:endParaRPr lang="es-AR"/>
          </a:p>
        </p:txBody>
      </p:sp>
      <p:sp>
        <p:nvSpPr>
          <p:cNvPr id="15" name="Text 13"/>
          <p:cNvSpPr/>
          <p:nvPr/>
        </p:nvSpPr>
        <p:spPr>
          <a:xfrm>
            <a:off x="859536" y="5468112"/>
            <a:ext cx="5568696" cy="566928"/>
          </a:xfrm>
          <a:prstGeom prst="rect">
            <a:avLst/>
          </a:prstGeom>
          <a:noFill/>
          <a:ln/>
        </p:spPr>
        <p:txBody>
          <a:bodyPr wrap="square" lIns="0" tIns="0" rIns="0" bIns="0" rtlCol="0" anchor="ctr"/>
          <a:lstStyle/>
          <a:p>
            <a:pPr marL="0" indent="0">
              <a:buNone/>
            </a:pPr>
            <a:r>
              <a:rPr lang="en-US" sz="1000" b="1" dirty="0">
                <a:solidFill>
                  <a:srgbClr val="23304A"/>
                </a:solidFill>
                <a:latin typeface="Arial" panose="020B0604020202020204" pitchFamily="34" charset="0"/>
                <a:ea typeface="Calibri" pitchFamily="34" charset="-122"/>
                <a:cs typeface="Arial" panose="020B0604020202020204" pitchFamily="34" charset="0"/>
              </a:rPr>
              <a:t>Pérdida enmascarada sobre el prompt  </a:t>
            </a:r>
            <a:r>
              <a:rPr lang="en-US" sz="1000" dirty="0">
                <a:solidFill>
                  <a:srgbClr val="667085"/>
                </a:solidFill>
                <a:latin typeface="Arial" panose="020B0604020202020204" pitchFamily="34" charset="0"/>
                <a:ea typeface="Calibri" pitchFamily="34" charset="-122"/>
                <a:cs typeface="Arial" panose="020B0604020202020204" pitchFamily="34" charset="0"/>
              </a:rPr>
              <a:t>→  el gradiente viene solo del completion.</a:t>
            </a:r>
            <a:endParaRPr lang="en-US" sz="1000" dirty="0">
              <a:latin typeface="Arial" panose="020B0604020202020204" pitchFamily="34" charset="0"/>
              <a:cs typeface="Arial" panose="020B0604020202020204" pitchFamily="34" charset="0"/>
            </a:endParaRPr>
          </a:p>
        </p:txBody>
      </p:sp>
      <p:sp>
        <p:nvSpPr>
          <p:cNvPr id="16" name="Shape 14"/>
          <p:cNvSpPr/>
          <p:nvPr/>
        </p:nvSpPr>
        <p:spPr>
          <a:xfrm>
            <a:off x="6931152" y="2011680"/>
            <a:ext cx="4620463" cy="107899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8" name="Image 0" descr="icon_arrow_t.png"/>
          <p:cNvPicPr>
            <a:picLocks noChangeAspect="1"/>
          </p:cNvPicPr>
          <p:nvPr/>
        </p:nvPicPr>
        <p:blipFill>
          <a:blip r:embed="rId3"/>
          <a:stretch>
            <a:fillRect/>
          </a:stretch>
        </p:blipFill>
        <p:spPr>
          <a:xfrm>
            <a:off x="7132320" y="2194560"/>
            <a:ext cx="292608" cy="292608"/>
          </a:xfrm>
          <a:prstGeom prst="rect">
            <a:avLst/>
          </a:prstGeom>
        </p:spPr>
      </p:pic>
      <p:sp>
        <p:nvSpPr>
          <p:cNvPr id="19" name="Text 16"/>
          <p:cNvSpPr/>
          <p:nvPr/>
        </p:nvSpPr>
        <p:spPr>
          <a:xfrm>
            <a:off x="7534656" y="2157984"/>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Prompt (contexto hasta el día t)</a:t>
            </a:r>
            <a:endParaRPr lang="en-US" sz="1250" dirty="0">
              <a:latin typeface="Arial" panose="020B0604020202020204" pitchFamily="34" charset="0"/>
              <a:cs typeface="Arial" panose="020B0604020202020204" pitchFamily="34" charset="0"/>
            </a:endParaRPr>
          </a:p>
        </p:txBody>
      </p:sp>
      <p:sp>
        <p:nvSpPr>
          <p:cNvPr id="20" name="Text 17"/>
          <p:cNvSpPr/>
          <p:nvPr/>
        </p:nvSpPr>
        <p:spPr>
          <a:xfrm>
            <a:off x="7150608" y="2514600"/>
            <a:ext cx="4199839" cy="438912"/>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Ticker, fecha, features numéricas de mercado y la ventana de noticias previas (k = 3 días).</a:t>
            </a:r>
            <a:endParaRPr lang="en-US" sz="1030" dirty="0">
              <a:latin typeface="Arial" panose="020B0604020202020204" pitchFamily="34" charset="0"/>
              <a:cs typeface="Arial" panose="020B0604020202020204" pitchFamily="34" charset="0"/>
            </a:endParaRPr>
          </a:p>
        </p:txBody>
      </p:sp>
      <p:sp>
        <p:nvSpPr>
          <p:cNvPr id="21" name="Shape 18"/>
          <p:cNvSpPr/>
          <p:nvPr/>
        </p:nvSpPr>
        <p:spPr>
          <a:xfrm>
            <a:off x="6931152" y="3273552"/>
            <a:ext cx="4620463" cy="969264"/>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3" name="Image 1" descr="icon_target.png"/>
          <p:cNvPicPr>
            <a:picLocks noChangeAspect="1"/>
          </p:cNvPicPr>
          <p:nvPr/>
        </p:nvPicPr>
        <p:blipFill>
          <a:blip r:embed="rId4"/>
          <a:stretch>
            <a:fillRect/>
          </a:stretch>
        </p:blipFill>
        <p:spPr>
          <a:xfrm>
            <a:off x="7132320" y="3456432"/>
            <a:ext cx="292608" cy="292608"/>
          </a:xfrm>
          <a:prstGeom prst="rect">
            <a:avLst/>
          </a:prstGeom>
        </p:spPr>
      </p:pic>
      <p:sp>
        <p:nvSpPr>
          <p:cNvPr id="24" name="Text 20"/>
          <p:cNvSpPr/>
          <p:nvPr/>
        </p:nvSpPr>
        <p:spPr>
          <a:xfrm>
            <a:off x="7534656" y="3419856"/>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Target (día t+1)</a:t>
            </a:r>
            <a:endParaRPr lang="en-US" sz="1250" dirty="0">
              <a:latin typeface="Arial" panose="020B0604020202020204" pitchFamily="34" charset="0"/>
              <a:cs typeface="Arial" panose="020B0604020202020204" pitchFamily="34" charset="0"/>
            </a:endParaRPr>
          </a:p>
        </p:txBody>
      </p:sp>
      <p:sp>
        <p:nvSpPr>
          <p:cNvPr id="25" name="Text 21"/>
          <p:cNvSpPr/>
          <p:nvPr/>
        </p:nvSpPr>
        <p:spPr>
          <a:xfrm>
            <a:off x="7150608" y="3776472"/>
            <a:ext cx="4199839" cy="329184"/>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La narrativa u outlook del día siguiente que el modelo debe generar.</a:t>
            </a:r>
            <a:endParaRPr lang="en-US" sz="1030" dirty="0">
              <a:latin typeface="Arial" panose="020B0604020202020204" pitchFamily="34" charset="0"/>
              <a:cs typeface="Arial" panose="020B0604020202020204" pitchFamily="34" charset="0"/>
            </a:endParaRPr>
          </a:p>
        </p:txBody>
      </p:sp>
      <p:sp>
        <p:nvSpPr>
          <p:cNvPr id="26" name="Shape 22"/>
          <p:cNvSpPr/>
          <p:nvPr/>
        </p:nvSpPr>
        <p:spPr>
          <a:xfrm>
            <a:off x="6931152" y="4425696"/>
            <a:ext cx="4620463" cy="137160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28" name="Image 2" descr="icon_sliders.png"/>
          <p:cNvPicPr>
            <a:picLocks noChangeAspect="1"/>
          </p:cNvPicPr>
          <p:nvPr/>
        </p:nvPicPr>
        <p:blipFill>
          <a:blip r:embed="rId5"/>
          <a:stretch>
            <a:fillRect/>
          </a:stretch>
        </p:blipFill>
        <p:spPr>
          <a:xfrm>
            <a:off x="7132320" y="4608576"/>
            <a:ext cx="292608" cy="292608"/>
          </a:xfrm>
          <a:prstGeom prst="rect">
            <a:avLst/>
          </a:prstGeom>
        </p:spPr>
      </p:pic>
      <p:sp>
        <p:nvSpPr>
          <p:cNvPr id="29" name="Text 24"/>
          <p:cNvSpPr/>
          <p:nvPr/>
        </p:nvSpPr>
        <p:spPr>
          <a:xfrm>
            <a:off x="7534656" y="4572000"/>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Variantes de target</a:t>
            </a:r>
            <a:endParaRPr lang="en-US" sz="1250" dirty="0">
              <a:latin typeface="Arial" panose="020B0604020202020204" pitchFamily="34" charset="0"/>
              <a:cs typeface="Arial" panose="020B0604020202020204" pitchFamily="34" charset="0"/>
            </a:endParaRPr>
          </a:p>
        </p:txBody>
      </p:sp>
      <p:sp>
        <p:nvSpPr>
          <p:cNvPr id="30" name="Text 25"/>
          <p:cNvSpPr/>
          <p:nvPr/>
        </p:nvSpPr>
        <p:spPr>
          <a:xfrm>
            <a:off x="7150608" y="4928616"/>
            <a:ext cx="4199839" cy="731520"/>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Algunos runs usan texto libre, solo titulares; otros añaden estructura explícita de sentimiento y dirección, para comparar si estructurar ayuda al modelo.</a:t>
            </a:r>
            <a:endParaRPr lang="en-US" sz="1030" dirty="0">
              <a:latin typeface="Arial" panose="020B0604020202020204" pitchFamily="34" charset="0"/>
              <a:cs typeface="Arial" panose="020B0604020202020204" pitchFamily="34" charset="0"/>
            </a:endParaRPr>
          </a:p>
        </p:txBody>
      </p:sp>
      <p:sp>
        <p:nvSpPr>
          <p:cNvPr id="32" name="Text 7">
            <a:extLst>
              <a:ext uri="{FF2B5EF4-FFF2-40B4-BE49-F238E27FC236}">
                <a16:creationId xmlns:a16="http://schemas.microsoft.com/office/drawing/2014/main" id="{3FF02E16-F9F5-40BA-0320-130C2A311FA6}"/>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1699" y="923544"/>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Evaluación</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07</a:t>
            </a:r>
            <a:endParaRPr lang="en-US" sz="1500" dirty="0">
              <a:latin typeface="Arial" panose="020B0604020202020204" pitchFamily="34" charset="0"/>
              <a:cs typeface="Arial" panose="020B0604020202020204" pitchFamily="34" charset="0"/>
            </a:endParaRPr>
          </a:p>
        </p:txBody>
      </p:sp>
      <p:sp>
        <p:nvSpPr>
          <p:cNvPr id="6" name="Shape 4"/>
          <p:cNvSpPr/>
          <p:nvPr/>
        </p:nvSpPr>
        <p:spPr>
          <a:xfrm>
            <a:off x="1965960"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7" name="Shape 5"/>
          <p:cNvSpPr/>
          <p:nvPr/>
        </p:nvSpPr>
        <p:spPr>
          <a:xfrm>
            <a:off x="1965960" y="2250779"/>
            <a:ext cx="2651760" cy="457200"/>
          </a:xfrm>
          <a:prstGeom prst="rect">
            <a:avLst/>
          </a:prstGeom>
          <a:solidFill>
            <a:srgbClr val="2A7F8C"/>
          </a:solidFill>
          <a:ln w="12700">
            <a:solidFill>
              <a:srgbClr val="333333"/>
            </a:solidFill>
            <a:prstDash val="solid"/>
          </a:ln>
        </p:spPr>
        <p:txBody>
          <a:bodyPr/>
          <a:lstStyle/>
          <a:p>
            <a:endParaRPr lang="es-AR"/>
          </a:p>
        </p:txBody>
      </p:sp>
      <p:sp>
        <p:nvSpPr>
          <p:cNvPr id="8" name="Text 6"/>
          <p:cNvSpPr/>
          <p:nvPr/>
        </p:nvSpPr>
        <p:spPr>
          <a:xfrm>
            <a:off x="2057400"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1  ·  TEXTUAL</a:t>
            </a:r>
            <a:endParaRPr lang="en-US" sz="950" dirty="0">
              <a:latin typeface="Arial" panose="020B0604020202020204" pitchFamily="34" charset="0"/>
              <a:cs typeface="Arial" panose="020B0604020202020204" pitchFamily="34" charset="0"/>
            </a:endParaRPr>
          </a:p>
        </p:txBody>
      </p:sp>
      <p:sp>
        <p:nvSpPr>
          <p:cNvPr id="9" name="Shape 7"/>
          <p:cNvSpPr/>
          <p:nvPr/>
        </p:nvSpPr>
        <p:spPr>
          <a:xfrm>
            <a:off x="2990088" y="2890859"/>
            <a:ext cx="603504" cy="603504"/>
          </a:xfrm>
          <a:prstGeom prst="ellipse">
            <a:avLst/>
          </a:prstGeom>
          <a:solidFill>
            <a:srgbClr val="FFFFFF"/>
          </a:solidFill>
          <a:ln w="12700">
            <a:solidFill>
              <a:srgbClr val="D6DEE4"/>
            </a:solidFill>
            <a:prstDash val="solid"/>
          </a:ln>
        </p:spPr>
        <p:txBody>
          <a:bodyPr/>
          <a:lstStyle/>
          <a:p>
            <a:endParaRPr lang="es-AR"/>
          </a:p>
        </p:txBody>
      </p:sp>
      <p:pic>
        <p:nvPicPr>
          <p:cNvPr id="10" name="Image 0" descr="icon_text.png"/>
          <p:cNvPicPr>
            <a:picLocks noChangeAspect="1"/>
          </p:cNvPicPr>
          <p:nvPr/>
        </p:nvPicPr>
        <p:blipFill>
          <a:blip r:embed="rId3"/>
          <a:stretch>
            <a:fillRect/>
          </a:stretch>
        </p:blipFill>
        <p:spPr>
          <a:xfrm>
            <a:off x="3118104" y="3018875"/>
            <a:ext cx="347472" cy="347472"/>
          </a:xfrm>
          <a:prstGeom prst="rect">
            <a:avLst/>
          </a:prstGeom>
        </p:spPr>
      </p:pic>
      <p:sp>
        <p:nvSpPr>
          <p:cNvPr id="11" name="Text 8"/>
          <p:cNvSpPr/>
          <p:nvPr/>
        </p:nvSpPr>
        <p:spPr>
          <a:xfrm>
            <a:off x="2084832"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ROUGE-L</a:t>
            </a:r>
            <a:endParaRPr lang="en-US" sz="1250" dirty="0">
              <a:latin typeface="Arial" panose="020B0604020202020204" pitchFamily="34" charset="0"/>
              <a:cs typeface="Arial" panose="020B0604020202020204" pitchFamily="34" charset="0"/>
            </a:endParaRPr>
          </a:p>
        </p:txBody>
      </p:sp>
      <p:sp>
        <p:nvSpPr>
          <p:cNvPr id="12" name="Text 9"/>
          <p:cNvSpPr/>
          <p:nvPr/>
        </p:nvSpPr>
        <p:spPr>
          <a:xfrm>
            <a:off x="2148840"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Solapamiento secuencial con la noticia real. Coincidencia más literal.</a:t>
            </a:r>
            <a:endParaRPr lang="en-US" sz="980" dirty="0">
              <a:latin typeface="Arial" panose="020B0604020202020204" pitchFamily="34" charset="0"/>
              <a:cs typeface="Arial" panose="020B0604020202020204" pitchFamily="34" charset="0"/>
            </a:endParaRPr>
          </a:p>
        </p:txBody>
      </p:sp>
      <p:sp>
        <p:nvSpPr>
          <p:cNvPr id="13" name="Shape 10"/>
          <p:cNvSpPr/>
          <p:nvPr/>
        </p:nvSpPr>
        <p:spPr>
          <a:xfrm>
            <a:off x="4809744"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14" name="Shape 11"/>
          <p:cNvSpPr/>
          <p:nvPr/>
        </p:nvSpPr>
        <p:spPr>
          <a:xfrm>
            <a:off x="4809744" y="2250779"/>
            <a:ext cx="2651760" cy="457200"/>
          </a:xfrm>
          <a:prstGeom prst="rect">
            <a:avLst/>
          </a:prstGeom>
          <a:solidFill>
            <a:srgbClr val="2A7F8C"/>
          </a:solidFill>
          <a:ln w="12700">
            <a:solidFill>
              <a:srgbClr val="333333"/>
            </a:solidFill>
            <a:prstDash val="solid"/>
          </a:ln>
        </p:spPr>
        <p:txBody>
          <a:bodyPr/>
          <a:lstStyle/>
          <a:p>
            <a:endParaRPr lang="es-AR"/>
          </a:p>
        </p:txBody>
      </p:sp>
      <p:sp>
        <p:nvSpPr>
          <p:cNvPr id="15" name="Text 12"/>
          <p:cNvSpPr/>
          <p:nvPr/>
        </p:nvSpPr>
        <p:spPr>
          <a:xfrm>
            <a:off x="4901184"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2  ·  SEMÁNTICA</a:t>
            </a:r>
            <a:endParaRPr lang="en-US" sz="950" dirty="0">
              <a:latin typeface="Arial" panose="020B0604020202020204" pitchFamily="34" charset="0"/>
              <a:cs typeface="Arial" panose="020B0604020202020204" pitchFamily="34" charset="0"/>
            </a:endParaRPr>
          </a:p>
        </p:txBody>
      </p:sp>
      <p:sp>
        <p:nvSpPr>
          <p:cNvPr id="16" name="Shape 13"/>
          <p:cNvSpPr/>
          <p:nvPr/>
        </p:nvSpPr>
        <p:spPr>
          <a:xfrm>
            <a:off x="5833872" y="2890859"/>
            <a:ext cx="603504" cy="603504"/>
          </a:xfrm>
          <a:prstGeom prst="ellipse">
            <a:avLst/>
          </a:prstGeom>
          <a:solidFill>
            <a:srgbClr val="FFFFFF"/>
          </a:solidFill>
          <a:ln w="12700">
            <a:solidFill>
              <a:srgbClr val="D6DEE4"/>
            </a:solidFill>
            <a:prstDash val="solid"/>
          </a:ln>
        </p:spPr>
        <p:txBody>
          <a:bodyPr/>
          <a:lstStyle/>
          <a:p>
            <a:endParaRPr lang="es-AR"/>
          </a:p>
        </p:txBody>
      </p:sp>
      <p:pic>
        <p:nvPicPr>
          <p:cNvPr id="17" name="Image 1" descr="icon_balance.png"/>
          <p:cNvPicPr>
            <a:picLocks noChangeAspect="1"/>
          </p:cNvPicPr>
          <p:nvPr/>
        </p:nvPicPr>
        <p:blipFill>
          <a:blip r:embed="rId4"/>
          <a:stretch>
            <a:fillRect/>
          </a:stretch>
        </p:blipFill>
        <p:spPr>
          <a:xfrm>
            <a:off x="5961888" y="3018875"/>
            <a:ext cx="347472" cy="347472"/>
          </a:xfrm>
          <a:prstGeom prst="rect">
            <a:avLst/>
          </a:prstGeom>
        </p:spPr>
      </p:pic>
      <p:sp>
        <p:nvSpPr>
          <p:cNvPr id="18" name="Text 14"/>
          <p:cNvSpPr/>
          <p:nvPr/>
        </p:nvSpPr>
        <p:spPr>
          <a:xfrm>
            <a:off x="4928616"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BERTScore · FinBERT</a:t>
            </a:r>
            <a:endParaRPr lang="en-US" sz="1250" dirty="0">
              <a:latin typeface="Arial" panose="020B0604020202020204" pitchFamily="34" charset="0"/>
              <a:cs typeface="Arial" panose="020B0604020202020204" pitchFamily="34" charset="0"/>
            </a:endParaRPr>
          </a:p>
        </p:txBody>
      </p:sp>
      <p:sp>
        <p:nvSpPr>
          <p:cNvPr id="19" name="Text 15"/>
          <p:cNvSpPr/>
          <p:nvPr/>
        </p:nvSpPr>
        <p:spPr>
          <a:xfrm>
            <a:off x="4992624"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Cercanía semántica con embeddings y match de sentimiento financiero.</a:t>
            </a:r>
            <a:endParaRPr lang="en-US" sz="980" dirty="0">
              <a:latin typeface="Arial" panose="020B0604020202020204" pitchFamily="34" charset="0"/>
              <a:cs typeface="Arial" panose="020B0604020202020204" pitchFamily="34" charset="0"/>
            </a:endParaRPr>
          </a:p>
        </p:txBody>
      </p:sp>
      <p:sp>
        <p:nvSpPr>
          <p:cNvPr id="20" name="Shape 16"/>
          <p:cNvSpPr/>
          <p:nvPr/>
        </p:nvSpPr>
        <p:spPr>
          <a:xfrm>
            <a:off x="7653528"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sp>
        <p:nvSpPr>
          <p:cNvPr id="21" name="Shape 17"/>
          <p:cNvSpPr/>
          <p:nvPr/>
        </p:nvSpPr>
        <p:spPr>
          <a:xfrm>
            <a:off x="7653528" y="2250779"/>
            <a:ext cx="2651760" cy="457200"/>
          </a:xfrm>
          <a:prstGeom prst="rect">
            <a:avLst/>
          </a:prstGeom>
          <a:solidFill>
            <a:srgbClr val="C8923B"/>
          </a:solidFill>
          <a:ln w="12700">
            <a:solidFill>
              <a:srgbClr val="333333"/>
            </a:solidFill>
            <a:prstDash val="solid"/>
          </a:ln>
        </p:spPr>
        <p:txBody>
          <a:bodyPr/>
          <a:lstStyle/>
          <a:p>
            <a:endParaRPr lang="es-AR"/>
          </a:p>
        </p:txBody>
      </p:sp>
      <p:sp>
        <p:nvSpPr>
          <p:cNvPr id="22" name="Text 18"/>
          <p:cNvSpPr/>
          <p:nvPr/>
        </p:nvSpPr>
        <p:spPr>
          <a:xfrm>
            <a:off x="7744968"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3  ·  FINANCIERA</a:t>
            </a:r>
            <a:endParaRPr lang="en-US" sz="950" dirty="0">
              <a:latin typeface="Arial" panose="020B0604020202020204" pitchFamily="34" charset="0"/>
              <a:cs typeface="Arial" panose="020B0604020202020204" pitchFamily="34" charset="0"/>
            </a:endParaRPr>
          </a:p>
        </p:txBody>
      </p:sp>
      <p:sp>
        <p:nvSpPr>
          <p:cNvPr id="23" name="Shape 19"/>
          <p:cNvSpPr/>
          <p:nvPr/>
        </p:nvSpPr>
        <p:spPr>
          <a:xfrm>
            <a:off x="8677656" y="2890859"/>
            <a:ext cx="603504" cy="603504"/>
          </a:xfrm>
          <a:prstGeom prst="ellipse">
            <a:avLst/>
          </a:prstGeom>
          <a:solidFill>
            <a:srgbClr val="FFFFFF"/>
          </a:solidFill>
          <a:ln w="12700">
            <a:solidFill>
              <a:srgbClr val="D6DEE4"/>
            </a:solidFill>
            <a:prstDash val="solid"/>
          </a:ln>
        </p:spPr>
        <p:txBody>
          <a:bodyPr/>
          <a:lstStyle/>
          <a:p>
            <a:endParaRPr lang="es-AR"/>
          </a:p>
        </p:txBody>
      </p:sp>
      <p:pic>
        <p:nvPicPr>
          <p:cNvPr id="24" name="Image 2" descr="icon_chart.png"/>
          <p:cNvPicPr>
            <a:picLocks noChangeAspect="1"/>
          </p:cNvPicPr>
          <p:nvPr/>
        </p:nvPicPr>
        <p:blipFill>
          <a:blip r:embed="rId5"/>
          <a:stretch>
            <a:fillRect/>
          </a:stretch>
        </p:blipFill>
        <p:spPr>
          <a:xfrm>
            <a:off x="8805672" y="3018875"/>
            <a:ext cx="347472" cy="347472"/>
          </a:xfrm>
          <a:prstGeom prst="rect">
            <a:avLst/>
          </a:prstGeom>
        </p:spPr>
      </p:pic>
      <p:sp>
        <p:nvSpPr>
          <p:cNvPr id="25" name="Text 20"/>
          <p:cNvSpPr/>
          <p:nvPr/>
        </p:nvSpPr>
        <p:spPr>
          <a:xfrm>
            <a:off x="7772400"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Dir. accuracy + coverage</a:t>
            </a:r>
            <a:endParaRPr lang="en-US" sz="1250" dirty="0">
              <a:latin typeface="Arial" panose="020B0604020202020204" pitchFamily="34" charset="0"/>
              <a:cs typeface="Arial" panose="020B0604020202020204" pitchFamily="34" charset="0"/>
            </a:endParaRPr>
          </a:p>
        </p:txBody>
      </p:sp>
      <p:sp>
        <p:nvSpPr>
          <p:cNvPr id="26" name="Text 21"/>
          <p:cNvSpPr/>
          <p:nvPr/>
        </p:nvSpPr>
        <p:spPr>
          <a:xfrm>
            <a:off x="7836408"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Convierte la salida en una señal direccional y la compara con el activo.</a:t>
            </a:r>
            <a:endParaRPr lang="en-US" sz="980" dirty="0">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77EA2F06-6FD4-EA06-B642-262FDC991EEF}"/>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Resultados: progresión experimental</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08</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72084" y="1372277"/>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No es un ranking de modelos: cada run responde un paso distinto de la progresión.</a:t>
            </a:r>
            <a:endParaRPr lang="en-US" sz="1200" dirty="0">
              <a:latin typeface="Arial" panose="020B0604020202020204" pitchFamily="34" charset="0"/>
              <a:cs typeface="Arial" panose="020B0604020202020204" pitchFamily="34" charset="0"/>
            </a:endParaRPr>
          </a:p>
        </p:txBody>
      </p:sp>
      <p:graphicFrame>
        <p:nvGraphicFramePr>
          <p:cNvPr id="8" name="Table 0"/>
          <p:cNvGraphicFramePr>
            <a:graphicFrameLocks noGrp="1"/>
          </p:cNvGraphicFramePr>
          <p:nvPr>
            <p:extLst>
              <p:ext uri="{D42A27DB-BD31-4B8C-83A1-F6EECF244321}">
                <p14:modId xmlns:p14="http://schemas.microsoft.com/office/powerpoint/2010/main" val="3590342193"/>
              </p:ext>
            </p:extLst>
          </p:nvPr>
        </p:nvGraphicFramePr>
        <p:xfrm>
          <a:off x="640080" y="1874520"/>
          <a:ext cx="9800270" cy="2194560"/>
        </p:xfrm>
        <a:graphic>
          <a:graphicData uri="http://schemas.openxmlformats.org/drawingml/2006/table">
            <a:tbl>
              <a:tblPr/>
              <a:tblGrid>
                <a:gridCol w="2401526">
                  <a:extLst>
                    <a:ext uri="{9D8B030D-6E8A-4147-A177-3AD203B41FA5}">
                      <a16:colId xmlns:a16="http://schemas.microsoft.com/office/drawing/2014/main" val="20000"/>
                    </a:ext>
                  </a:extLst>
                </a:gridCol>
                <a:gridCol w="2094948">
                  <a:extLst>
                    <a:ext uri="{9D8B030D-6E8A-4147-A177-3AD203B41FA5}">
                      <a16:colId xmlns:a16="http://schemas.microsoft.com/office/drawing/2014/main" val="20001"/>
                    </a:ext>
                  </a:extLst>
                </a:gridCol>
                <a:gridCol w="1348942">
                  <a:extLst>
                    <a:ext uri="{9D8B030D-6E8A-4147-A177-3AD203B41FA5}">
                      <a16:colId xmlns:a16="http://schemas.microsoft.com/office/drawing/2014/main" val="20002"/>
                    </a:ext>
                  </a:extLst>
                </a:gridCol>
                <a:gridCol w="1297846">
                  <a:extLst>
                    <a:ext uri="{9D8B030D-6E8A-4147-A177-3AD203B41FA5}">
                      <a16:colId xmlns:a16="http://schemas.microsoft.com/office/drawing/2014/main" val="20003"/>
                    </a:ext>
                  </a:extLst>
                </a:gridCol>
                <a:gridCol w="1205873">
                  <a:extLst>
                    <a:ext uri="{9D8B030D-6E8A-4147-A177-3AD203B41FA5}">
                      <a16:colId xmlns:a16="http://schemas.microsoft.com/office/drawing/2014/main" val="20004"/>
                    </a:ext>
                  </a:extLst>
                </a:gridCol>
                <a:gridCol w="1451135">
                  <a:extLst>
                    <a:ext uri="{9D8B030D-6E8A-4147-A177-3AD203B41FA5}">
                      <a16:colId xmlns:a16="http://schemas.microsoft.com/office/drawing/2014/main" val="20005"/>
                    </a:ext>
                  </a:extLst>
                </a:gridCol>
              </a:tblGrid>
              <a:tr h="3657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Rol</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ROUGE-L</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BERT F1</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Sent.</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Dir. acc.</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extLst>
                  <a:ext uri="{0D108BD9-81ED-4DB2-BD59-A6C34878D82A}">
                    <a16:rowId xmlns:a16="http://schemas.microsoft.com/office/drawing/2014/main" val="10000"/>
                  </a:ext>
                </a:extLst>
              </a:tr>
              <a:tr h="365760">
                <a:tc>
                  <a:txBody>
                    <a:bodyPr/>
                    <a:lstStyle/>
                    <a:p>
                      <a:pPr marL="0" indent="0" algn="l">
                        <a:buNone/>
                      </a:pPr>
                      <a:r>
                        <a:rPr lang="en-US" sz="1000" b="1" dirty="0">
                          <a:solidFill>
                            <a:srgbClr val="C8923B"/>
                          </a:solidFill>
                          <a:latin typeface="Calibri" pitchFamily="34" charset="0"/>
                          <a:ea typeface="Calibri" pitchFamily="34" charset="-122"/>
                          <a:cs typeface="Calibri" pitchFamily="34" charset="-120"/>
                        </a:rPr>
                        <a:t>GPT-2 no fine-tune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7EEDD"/>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1 · baseline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0.040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0.704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0.273</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0.549</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extLst>
                  <a:ext uri="{0D108BD9-81ED-4DB2-BD59-A6C34878D82A}">
                    <a16:rowId xmlns:a16="http://schemas.microsoft.com/office/drawing/2014/main" val="10001"/>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SPY/QQQ fine-tuned</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2 · dominio amplio</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0.062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0.732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0.386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0.528</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NVDA single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3 · especialización</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0.070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0.744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0.346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0.462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NVDA label scoring</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4 · estructura</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0.066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0.740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0.376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0.496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000" b="1" dirty="0">
                          <a:solidFill>
                            <a:srgbClr val="2A7F8C"/>
                          </a:solidFill>
                          <a:latin typeface="Calibri" pitchFamily="34" charset="0"/>
                          <a:ea typeface="Calibri" pitchFamily="34" charset="-122"/>
                          <a:cs typeface="Calibri" pitchFamily="34" charset="-120"/>
                        </a:rPr>
                        <a:t>NVDA + AMD: mejor balance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E3EFF1"/>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Paso 5 · multi-ticker</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0.074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0.738</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0.442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0.530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extLst>
                  <a:ext uri="{0D108BD9-81ED-4DB2-BD59-A6C34878D82A}">
                    <a16:rowId xmlns:a16="http://schemas.microsoft.com/office/drawing/2014/main" val="10005"/>
                  </a:ext>
                </a:extLst>
              </a:tr>
            </a:tbl>
          </a:graphicData>
        </a:graphic>
      </p:graphicFrame>
      <p:sp>
        <p:nvSpPr>
          <p:cNvPr id="7" name="Shape 4"/>
          <p:cNvSpPr/>
          <p:nvPr/>
        </p:nvSpPr>
        <p:spPr>
          <a:xfrm>
            <a:off x="640080" y="4434840"/>
            <a:ext cx="3456432" cy="1463040"/>
          </a:xfrm>
          <a:prstGeom prst="rect">
            <a:avLst/>
          </a:prstGeom>
          <a:solidFill>
            <a:srgbClr val="EAF1F4"/>
          </a:solidFill>
          <a:ln w="12700">
            <a:solidFill>
              <a:srgbClr val="D6DEE4"/>
            </a:solidFill>
            <a:prstDash val="solid"/>
          </a:ln>
        </p:spPr>
        <p:txBody>
          <a:bodyPr/>
          <a:lstStyle/>
          <a:p>
            <a:endParaRPr lang="es-AR"/>
          </a:p>
        </p:txBody>
      </p:sp>
      <p:pic>
        <p:nvPicPr>
          <p:cNvPr id="9" name="Image 0" descr="icon_x.png"/>
          <p:cNvPicPr>
            <a:picLocks noChangeAspect="1"/>
          </p:cNvPicPr>
          <p:nvPr/>
        </p:nvPicPr>
        <p:blipFill>
          <a:blip r:embed="rId3"/>
          <a:stretch>
            <a:fillRect/>
          </a:stretch>
        </p:blipFill>
        <p:spPr>
          <a:xfrm>
            <a:off x="822960" y="4599432"/>
            <a:ext cx="274320" cy="274320"/>
          </a:xfrm>
          <a:prstGeom prst="rect">
            <a:avLst/>
          </a:prstGeom>
        </p:spPr>
      </p:pic>
      <p:sp>
        <p:nvSpPr>
          <p:cNvPr id="10" name="Text 6"/>
          <p:cNvSpPr/>
          <p:nvPr/>
        </p:nvSpPr>
        <p:spPr>
          <a:xfrm>
            <a:off x="118872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Fine-tuning mejora NLP</a:t>
            </a:r>
            <a:endParaRPr lang="en-US" sz="1150" dirty="0">
              <a:latin typeface="Arial" panose="020B0604020202020204" pitchFamily="34" charset="0"/>
              <a:cs typeface="Arial" panose="020B0604020202020204" pitchFamily="34" charset="0"/>
            </a:endParaRPr>
          </a:p>
        </p:txBody>
      </p:sp>
      <p:sp>
        <p:nvSpPr>
          <p:cNvPr id="11" name="Text 7"/>
          <p:cNvSpPr/>
          <p:nvPr/>
        </p:nvSpPr>
        <p:spPr>
          <a:xfrm>
            <a:off x="84124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El fine-tuning mejora ROUGE-L y sentiment match frente a GPT-2 base.</a:t>
            </a:r>
            <a:endParaRPr lang="en-US" sz="970" dirty="0">
              <a:latin typeface="Arial" panose="020B0604020202020204" pitchFamily="34" charset="0"/>
              <a:cs typeface="Arial" panose="020B0604020202020204" pitchFamily="34" charset="0"/>
            </a:endParaRPr>
          </a:p>
        </p:txBody>
      </p:sp>
      <p:sp>
        <p:nvSpPr>
          <p:cNvPr id="12" name="Shape 8"/>
          <p:cNvSpPr/>
          <p:nvPr/>
        </p:nvSpPr>
        <p:spPr>
          <a:xfrm>
            <a:off x="4343400" y="4434840"/>
            <a:ext cx="3456432" cy="1463040"/>
          </a:xfrm>
          <a:prstGeom prst="rect">
            <a:avLst/>
          </a:prstGeom>
          <a:solidFill>
            <a:srgbClr val="EAF1F4"/>
          </a:solidFill>
          <a:ln w="12700">
            <a:solidFill>
              <a:srgbClr val="D6DEE4"/>
            </a:solidFill>
            <a:prstDash val="solid"/>
          </a:ln>
        </p:spPr>
        <p:txBody>
          <a:bodyPr/>
          <a:lstStyle/>
          <a:p>
            <a:endParaRPr lang="es-AR"/>
          </a:p>
        </p:txBody>
      </p:sp>
      <p:pic>
        <p:nvPicPr>
          <p:cNvPr id="14" name="Image 1" descr="icon_balance.png"/>
          <p:cNvPicPr>
            <a:picLocks noChangeAspect="1"/>
          </p:cNvPicPr>
          <p:nvPr/>
        </p:nvPicPr>
        <p:blipFill>
          <a:blip r:embed="rId4"/>
          <a:stretch>
            <a:fillRect/>
          </a:stretch>
        </p:blipFill>
        <p:spPr>
          <a:xfrm>
            <a:off x="4526280" y="4599432"/>
            <a:ext cx="274320" cy="274320"/>
          </a:xfrm>
          <a:prstGeom prst="rect">
            <a:avLst/>
          </a:prstGeom>
        </p:spPr>
      </p:pic>
      <p:sp>
        <p:nvSpPr>
          <p:cNvPr id="15" name="Text 10"/>
          <p:cNvSpPr/>
          <p:nvPr/>
        </p:nvSpPr>
        <p:spPr>
          <a:xfrm>
            <a:off x="489204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NVDA + AMD</a:t>
            </a:r>
            <a:endParaRPr lang="en-US" sz="1150" dirty="0">
              <a:latin typeface="Arial" panose="020B0604020202020204" pitchFamily="34" charset="0"/>
              <a:cs typeface="Arial" panose="020B0604020202020204" pitchFamily="34" charset="0"/>
            </a:endParaRPr>
          </a:p>
        </p:txBody>
      </p:sp>
      <p:sp>
        <p:nvSpPr>
          <p:cNvPr id="16" name="Text 11"/>
          <p:cNvSpPr/>
          <p:nvPr/>
        </p:nvSpPr>
        <p:spPr>
          <a:xfrm>
            <a:off x="454456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Mejor balance textual y semántico de la selección.</a:t>
            </a:r>
            <a:endParaRPr lang="en-US" sz="970" dirty="0">
              <a:latin typeface="Arial" panose="020B0604020202020204" pitchFamily="34" charset="0"/>
              <a:cs typeface="Arial" panose="020B0604020202020204" pitchFamily="34" charset="0"/>
            </a:endParaRPr>
          </a:p>
        </p:txBody>
      </p:sp>
      <p:sp>
        <p:nvSpPr>
          <p:cNvPr id="17" name="Shape 12"/>
          <p:cNvSpPr/>
          <p:nvPr/>
        </p:nvSpPr>
        <p:spPr>
          <a:xfrm>
            <a:off x="8046720" y="4434840"/>
            <a:ext cx="3456432" cy="1463040"/>
          </a:xfrm>
          <a:prstGeom prst="rect">
            <a:avLst/>
          </a:prstGeom>
          <a:solidFill>
            <a:srgbClr val="EAF1F4"/>
          </a:solidFill>
          <a:ln w="12700">
            <a:solidFill>
              <a:srgbClr val="D6DEE4"/>
            </a:solidFill>
            <a:prstDash val="solid"/>
          </a:ln>
        </p:spPr>
        <p:txBody>
          <a:bodyPr/>
          <a:lstStyle/>
          <a:p>
            <a:endParaRPr lang="es-AR"/>
          </a:p>
        </p:txBody>
      </p:sp>
      <p:pic>
        <p:nvPicPr>
          <p:cNvPr id="19" name="Image 2" descr="icon_target.png"/>
          <p:cNvPicPr>
            <a:picLocks noChangeAspect="1"/>
          </p:cNvPicPr>
          <p:nvPr/>
        </p:nvPicPr>
        <p:blipFill>
          <a:blip r:embed="rId5"/>
          <a:stretch>
            <a:fillRect/>
          </a:stretch>
        </p:blipFill>
        <p:spPr>
          <a:xfrm>
            <a:off x="8229600" y="4599432"/>
            <a:ext cx="274320" cy="274320"/>
          </a:xfrm>
          <a:prstGeom prst="rect">
            <a:avLst/>
          </a:prstGeom>
        </p:spPr>
      </p:pic>
      <p:sp>
        <p:nvSpPr>
          <p:cNvPr id="20" name="Text 14"/>
          <p:cNvSpPr/>
          <p:nvPr/>
        </p:nvSpPr>
        <p:spPr>
          <a:xfrm>
            <a:off x="859536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Dir. accuracy no sigue al NLP</a:t>
            </a:r>
            <a:endParaRPr lang="en-US" sz="1150" dirty="0">
              <a:latin typeface="Arial" panose="020B0604020202020204" pitchFamily="34" charset="0"/>
              <a:cs typeface="Arial" panose="020B0604020202020204" pitchFamily="34" charset="0"/>
            </a:endParaRPr>
          </a:p>
        </p:txBody>
      </p:sp>
      <p:sp>
        <p:nvSpPr>
          <p:cNvPr id="21" name="Text 15"/>
          <p:cNvSpPr/>
          <p:nvPr/>
        </p:nvSpPr>
        <p:spPr>
          <a:xfrm>
            <a:off x="824788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La directional accuracy no sigue necesariamente a las métricas de NLP.</a:t>
            </a:r>
            <a:endParaRPr lang="en-US" sz="970" dirty="0">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ED5A9930-5BC3-B718-2BC2-FAEB4DFD8773}"/>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Loss y perplexity</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Georgia" pitchFamily="34" charset="0"/>
                <a:ea typeface="Georgia" pitchFamily="34" charset="-122"/>
                <a:cs typeface="Georgia" pitchFamily="34" charset="-120"/>
              </a:rPr>
              <a:t>09</a:t>
            </a:r>
            <a:endParaRPr lang="en-US" sz="1500" dirty="0"/>
          </a:p>
        </p:txBody>
      </p:sp>
      <p:sp>
        <p:nvSpPr>
          <p:cNvPr id="5" name="Text 3"/>
          <p:cNvSpPr/>
          <p:nvPr/>
        </p:nvSpPr>
        <p:spPr>
          <a:xfrm>
            <a:off x="640080" y="1463040"/>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La loss baja dentro de </a:t>
            </a:r>
            <a:r>
              <a:rPr lang="en-US" sz="1200" dirty="0" err="1">
                <a:solidFill>
                  <a:srgbClr val="667085"/>
                </a:solidFill>
                <a:latin typeface="Arial" panose="020B0604020202020204" pitchFamily="34" charset="0"/>
                <a:ea typeface="Calibri" pitchFamily="34" charset="-122"/>
                <a:cs typeface="Arial" panose="020B0604020202020204" pitchFamily="34" charset="0"/>
              </a:rPr>
              <a:t>cada</a:t>
            </a:r>
            <a:r>
              <a:rPr lang="en-US" sz="1200" dirty="0">
                <a:solidFill>
                  <a:srgbClr val="667085"/>
                </a:solidFill>
                <a:latin typeface="Arial" panose="020B0604020202020204" pitchFamily="34" charset="0"/>
                <a:ea typeface="Calibri" pitchFamily="34" charset="-122"/>
                <a:cs typeface="Arial" panose="020B0604020202020204" pitchFamily="34" charset="0"/>
              </a:rPr>
              <a:t> run: indica que </a:t>
            </a:r>
            <a:r>
              <a:rPr lang="en-US" sz="1200" dirty="0" err="1">
                <a:solidFill>
                  <a:srgbClr val="667085"/>
                </a:solidFill>
                <a:latin typeface="Arial" panose="020B0604020202020204" pitchFamily="34" charset="0"/>
                <a:ea typeface="Calibri" pitchFamily="34" charset="-122"/>
                <a:cs typeface="Arial" panose="020B0604020202020204" pitchFamily="34" charset="0"/>
              </a:rPr>
              <a:t>el</a:t>
            </a:r>
            <a:r>
              <a:rPr lang="en-US" sz="1200" dirty="0">
                <a:solidFill>
                  <a:srgbClr val="667085"/>
                </a:solidFill>
                <a:latin typeface="Arial" panose="020B0604020202020204" pitchFamily="34" charset="0"/>
                <a:ea typeface="Calibri" pitchFamily="34" charset="-122"/>
                <a:cs typeface="Arial" panose="020B0604020202020204" pitchFamily="34" charset="0"/>
              </a:rPr>
              <a:t> finetuning </a:t>
            </a:r>
            <a:r>
              <a:rPr lang="en-US" sz="1200" dirty="0" err="1">
                <a:solidFill>
                  <a:srgbClr val="667085"/>
                </a:solidFill>
                <a:latin typeface="Arial" panose="020B0604020202020204" pitchFamily="34" charset="0"/>
                <a:ea typeface="Calibri" pitchFamily="34" charset="-122"/>
                <a:cs typeface="Arial" panose="020B0604020202020204" pitchFamily="34" charset="0"/>
              </a:rPr>
              <a:t>funciona</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640080" y="1874520"/>
            <a:ext cx="5394960" cy="277063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7" name="Image 0" descr="training_loss_curves.png"/>
          <p:cNvPicPr>
            <a:picLocks noChangeAspect="1"/>
          </p:cNvPicPr>
          <p:nvPr/>
        </p:nvPicPr>
        <p:blipFill>
          <a:blip r:embed="rId3"/>
          <a:stretch>
            <a:fillRect/>
          </a:stretch>
        </p:blipFill>
        <p:spPr>
          <a:xfrm>
            <a:off x="894311" y="1947672"/>
            <a:ext cx="4886499" cy="2624328"/>
          </a:xfrm>
          <a:prstGeom prst="rect">
            <a:avLst/>
          </a:prstGeom>
        </p:spPr>
      </p:pic>
      <p:sp>
        <p:nvSpPr>
          <p:cNvPr id="8" name="Text 5"/>
          <p:cNvSpPr/>
          <p:nvPr/>
        </p:nvSpPr>
        <p:spPr>
          <a:xfrm>
            <a:off x="640080" y="4663440"/>
            <a:ext cx="5394960" cy="219456"/>
          </a:xfrm>
          <a:prstGeom prst="rect">
            <a:avLst/>
          </a:prstGeom>
          <a:noFill/>
          <a:ln/>
        </p:spPr>
        <p:txBody>
          <a:bodyPr wrap="square" lIns="0" tIns="0" rIns="0" bIns="0" rtlCol="0" anchor="ctr"/>
          <a:lstStyle/>
          <a:p>
            <a:pPr marL="0" indent="0" algn="ctr">
              <a:buNone/>
            </a:pPr>
            <a:r>
              <a:rPr lang="en-US" sz="850" i="1" dirty="0">
                <a:solidFill>
                  <a:srgbClr val="667085"/>
                </a:solidFill>
                <a:latin typeface="Arial" panose="020B0604020202020204" pitchFamily="34" charset="0"/>
                <a:ea typeface="Calibri" pitchFamily="34" charset="-122"/>
                <a:cs typeface="Arial" panose="020B0604020202020204" pitchFamily="34" charset="0"/>
              </a:rPr>
              <a:t>Training loss</a:t>
            </a:r>
            <a:endParaRPr lang="en-US" sz="850" dirty="0">
              <a:latin typeface="Arial" panose="020B0604020202020204" pitchFamily="34" charset="0"/>
              <a:cs typeface="Arial" panose="020B0604020202020204" pitchFamily="34" charset="0"/>
            </a:endParaRPr>
          </a:p>
        </p:txBody>
      </p:sp>
      <p:sp>
        <p:nvSpPr>
          <p:cNvPr id="9" name="Shape 6"/>
          <p:cNvSpPr/>
          <p:nvPr/>
        </p:nvSpPr>
        <p:spPr>
          <a:xfrm>
            <a:off x="6300216" y="1874520"/>
            <a:ext cx="5394960" cy="277063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p>
        </p:txBody>
      </p:sp>
      <p:pic>
        <p:nvPicPr>
          <p:cNvPr id="10" name="Image 1" descr="eval_loss_curves.png"/>
          <p:cNvPicPr>
            <a:picLocks noChangeAspect="1"/>
          </p:cNvPicPr>
          <p:nvPr/>
        </p:nvPicPr>
        <p:blipFill>
          <a:blip r:embed="rId4"/>
          <a:stretch>
            <a:fillRect/>
          </a:stretch>
        </p:blipFill>
        <p:spPr>
          <a:xfrm>
            <a:off x="6554446" y="1947672"/>
            <a:ext cx="4886499" cy="2624328"/>
          </a:xfrm>
          <a:prstGeom prst="rect">
            <a:avLst/>
          </a:prstGeom>
        </p:spPr>
      </p:pic>
      <p:sp>
        <p:nvSpPr>
          <p:cNvPr id="11" name="Text 7"/>
          <p:cNvSpPr/>
          <p:nvPr/>
        </p:nvSpPr>
        <p:spPr>
          <a:xfrm>
            <a:off x="6300216" y="4663440"/>
            <a:ext cx="5394960" cy="219456"/>
          </a:xfrm>
          <a:prstGeom prst="rect">
            <a:avLst/>
          </a:prstGeom>
          <a:noFill/>
          <a:ln/>
        </p:spPr>
        <p:txBody>
          <a:bodyPr wrap="square" lIns="0" tIns="0" rIns="0" bIns="0" rtlCol="0" anchor="ctr"/>
          <a:lstStyle/>
          <a:p>
            <a:pPr marL="0" indent="0" algn="ctr">
              <a:buNone/>
            </a:pPr>
            <a:r>
              <a:rPr lang="en-US" sz="850" i="1" dirty="0">
                <a:solidFill>
                  <a:srgbClr val="667085"/>
                </a:solidFill>
                <a:latin typeface="Arial" panose="020B0604020202020204" pitchFamily="34" charset="0"/>
                <a:ea typeface="Calibri" pitchFamily="34" charset="-122"/>
                <a:cs typeface="Arial" panose="020B0604020202020204" pitchFamily="34" charset="0"/>
              </a:rPr>
              <a:t>Validation loss</a:t>
            </a:r>
            <a:endParaRPr lang="en-US" sz="850" dirty="0">
              <a:latin typeface="Arial" panose="020B0604020202020204" pitchFamily="34" charset="0"/>
              <a:cs typeface="Arial" panose="020B0604020202020204" pitchFamily="34" charset="0"/>
            </a:endParaRPr>
          </a:p>
        </p:txBody>
      </p:sp>
      <p:sp>
        <p:nvSpPr>
          <p:cNvPr id="12" name="Text 8"/>
          <p:cNvSpPr/>
          <p:nvPr/>
        </p:nvSpPr>
        <p:spPr>
          <a:xfrm>
            <a:off x="640080" y="4919472"/>
            <a:ext cx="6400800" cy="27432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Perplexity por run</a:t>
            </a:r>
            <a:endParaRPr lang="en-US" sz="1150" dirty="0">
              <a:latin typeface="Arial" panose="020B0604020202020204" pitchFamily="34" charset="0"/>
              <a:cs typeface="Arial" panose="020B0604020202020204" pitchFamily="34" charset="0"/>
            </a:endParaRPr>
          </a:p>
        </p:txBody>
      </p:sp>
      <p:sp>
        <p:nvSpPr>
          <p:cNvPr id="13" name="Shape 9"/>
          <p:cNvSpPr/>
          <p:nvPr/>
        </p:nvSpPr>
        <p:spPr>
          <a:xfrm>
            <a:off x="6400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15" name="Text 11"/>
          <p:cNvSpPr/>
          <p:nvPr/>
        </p:nvSpPr>
        <p:spPr>
          <a:xfrm>
            <a:off x="6400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14.7</a:t>
            </a:r>
            <a:endParaRPr lang="en-US" sz="1900" dirty="0">
              <a:latin typeface="Arial" panose="020B0604020202020204" pitchFamily="34" charset="0"/>
              <a:cs typeface="Arial" panose="020B0604020202020204" pitchFamily="34" charset="0"/>
            </a:endParaRPr>
          </a:p>
        </p:txBody>
      </p:sp>
      <p:sp>
        <p:nvSpPr>
          <p:cNvPr id="16" name="Text 12"/>
          <p:cNvSpPr/>
          <p:nvPr/>
        </p:nvSpPr>
        <p:spPr>
          <a:xfrm>
            <a:off x="6400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SPY/QQQ</a:t>
            </a:r>
            <a:endParaRPr lang="en-US" sz="850" dirty="0">
              <a:latin typeface="Arial" panose="020B0604020202020204" pitchFamily="34" charset="0"/>
              <a:cs typeface="Arial" panose="020B0604020202020204" pitchFamily="34" charset="0"/>
            </a:endParaRPr>
          </a:p>
        </p:txBody>
      </p:sp>
      <p:sp>
        <p:nvSpPr>
          <p:cNvPr id="17" name="Shape 13"/>
          <p:cNvSpPr/>
          <p:nvPr/>
        </p:nvSpPr>
        <p:spPr>
          <a:xfrm>
            <a:off x="22402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19" name="Text 15"/>
          <p:cNvSpPr/>
          <p:nvPr/>
        </p:nvSpPr>
        <p:spPr>
          <a:xfrm>
            <a:off x="22402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29.6</a:t>
            </a:r>
            <a:endParaRPr lang="en-US" sz="1900" dirty="0">
              <a:latin typeface="Arial" panose="020B0604020202020204" pitchFamily="34" charset="0"/>
              <a:cs typeface="Arial" panose="020B0604020202020204" pitchFamily="34" charset="0"/>
            </a:endParaRPr>
          </a:p>
        </p:txBody>
      </p:sp>
      <p:sp>
        <p:nvSpPr>
          <p:cNvPr id="20" name="Text 16"/>
          <p:cNvSpPr/>
          <p:nvPr/>
        </p:nvSpPr>
        <p:spPr>
          <a:xfrm>
            <a:off x="22402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 single</a:t>
            </a:r>
            <a:endParaRPr lang="en-US" sz="850" dirty="0">
              <a:latin typeface="Arial" panose="020B0604020202020204" pitchFamily="34" charset="0"/>
              <a:cs typeface="Arial" panose="020B0604020202020204" pitchFamily="34" charset="0"/>
            </a:endParaRPr>
          </a:p>
        </p:txBody>
      </p:sp>
      <p:sp>
        <p:nvSpPr>
          <p:cNvPr id="21" name="Shape 17"/>
          <p:cNvSpPr/>
          <p:nvPr/>
        </p:nvSpPr>
        <p:spPr>
          <a:xfrm>
            <a:off x="38404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23" name="Text 19"/>
          <p:cNvSpPr/>
          <p:nvPr/>
        </p:nvSpPr>
        <p:spPr>
          <a:xfrm>
            <a:off x="38404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19.3</a:t>
            </a:r>
            <a:endParaRPr lang="en-US" sz="1900" dirty="0">
              <a:latin typeface="Arial" panose="020B0604020202020204" pitchFamily="34" charset="0"/>
              <a:cs typeface="Arial" panose="020B0604020202020204" pitchFamily="34" charset="0"/>
            </a:endParaRPr>
          </a:p>
        </p:txBody>
      </p:sp>
      <p:sp>
        <p:nvSpPr>
          <p:cNvPr id="24" name="Text 20"/>
          <p:cNvSpPr/>
          <p:nvPr/>
        </p:nvSpPr>
        <p:spPr>
          <a:xfrm>
            <a:off x="38404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NVDA+AMD</a:t>
            </a:r>
            <a:endParaRPr lang="en-US" sz="850" dirty="0">
              <a:latin typeface="Arial" panose="020B0604020202020204" pitchFamily="34" charset="0"/>
              <a:cs typeface="Arial" panose="020B0604020202020204" pitchFamily="34" charset="0"/>
            </a:endParaRPr>
          </a:p>
        </p:txBody>
      </p:sp>
      <p:sp>
        <p:nvSpPr>
          <p:cNvPr id="25" name="Shape 21"/>
          <p:cNvSpPr/>
          <p:nvPr/>
        </p:nvSpPr>
        <p:spPr>
          <a:xfrm>
            <a:off x="5440680" y="5212080"/>
            <a:ext cx="1490472" cy="841248"/>
          </a:xfrm>
          <a:prstGeom prst="rect">
            <a:avLst/>
          </a:prstGeom>
          <a:solidFill>
            <a:srgbClr val="EAF1F4"/>
          </a:solidFill>
          <a:ln w="12700">
            <a:solidFill>
              <a:srgbClr val="D6DEE4"/>
            </a:solidFill>
            <a:prstDash val="solid"/>
          </a:ln>
        </p:spPr>
        <p:txBody>
          <a:bodyPr/>
          <a:lstStyle/>
          <a:p>
            <a:endParaRPr lang="es-AR"/>
          </a:p>
        </p:txBody>
      </p:sp>
      <p:sp>
        <p:nvSpPr>
          <p:cNvPr id="27" name="Text 23"/>
          <p:cNvSpPr/>
          <p:nvPr/>
        </p:nvSpPr>
        <p:spPr>
          <a:xfrm>
            <a:off x="54406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16.6</a:t>
            </a:r>
            <a:endParaRPr lang="en-US" sz="1900" dirty="0">
              <a:latin typeface="Arial" panose="020B0604020202020204" pitchFamily="34" charset="0"/>
              <a:cs typeface="Arial" panose="020B0604020202020204" pitchFamily="34" charset="0"/>
            </a:endParaRPr>
          </a:p>
        </p:txBody>
      </p:sp>
      <p:sp>
        <p:nvSpPr>
          <p:cNvPr id="28" name="Text 24"/>
          <p:cNvSpPr/>
          <p:nvPr/>
        </p:nvSpPr>
        <p:spPr>
          <a:xfrm>
            <a:off x="54406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 label sc.</a:t>
            </a:r>
            <a:endParaRPr lang="en-US" sz="850" dirty="0">
              <a:latin typeface="Arial" panose="020B0604020202020204" pitchFamily="34" charset="0"/>
              <a:cs typeface="Arial" panose="020B0604020202020204" pitchFamily="34" charset="0"/>
            </a:endParaRPr>
          </a:p>
        </p:txBody>
      </p:sp>
      <p:sp>
        <p:nvSpPr>
          <p:cNvPr id="29" name="Shape 25"/>
          <p:cNvSpPr/>
          <p:nvPr/>
        </p:nvSpPr>
        <p:spPr>
          <a:xfrm>
            <a:off x="7399020" y="5065776"/>
            <a:ext cx="4236415" cy="1261872"/>
          </a:xfrm>
          <a:prstGeom prst="rect">
            <a:avLst/>
          </a:prstGeom>
          <a:solidFill>
            <a:srgbClr val="1E2A4A"/>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p>
        </p:txBody>
      </p:sp>
      <p:sp>
        <p:nvSpPr>
          <p:cNvPr id="32" name="Text 27"/>
          <p:cNvSpPr/>
          <p:nvPr/>
        </p:nvSpPr>
        <p:spPr>
          <a:xfrm>
            <a:off x="7636764" y="5212080"/>
            <a:ext cx="3779215" cy="960120"/>
          </a:xfrm>
          <a:prstGeom prst="rect">
            <a:avLst/>
          </a:prstGeom>
          <a:noFill/>
          <a:ln/>
        </p:spPr>
        <p:txBody>
          <a:bodyPr wrap="square" lIns="0" tIns="0" rIns="0" bIns="0" rtlCol="0" anchor="ctr"/>
          <a:lstStyle/>
          <a:p>
            <a:pPr marL="0" indent="0">
              <a:lnSpc>
                <a:spcPct val="120000"/>
              </a:lnSpc>
              <a:buNone/>
            </a:pPr>
            <a:r>
              <a:rPr lang="en-US" sz="1000" dirty="0">
                <a:solidFill>
                  <a:srgbClr val="FFC000"/>
                </a:solidFill>
                <a:latin typeface="Arial" panose="020B0604020202020204" pitchFamily="34" charset="0"/>
                <a:ea typeface="Calibri" pitchFamily="34" charset="-122"/>
                <a:cs typeface="Arial" panose="020B0604020202020204" pitchFamily="34" charset="0"/>
              </a:rPr>
              <a:t>Menor perplexity no implica mejor resultado semántico o financiero. NVDA tagged structured tenía la mejor perplexity (≈9.73), pero no se eligió como variante estructurada: era peor en ROUGE-L y BERTScore que NVDA label scoring.</a:t>
            </a:r>
            <a:endParaRPr lang="en-US" sz="1000" dirty="0">
              <a:solidFill>
                <a:srgbClr val="FFC000"/>
              </a:solidFill>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2FCF7774-C144-7DCC-E199-81B7AD5FC232}"/>
              </a:ext>
            </a:extLst>
          </p:cNvPr>
          <p:cNvSpPr/>
          <p:nvPr/>
        </p:nvSpPr>
        <p:spPr>
          <a:xfrm>
            <a:off x="640080" y="6071616"/>
            <a:ext cx="4573988" cy="795528"/>
          </a:xfrm>
          <a:prstGeom prst="rect">
            <a:avLst/>
          </a:prstGeom>
          <a:noFill/>
          <a:ln/>
        </p:spPr>
        <p:txBody>
          <a:bodyPr wrap="square" lIns="0" tIns="0" rIns="0" bIns="0" rtlCol="0" anchor="ctr"/>
          <a:lstStyle/>
          <a:p>
            <a:pPr marL="0" indent="0">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05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Semántica y señal direccional</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640080" y="1463040"/>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Sentimiento real vs. generado y señal direccional vs. dirección real del activo.</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640080" y="1874520"/>
            <a:ext cx="3456432" cy="324612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7" name="Text 5"/>
          <p:cNvSpPr/>
          <p:nvPr/>
        </p:nvSpPr>
        <p:spPr>
          <a:xfrm>
            <a:off x="804672" y="1993392"/>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Semántica · GPT-2 no fine-tune</a:t>
            </a:r>
            <a:endParaRPr lang="en-US" sz="1100" dirty="0">
              <a:latin typeface="Arial" panose="020B0604020202020204" pitchFamily="34" charset="0"/>
              <a:cs typeface="Arial" panose="020B0604020202020204" pitchFamily="34" charset="0"/>
            </a:endParaRPr>
          </a:p>
        </p:txBody>
      </p:sp>
      <p:pic>
        <p:nvPicPr>
          <p:cNvPr id="8" name="Image 0" descr="semantic_baseline_gpt2_no_finetune.png"/>
          <p:cNvPicPr>
            <a:picLocks noChangeAspect="1"/>
          </p:cNvPicPr>
          <p:nvPr/>
        </p:nvPicPr>
        <p:blipFill>
          <a:blip r:embed="rId3"/>
          <a:stretch>
            <a:fillRect/>
          </a:stretch>
        </p:blipFill>
        <p:spPr>
          <a:xfrm>
            <a:off x="1049690" y="2350008"/>
            <a:ext cx="2637213" cy="2148840"/>
          </a:xfrm>
          <a:prstGeom prst="rect">
            <a:avLst/>
          </a:prstGeom>
        </p:spPr>
      </p:pic>
      <p:sp>
        <p:nvSpPr>
          <p:cNvPr id="9" name="Text 6"/>
          <p:cNvSpPr/>
          <p:nvPr/>
        </p:nvSpPr>
        <p:spPr>
          <a:xfrm>
            <a:off x="804672" y="4553712"/>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Sentiment match = 0.273. Dispersión fuera de la diagonal.</a:t>
            </a:r>
            <a:endParaRPr lang="en-US" sz="870" dirty="0">
              <a:latin typeface="Arial" panose="020B0604020202020204" pitchFamily="34" charset="0"/>
              <a:cs typeface="Arial" panose="020B0604020202020204" pitchFamily="34" charset="0"/>
            </a:endParaRPr>
          </a:p>
        </p:txBody>
      </p:sp>
      <p:sp>
        <p:nvSpPr>
          <p:cNvPr id="10" name="Shape 7"/>
          <p:cNvSpPr/>
          <p:nvPr/>
        </p:nvSpPr>
        <p:spPr>
          <a:xfrm>
            <a:off x="4343400" y="1874520"/>
            <a:ext cx="3456432" cy="324612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11" name="Text 8"/>
          <p:cNvSpPr/>
          <p:nvPr/>
        </p:nvSpPr>
        <p:spPr>
          <a:xfrm>
            <a:off x="4507992" y="1993392"/>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Semántica · NVDA + AMD</a:t>
            </a:r>
            <a:endParaRPr lang="en-US" sz="1100" dirty="0">
              <a:latin typeface="Arial" panose="020B0604020202020204" pitchFamily="34" charset="0"/>
              <a:cs typeface="Arial" panose="020B0604020202020204" pitchFamily="34" charset="0"/>
            </a:endParaRPr>
          </a:p>
        </p:txBody>
      </p:sp>
      <p:pic>
        <p:nvPicPr>
          <p:cNvPr id="12" name="Image 1" descr="semantic_finetuned_nvda_amd.png"/>
          <p:cNvPicPr>
            <a:picLocks noChangeAspect="1"/>
          </p:cNvPicPr>
          <p:nvPr/>
        </p:nvPicPr>
        <p:blipFill>
          <a:blip r:embed="rId4"/>
          <a:stretch>
            <a:fillRect/>
          </a:stretch>
        </p:blipFill>
        <p:spPr>
          <a:xfrm>
            <a:off x="4753010" y="2350008"/>
            <a:ext cx="2637213" cy="2148840"/>
          </a:xfrm>
          <a:prstGeom prst="rect">
            <a:avLst/>
          </a:prstGeom>
        </p:spPr>
      </p:pic>
      <p:sp>
        <p:nvSpPr>
          <p:cNvPr id="13" name="Text 9"/>
          <p:cNvSpPr/>
          <p:nvPr/>
        </p:nvSpPr>
        <p:spPr>
          <a:xfrm>
            <a:off x="4507992" y="4553712"/>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Sentiment match = 0.442. El fine-tuning mejora la alineación semántica.</a:t>
            </a:r>
            <a:endParaRPr lang="en-US" sz="870" dirty="0">
              <a:latin typeface="Arial" panose="020B0604020202020204" pitchFamily="34" charset="0"/>
              <a:cs typeface="Arial" panose="020B0604020202020204" pitchFamily="34" charset="0"/>
            </a:endParaRPr>
          </a:p>
        </p:txBody>
      </p:sp>
      <p:sp>
        <p:nvSpPr>
          <p:cNvPr id="14" name="Shape 10"/>
          <p:cNvSpPr/>
          <p:nvPr/>
        </p:nvSpPr>
        <p:spPr>
          <a:xfrm>
            <a:off x="8046720" y="491778"/>
            <a:ext cx="3456432" cy="462886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15" name="Text 11"/>
          <p:cNvSpPr/>
          <p:nvPr/>
        </p:nvSpPr>
        <p:spPr>
          <a:xfrm>
            <a:off x="8137659" y="2878785"/>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Financiera · NVDA + AMD</a:t>
            </a:r>
            <a:endParaRPr lang="en-US" sz="1100" dirty="0">
              <a:latin typeface="Arial" panose="020B0604020202020204" pitchFamily="34" charset="0"/>
              <a:cs typeface="Arial" panose="020B0604020202020204" pitchFamily="34" charset="0"/>
            </a:endParaRPr>
          </a:p>
        </p:txBody>
      </p:sp>
      <p:pic>
        <p:nvPicPr>
          <p:cNvPr id="16" name="Image 2" descr="financial_direction_features.png"/>
          <p:cNvPicPr>
            <a:picLocks noChangeAspect="1"/>
          </p:cNvPicPr>
          <p:nvPr/>
        </p:nvPicPr>
        <p:blipFill>
          <a:blip r:embed="rId5"/>
          <a:stretch>
            <a:fillRect/>
          </a:stretch>
        </p:blipFill>
        <p:spPr>
          <a:xfrm>
            <a:off x="8623675" y="3179729"/>
            <a:ext cx="1876903" cy="1876903"/>
          </a:xfrm>
          <a:prstGeom prst="rect">
            <a:avLst/>
          </a:prstGeom>
        </p:spPr>
      </p:pic>
      <p:sp>
        <p:nvSpPr>
          <p:cNvPr id="17" name="Text 12"/>
          <p:cNvSpPr/>
          <p:nvPr/>
        </p:nvSpPr>
        <p:spPr>
          <a:xfrm>
            <a:off x="10321693" y="4539107"/>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Dir. acc. 0.530</a:t>
            </a:r>
            <a:endParaRPr lang="en-US" sz="870" dirty="0">
              <a:latin typeface="Arial" panose="020B0604020202020204" pitchFamily="34" charset="0"/>
              <a:cs typeface="Arial" panose="020B0604020202020204" pitchFamily="34" charset="0"/>
            </a:endParaRPr>
          </a:p>
        </p:txBody>
      </p:sp>
      <p:sp>
        <p:nvSpPr>
          <p:cNvPr id="18" name="Shape 13"/>
          <p:cNvSpPr/>
          <p:nvPr/>
        </p:nvSpPr>
        <p:spPr>
          <a:xfrm>
            <a:off x="640080" y="5285232"/>
            <a:ext cx="10908792" cy="713232"/>
          </a:xfrm>
          <a:prstGeom prst="rect">
            <a:avLst/>
          </a:prstGeom>
          <a:solidFill>
            <a:schemeClr val="tx1">
              <a:lumMod val="85000"/>
              <a:lumOff val="15000"/>
            </a:schemeClr>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sp>
        <p:nvSpPr>
          <p:cNvPr id="20" name="Text 14"/>
          <p:cNvSpPr/>
          <p:nvPr/>
        </p:nvSpPr>
        <p:spPr>
          <a:xfrm>
            <a:off x="992378" y="5301742"/>
            <a:ext cx="10510774" cy="713232"/>
          </a:xfrm>
          <a:prstGeom prst="rect">
            <a:avLst/>
          </a:prstGeom>
          <a:noFill/>
          <a:ln/>
        </p:spPr>
        <p:txBody>
          <a:bodyPr wrap="square" lIns="0" tIns="0" rIns="0" bIns="0" rtlCol="0" anchor="ctr"/>
          <a:lstStyle/>
          <a:p>
            <a:pPr marL="0" indent="0">
              <a:lnSpc>
                <a:spcPct val="110000"/>
              </a:lnSpc>
              <a:buNone/>
            </a:pPr>
            <a:r>
              <a:rPr lang="en-US" sz="1100" b="1" dirty="0">
                <a:solidFill>
                  <a:srgbClr val="C8923B"/>
                </a:solidFill>
                <a:latin typeface="Arial" panose="020B0604020202020204" pitchFamily="34" charset="0"/>
                <a:ea typeface="Calibri" pitchFamily="34" charset="-122"/>
                <a:cs typeface="Arial" panose="020B0604020202020204" pitchFamily="34" charset="0"/>
              </a:rPr>
              <a:t>Lectura:  </a:t>
            </a:r>
            <a:r>
              <a:rPr lang="en-US" sz="1100" dirty="0">
                <a:solidFill>
                  <a:srgbClr val="DCE4F0"/>
                </a:solidFill>
                <a:latin typeface="Arial" panose="020B0604020202020204" pitchFamily="34" charset="0"/>
                <a:ea typeface="Calibri" pitchFamily="34" charset="-122"/>
                <a:cs typeface="Arial" panose="020B0604020202020204" pitchFamily="34" charset="0"/>
              </a:rPr>
              <a:t>el fine-tuning mejora la alineación semántica, pero el baseline neutral sigue siendo competitivo y la señal financiera no aporta evidencia estadística fuerte.</a:t>
            </a:r>
            <a:endParaRPr lang="en-US" sz="1100" dirty="0">
              <a:latin typeface="Arial" panose="020B0604020202020204" pitchFamily="34" charset="0"/>
              <a:cs typeface="Arial" panose="020B0604020202020204" pitchFamily="34" charset="0"/>
            </a:endParaRPr>
          </a:p>
        </p:txBody>
      </p:sp>
      <p:sp>
        <p:nvSpPr>
          <p:cNvPr id="2" name="Text 7">
            <a:extLst>
              <a:ext uri="{FF2B5EF4-FFF2-40B4-BE49-F238E27FC236}">
                <a16:creationId xmlns:a16="http://schemas.microsoft.com/office/drawing/2014/main" id="{AC0BBD17-578C-EE2E-1451-AFD91E4EB33E}"/>
              </a:ext>
            </a:extLst>
          </p:cNvPr>
          <p:cNvSpPr/>
          <p:nvPr/>
        </p:nvSpPr>
        <p:spPr>
          <a:xfrm>
            <a:off x="6977627" y="6031484"/>
            <a:ext cx="4573988" cy="795528"/>
          </a:xfrm>
          <a:prstGeom prst="rect">
            <a:avLst/>
          </a:prstGeom>
          <a:noFill/>
          <a:ln/>
        </p:spPr>
        <p:txBody>
          <a:bodyPr wrap="square" lIns="0" tIns="0" rIns="0" bIns="0" rtlCol="0" anchor="ctr"/>
          <a:lstStyle/>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100" dirty="0">
              <a:solidFill>
                <a:schemeClr val="bg2">
                  <a:lumMod val="75000"/>
                </a:schemeClr>
              </a:solidFill>
              <a:latin typeface="Arial" panose="020B0604020202020204" pitchFamily="34" charset="0"/>
              <a:cs typeface="Arial" panose="020B0604020202020204" pitchFamily="34" charset="0"/>
            </a:endParaRPr>
          </a:p>
        </p:txBody>
      </p:sp>
      <p:pic>
        <p:nvPicPr>
          <p:cNvPr id="21" name="Imagen 20">
            <a:extLst>
              <a:ext uri="{FF2B5EF4-FFF2-40B4-BE49-F238E27FC236}">
                <a16:creationId xmlns:a16="http://schemas.microsoft.com/office/drawing/2014/main" id="{98BDD88B-3705-5127-47BA-2D77E7B75F29}"/>
              </a:ext>
            </a:extLst>
          </p:cNvPr>
          <p:cNvPicPr>
            <a:picLocks noChangeAspect="1"/>
          </p:cNvPicPr>
          <p:nvPr/>
        </p:nvPicPr>
        <p:blipFill>
          <a:blip r:embed="rId6"/>
          <a:stretch>
            <a:fillRect/>
          </a:stretch>
        </p:blipFill>
        <p:spPr>
          <a:xfrm>
            <a:off x="8607365" y="837463"/>
            <a:ext cx="1909521" cy="1909521"/>
          </a:xfrm>
          <a:prstGeom prst="rect">
            <a:avLst/>
          </a:prstGeom>
        </p:spPr>
      </p:pic>
      <p:sp>
        <p:nvSpPr>
          <p:cNvPr id="22" name="Text 11">
            <a:extLst>
              <a:ext uri="{FF2B5EF4-FFF2-40B4-BE49-F238E27FC236}">
                <a16:creationId xmlns:a16="http://schemas.microsoft.com/office/drawing/2014/main" id="{C95F6D3C-AE15-95C0-EA9E-35918EE14AB3}"/>
              </a:ext>
            </a:extLst>
          </p:cNvPr>
          <p:cNvSpPr/>
          <p:nvPr/>
        </p:nvSpPr>
        <p:spPr>
          <a:xfrm>
            <a:off x="8211312" y="552425"/>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Financiera · · GPT-2 no fine-tune</a:t>
            </a:r>
            <a:endParaRPr lang="en-US" sz="11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3840"/>
            <a:ext cx="10972800" cy="548640"/>
          </a:xfrm>
          <a:prstGeom prst="rect">
            <a:avLst/>
          </a:prstGeom>
          <a:noFill/>
          <a:ln/>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Ejemplos cualitativos: qué cambia con fine-tuning</a:t>
            </a:r>
            <a:endParaRPr lang="en-US" sz="2933" dirty="0"/>
          </a:p>
        </p:txBody>
      </p:sp>
      <p:sp>
        <p:nvSpPr>
          <p:cNvPr id="4" name="Shape 2"/>
          <p:cNvSpPr/>
          <p:nvPr/>
        </p:nvSpPr>
        <p:spPr>
          <a:xfrm>
            <a:off x="487680" y="1341120"/>
            <a:ext cx="5364480" cy="4267200"/>
          </a:xfrm>
          <a:prstGeom prst="rect">
            <a:avLst/>
          </a:prstGeom>
          <a:solidFill>
            <a:schemeClr val="tx1">
              <a:lumMod val="95000"/>
              <a:lumOff val="5000"/>
            </a:schemeClr>
          </a:solidFill>
          <a:ln/>
          <a:effectLst>
            <a:outerShdw blurRad="101600" dist="25400" dir="8100000" algn="bl" rotWithShape="0">
              <a:srgbClr val="000000">
                <a:alpha val="30000"/>
              </a:srgbClr>
            </a:outerShdw>
          </a:effectLst>
        </p:spPr>
        <p:txBody>
          <a:bodyPr/>
          <a:lstStyle/>
          <a:p>
            <a:endParaRPr lang="es-AR" sz="2400"/>
          </a:p>
        </p:txBody>
      </p:sp>
      <p:sp>
        <p:nvSpPr>
          <p:cNvPr id="5" name="Shape 3"/>
          <p:cNvSpPr/>
          <p:nvPr/>
        </p:nvSpPr>
        <p:spPr>
          <a:xfrm>
            <a:off x="487680" y="1341120"/>
            <a:ext cx="5364480" cy="48768"/>
          </a:xfrm>
          <a:prstGeom prst="rect">
            <a:avLst/>
          </a:prstGeom>
          <a:solidFill>
            <a:srgbClr val="00B4D8"/>
          </a:solidFill>
          <a:ln/>
        </p:spPr>
        <p:txBody>
          <a:bodyPr/>
          <a:lstStyle/>
          <a:p>
            <a:endParaRPr lang="es-AR" sz="2400"/>
          </a:p>
        </p:txBody>
      </p:sp>
      <p:sp>
        <p:nvSpPr>
          <p:cNvPr id="16" name="Shape 14"/>
          <p:cNvSpPr/>
          <p:nvPr/>
        </p:nvSpPr>
        <p:spPr>
          <a:xfrm>
            <a:off x="6339840" y="1341120"/>
            <a:ext cx="5364480" cy="4267200"/>
          </a:xfrm>
          <a:prstGeom prst="rect">
            <a:avLst/>
          </a:prstGeom>
          <a:solidFill>
            <a:schemeClr val="tx1">
              <a:lumMod val="95000"/>
              <a:lumOff val="5000"/>
            </a:schemeClr>
          </a:solidFill>
          <a:ln/>
          <a:effectLst>
            <a:outerShdw blurRad="101600" dist="25400" dir="8100000" algn="bl" rotWithShape="0">
              <a:srgbClr val="000000">
                <a:alpha val="30000"/>
              </a:srgbClr>
            </a:outerShdw>
          </a:effectLst>
        </p:spPr>
        <p:txBody>
          <a:bodyPr/>
          <a:lstStyle/>
          <a:p>
            <a:endParaRPr lang="es-AR" sz="2400"/>
          </a:p>
        </p:txBody>
      </p:sp>
      <p:sp>
        <p:nvSpPr>
          <p:cNvPr id="17" name="Shape 15"/>
          <p:cNvSpPr/>
          <p:nvPr/>
        </p:nvSpPr>
        <p:spPr>
          <a:xfrm>
            <a:off x="6339840" y="1341120"/>
            <a:ext cx="5364480" cy="48768"/>
          </a:xfrm>
          <a:prstGeom prst="rect">
            <a:avLst/>
          </a:prstGeom>
          <a:solidFill>
            <a:srgbClr val="E94560"/>
          </a:solidFill>
          <a:ln/>
        </p:spPr>
        <p:txBody>
          <a:bodyPr/>
          <a:lstStyle/>
          <a:p>
            <a:endParaRPr lang="es-AR" sz="2400"/>
          </a:p>
        </p:txBody>
      </p:sp>
      <p:sp>
        <p:nvSpPr>
          <p:cNvPr id="29" name="Shape 27"/>
          <p:cNvSpPr/>
          <p:nvPr/>
        </p:nvSpPr>
        <p:spPr>
          <a:xfrm>
            <a:off x="487680" y="5852160"/>
            <a:ext cx="8126122" cy="670560"/>
          </a:xfrm>
          <a:prstGeom prst="rect">
            <a:avLst/>
          </a:prstGeom>
          <a:solidFill>
            <a:schemeClr val="tx1">
              <a:lumMod val="85000"/>
              <a:lumOff val="15000"/>
            </a:schemeClr>
          </a:solidFill>
          <a:ln/>
          <a:effectLst>
            <a:outerShdw blurRad="50800" dist="12700" dir="8100000" algn="bl" rotWithShape="0">
              <a:srgbClr val="000000">
                <a:alpha val="20000"/>
              </a:srgbClr>
            </a:outerShdw>
          </a:effectLst>
        </p:spPr>
        <p:txBody>
          <a:bodyPr/>
          <a:lstStyle/>
          <a:p>
            <a:endParaRPr lang="es-AR" sz="2400"/>
          </a:p>
        </p:txBody>
      </p:sp>
      <p:sp>
        <p:nvSpPr>
          <p:cNvPr id="30" name="Text 28"/>
          <p:cNvSpPr/>
          <p:nvPr/>
        </p:nvSpPr>
        <p:spPr>
          <a:xfrm>
            <a:off x="731520" y="5913120"/>
            <a:ext cx="7772812" cy="548640"/>
          </a:xfrm>
          <a:prstGeom prst="rect">
            <a:avLst/>
          </a:prstGeom>
          <a:noFill/>
          <a:ln/>
        </p:spPr>
        <p:txBody>
          <a:bodyPr wrap="square" lIns="0" tIns="0" rIns="0" bIns="0" rtlCol="0" anchor="ctr"/>
          <a:lstStyle/>
          <a:p>
            <a:r>
              <a:rPr lang="en-US" sz="1333" dirty="0">
                <a:solidFill>
                  <a:srgbClr val="E0E0F0"/>
                </a:solidFill>
                <a:latin typeface="Calibri" pitchFamily="34" charset="0"/>
                <a:ea typeface="Calibri" pitchFamily="34" charset="-122"/>
                <a:cs typeface="Calibri" pitchFamily="34" charset="-120"/>
              </a:rPr>
              <a:t>La inspección cualitativa confirma la lectura de métricas: fine-tuning mejora lenguaje financiero, pero una señal direccional correcta no implica una buena narrativa.</a:t>
            </a:r>
            <a:endParaRPr lang="en-US" sz="1333" dirty="0"/>
          </a:p>
        </p:txBody>
      </p:sp>
      <p:sp>
        <p:nvSpPr>
          <p:cNvPr id="31" name="Text 1">
            <a:extLst>
              <a:ext uri="{FF2B5EF4-FFF2-40B4-BE49-F238E27FC236}">
                <a16:creationId xmlns:a16="http://schemas.microsoft.com/office/drawing/2014/main" id="{F2754BDD-2019-BBD5-EF0E-06B8B6B82F66}"/>
              </a:ext>
            </a:extLst>
          </p:cNvPr>
          <p:cNvSpPr/>
          <p:nvPr/>
        </p:nvSpPr>
        <p:spPr>
          <a:xfrm>
            <a:off x="487680" y="304546"/>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Ejemplos cualitativos</a:t>
            </a:r>
            <a:endParaRPr lang="en-US" sz="2800" dirty="0">
              <a:latin typeface="Arial" panose="020B0604020202020204" pitchFamily="34" charset="0"/>
              <a:cs typeface="Arial" panose="020B0604020202020204" pitchFamily="34" charset="0"/>
            </a:endParaRPr>
          </a:p>
        </p:txBody>
      </p:sp>
      <p:sp>
        <p:nvSpPr>
          <p:cNvPr id="3"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11</a:t>
            </a:r>
            <a:endParaRPr lang="en-US" sz="1500" dirty="0">
              <a:latin typeface="Arial" panose="020B0604020202020204" pitchFamily="34" charset="0"/>
              <a:cs typeface="Arial" panose="020B0604020202020204" pitchFamily="34" charset="0"/>
            </a:endParaRPr>
          </a:p>
        </p:txBody>
      </p:sp>
      <p:sp>
        <p:nvSpPr>
          <p:cNvPr id="32" name="Text 4">
            <a:extLst>
              <a:ext uri="{FF2B5EF4-FFF2-40B4-BE49-F238E27FC236}">
                <a16:creationId xmlns:a16="http://schemas.microsoft.com/office/drawing/2014/main" id="{4F7B8594-B680-8469-B345-B0B2C1FD9D8C}"/>
              </a:ext>
            </a:extLst>
          </p:cNvPr>
          <p:cNvSpPr/>
          <p:nvPr/>
        </p:nvSpPr>
        <p:spPr>
          <a:xfrm>
            <a:off x="670560" y="1524000"/>
            <a:ext cx="4998720" cy="341376"/>
          </a:xfrm>
          <a:prstGeom prst="rect">
            <a:avLst/>
          </a:prstGeom>
          <a:noFill/>
          <a:ln/>
        </p:spPr>
        <p:txBody>
          <a:bodyPr wrap="square" lIns="0" tIns="0" rIns="0" bIns="0" rtlCol="0" anchor="ctr"/>
          <a:lstStyle/>
          <a:p>
            <a:r>
              <a:rPr lang="en-US" sz="1733" b="1" dirty="0">
                <a:solidFill>
                  <a:srgbClr val="00B4D8"/>
                </a:solidFill>
                <a:latin typeface="Calibri" pitchFamily="34" charset="0"/>
                <a:ea typeface="Calibri" pitchFamily="34" charset="-122"/>
                <a:cs typeface="Calibri" pitchFamily="34" charset="-120"/>
              </a:rPr>
              <a:t>Caso A · mejora semántica</a:t>
            </a:r>
            <a:endParaRPr lang="en-US" sz="1733" dirty="0"/>
          </a:p>
        </p:txBody>
      </p:sp>
      <p:sp>
        <p:nvSpPr>
          <p:cNvPr id="33" name="Text 5">
            <a:extLst>
              <a:ext uri="{FF2B5EF4-FFF2-40B4-BE49-F238E27FC236}">
                <a16:creationId xmlns:a16="http://schemas.microsoft.com/office/drawing/2014/main" id="{D29ED985-D71C-BEDB-D426-FAB48D6D4DA8}"/>
              </a:ext>
            </a:extLst>
          </p:cNvPr>
          <p:cNvSpPr/>
          <p:nvPr/>
        </p:nvSpPr>
        <p:spPr>
          <a:xfrm>
            <a:off x="670560" y="1889760"/>
            <a:ext cx="4998720" cy="268224"/>
          </a:xfrm>
          <a:prstGeom prst="rect">
            <a:avLst/>
          </a:prstGeom>
          <a:noFill/>
          <a:ln/>
        </p:spPr>
        <p:txBody>
          <a:bodyPr wrap="square" lIns="0" tIns="0" rIns="0" bIns="0" rtlCol="0" anchor="ctr"/>
          <a:lstStyle/>
          <a:p>
            <a:r>
              <a:rPr lang="en-US" sz="1333" dirty="0">
                <a:solidFill>
                  <a:srgbClr val="A0A0B8"/>
                </a:solidFill>
                <a:latin typeface="Consolas" pitchFamily="34" charset="0"/>
                <a:ea typeface="Consolas" pitchFamily="34" charset="-122"/>
                <a:cs typeface="Consolas" pitchFamily="34" charset="-120"/>
              </a:rPr>
              <a:t>AMD · target 2023-06-21</a:t>
            </a:r>
            <a:endParaRPr lang="en-US" sz="1333" dirty="0"/>
          </a:p>
        </p:txBody>
      </p:sp>
      <p:sp>
        <p:nvSpPr>
          <p:cNvPr id="34" name="Text 6">
            <a:extLst>
              <a:ext uri="{FF2B5EF4-FFF2-40B4-BE49-F238E27FC236}">
                <a16:creationId xmlns:a16="http://schemas.microsoft.com/office/drawing/2014/main" id="{FEF32F99-48E0-D682-7D80-821DA307E2F6}"/>
              </a:ext>
            </a:extLst>
          </p:cNvPr>
          <p:cNvSpPr/>
          <p:nvPr/>
        </p:nvSpPr>
        <p:spPr>
          <a:xfrm>
            <a:off x="670560" y="2194560"/>
            <a:ext cx="4998720" cy="658368"/>
          </a:xfrm>
          <a:prstGeom prst="rect">
            <a:avLst/>
          </a:prstGeom>
          <a:noFill/>
          <a:ln/>
        </p:spPr>
        <p:txBody>
          <a:bodyPr wrap="square" lIns="0" tIns="0" rIns="0" bIns="0" rtlCol="0" anchor="ctr"/>
          <a:lstStyle/>
          <a:p>
            <a:r>
              <a:rPr lang="en-US" sz="1333" dirty="0">
                <a:solidFill>
                  <a:srgbClr val="A0A0B8"/>
                </a:solidFill>
              </a:rPr>
              <a:t>ROUGE-L: </a:t>
            </a:r>
            <a:r>
              <a:rPr lang="en-US" sz="1333" b="1" dirty="0">
                <a:solidFill>
                  <a:srgbClr val="48BB78"/>
                </a:solidFill>
              </a:rPr>
              <a:t>0.031 → 0.179</a:t>
            </a:r>
            <a:r>
              <a:rPr lang="en-US" sz="1333" dirty="0">
                <a:solidFill>
                  <a:srgbClr val="A0A0B8"/>
                </a:solidFill>
              </a:rPr>
              <a:t>    </a:t>
            </a:r>
          </a:p>
          <a:p>
            <a:r>
              <a:rPr lang="en-US" sz="1333" dirty="0" err="1">
                <a:solidFill>
                  <a:srgbClr val="A0A0B8"/>
                </a:solidFill>
              </a:rPr>
              <a:t>BERTScore</a:t>
            </a:r>
            <a:r>
              <a:rPr lang="en-US" sz="1333" dirty="0">
                <a:solidFill>
                  <a:srgbClr val="A0A0B8"/>
                </a:solidFill>
              </a:rPr>
              <a:t>: </a:t>
            </a:r>
            <a:r>
              <a:rPr lang="en-US" sz="1333" b="1" dirty="0">
                <a:solidFill>
                  <a:srgbClr val="48BB78"/>
                </a:solidFill>
              </a:rPr>
              <a:t>0.727 → 0.764</a:t>
            </a:r>
            <a:endParaRPr lang="en-US" sz="1333" dirty="0">
              <a:solidFill>
                <a:srgbClr val="A0A0B8"/>
              </a:solidFill>
            </a:endParaRPr>
          </a:p>
          <a:p>
            <a:r>
              <a:rPr lang="en-US" sz="1333" dirty="0" err="1">
                <a:solidFill>
                  <a:srgbClr val="A0A0B8"/>
                </a:solidFill>
              </a:rPr>
              <a:t>Sentimiento</a:t>
            </a:r>
            <a:r>
              <a:rPr lang="en-US" sz="1333" dirty="0">
                <a:solidFill>
                  <a:srgbClr val="A0A0B8"/>
                </a:solidFill>
              </a:rPr>
              <a:t>: </a:t>
            </a:r>
            <a:r>
              <a:rPr lang="en-US" sz="1333" b="1" dirty="0">
                <a:solidFill>
                  <a:srgbClr val="48BB78"/>
                </a:solidFill>
              </a:rPr>
              <a:t>base falla · fine-tuned </a:t>
            </a:r>
            <a:r>
              <a:rPr lang="en-US" sz="1333" b="1" dirty="0" err="1">
                <a:solidFill>
                  <a:srgbClr val="48BB78"/>
                </a:solidFill>
              </a:rPr>
              <a:t>acierta</a:t>
            </a:r>
            <a:endParaRPr lang="en-US" sz="1333" b="1" dirty="0">
              <a:solidFill>
                <a:srgbClr val="48BB78"/>
              </a:solidFill>
            </a:endParaRPr>
          </a:p>
        </p:txBody>
      </p:sp>
      <p:sp>
        <p:nvSpPr>
          <p:cNvPr id="35" name="Text 7">
            <a:extLst>
              <a:ext uri="{FF2B5EF4-FFF2-40B4-BE49-F238E27FC236}">
                <a16:creationId xmlns:a16="http://schemas.microsoft.com/office/drawing/2014/main" id="{1713E833-A88C-488F-AEC5-12D57A83880C}"/>
              </a:ext>
            </a:extLst>
          </p:cNvPr>
          <p:cNvSpPr/>
          <p:nvPr/>
        </p:nvSpPr>
        <p:spPr>
          <a:xfrm>
            <a:off x="670560" y="2889504"/>
            <a:ext cx="4998720" cy="219456"/>
          </a:xfrm>
          <a:prstGeom prst="rect">
            <a:avLst/>
          </a:prstGeom>
          <a:noFill/>
          <a:ln/>
        </p:spPr>
        <p:txBody>
          <a:bodyPr wrap="square" lIns="0" tIns="0" rIns="0" bIns="0" rtlCol="0" anchor="ctr"/>
          <a:lstStyle/>
          <a:p>
            <a:r>
              <a:rPr lang="en-US" sz="1200" b="1" dirty="0">
                <a:solidFill>
                  <a:srgbClr val="E0E0F0"/>
                </a:solidFill>
                <a:latin typeface="Calibri" pitchFamily="34" charset="0"/>
                <a:ea typeface="Calibri" pitchFamily="34" charset="-122"/>
                <a:cs typeface="Calibri" pitchFamily="34" charset="-120"/>
              </a:rPr>
              <a:t>Noticia real:</a:t>
            </a:r>
            <a:endParaRPr lang="en-US" sz="1200" dirty="0"/>
          </a:p>
        </p:txBody>
      </p:sp>
      <p:sp>
        <p:nvSpPr>
          <p:cNvPr id="36" name="Text 8">
            <a:extLst>
              <a:ext uri="{FF2B5EF4-FFF2-40B4-BE49-F238E27FC236}">
                <a16:creationId xmlns:a16="http://schemas.microsoft.com/office/drawing/2014/main" id="{19A95392-40FF-0D63-2A93-1395F6A340AD}"/>
              </a:ext>
            </a:extLst>
          </p:cNvPr>
          <p:cNvSpPr/>
          <p:nvPr/>
        </p:nvSpPr>
        <p:spPr>
          <a:xfrm>
            <a:off x="670560" y="3108960"/>
            <a:ext cx="4998720" cy="426720"/>
          </a:xfrm>
          <a:prstGeom prst="rect">
            <a:avLst/>
          </a:prstGeom>
          <a:noFill/>
          <a:ln/>
        </p:spPr>
        <p:txBody>
          <a:bodyPr wrap="square" lIns="0" tIns="0" rIns="0" bIns="0" rtlCol="0" anchor="ctr"/>
          <a:lstStyle/>
          <a:p>
            <a:r>
              <a:rPr lang="en-US" sz="1133" i="1" dirty="0">
                <a:solidFill>
                  <a:srgbClr val="A0A0B8"/>
                </a:solidFill>
                <a:latin typeface="Consolas" pitchFamily="34" charset="0"/>
                <a:ea typeface="Consolas" pitchFamily="34" charset="-122"/>
                <a:cs typeface="Consolas" pitchFamily="34" charset="-120"/>
              </a:rPr>
              <a:t>Noteworthy Wednesday Option Activity: SBGI, AMD, HUM</a:t>
            </a:r>
            <a:endParaRPr lang="en-US" sz="1133" dirty="0"/>
          </a:p>
          <a:p>
            <a:r>
              <a:rPr lang="en-US" sz="1133" i="1" dirty="0">
                <a:solidFill>
                  <a:srgbClr val="A0A0B8"/>
                </a:solidFill>
                <a:latin typeface="Consolas" pitchFamily="34" charset="0"/>
                <a:ea typeface="Consolas" pitchFamily="34" charset="-122"/>
                <a:cs typeface="Consolas" pitchFamily="34" charset="-120"/>
              </a:rPr>
              <a:t>Unusual Options Activity and Flow in AMD</a:t>
            </a:r>
            <a:endParaRPr lang="en-US" sz="1133" dirty="0"/>
          </a:p>
        </p:txBody>
      </p:sp>
      <p:sp>
        <p:nvSpPr>
          <p:cNvPr id="37" name="Text 9">
            <a:extLst>
              <a:ext uri="{FF2B5EF4-FFF2-40B4-BE49-F238E27FC236}">
                <a16:creationId xmlns:a16="http://schemas.microsoft.com/office/drawing/2014/main" id="{9713A06F-36EA-6416-D968-6A4573573A40}"/>
              </a:ext>
            </a:extLst>
          </p:cNvPr>
          <p:cNvSpPr/>
          <p:nvPr/>
        </p:nvSpPr>
        <p:spPr>
          <a:xfrm>
            <a:off x="670560" y="3572256"/>
            <a:ext cx="4998720" cy="219456"/>
          </a:xfrm>
          <a:prstGeom prst="rect">
            <a:avLst/>
          </a:prstGeom>
          <a:noFill/>
          <a:ln/>
        </p:spPr>
        <p:txBody>
          <a:bodyPr wrap="square" lIns="0" tIns="0" rIns="0" bIns="0" rtlCol="0" anchor="ctr"/>
          <a:lstStyle/>
          <a:p>
            <a:r>
              <a:rPr lang="en-US" sz="1200" b="1" dirty="0">
                <a:solidFill>
                  <a:srgbClr val="E94560"/>
                </a:solidFill>
                <a:latin typeface="Calibri" pitchFamily="34" charset="0"/>
                <a:ea typeface="Calibri" pitchFamily="34" charset="-122"/>
                <a:cs typeface="Calibri" pitchFamily="34" charset="-120"/>
              </a:rPr>
              <a:t>GPT-2 base:</a:t>
            </a:r>
            <a:endParaRPr lang="en-US" sz="1200" dirty="0"/>
          </a:p>
        </p:txBody>
      </p:sp>
      <p:sp>
        <p:nvSpPr>
          <p:cNvPr id="38" name="Text 10">
            <a:extLst>
              <a:ext uri="{FF2B5EF4-FFF2-40B4-BE49-F238E27FC236}">
                <a16:creationId xmlns:a16="http://schemas.microsoft.com/office/drawing/2014/main" id="{1A8EC0D8-ADE9-4396-03C2-B1D8CC165A8C}"/>
              </a:ext>
            </a:extLst>
          </p:cNvPr>
          <p:cNvSpPr/>
          <p:nvPr/>
        </p:nvSpPr>
        <p:spPr>
          <a:xfrm>
            <a:off x="670560" y="3791712"/>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E94560"/>
                </a:solidFill>
                <a:latin typeface="Consolas" pitchFamily="34" charset="0"/>
                <a:ea typeface="Consolas" pitchFamily="34" charset="-122"/>
                <a:cs typeface="Consolas" pitchFamily="34" charset="-120"/>
              </a:rPr>
              <a:t>"AMD has been in talks with Intel about their next generation of CPUs and GPUs..."</a:t>
            </a:r>
            <a:endParaRPr lang="en-US" sz="1133" dirty="0"/>
          </a:p>
        </p:txBody>
      </p:sp>
      <p:sp>
        <p:nvSpPr>
          <p:cNvPr id="39" name="Text 11">
            <a:extLst>
              <a:ext uri="{FF2B5EF4-FFF2-40B4-BE49-F238E27FC236}">
                <a16:creationId xmlns:a16="http://schemas.microsoft.com/office/drawing/2014/main" id="{EF74C563-D5C7-AD46-D3A1-102386D31963}"/>
              </a:ext>
            </a:extLst>
          </p:cNvPr>
          <p:cNvSpPr/>
          <p:nvPr/>
        </p:nvSpPr>
        <p:spPr>
          <a:xfrm>
            <a:off x="670560" y="4255008"/>
            <a:ext cx="4998720" cy="219456"/>
          </a:xfrm>
          <a:prstGeom prst="rect">
            <a:avLst/>
          </a:prstGeom>
          <a:noFill/>
          <a:ln/>
        </p:spPr>
        <p:txBody>
          <a:bodyPr wrap="square" lIns="0" tIns="0" rIns="0" bIns="0" rtlCol="0" anchor="ctr"/>
          <a:lstStyle/>
          <a:p>
            <a:r>
              <a:rPr lang="en-US" sz="1200" b="1" dirty="0">
                <a:solidFill>
                  <a:srgbClr val="00B4D8"/>
                </a:solidFill>
                <a:latin typeface="Calibri" pitchFamily="34" charset="0"/>
                <a:ea typeface="Calibri" pitchFamily="34" charset="-122"/>
                <a:cs typeface="Calibri" pitchFamily="34" charset="-120"/>
              </a:rPr>
              <a:t>Fine-tuned (NVDA+AMD):</a:t>
            </a:r>
            <a:endParaRPr lang="en-US" sz="1200" dirty="0"/>
          </a:p>
        </p:txBody>
      </p:sp>
      <p:sp>
        <p:nvSpPr>
          <p:cNvPr id="40" name="Text 12">
            <a:extLst>
              <a:ext uri="{FF2B5EF4-FFF2-40B4-BE49-F238E27FC236}">
                <a16:creationId xmlns:a16="http://schemas.microsoft.com/office/drawing/2014/main" id="{48F52457-4A8E-5ED7-7B67-87193B8F31E1}"/>
              </a:ext>
            </a:extLst>
          </p:cNvPr>
          <p:cNvSpPr/>
          <p:nvPr/>
        </p:nvSpPr>
        <p:spPr>
          <a:xfrm>
            <a:off x="670560" y="4474464"/>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00B4D8"/>
                </a:solidFill>
                <a:latin typeface="Consolas" pitchFamily="34" charset="0"/>
                <a:ea typeface="Consolas" pitchFamily="34" charset="-122"/>
                <a:cs typeface="Consolas" pitchFamily="34" charset="-120"/>
              </a:rPr>
              <a:t>"...Intel and Advanced Micro Devices (AMD) in Q1 Earnings Conference Call Transcripts..."</a:t>
            </a:r>
            <a:endParaRPr lang="en-US" sz="1133" dirty="0"/>
          </a:p>
        </p:txBody>
      </p:sp>
      <p:sp>
        <p:nvSpPr>
          <p:cNvPr id="41" name="Text 13">
            <a:extLst>
              <a:ext uri="{FF2B5EF4-FFF2-40B4-BE49-F238E27FC236}">
                <a16:creationId xmlns:a16="http://schemas.microsoft.com/office/drawing/2014/main" id="{4F0D75F3-A59E-2592-B672-FEC71F7796EB}"/>
              </a:ext>
            </a:extLst>
          </p:cNvPr>
          <p:cNvSpPr/>
          <p:nvPr/>
        </p:nvSpPr>
        <p:spPr>
          <a:xfrm>
            <a:off x="670560" y="5053584"/>
            <a:ext cx="4998720" cy="365760"/>
          </a:xfrm>
          <a:prstGeom prst="rect">
            <a:avLst/>
          </a:prstGeom>
          <a:noFill/>
          <a:ln/>
        </p:spPr>
        <p:txBody>
          <a:bodyPr wrap="square" lIns="0" tIns="0" rIns="0" bIns="0" rtlCol="0" anchor="ctr"/>
          <a:lstStyle/>
          <a:p>
            <a:r>
              <a:rPr lang="en-US" sz="1133" i="1" dirty="0">
                <a:solidFill>
                  <a:srgbClr val="E0E0F0"/>
                </a:solidFill>
                <a:latin typeface="Calibri" pitchFamily="34" charset="0"/>
                <a:ea typeface="Calibri" pitchFamily="34" charset="-122"/>
                <a:cs typeface="Calibri" pitchFamily="34" charset="-120"/>
              </a:rPr>
              <a:t>El fine-tuned se acerca más al formato de titular financiero y mejora el match semántico.</a:t>
            </a:r>
            <a:endParaRPr lang="en-US" sz="1133" dirty="0"/>
          </a:p>
        </p:txBody>
      </p:sp>
      <p:sp>
        <p:nvSpPr>
          <p:cNvPr id="42" name="Text 16">
            <a:extLst>
              <a:ext uri="{FF2B5EF4-FFF2-40B4-BE49-F238E27FC236}">
                <a16:creationId xmlns:a16="http://schemas.microsoft.com/office/drawing/2014/main" id="{A3D682D8-45D0-112F-E4C8-6022761BBABA}"/>
              </a:ext>
            </a:extLst>
          </p:cNvPr>
          <p:cNvSpPr/>
          <p:nvPr/>
        </p:nvSpPr>
        <p:spPr>
          <a:xfrm>
            <a:off x="6522720" y="1524000"/>
            <a:ext cx="4998720" cy="341376"/>
          </a:xfrm>
          <a:prstGeom prst="rect">
            <a:avLst/>
          </a:prstGeom>
          <a:noFill/>
          <a:ln/>
        </p:spPr>
        <p:txBody>
          <a:bodyPr wrap="square" lIns="0" tIns="0" rIns="0" bIns="0" rtlCol="0" anchor="ctr"/>
          <a:lstStyle/>
          <a:p>
            <a:r>
              <a:rPr lang="en-US" sz="1733" b="1" dirty="0">
                <a:solidFill>
                  <a:srgbClr val="E94560"/>
                </a:solidFill>
                <a:latin typeface="Calibri" pitchFamily="34" charset="0"/>
                <a:ea typeface="Calibri" pitchFamily="34" charset="-122"/>
                <a:cs typeface="Calibri" pitchFamily="34" charset="-120"/>
              </a:rPr>
              <a:t>Caso B · directional accuracy no alcanza</a:t>
            </a:r>
            <a:endParaRPr lang="en-US" sz="1733" dirty="0"/>
          </a:p>
        </p:txBody>
      </p:sp>
      <p:sp>
        <p:nvSpPr>
          <p:cNvPr id="43" name="Text 17">
            <a:extLst>
              <a:ext uri="{FF2B5EF4-FFF2-40B4-BE49-F238E27FC236}">
                <a16:creationId xmlns:a16="http://schemas.microsoft.com/office/drawing/2014/main" id="{F5DA1DAB-3833-8559-92C9-AD4E560067A6}"/>
              </a:ext>
            </a:extLst>
          </p:cNvPr>
          <p:cNvSpPr/>
          <p:nvPr/>
        </p:nvSpPr>
        <p:spPr>
          <a:xfrm>
            <a:off x="6522720" y="1889760"/>
            <a:ext cx="4998720" cy="268224"/>
          </a:xfrm>
          <a:prstGeom prst="rect">
            <a:avLst/>
          </a:prstGeom>
          <a:noFill/>
          <a:ln/>
        </p:spPr>
        <p:txBody>
          <a:bodyPr wrap="square" lIns="0" tIns="0" rIns="0" bIns="0" rtlCol="0" anchor="ctr"/>
          <a:lstStyle/>
          <a:p>
            <a:r>
              <a:rPr lang="en-US" sz="1333" dirty="0">
                <a:solidFill>
                  <a:srgbClr val="A0A0B8"/>
                </a:solidFill>
                <a:latin typeface="Consolas" pitchFamily="34" charset="0"/>
                <a:ea typeface="Consolas" pitchFamily="34" charset="-122"/>
                <a:cs typeface="Consolas" pitchFamily="34" charset="-120"/>
              </a:rPr>
              <a:t>AMD · target 2023-05-04</a:t>
            </a:r>
            <a:endParaRPr lang="en-US" sz="1333" dirty="0"/>
          </a:p>
        </p:txBody>
      </p:sp>
      <p:sp>
        <p:nvSpPr>
          <p:cNvPr id="44" name="Text 20">
            <a:extLst>
              <a:ext uri="{FF2B5EF4-FFF2-40B4-BE49-F238E27FC236}">
                <a16:creationId xmlns:a16="http://schemas.microsoft.com/office/drawing/2014/main" id="{A0240542-8205-354C-AAB3-FD638897CD34}"/>
              </a:ext>
            </a:extLst>
          </p:cNvPr>
          <p:cNvSpPr/>
          <p:nvPr/>
        </p:nvSpPr>
        <p:spPr>
          <a:xfrm>
            <a:off x="6522720" y="3011424"/>
            <a:ext cx="4998720" cy="219456"/>
          </a:xfrm>
          <a:prstGeom prst="rect">
            <a:avLst/>
          </a:prstGeom>
          <a:noFill/>
          <a:ln/>
        </p:spPr>
        <p:txBody>
          <a:bodyPr wrap="square" lIns="0" tIns="0" rIns="0" bIns="0" rtlCol="0" anchor="ctr"/>
          <a:lstStyle/>
          <a:p>
            <a:r>
              <a:rPr lang="en-US" sz="1200" b="1" dirty="0">
                <a:solidFill>
                  <a:srgbClr val="E0E0F0"/>
                </a:solidFill>
                <a:latin typeface="Calibri" pitchFamily="34" charset="0"/>
                <a:ea typeface="Calibri" pitchFamily="34" charset="-122"/>
                <a:cs typeface="Calibri" pitchFamily="34" charset="-120"/>
              </a:rPr>
              <a:t>Noticia real:</a:t>
            </a:r>
            <a:endParaRPr lang="en-US" sz="1200" dirty="0"/>
          </a:p>
        </p:txBody>
      </p:sp>
      <p:sp>
        <p:nvSpPr>
          <p:cNvPr id="45" name="Text 21">
            <a:extLst>
              <a:ext uri="{FF2B5EF4-FFF2-40B4-BE49-F238E27FC236}">
                <a16:creationId xmlns:a16="http://schemas.microsoft.com/office/drawing/2014/main" id="{94C4A82E-1627-8F0F-500F-ECF78C058F9C}"/>
              </a:ext>
            </a:extLst>
          </p:cNvPr>
          <p:cNvSpPr/>
          <p:nvPr/>
        </p:nvSpPr>
        <p:spPr>
          <a:xfrm>
            <a:off x="6522720" y="3230880"/>
            <a:ext cx="4998720" cy="426720"/>
          </a:xfrm>
          <a:prstGeom prst="rect">
            <a:avLst/>
          </a:prstGeom>
          <a:noFill/>
          <a:ln/>
        </p:spPr>
        <p:txBody>
          <a:bodyPr wrap="square" lIns="0" tIns="0" rIns="0" bIns="0" rtlCol="0" anchor="ctr"/>
          <a:lstStyle/>
          <a:p>
            <a:r>
              <a:rPr lang="en-US" sz="1133" i="1" dirty="0">
                <a:solidFill>
                  <a:srgbClr val="A0A0B8"/>
                </a:solidFill>
                <a:latin typeface="Consolas" pitchFamily="34" charset="0"/>
                <a:ea typeface="Consolas" pitchFamily="34" charset="-122"/>
                <a:cs typeface="Consolas" pitchFamily="34" charset="-120"/>
              </a:rPr>
              <a:t>Why AMD Stock Zoomed Higher on AI News Today</a:t>
            </a:r>
            <a:endParaRPr lang="en-US" sz="1133" dirty="0"/>
          </a:p>
          <a:p>
            <a:r>
              <a:rPr lang="en-US" sz="1133" i="1" dirty="0">
                <a:solidFill>
                  <a:srgbClr val="A0A0B8"/>
                </a:solidFill>
                <a:latin typeface="Consolas" pitchFamily="34" charset="0"/>
                <a:ea typeface="Consolas" pitchFamily="34" charset="-122"/>
                <a:cs typeface="Consolas" pitchFamily="34" charset="-120"/>
              </a:rPr>
              <a:t>Qualcomm amplifies chip gloom with 'sobering report'</a:t>
            </a:r>
            <a:endParaRPr lang="en-US" sz="1133" dirty="0"/>
          </a:p>
        </p:txBody>
      </p:sp>
      <p:sp>
        <p:nvSpPr>
          <p:cNvPr id="46" name="Text 22">
            <a:extLst>
              <a:ext uri="{FF2B5EF4-FFF2-40B4-BE49-F238E27FC236}">
                <a16:creationId xmlns:a16="http://schemas.microsoft.com/office/drawing/2014/main" id="{97DD0A18-3610-D007-6C27-F38B414E7915}"/>
              </a:ext>
            </a:extLst>
          </p:cNvPr>
          <p:cNvSpPr/>
          <p:nvPr/>
        </p:nvSpPr>
        <p:spPr>
          <a:xfrm>
            <a:off x="6522720" y="3694176"/>
            <a:ext cx="4998720" cy="219456"/>
          </a:xfrm>
          <a:prstGeom prst="rect">
            <a:avLst/>
          </a:prstGeom>
          <a:noFill/>
          <a:ln/>
        </p:spPr>
        <p:txBody>
          <a:bodyPr wrap="square" lIns="0" tIns="0" rIns="0" bIns="0" rtlCol="0" anchor="ctr"/>
          <a:lstStyle/>
          <a:p>
            <a:r>
              <a:rPr lang="en-US" sz="1200" b="1" dirty="0">
                <a:solidFill>
                  <a:srgbClr val="E94560"/>
                </a:solidFill>
                <a:latin typeface="Calibri" pitchFamily="34" charset="0"/>
                <a:ea typeface="Calibri" pitchFamily="34" charset="-122"/>
                <a:cs typeface="Calibri" pitchFamily="34" charset="-120"/>
              </a:rPr>
              <a:t>GPT-2 base:</a:t>
            </a:r>
            <a:endParaRPr lang="en-US" sz="1200" dirty="0"/>
          </a:p>
        </p:txBody>
      </p:sp>
      <p:sp>
        <p:nvSpPr>
          <p:cNvPr id="47" name="Text 23">
            <a:extLst>
              <a:ext uri="{FF2B5EF4-FFF2-40B4-BE49-F238E27FC236}">
                <a16:creationId xmlns:a16="http://schemas.microsoft.com/office/drawing/2014/main" id="{BEEAE274-3191-651C-0FC1-562021428FFE}"/>
              </a:ext>
            </a:extLst>
          </p:cNvPr>
          <p:cNvSpPr/>
          <p:nvPr/>
        </p:nvSpPr>
        <p:spPr>
          <a:xfrm>
            <a:off x="6522720" y="3913632"/>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E94560"/>
                </a:solidFill>
                <a:latin typeface="Consolas" pitchFamily="34" charset="0"/>
                <a:ea typeface="Consolas" pitchFamily="34" charset="-122"/>
                <a:cs typeface="Consolas" pitchFamily="34" charset="-120"/>
              </a:rPr>
              <a:t>"10/20 at 11 AM EDT | CNBC Newsroom – 'The Dow Jones Industrial Average has fallen...'"</a:t>
            </a:r>
            <a:endParaRPr lang="en-US" sz="1133" dirty="0"/>
          </a:p>
        </p:txBody>
      </p:sp>
      <p:sp>
        <p:nvSpPr>
          <p:cNvPr id="48" name="Text 24">
            <a:extLst>
              <a:ext uri="{FF2B5EF4-FFF2-40B4-BE49-F238E27FC236}">
                <a16:creationId xmlns:a16="http://schemas.microsoft.com/office/drawing/2014/main" id="{5749D543-863E-2E81-CC8F-AB811D1C1D41}"/>
              </a:ext>
            </a:extLst>
          </p:cNvPr>
          <p:cNvSpPr/>
          <p:nvPr/>
        </p:nvSpPr>
        <p:spPr>
          <a:xfrm>
            <a:off x="6522720" y="4376928"/>
            <a:ext cx="4998720" cy="219456"/>
          </a:xfrm>
          <a:prstGeom prst="rect">
            <a:avLst/>
          </a:prstGeom>
          <a:noFill/>
          <a:ln/>
        </p:spPr>
        <p:txBody>
          <a:bodyPr wrap="square" lIns="0" tIns="0" rIns="0" bIns="0" rtlCol="0" anchor="ctr"/>
          <a:lstStyle/>
          <a:p>
            <a:r>
              <a:rPr lang="en-US" sz="1200" b="1" dirty="0">
                <a:solidFill>
                  <a:srgbClr val="00B4D8"/>
                </a:solidFill>
                <a:latin typeface="Calibri" pitchFamily="34" charset="0"/>
                <a:ea typeface="Calibri" pitchFamily="34" charset="-122"/>
                <a:cs typeface="Calibri" pitchFamily="34" charset="-120"/>
              </a:rPr>
              <a:t>Fine-tuned (NVDA+AMD):</a:t>
            </a:r>
            <a:endParaRPr lang="en-US" sz="1200" dirty="0"/>
          </a:p>
        </p:txBody>
      </p:sp>
      <p:sp>
        <p:nvSpPr>
          <p:cNvPr id="49" name="Text 25">
            <a:extLst>
              <a:ext uri="{FF2B5EF4-FFF2-40B4-BE49-F238E27FC236}">
                <a16:creationId xmlns:a16="http://schemas.microsoft.com/office/drawing/2014/main" id="{FCF8F1B9-5A34-DB49-4470-F2485DB6A446}"/>
              </a:ext>
            </a:extLst>
          </p:cNvPr>
          <p:cNvSpPr/>
          <p:nvPr/>
        </p:nvSpPr>
        <p:spPr>
          <a:xfrm>
            <a:off x="6522720" y="4596384"/>
            <a:ext cx="4998720" cy="426720"/>
          </a:xfrm>
          <a:prstGeom prst="rect">
            <a:avLst/>
          </a:prstGeom>
          <a:solidFill>
            <a:schemeClr val="tx1">
              <a:lumMod val="85000"/>
              <a:lumOff val="15000"/>
            </a:schemeClr>
          </a:solidFill>
          <a:ln/>
        </p:spPr>
        <p:txBody>
          <a:bodyPr wrap="square" lIns="0" tIns="0" rIns="0" bIns="0" rtlCol="0" anchor="ctr"/>
          <a:lstStyle/>
          <a:p>
            <a:r>
              <a:rPr lang="en-US" sz="1133" dirty="0">
                <a:solidFill>
                  <a:srgbClr val="00B4D8"/>
                </a:solidFill>
                <a:latin typeface="Consolas" pitchFamily="34" charset="0"/>
                <a:ea typeface="Consolas" pitchFamily="34" charset="-122"/>
                <a:cs typeface="Consolas" pitchFamily="34" charset="-120"/>
              </a:rPr>
              <a:t>"Intel's New Chips Could Make It a Winner... 3 Reasons To Invest $100 In NVIDIA Today!"</a:t>
            </a:r>
            <a:endParaRPr lang="en-US" sz="1133" dirty="0"/>
          </a:p>
        </p:txBody>
      </p:sp>
      <p:sp>
        <p:nvSpPr>
          <p:cNvPr id="50" name="Text 26">
            <a:extLst>
              <a:ext uri="{FF2B5EF4-FFF2-40B4-BE49-F238E27FC236}">
                <a16:creationId xmlns:a16="http://schemas.microsoft.com/office/drawing/2014/main" id="{2F5C3D50-2AA5-7E66-4B3E-B079DDD793CE}"/>
              </a:ext>
            </a:extLst>
          </p:cNvPr>
          <p:cNvSpPr/>
          <p:nvPr/>
        </p:nvSpPr>
        <p:spPr>
          <a:xfrm>
            <a:off x="6522720" y="5059680"/>
            <a:ext cx="4998720" cy="365760"/>
          </a:xfrm>
          <a:prstGeom prst="rect">
            <a:avLst/>
          </a:prstGeom>
          <a:noFill/>
          <a:ln/>
        </p:spPr>
        <p:txBody>
          <a:bodyPr wrap="square" lIns="0" tIns="0" rIns="0" bIns="0" rtlCol="0" anchor="ctr"/>
          <a:lstStyle/>
          <a:p>
            <a:r>
              <a:rPr lang="en-US" sz="1133" i="1" dirty="0">
                <a:solidFill>
                  <a:srgbClr val="E0E0F0"/>
                </a:solidFill>
                <a:latin typeface="Calibri" pitchFamily="34" charset="0"/>
                <a:ea typeface="Calibri" pitchFamily="34" charset="-122"/>
                <a:cs typeface="Calibri" pitchFamily="34" charset="-120"/>
              </a:rPr>
              <a:t>GPT-2 base acierta la dirección, pero el texto es genérico. Directional accuracy sola no valida calidad.</a:t>
            </a:r>
            <a:endParaRPr lang="en-US" sz="1133" dirty="0"/>
          </a:p>
        </p:txBody>
      </p:sp>
      <p:sp>
        <p:nvSpPr>
          <p:cNvPr id="51" name="Text 6">
            <a:extLst>
              <a:ext uri="{FF2B5EF4-FFF2-40B4-BE49-F238E27FC236}">
                <a16:creationId xmlns:a16="http://schemas.microsoft.com/office/drawing/2014/main" id="{40FA2A8A-AD0F-8C97-EEF2-0C159896FBD0}"/>
              </a:ext>
            </a:extLst>
          </p:cNvPr>
          <p:cNvSpPr/>
          <p:nvPr/>
        </p:nvSpPr>
        <p:spPr>
          <a:xfrm>
            <a:off x="6522720" y="2246057"/>
            <a:ext cx="4998720" cy="658368"/>
          </a:xfrm>
          <a:prstGeom prst="rect">
            <a:avLst/>
          </a:prstGeom>
          <a:noFill/>
          <a:ln/>
        </p:spPr>
        <p:txBody>
          <a:bodyPr wrap="square" lIns="0" tIns="0" rIns="0" bIns="0" rtlCol="0" anchor="ctr"/>
          <a:lstStyle/>
          <a:p>
            <a:r>
              <a:rPr lang="en-US" sz="1333" dirty="0">
                <a:solidFill>
                  <a:srgbClr val="A0A0B8"/>
                </a:solidFill>
              </a:rPr>
              <a:t>ROUGE-L: </a:t>
            </a:r>
            <a:r>
              <a:rPr lang="en-US" sz="1333" b="1" dirty="0">
                <a:solidFill>
                  <a:srgbClr val="48BB78"/>
                </a:solidFill>
              </a:rPr>
              <a:t>0.000 → 0.035</a:t>
            </a:r>
            <a:r>
              <a:rPr lang="en-US" sz="1333" dirty="0">
                <a:solidFill>
                  <a:srgbClr val="A0A0B8"/>
                </a:solidFill>
              </a:rPr>
              <a:t>    </a:t>
            </a:r>
          </a:p>
          <a:p>
            <a:r>
              <a:rPr lang="en-US" sz="1333" dirty="0" err="1">
                <a:solidFill>
                  <a:srgbClr val="A0A0B8"/>
                </a:solidFill>
              </a:rPr>
              <a:t>BERTScore</a:t>
            </a:r>
            <a:r>
              <a:rPr lang="en-US" sz="1333">
                <a:solidFill>
                  <a:srgbClr val="A0A0B8"/>
                </a:solidFill>
              </a:rPr>
              <a:t>: </a:t>
            </a:r>
            <a:r>
              <a:rPr lang="en-US" sz="1333" b="1">
                <a:solidFill>
                  <a:srgbClr val="48BB78"/>
                </a:solidFill>
              </a:rPr>
              <a:t>0.727 → 0.764</a:t>
            </a:r>
            <a:endParaRPr lang="en-US" sz="1333" dirty="0">
              <a:solidFill>
                <a:srgbClr val="A0A0B8"/>
              </a:solidFill>
            </a:endParaRPr>
          </a:p>
          <a:p>
            <a:r>
              <a:rPr lang="en-US" sz="1333" dirty="0" err="1">
                <a:solidFill>
                  <a:srgbClr val="A0A0B8"/>
                </a:solidFill>
              </a:rPr>
              <a:t>Dir.correcta</a:t>
            </a:r>
            <a:r>
              <a:rPr lang="en-US" sz="1333" dirty="0">
                <a:solidFill>
                  <a:srgbClr val="A0A0B8"/>
                </a:solidFill>
              </a:rPr>
              <a:t>: </a:t>
            </a:r>
            <a:r>
              <a:rPr lang="en-US" sz="1333" b="1" dirty="0">
                <a:solidFill>
                  <a:srgbClr val="48BB78"/>
                </a:solidFill>
              </a:rPr>
              <a:t>base </a:t>
            </a:r>
            <a:r>
              <a:rPr lang="en-US" sz="1333" b="1" dirty="0" err="1">
                <a:solidFill>
                  <a:srgbClr val="48BB78"/>
                </a:solidFill>
              </a:rPr>
              <a:t>acierta</a:t>
            </a:r>
            <a:r>
              <a:rPr lang="en-US" sz="1333" b="1" dirty="0">
                <a:solidFill>
                  <a:srgbClr val="48BB78"/>
                </a:solidFill>
              </a:rPr>
              <a:t> · fine-tuned </a:t>
            </a:r>
            <a:r>
              <a:rPr lang="en-US" sz="1333" b="1" dirty="0" err="1">
                <a:solidFill>
                  <a:srgbClr val="48BB78"/>
                </a:solidFill>
              </a:rPr>
              <a:t>falla</a:t>
            </a:r>
            <a:endParaRPr lang="en-US" sz="1333" b="1" dirty="0">
              <a:solidFill>
                <a:srgbClr val="48BB7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3A4E72"/>
                </a:solidFill>
                <a:latin typeface="Arial" panose="020B0604020202020204" pitchFamily="34" charset="0"/>
                <a:ea typeface="Georgia" pitchFamily="34" charset="-122"/>
                <a:cs typeface="Arial" panose="020B0604020202020204" pitchFamily="34" charset="0"/>
              </a:rPr>
              <a:t>12</a:t>
            </a:r>
            <a:endParaRPr lang="en-US" sz="1500" dirty="0">
              <a:latin typeface="Arial" panose="020B0604020202020204" pitchFamily="34" charset="0"/>
              <a:cs typeface="Arial" panose="020B0604020202020204" pitchFamily="34" charset="0"/>
            </a:endParaRPr>
          </a:p>
        </p:txBody>
      </p:sp>
      <p:sp>
        <p:nvSpPr>
          <p:cNvPr id="5" name="Shape 3"/>
          <p:cNvSpPr/>
          <p:nvPr/>
        </p:nvSpPr>
        <p:spPr>
          <a:xfrm>
            <a:off x="589280" y="1478788"/>
            <a:ext cx="5074920" cy="4334256"/>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7" name="Text 4"/>
          <p:cNvSpPr/>
          <p:nvPr/>
        </p:nvSpPr>
        <p:spPr>
          <a:xfrm>
            <a:off x="900176" y="2009140"/>
            <a:ext cx="416052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anose="020B0604020202020204" pitchFamily="34" charset="0"/>
                <a:ea typeface="Georgia" pitchFamily="34" charset="-122"/>
                <a:cs typeface="Arial" panose="020B0604020202020204" pitchFamily="34" charset="0"/>
              </a:rPr>
              <a:t>Limitaciones</a:t>
            </a:r>
            <a:endParaRPr lang="en-US" sz="1600" dirty="0">
              <a:latin typeface="Arial" panose="020B0604020202020204" pitchFamily="34" charset="0"/>
              <a:cs typeface="Arial" panose="020B0604020202020204" pitchFamily="34" charset="0"/>
            </a:endParaRPr>
          </a:p>
        </p:txBody>
      </p:sp>
      <p:sp>
        <p:nvSpPr>
          <p:cNvPr id="8" name="Text 5"/>
          <p:cNvSpPr/>
          <p:nvPr/>
        </p:nvSpPr>
        <p:spPr>
          <a:xfrm>
            <a:off x="900176" y="2210308"/>
            <a:ext cx="4526280" cy="3374136"/>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Dataset de test pequeño para concluir robustez.</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GPT-2 small: capacidad limitada, salidas genéricas.</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err="1">
                <a:solidFill>
                  <a:srgbClr val="C2CEDF"/>
                </a:solidFill>
                <a:latin typeface="Arial" panose="020B0604020202020204" pitchFamily="34" charset="0"/>
                <a:ea typeface="Calibri" pitchFamily="34" charset="-122"/>
                <a:cs typeface="Arial" panose="020B0604020202020204" pitchFamily="34" charset="0"/>
              </a:rPr>
              <a:t>FinBERT</a:t>
            </a:r>
            <a:r>
              <a:rPr lang="en-US" sz="1100" dirty="0">
                <a:solidFill>
                  <a:srgbClr val="C2CEDF"/>
                </a:solidFill>
                <a:latin typeface="Arial" panose="020B0604020202020204" pitchFamily="34" charset="0"/>
                <a:ea typeface="Calibri" pitchFamily="34" charset="-122"/>
                <a:cs typeface="Arial" panose="020B0604020202020204" pitchFamily="34" charset="0"/>
              </a:rPr>
              <a:t> es </a:t>
            </a:r>
            <a:r>
              <a:rPr lang="en-US" sz="1100" dirty="0" err="1">
                <a:solidFill>
                  <a:srgbClr val="C2CEDF"/>
                </a:solidFill>
                <a:latin typeface="Arial" panose="020B0604020202020204" pitchFamily="34" charset="0"/>
                <a:ea typeface="Calibri" pitchFamily="34" charset="-122"/>
                <a:cs typeface="Arial" panose="020B0604020202020204" pitchFamily="34" charset="0"/>
              </a:rPr>
              <a:t>una</a:t>
            </a:r>
            <a:r>
              <a:rPr lang="en-US" sz="1100" dirty="0">
                <a:solidFill>
                  <a:srgbClr val="C2CEDF"/>
                </a:solidFill>
                <a:latin typeface="Arial" panose="020B0604020202020204" pitchFamily="34" charset="0"/>
                <a:ea typeface="Calibri" pitchFamily="34" charset="-122"/>
                <a:cs typeface="Arial" panose="020B0604020202020204" pitchFamily="34" charset="0"/>
              </a:rPr>
              <a:t> IA para </a:t>
            </a:r>
            <a:r>
              <a:rPr lang="en-US" sz="1100" dirty="0" err="1">
                <a:solidFill>
                  <a:srgbClr val="C2CEDF"/>
                </a:solidFill>
                <a:latin typeface="Arial" panose="020B0604020202020204" pitchFamily="34" charset="0"/>
                <a:ea typeface="Calibri" pitchFamily="34" charset="-122"/>
                <a:cs typeface="Arial" panose="020B0604020202020204" pitchFamily="34" charset="0"/>
              </a:rPr>
              <a:t>evaluar</a:t>
            </a:r>
            <a:r>
              <a:rPr lang="en-US" sz="1100" dirty="0">
                <a:solidFill>
                  <a:srgbClr val="C2CEDF"/>
                </a:solidFill>
                <a:latin typeface="Arial" panose="020B0604020202020204" pitchFamily="34" charset="0"/>
                <a:ea typeface="Calibri" pitchFamily="34" charset="-122"/>
                <a:cs typeface="Arial" panose="020B0604020202020204" pitchFamily="34" charset="0"/>
              </a:rPr>
              <a:t> IA.</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La dir. accuracy depende de la distribución de clases.</a:t>
            </a:r>
            <a:endParaRPr lang="en-US" sz="1100" dirty="0">
              <a:latin typeface="Arial" panose="020B0604020202020204" pitchFamily="34" charset="0"/>
              <a:cs typeface="Arial" panose="020B0604020202020204" pitchFamily="34" charset="0"/>
            </a:endParaRPr>
          </a:p>
          <a:p>
            <a:pPr marL="342900" indent="-342900">
              <a:spcAft>
                <a:spcPts val="900"/>
              </a:spcAft>
              <a:buSzPct val="100000"/>
              <a:buChar char="–"/>
            </a:pPr>
            <a:r>
              <a:rPr lang="en-US" sz="1100" dirty="0">
                <a:solidFill>
                  <a:srgbClr val="C2CEDF"/>
                </a:solidFill>
                <a:latin typeface="Arial" panose="020B0604020202020204" pitchFamily="34" charset="0"/>
                <a:ea typeface="Calibri" pitchFamily="34" charset="-122"/>
                <a:cs typeface="Arial" panose="020B0604020202020204" pitchFamily="34" charset="0"/>
              </a:rPr>
              <a:t>Sin significancia estadística fuerte (p &lt; 0.05).</a:t>
            </a:r>
            <a:endParaRPr lang="en-US" sz="1100" dirty="0">
              <a:latin typeface="Arial" panose="020B0604020202020204" pitchFamily="34" charset="0"/>
              <a:cs typeface="Arial" panose="020B0604020202020204" pitchFamily="34" charset="0"/>
            </a:endParaRPr>
          </a:p>
        </p:txBody>
      </p:sp>
      <p:sp>
        <p:nvSpPr>
          <p:cNvPr id="9" name="Shape 6"/>
          <p:cNvSpPr/>
          <p:nvPr/>
        </p:nvSpPr>
        <p:spPr>
          <a:xfrm>
            <a:off x="5975096" y="1961388"/>
            <a:ext cx="5534863" cy="713232"/>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10" name="Shape 7"/>
          <p:cNvSpPr/>
          <p:nvPr/>
        </p:nvSpPr>
        <p:spPr>
          <a:xfrm>
            <a:off x="6157976" y="2125980"/>
            <a:ext cx="384048" cy="384048"/>
          </a:xfrm>
          <a:prstGeom prst="ellipse">
            <a:avLst/>
          </a:prstGeom>
          <a:solidFill>
            <a:srgbClr val="2A7F8C"/>
          </a:solidFill>
          <a:ln w="12700">
            <a:solidFill>
              <a:srgbClr val="333333"/>
            </a:solidFill>
            <a:prstDash val="solid"/>
          </a:ln>
        </p:spPr>
        <p:txBody>
          <a:bodyPr/>
          <a:lstStyle/>
          <a:p>
            <a:endParaRPr lang="es-AR">
              <a:latin typeface="Arial" panose="020B0604020202020204" pitchFamily="34" charset="0"/>
              <a:cs typeface="Arial" panose="020B0604020202020204" pitchFamily="34" charset="0"/>
            </a:endParaRPr>
          </a:p>
        </p:txBody>
      </p:sp>
      <p:pic>
        <p:nvPicPr>
          <p:cNvPr id="11" name="Image 1" descr="icon_check_w.png"/>
          <p:cNvPicPr>
            <a:picLocks noChangeAspect="1"/>
          </p:cNvPicPr>
          <p:nvPr/>
        </p:nvPicPr>
        <p:blipFill>
          <a:blip r:embed="rId3"/>
          <a:stretch>
            <a:fillRect/>
          </a:stretch>
        </p:blipFill>
        <p:spPr>
          <a:xfrm>
            <a:off x="6249416" y="2217420"/>
            <a:ext cx="201168" cy="201168"/>
          </a:xfrm>
          <a:prstGeom prst="rect">
            <a:avLst/>
          </a:prstGeom>
        </p:spPr>
      </p:pic>
      <p:sp>
        <p:nvSpPr>
          <p:cNvPr id="12" name="Text 8"/>
          <p:cNvSpPr/>
          <p:nvPr/>
        </p:nvSpPr>
        <p:spPr>
          <a:xfrm>
            <a:off x="6724904" y="1961388"/>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Arial" panose="020B0604020202020204" pitchFamily="34" charset="0"/>
                <a:ea typeface="Calibri" pitchFamily="34" charset="-122"/>
                <a:cs typeface="Arial" panose="020B0604020202020204" pitchFamily="34" charset="0"/>
              </a:rPr>
              <a:t>GPT-2 base genera texto financiero genérico, con baja calidad semántica.</a:t>
            </a:r>
            <a:endParaRPr lang="en-US" sz="1080" dirty="0">
              <a:latin typeface="Arial" panose="020B0604020202020204" pitchFamily="34" charset="0"/>
              <a:cs typeface="Arial" panose="020B0604020202020204" pitchFamily="34" charset="0"/>
            </a:endParaRPr>
          </a:p>
        </p:txBody>
      </p:sp>
      <p:sp>
        <p:nvSpPr>
          <p:cNvPr id="13" name="Shape 9"/>
          <p:cNvSpPr/>
          <p:nvPr/>
        </p:nvSpPr>
        <p:spPr>
          <a:xfrm>
            <a:off x="5975096" y="2802636"/>
            <a:ext cx="5534863" cy="713232"/>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14" name="Shape 10"/>
          <p:cNvSpPr/>
          <p:nvPr/>
        </p:nvSpPr>
        <p:spPr>
          <a:xfrm>
            <a:off x="6157976" y="2967228"/>
            <a:ext cx="384048" cy="384048"/>
          </a:xfrm>
          <a:prstGeom prst="ellipse">
            <a:avLst/>
          </a:prstGeom>
          <a:solidFill>
            <a:srgbClr val="2A7F8C"/>
          </a:solidFill>
          <a:ln w="12700">
            <a:solidFill>
              <a:srgbClr val="333333"/>
            </a:solidFill>
            <a:prstDash val="solid"/>
          </a:ln>
        </p:spPr>
        <p:txBody>
          <a:bodyPr/>
          <a:lstStyle/>
          <a:p>
            <a:endParaRPr lang="es-AR">
              <a:latin typeface="Arial" panose="020B0604020202020204" pitchFamily="34" charset="0"/>
              <a:cs typeface="Arial" panose="020B0604020202020204" pitchFamily="34" charset="0"/>
            </a:endParaRPr>
          </a:p>
        </p:txBody>
      </p:sp>
      <p:pic>
        <p:nvPicPr>
          <p:cNvPr id="15" name="Image 2" descr="icon_balance_w.png"/>
          <p:cNvPicPr>
            <a:picLocks noChangeAspect="1"/>
          </p:cNvPicPr>
          <p:nvPr/>
        </p:nvPicPr>
        <p:blipFill>
          <a:blip r:embed="rId4"/>
          <a:stretch>
            <a:fillRect/>
          </a:stretch>
        </p:blipFill>
        <p:spPr>
          <a:xfrm>
            <a:off x="6249416" y="3058668"/>
            <a:ext cx="201168" cy="201168"/>
          </a:xfrm>
          <a:prstGeom prst="rect">
            <a:avLst/>
          </a:prstGeom>
        </p:spPr>
      </p:pic>
      <p:sp>
        <p:nvSpPr>
          <p:cNvPr id="16" name="Text 11"/>
          <p:cNvSpPr/>
          <p:nvPr/>
        </p:nvSpPr>
        <p:spPr>
          <a:xfrm>
            <a:off x="6724904" y="2802636"/>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Arial" panose="020B0604020202020204" pitchFamily="34" charset="0"/>
                <a:ea typeface="Calibri" pitchFamily="34" charset="-122"/>
                <a:cs typeface="Arial" panose="020B0604020202020204" pitchFamily="34" charset="0"/>
              </a:rPr>
              <a:t>El fine-tuning </a:t>
            </a:r>
            <a:r>
              <a:rPr lang="en-US" sz="1080" dirty="0" err="1">
                <a:solidFill>
                  <a:srgbClr val="E6ECF5"/>
                </a:solidFill>
                <a:latin typeface="Arial" panose="020B0604020202020204" pitchFamily="34" charset="0"/>
                <a:ea typeface="Calibri" pitchFamily="34" charset="-122"/>
                <a:cs typeface="Arial" panose="020B0604020202020204" pitchFamily="34" charset="0"/>
              </a:rPr>
              <a:t>mejora</a:t>
            </a:r>
            <a:r>
              <a:rPr lang="en-US" sz="1080" dirty="0">
                <a:solidFill>
                  <a:srgbClr val="E6ECF5"/>
                </a:solidFill>
                <a:latin typeface="Arial" panose="020B0604020202020204" pitchFamily="34" charset="0"/>
                <a:ea typeface="Calibri" pitchFamily="34" charset="-122"/>
                <a:cs typeface="Arial" panose="020B0604020202020204" pitchFamily="34" charset="0"/>
              </a:rPr>
              <a:t> ROUGE-L, </a:t>
            </a:r>
            <a:r>
              <a:rPr lang="en-US" sz="1080" dirty="0" err="1">
                <a:solidFill>
                  <a:srgbClr val="E6ECF5"/>
                </a:solidFill>
                <a:latin typeface="Arial" panose="020B0604020202020204" pitchFamily="34" charset="0"/>
                <a:ea typeface="Calibri" pitchFamily="34" charset="-122"/>
                <a:cs typeface="Arial" panose="020B0604020202020204" pitchFamily="34" charset="0"/>
              </a:rPr>
              <a:t>BERTScore</a:t>
            </a:r>
            <a:r>
              <a:rPr lang="en-US" sz="1080" dirty="0">
                <a:solidFill>
                  <a:srgbClr val="E6ECF5"/>
                </a:solidFill>
                <a:latin typeface="Arial" panose="020B0604020202020204" pitchFamily="34" charset="0"/>
                <a:ea typeface="Calibri" pitchFamily="34" charset="-122"/>
                <a:cs typeface="Arial" panose="020B0604020202020204" pitchFamily="34" charset="0"/>
              </a:rPr>
              <a:t> y sentiment match frente al modelo base.</a:t>
            </a:r>
            <a:endParaRPr lang="en-US" sz="1080" dirty="0">
              <a:latin typeface="Arial" panose="020B0604020202020204" pitchFamily="34" charset="0"/>
              <a:cs typeface="Arial" panose="020B0604020202020204" pitchFamily="34" charset="0"/>
            </a:endParaRPr>
          </a:p>
        </p:txBody>
      </p:sp>
      <p:sp>
        <p:nvSpPr>
          <p:cNvPr id="21" name="Shape 15"/>
          <p:cNvSpPr/>
          <p:nvPr/>
        </p:nvSpPr>
        <p:spPr>
          <a:xfrm>
            <a:off x="5965952" y="3662172"/>
            <a:ext cx="5534863" cy="713232"/>
          </a:xfrm>
          <a:prstGeom prst="rect">
            <a:avLst/>
          </a:prstGeom>
          <a:solidFill>
            <a:schemeClr val="tx1">
              <a:lumMod val="95000"/>
              <a:lumOff val="5000"/>
            </a:schemeClr>
          </a:solidFill>
          <a:ln w="12700">
            <a:solidFill>
              <a:srgbClr val="2E3C58"/>
            </a:solidFill>
            <a:prstDash val="solid"/>
          </a:ln>
        </p:spPr>
        <p:txBody>
          <a:bodyPr/>
          <a:lstStyle/>
          <a:p>
            <a:endParaRPr lang="es-AR">
              <a:latin typeface="Arial" panose="020B0604020202020204" pitchFamily="34" charset="0"/>
              <a:cs typeface="Arial" panose="020B0604020202020204" pitchFamily="34" charset="0"/>
            </a:endParaRPr>
          </a:p>
        </p:txBody>
      </p:sp>
      <p:sp>
        <p:nvSpPr>
          <p:cNvPr id="22" name="Shape 16"/>
          <p:cNvSpPr/>
          <p:nvPr/>
        </p:nvSpPr>
        <p:spPr>
          <a:xfrm>
            <a:off x="6148832" y="3826764"/>
            <a:ext cx="384048" cy="384048"/>
          </a:xfrm>
          <a:prstGeom prst="ellipse">
            <a:avLst/>
          </a:prstGeom>
          <a:solidFill>
            <a:srgbClr val="2A7F8C"/>
          </a:solidFill>
          <a:ln w="12700">
            <a:solidFill>
              <a:srgbClr val="333333"/>
            </a:solidFill>
            <a:prstDash val="solid"/>
          </a:ln>
        </p:spPr>
        <p:txBody>
          <a:bodyPr/>
          <a:lstStyle/>
          <a:p>
            <a:endParaRPr lang="es-AR">
              <a:latin typeface="Arial" panose="020B0604020202020204" pitchFamily="34" charset="0"/>
              <a:cs typeface="Arial" panose="020B0604020202020204" pitchFamily="34" charset="0"/>
            </a:endParaRPr>
          </a:p>
        </p:txBody>
      </p:sp>
      <p:pic>
        <p:nvPicPr>
          <p:cNvPr id="23" name="Image 4" descr="icon_warn_w.png"/>
          <p:cNvPicPr>
            <a:picLocks noChangeAspect="1"/>
          </p:cNvPicPr>
          <p:nvPr/>
        </p:nvPicPr>
        <p:blipFill>
          <a:blip r:embed="rId5"/>
          <a:stretch>
            <a:fillRect/>
          </a:stretch>
        </p:blipFill>
        <p:spPr>
          <a:xfrm>
            <a:off x="6240272" y="3918204"/>
            <a:ext cx="201168" cy="201168"/>
          </a:xfrm>
          <a:prstGeom prst="rect">
            <a:avLst/>
          </a:prstGeom>
        </p:spPr>
      </p:pic>
      <p:sp>
        <p:nvSpPr>
          <p:cNvPr id="24" name="Text 17"/>
          <p:cNvSpPr/>
          <p:nvPr/>
        </p:nvSpPr>
        <p:spPr>
          <a:xfrm>
            <a:off x="6715760" y="3662172"/>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Arial" panose="020B0604020202020204" pitchFamily="34" charset="0"/>
                <a:ea typeface="Calibri" pitchFamily="34" charset="-122"/>
                <a:cs typeface="Arial" panose="020B0604020202020204" pitchFamily="34" charset="0"/>
              </a:rPr>
              <a:t>Directional accuracy queda como señal exploratoria, no como evidencia predictiva.</a:t>
            </a:r>
            <a:endParaRPr lang="en-US" sz="1080" dirty="0">
              <a:latin typeface="Arial" panose="020B0604020202020204" pitchFamily="34" charset="0"/>
              <a:cs typeface="Arial" panose="020B0604020202020204" pitchFamily="34" charset="0"/>
            </a:endParaRPr>
          </a:p>
        </p:txBody>
      </p:sp>
      <p:sp>
        <p:nvSpPr>
          <p:cNvPr id="25" name="Shape 18"/>
          <p:cNvSpPr/>
          <p:nvPr/>
        </p:nvSpPr>
        <p:spPr>
          <a:xfrm>
            <a:off x="5965952" y="4539996"/>
            <a:ext cx="5534863" cy="841248"/>
          </a:xfrm>
          <a:prstGeom prst="rect">
            <a:avLst/>
          </a:prstGeom>
          <a:solidFill>
            <a:schemeClr val="tx1">
              <a:lumMod val="85000"/>
              <a:lumOff val="15000"/>
            </a:schemeClr>
          </a:solidFill>
          <a:ln w="12700">
            <a:solidFill>
              <a:srgbClr val="333333"/>
            </a:solidFill>
            <a:prstDash val="solid"/>
          </a:ln>
          <a:effectLst>
            <a:outerShdw blurRad="114300" dist="38100" dir="8100000" algn="bl" rotWithShape="0">
              <a:srgbClr val="1E2A4A">
                <a:alpha val="14000"/>
              </a:srgbClr>
            </a:outerShdw>
          </a:effectLst>
        </p:spPr>
        <p:txBody>
          <a:bodyPr/>
          <a:lstStyle/>
          <a:p>
            <a:endParaRPr lang="es-AR">
              <a:latin typeface="Arial" panose="020B0604020202020204" pitchFamily="34" charset="0"/>
              <a:cs typeface="Arial" panose="020B0604020202020204" pitchFamily="34" charset="0"/>
            </a:endParaRPr>
          </a:p>
        </p:txBody>
      </p:sp>
      <p:pic>
        <p:nvPicPr>
          <p:cNvPr id="26" name="Image 5" descr="icon_bulb.png"/>
          <p:cNvPicPr>
            <a:picLocks noChangeAspect="1"/>
          </p:cNvPicPr>
          <p:nvPr/>
        </p:nvPicPr>
        <p:blipFill>
          <a:blip r:embed="rId6"/>
          <a:stretch>
            <a:fillRect/>
          </a:stretch>
        </p:blipFill>
        <p:spPr>
          <a:xfrm>
            <a:off x="6203696" y="4786884"/>
            <a:ext cx="347472" cy="347472"/>
          </a:xfrm>
          <a:prstGeom prst="rect">
            <a:avLst/>
          </a:prstGeom>
        </p:spPr>
      </p:pic>
      <p:sp>
        <p:nvSpPr>
          <p:cNvPr id="27" name="Text 19"/>
          <p:cNvSpPr/>
          <p:nvPr/>
        </p:nvSpPr>
        <p:spPr>
          <a:xfrm>
            <a:off x="6715760" y="4539996"/>
            <a:ext cx="4602175" cy="841248"/>
          </a:xfrm>
          <a:prstGeom prst="rect">
            <a:avLst/>
          </a:prstGeom>
          <a:noFill/>
          <a:ln/>
        </p:spPr>
        <p:txBody>
          <a:bodyPr wrap="square" lIns="0" tIns="0" rIns="0" bIns="0" rtlCol="0" anchor="ctr"/>
          <a:lstStyle/>
          <a:p>
            <a:pPr marL="0" indent="0">
              <a:lnSpc>
                <a:spcPct val="112000"/>
              </a:lnSpc>
              <a:buNone/>
            </a:pPr>
            <a:r>
              <a:rPr lang="en-US" sz="1100" b="1" dirty="0">
                <a:solidFill>
                  <a:srgbClr val="F7EEDD"/>
                </a:solidFill>
                <a:latin typeface="Arial" panose="020B0604020202020204" pitchFamily="34" charset="0"/>
                <a:ea typeface="Calibri" pitchFamily="34" charset="-122"/>
                <a:cs typeface="Arial" panose="020B0604020202020204" pitchFamily="34" charset="0"/>
              </a:rPr>
              <a:t>Aporte principal:  </a:t>
            </a:r>
            <a:r>
              <a:rPr lang="en-US" sz="1100" dirty="0">
                <a:solidFill>
                  <a:srgbClr val="FFFFFF"/>
                </a:solidFill>
                <a:latin typeface="Arial" panose="020B0604020202020204" pitchFamily="34" charset="0"/>
                <a:ea typeface="Calibri" pitchFamily="34" charset="-122"/>
                <a:cs typeface="Arial" panose="020B0604020202020204" pitchFamily="34" charset="0"/>
              </a:rPr>
              <a:t>un pipeline reproducible de NLP generativo con evaluación crítica multicapa.</a:t>
            </a:r>
            <a:endParaRPr lang="en-US" sz="1100" dirty="0">
              <a:latin typeface="Arial" panose="020B0604020202020204" pitchFamily="34" charset="0"/>
              <a:cs typeface="Arial" panose="020B0604020202020204" pitchFamily="34" charset="0"/>
            </a:endParaRPr>
          </a:p>
        </p:txBody>
      </p:sp>
      <p:sp>
        <p:nvSpPr>
          <p:cNvPr id="31" name="Text 1">
            <a:extLst>
              <a:ext uri="{FF2B5EF4-FFF2-40B4-BE49-F238E27FC236}">
                <a16:creationId xmlns:a16="http://schemas.microsoft.com/office/drawing/2014/main" id="{4C0C426D-E54C-77B5-7AD3-C48A124BACE6}"/>
              </a:ext>
            </a:extLst>
          </p:cNvPr>
          <p:cNvSpPr/>
          <p:nvPr/>
        </p:nvSpPr>
        <p:spPr>
          <a:xfrm>
            <a:off x="487680" y="304546"/>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Conclusiones</a:t>
            </a:r>
            <a:endParaRPr lang="en-US" sz="28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2338</TotalTime>
  <Words>1705</Words>
  <Application>Microsoft Office PowerPoint</Application>
  <PresentationFormat>Panorámica</PresentationFormat>
  <Paragraphs>266</Paragraphs>
  <Slides>12</Slides>
  <Notes>12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-apple-system</vt: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de GPT-2 para narrativas financieras</dc:title>
  <dc:subject>PptxGenJS Presentation</dc:subject>
  <dc:creator>Proyecto NLP</dc:creator>
  <cp:lastModifiedBy>Luciano Rielo</cp:lastModifiedBy>
  <cp:revision>7</cp:revision>
  <dcterms:created xsi:type="dcterms:W3CDTF">2026-05-23T23:11:04Z</dcterms:created>
  <dcterms:modified xsi:type="dcterms:W3CDTF">2026-05-26T19:51:18Z</dcterms:modified>
</cp:coreProperties>
</file>