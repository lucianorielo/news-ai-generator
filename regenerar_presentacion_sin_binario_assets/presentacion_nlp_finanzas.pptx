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8" r:id="rId6"/>
    <p:sldId id="269" r:id="rId7"/>
    <p:sldId id="261" r:id="rId8"/>
    <p:sldId id="262"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0535" autoAdjust="0"/>
  </p:normalViewPr>
  <p:slideViewPr>
    <p:cSldViewPr snapToGrid="0" snapToObjects="1">
      <p:cViewPr>
        <p:scale>
          <a:sx n="66" d="100"/>
          <a:sy n="66" d="100"/>
        </p:scale>
        <p:origin x="644" y="-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4298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proyecto se llama fine-tuning de GPT-2 para generacion de narrativas financieras. Lo planteo como un problema de NLP aplicado: dado un contexto financiero previo, queremos generar una narrativa del dia siguiente y despues evaluar si esa narrativa se parece a noticias reales, si mantiene un tono financiero coherente y si de alguna forma se relaciona con la direccion del activo. El objetivo no es presentar un sistema de trading.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AR" b="0" i="0" dirty="0">
                <a:solidFill>
                  <a:srgbClr val="BFBFBF"/>
                </a:solidFill>
                <a:effectLst/>
                <a:latin typeface="-apple-system"/>
              </a:rPr>
              <a:t>Nos vamos a hacer tres preguntas concretas</a:t>
            </a:r>
            <a:r>
              <a:rPr lang="en-US" dirty="0"/>
              <a:t>. Primero: puede GPT-2 generar texto </a:t>
            </a:r>
            <a:r>
              <a:rPr lang="en-US" dirty="0" err="1"/>
              <a:t>financiero</a:t>
            </a:r>
            <a:r>
              <a:rPr lang="en-US" dirty="0"/>
              <a:t> </a:t>
            </a:r>
            <a:r>
              <a:rPr lang="en-US" dirty="0" err="1"/>
              <a:t>creíble</a:t>
            </a:r>
            <a:r>
              <a:rPr lang="en-US" dirty="0"/>
              <a:t>? Y </a:t>
            </a:r>
            <a:r>
              <a:rPr lang="en-US" dirty="0" err="1"/>
              <a:t>el</a:t>
            </a:r>
            <a:r>
              <a:rPr lang="en-US" dirty="0"/>
              <a:t> fine-tuning mejora frente a GPT-2 base? Segundo: La narrative </a:t>
            </a:r>
            <a:r>
              <a:rPr lang="en-US" dirty="0" err="1"/>
              <a:t>generada</a:t>
            </a:r>
            <a:r>
              <a:rPr lang="en-US" dirty="0"/>
              <a:t> </a:t>
            </a:r>
            <a:r>
              <a:rPr lang="en-US" dirty="0" err="1"/>
              <a:t>mantiene</a:t>
            </a:r>
            <a:r>
              <a:rPr lang="en-US" dirty="0"/>
              <a:t> un </a:t>
            </a:r>
            <a:r>
              <a:rPr lang="en-US" dirty="0" err="1"/>
              <a:t>tono</a:t>
            </a:r>
            <a:r>
              <a:rPr lang="en-US" dirty="0"/>
              <a:t> y un </a:t>
            </a:r>
            <a:r>
              <a:rPr lang="en-US" dirty="0" err="1"/>
              <a:t>sentimiento</a:t>
            </a:r>
            <a:r>
              <a:rPr lang="en-US" dirty="0"/>
              <a:t> </a:t>
            </a:r>
            <a:r>
              <a:rPr lang="en-US" dirty="0" err="1"/>
              <a:t>coherente</a:t>
            </a:r>
            <a:r>
              <a:rPr lang="en-US" dirty="0"/>
              <a:t> </a:t>
            </a:r>
            <a:r>
              <a:rPr lang="en-US" dirty="0" err="1"/>
              <a:t>respecto</a:t>
            </a:r>
            <a:r>
              <a:rPr lang="en-US" dirty="0"/>
              <a:t> a la </a:t>
            </a:r>
            <a:r>
              <a:rPr lang="en-US" dirty="0" err="1"/>
              <a:t>noticia</a:t>
            </a:r>
            <a:r>
              <a:rPr lang="en-US" dirty="0"/>
              <a:t> real ? </a:t>
            </a:r>
            <a:r>
              <a:rPr lang="en-US" dirty="0" err="1"/>
              <a:t>Tercero</a:t>
            </a:r>
            <a:r>
              <a:rPr lang="en-US" dirty="0"/>
              <a:t>: el sentimiento o la direccion que aparece en la narrativa tiene relacion con el comportamiento real del mercado? Esta separacion es importante porque una respuesta puede ser positiva en una capa y negativa en otra. La </a:t>
            </a:r>
            <a:r>
              <a:rPr lang="en-US" dirty="0" err="1"/>
              <a:t>defensa</a:t>
            </a:r>
            <a:r>
              <a:rPr lang="en-US" dirty="0"/>
              <a:t> de </a:t>
            </a:r>
            <a:r>
              <a:rPr lang="en-US" dirty="0" err="1"/>
              <a:t>este</a:t>
            </a:r>
            <a:r>
              <a:rPr lang="en-US" dirty="0"/>
              <a:t> </a:t>
            </a:r>
            <a:r>
              <a:rPr lang="en-US" dirty="0" err="1"/>
              <a:t>proyecto</a:t>
            </a:r>
            <a:r>
              <a:rPr lang="en-US" dirty="0"/>
              <a:t> </a:t>
            </a:r>
            <a:r>
              <a:rPr lang="en-US" dirty="0" err="1"/>
              <a:t>gira</a:t>
            </a:r>
            <a:r>
              <a:rPr lang="en-US" dirty="0"/>
              <a:t> alrededor de evaluacion multicapa: evitar una unica metrica ganadora.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s-ES" b="0" i="0" dirty="0">
                <a:solidFill>
                  <a:srgbClr val="BFBFBF"/>
                </a:solidFill>
                <a:effectLst/>
                <a:latin typeface="-apple-system"/>
              </a:rPr>
              <a:t>Esta </a:t>
            </a:r>
            <a:r>
              <a:rPr lang="es-ES" b="0" i="0" dirty="0" err="1">
                <a:solidFill>
                  <a:srgbClr val="BFBFBF"/>
                </a:solidFill>
                <a:effectLst/>
                <a:latin typeface="-apple-system"/>
              </a:rPr>
              <a:t>slide</a:t>
            </a:r>
            <a:r>
              <a:rPr lang="es-ES" b="0" i="0" dirty="0">
                <a:solidFill>
                  <a:srgbClr val="BFBFBF"/>
                </a:solidFill>
                <a:effectLst/>
                <a:latin typeface="-apple-system"/>
              </a:rPr>
              <a:t> resume los conceptos de NLP que uso. </a:t>
            </a:r>
          </a:p>
          <a:p>
            <a:pPr algn="l"/>
            <a:r>
              <a:rPr lang="es-ES" b="0" i="0" dirty="0">
                <a:solidFill>
                  <a:srgbClr val="BFBFBF"/>
                </a:solidFill>
                <a:effectLst/>
                <a:latin typeface="-apple-system"/>
              </a:rPr>
              <a:t>- Partimos del </a:t>
            </a:r>
            <a:r>
              <a:rPr lang="es-ES" b="1" i="0" dirty="0">
                <a:solidFill>
                  <a:srgbClr val="BFBFBF"/>
                </a:solidFill>
                <a:effectLst/>
                <a:latin typeface="-apple-system"/>
              </a:rPr>
              <a:t>transfer </a:t>
            </a:r>
            <a:r>
              <a:rPr lang="es-ES" b="1" i="0" dirty="0" err="1">
                <a:solidFill>
                  <a:srgbClr val="BFBFBF"/>
                </a:solidFill>
                <a:effectLst/>
                <a:latin typeface="-apple-system"/>
              </a:rPr>
              <a:t>learning</a:t>
            </a:r>
            <a:r>
              <a:rPr lang="es-ES" b="0" i="0" dirty="0">
                <a:solidFill>
                  <a:srgbClr val="BFBFBF"/>
                </a:solidFill>
                <a:effectLst/>
                <a:latin typeface="-apple-system"/>
              </a:rPr>
              <a:t>: utilizo GPT-2 ya </a:t>
            </a:r>
            <a:r>
              <a:rPr lang="es-ES" b="0" i="0" dirty="0" err="1">
                <a:solidFill>
                  <a:srgbClr val="BFBFBF"/>
                </a:solidFill>
                <a:effectLst/>
                <a:latin typeface="-apple-system"/>
              </a:rPr>
              <a:t>preentrenado</a:t>
            </a:r>
            <a:r>
              <a:rPr lang="es-ES" b="0" i="0" dirty="0">
                <a:solidFill>
                  <a:srgbClr val="BFBFBF"/>
                </a:solidFill>
                <a:effectLst/>
                <a:latin typeface="-apple-system"/>
              </a:rPr>
              <a:t> en lenguaje general y lo adapto a financiero. Esto me ahorra entrenar desde cero y aprovecha el conocimiento sintáctico y léxico que el modelo ya trae.</a:t>
            </a:r>
          </a:p>
          <a:p>
            <a:pPr algn="l"/>
            <a:r>
              <a:rPr lang="es-ES" b="0" i="0" dirty="0">
                <a:solidFill>
                  <a:srgbClr val="BFBFBF"/>
                </a:solidFill>
                <a:effectLst/>
                <a:latin typeface="-apple-system"/>
              </a:rPr>
              <a:t>- Como sabemos GPT-2 es un </a:t>
            </a:r>
            <a:r>
              <a:rPr lang="es-ES" b="1" i="0" dirty="0">
                <a:solidFill>
                  <a:srgbClr val="BFBFBF"/>
                </a:solidFill>
                <a:effectLst/>
                <a:latin typeface="-apple-system"/>
              </a:rPr>
              <a:t>modelo de lenguaje causal</a:t>
            </a:r>
            <a:r>
              <a:rPr lang="es-ES" b="0" i="0" dirty="0">
                <a:solidFill>
                  <a:srgbClr val="BFBFBF"/>
                </a:solidFill>
                <a:effectLst/>
                <a:latin typeface="-apple-system"/>
              </a:rPr>
              <a:t>: </a:t>
            </a:r>
            <a:r>
              <a:rPr lang="es-ES" b="0" i="0" dirty="0" err="1">
                <a:solidFill>
                  <a:srgbClr val="BFBFBF"/>
                </a:solidFill>
                <a:effectLst/>
                <a:latin typeface="-apple-system"/>
              </a:rPr>
              <a:t>autoregresivo</a:t>
            </a:r>
            <a:r>
              <a:rPr lang="es-ES" b="0" i="0" dirty="0">
                <a:solidFill>
                  <a:srgbClr val="BFBFBF"/>
                </a:solidFill>
                <a:effectLst/>
                <a:latin typeface="-apple-system"/>
              </a:rPr>
              <a:t>, predice el siguiente token condicionado por los anteriores. Por eso es apto para generar texto.</a:t>
            </a:r>
          </a:p>
          <a:p>
            <a:pPr algn="l"/>
            <a:r>
              <a:rPr lang="es-ES" b="0" i="0" dirty="0">
                <a:solidFill>
                  <a:srgbClr val="BFBFBF"/>
                </a:solidFill>
                <a:effectLst/>
                <a:latin typeface="-apple-system"/>
              </a:rPr>
              <a:t>- Trabaja con </a:t>
            </a:r>
            <a:r>
              <a:rPr lang="es-ES" b="1" i="0" dirty="0" err="1">
                <a:solidFill>
                  <a:srgbClr val="BFBFBF"/>
                </a:solidFill>
                <a:effectLst/>
                <a:latin typeface="-apple-system"/>
              </a:rPr>
              <a:t>tokenización</a:t>
            </a:r>
            <a:r>
              <a:rPr lang="es-ES" b="1" i="0" dirty="0">
                <a:solidFill>
                  <a:srgbClr val="BFBFBF"/>
                </a:solidFill>
                <a:effectLst/>
                <a:latin typeface="-apple-system"/>
              </a:rPr>
              <a:t> </a:t>
            </a:r>
            <a:r>
              <a:rPr lang="es-ES" b="1" i="0" dirty="0" err="1">
                <a:solidFill>
                  <a:srgbClr val="BFBFBF"/>
                </a:solidFill>
                <a:effectLst/>
                <a:latin typeface="-apple-system"/>
              </a:rPr>
              <a:t>subword</a:t>
            </a:r>
            <a:r>
              <a:rPr lang="es-ES" b="0" i="0" dirty="0">
                <a:solidFill>
                  <a:srgbClr val="BFBFBF"/>
                </a:solidFill>
                <a:effectLst/>
                <a:latin typeface="-apple-system"/>
              </a:rPr>
              <a:t>: el texto se divide en unidades menores a la palabra. Esto le permite descomponer vocabulario técnico financiero como </a:t>
            </a:r>
            <a:r>
              <a:rPr lang="es-ES" b="0" i="0" dirty="0" err="1">
                <a:solidFill>
                  <a:srgbClr val="BFBFBF"/>
                </a:solidFill>
                <a:effectLst/>
                <a:latin typeface="-apple-system"/>
              </a:rPr>
              <a:t>semiconductors</a:t>
            </a:r>
            <a:r>
              <a:rPr lang="es-ES" b="0" i="0" dirty="0">
                <a:solidFill>
                  <a:srgbClr val="BFBFBF"/>
                </a:solidFill>
                <a:effectLst/>
                <a:latin typeface="-apple-system"/>
              </a:rPr>
              <a:t> o </a:t>
            </a:r>
            <a:r>
              <a:rPr lang="es-ES" b="0" i="0" dirty="0" err="1">
                <a:solidFill>
                  <a:srgbClr val="BFBFBF"/>
                </a:solidFill>
                <a:effectLst/>
                <a:latin typeface="-apple-system"/>
              </a:rPr>
              <a:t>earnings</a:t>
            </a:r>
            <a:r>
              <a:rPr lang="es-ES" b="0" i="0" dirty="0">
                <a:solidFill>
                  <a:srgbClr val="BFBFBF"/>
                </a:solidFill>
                <a:effectLst/>
                <a:latin typeface="-apple-system"/>
              </a:rPr>
              <a:t> en piezas que ya conoce, sin tratar cada término raro como un símbolo nuevo.</a:t>
            </a:r>
          </a:p>
          <a:p>
            <a:pPr algn="l"/>
            <a:r>
              <a:rPr lang="es-ES" b="0" i="0" dirty="0">
                <a:solidFill>
                  <a:srgbClr val="BFBFBF"/>
                </a:solidFill>
                <a:effectLst/>
                <a:latin typeface="-apple-system"/>
              </a:rPr>
              <a:t>- Cada token se mapea a un </a:t>
            </a:r>
            <a:r>
              <a:rPr lang="es-ES" b="1" i="0" dirty="0" err="1">
                <a:solidFill>
                  <a:srgbClr val="BFBFBF"/>
                </a:solidFill>
                <a:effectLst/>
                <a:latin typeface="-apple-system"/>
              </a:rPr>
              <a:t>embedding</a:t>
            </a:r>
            <a:r>
              <a:rPr lang="es-ES" b="1" i="0" dirty="0">
                <a:solidFill>
                  <a:srgbClr val="BFBFBF"/>
                </a:solidFill>
                <a:effectLst/>
                <a:latin typeface="-apple-system"/>
              </a:rPr>
              <a:t> contextual</a:t>
            </a:r>
            <a:r>
              <a:rPr lang="es-ES" b="0" i="0" dirty="0">
                <a:solidFill>
                  <a:srgbClr val="BFBFBF"/>
                </a:solidFill>
                <a:effectLst/>
                <a:latin typeface="-apple-system"/>
              </a:rPr>
              <a:t>: una misma palabra tiene representación distinta según el contexto. La palabra </a:t>
            </a:r>
            <a:r>
              <a:rPr lang="es-ES" b="0" i="0" dirty="0" err="1">
                <a:solidFill>
                  <a:srgbClr val="BFBFBF"/>
                </a:solidFill>
                <a:effectLst/>
                <a:latin typeface="-apple-system"/>
              </a:rPr>
              <a:t>earnings</a:t>
            </a:r>
            <a:r>
              <a:rPr lang="es-ES" b="0" i="0" dirty="0">
                <a:solidFill>
                  <a:srgbClr val="BFBFBF"/>
                </a:solidFill>
                <a:effectLst/>
                <a:latin typeface="-apple-system"/>
              </a:rPr>
              <a:t> en una noticia positiva y en una negativa son vectores diferentes, y eso es lo que el modelo usa para condicionar la generación.</a:t>
            </a:r>
          </a:p>
          <a:p>
            <a:pPr marL="171450" indent="-171450" algn="l">
              <a:buFontTx/>
              <a:buChar char="-"/>
            </a:pPr>
            <a:r>
              <a:rPr lang="es-ES" b="0" i="0" dirty="0">
                <a:solidFill>
                  <a:srgbClr val="BFBFBF"/>
                </a:solidFill>
                <a:effectLst/>
                <a:latin typeface="-apple-system"/>
              </a:rPr>
              <a:t>El </a:t>
            </a:r>
            <a:r>
              <a:rPr lang="es-ES" b="1" i="0" dirty="0">
                <a:solidFill>
                  <a:srgbClr val="BFBFBF"/>
                </a:solidFill>
                <a:effectLst/>
                <a:latin typeface="-apple-system"/>
              </a:rPr>
              <a:t>fine-</a:t>
            </a:r>
            <a:r>
              <a:rPr lang="es-ES" b="1" i="0" dirty="0" err="1">
                <a:solidFill>
                  <a:srgbClr val="BFBFBF"/>
                </a:solidFill>
                <a:effectLst/>
                <a:latin typeface="-apple-system"/>
              </a:rPr>
              <a:t>tuning</a:t>
            </a:r>
            <a:r>
              <a:rPr lang="es-ES" b="0" i="0" dirty="0">
                <a:solidFill>
                  <a:srgbClr val="BFBFBF"/>
                </a:solidFill>
                <a:effectLst/>
                <a:latin typeface="-apple-system"/>
              </a:rPr>
              <a:t> ajusta los pesos de GPT-2 sobre el corpus financiero. El </a:t>
            </a:r>
            <a:r>
              <a:rPr lang="es-ES" b="0" i="0" dirty="0" err="1">
                <a:solidFill>
                  <a:srgbClr val="BFBFBF"/>
                </a:solidFill>
                <a:effectLst/>
                <a:latin typeface="-apple-system"/>
              </a:rPr>
              <a:t>prompt</a:t>
            </a:r>
            <a:r>
              <a:rPr lang="es-ES" b="0" i="0" dirty="0">
                <a:solidFill>
                  <a:srgbClr val="BFBFBF"/>
                </a:solidFill>
                <a:effectLst/>
                <a:latin typeface="-apple-system"/>
              </a:rPr>
              <a:t> incluye </a:t>
            </a:r>
            <a:r>
              <a:rPr lang="es-ES" b="0" i="0" dirty="0" err="1">
                <a:solidFill>
                  <a:srgbClr val="BFBFBF"/>
                </a:solidFill>
                <a:effectLst/>
                <a:latin typeface="-apple-system"/>
              </a:rPr>
              <a:t>ticker</a:t>
            </a:r>
            <a:r>
              <a:rPr lang="es-ES" b="0" i="0" dirty="0">
                <a:solidFill>
                  <a:srgbClr val="BFBFBF"/>
                </a:solidFill>
                <a:effectLst/>
                <a:latin typeface="-apple-system"/>
              </a:rPr>
              <a:t>, fecha, </a:t>
            </a:r>
            <a:r>
              <a:rPr lang="es-ES" b="0" i="0" dirty="0" err="1">
                <a:solidFill>
                  <a:srgbClr val="BFBFBF"/>
                </a:solidFill>
                <a:effectLst/>
                <a:latin typeface="-apple-system"/>
              </a:rPr>
              <a:t>features</a:t>
            </a:r>
            <a:r>
              <a:rPr lang="es-ES" b="0" i="0" dirty="0">
                <a:solidFill>
                  <a:srgbClr val="BFBFBF"/>
                </a:solidFill>
                <a:effectLst/>
                <a:latin typeface="-apple-system"/>
              </a:rPr>
              <a:t> de mercado y noticias previas; la pérdida está enmascarada sobre el </a:t>
            </a:r>
            <a:r>
              <a:rPr lang="es-ES" b="0" i="0" dirty="0" err="1">
                <a:solidFill>
                  <a:srgbClr val="BFBFBF"/>
                </a:solidFill>
                <a:effectLst/>
                <a:latin typeface="-apple-system"/>
              </a:rPr>
              <a:t>prompt</a:t>
            </a:r>
            <a:r>
              <a:rPr lang="es-ES" b="0" i="0" dirty="0">
                <a:solidFill>
                  <a:srgbClr val="BFBFBF"/>
                </a:solidFill>
                <a:effectLst/>
                <a:latin typeface="-apple-system"/>
              </a:rPr>
              <a:t>, así el modelo aprende a generar el target, no a copiar el contexto.</a:t>
            </a:r>
          </a:p>
          <a:p>
            <a:pPr marL="171450" indent="-171450" algn="l">
              <a:buFontTx/>
              <a:buChar char="-"/>
            </a:pPr>
            <a:r>
              <a:rPr lang="es-ES" b="0" i="0" dirty="0">
                <a:solidFill>
                  <a:srgbClr val="BFBFBF"/>
                </a:solidFill>
                <a:effectLst/>
                <a:latin typeface="-apple-system"/>
              </a:rPr>
              <a:t>La última pieza es </a:t>
            </a:r>
            <a:r>
              <a:rPr lang="es-ES" b="1" i="0" dirty="0">
                <a:solidFill>
                  <a:srgbClr val="BFBFBF"/>
                </a:solidFill>
                <a:effectLst/>
                <a:latin typeface="-apple-system"/>
              </a:rPr>
              <a:t>evaluación generativa</a:t>
            </a:r>
            <a:r>
              <a:rPr lang="es-ES" b="0" i="0" dirty="0">
                <a:solidFill>
                  <a:srgbClr val="BFBFBF"/>
                </a:solidFill>
                <a:effectLst/>
                <a:latin typeface="-apple-system"/>
              </a:rPr>
              <a:t>: cuando el output es texto libre no alcanza con </a:t>
            </a:r>
            <a:r>
              <a:rPr lang="es-ES" b="0" i="0" dirty="0" err="1">
                <a:solidFill>
                  <a:srgbClr val="BFBFBF"/>
                </a:solidFill>
                <a:effectLst/>
                <a:latin typeface="-apple-system"/>
              </a:rPr>
              <a:t>loss</a:t>
            </a:r>
            <a:r>
              <a:rPr lang="es-ES" b="0" i="0" dirty="0">
                <a:solidFill>
                  <a:srgbClr val="BFBFBF"/>
                </a:solidFill>
                <a:effectLst/>
                <a:latin typeface="-apple-system"/>
              </a:rPr>
              <a:t> o </a:t>
            </a:r>
            <a:r>
              <a:rPr lang="es-ES" b="0" i="0" dirty="0" err="1">
                <a:solidFill>
                  <a:srgbClr val="BFBFBF"/>
                </a:solidFill>
                <a:effectLst/>
                <a:latin typeface="-apple-system"/>
              </a:rPr>
              <a:t>perplexity</a:t>
            </a:r>
            <a:r>
              <a:rPr lang="es-ES" b="0" i="0" dirty="0">
                <a:solidFill>
                  <a:srgbClr val="BFBFBF"/>
                </a:solidFill>
                <a:effectLst/>
                <a:latin typeface="-apple-system"/>
              </a:rPr>
              <a:t>, porque hay muchas formas válidas de decir lo mismo. Por eso uso métricas externas en tres capas.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El pipeline </a:t>
            </a:r>
            <a:r>
              <a:rPr lang="en-US" dirty="0" err="1"/>
              <a:t>empieza</a:t>
            </a:r>
            <a:r>
              <a:rPr lang="en-US" dirty="0"/>
              <a:t> </a:t>
            </a:r>
            <a:r>
              <a:rPr lang="en-US" dirty="0" err="1"/>
              <a:t>por</a:t>
            </a:r>
            <a:r>
              <a:rPr lang="en-US" dirty="0"/>
              <a:t> </a:t>
            </a:r>
            <a:r>
              <a:rPr lang="en-US" dirty="0" err="1"/>
              <a:t>obtener</a:t>
            </a:r>
            <a:r>
              <a:rPr lang="en-US" dirty="0"/>
              <a:t> datos de </a:t>
            </a:r>
            <a:r>
              <a:rPr lang="en-US" dirty="0" err="1"/>
              <a:t>noticias</a:t>
            </a:r>
            <a:r>
              <a:rPr lang="en-US" dirty="0"/>
              <a:t> </a:t>
            </a:r>
            <a:r>
              <a:rPr lang="en-US" dirty="0" err="1"/>
              <a:t>financieras</a:t>
            </a:r>
            <a:r>
              <a:rPr lang="en-US" dirty="0"/>
              <a:t> (con la </a:t>
            </a:r>
            <a:r>
              <a:rPr lang="en-US" dirty="0" err="1"/>
              <a:t>bilbioteca</a:t>
            </a:r>
            <a:r>
              <a:rPr lang="en-US" dirty="0"/>
              <a:t> FNSPID) y datos de mercado (a traves de API de yahoo finance). </a:t>
            </a:r>
          </a:p>
          <a:p>
            <a:pPr marL="171450" indent="-171450">
              <a:buFontTx/>
              <a:buChar char="-"/>
            </a:pPr>
            <a:r>
              <a:rPr lang="en-US" dirty="0"/>
              <a:t>Para cada ticker y fecha se construye una ventana de contexto con noticias previas y features como retorno, volumen relativo o RSI. </a:t>
            </a:r>
          </a:p>
          <a:p>
            <a:pPr marL="171450" indent="-171450">
              <a:buFontTx/>
              <a:buChar char="-"/>
            </a:pPr>
            <a:r>
              <a:rPr lang="en-US" dirty="0" err="1"/>
              <a:t>Despues</a:t>
            </a:r>
            <a:r>
              <a:rPr lang="en-US" dirty="0"/>
              <a:t> hacemos un split temporal en train, validation y test. Esto es importante porque en finanzas no queremos entrenar con informacion futura. </a:t>
            </a:r>
          </a:p>
          <a:p>
            <a:pPr marL="171450" indent="-171450">
              <a:buFontTx/>
              <a:buChar char="-"/>
            </a:pPr>
            <a:r>
              <a:rPr lang="en-US" dirty="0"/>
              <a:t>Luego fine-tuneamos GPT-2, </a:t>
            </a:r>
          </a:p>
          <a:p>
            <a:pPr marL="171450" indent="-171450">
              <a:buFontTx/>
              <a:buChar char="-"/>
            </a:pPr>
            <a:r>
              <a:rPr lang="en-US" dirty="0" err="1"/>
              <a:t>generamos</a:t>
            </a:r>
            <a:r>
              <a:rPr lang="en-US" dirty="0"/>
              <a:t> predicciones sobre test y evaluamos. </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Cómo</a:t>
            </a:r>
            <a:r>
              <a:rPr lang="en-US" dirty="0"/>
              <a:t> </a:t>
            </a:r>
            <a:r>
              <a:rPr lang="en-US" dirty="0" err="1"/>
              <a:t>construi</a:t>
            </a:r>
            <a:r>
              <a:rPr lang="en-US" dirty="0"/>
              <a:t> </a:t>
            </a:r>
            <a:r>
              <a:rPr lang="en-US" dirty="0" err="1"/>
              <a:t>el</a:t>
            </a:r>
            <a:r>
              <a:rPr lang="en-US" dirty="0"/>
              <a:t> dataset. </a:t>
            </a:r>
          </a:p>
          <a:p>
            <a:endParaRPr lang="en-US" dirty="0"/>
          </a:p>
          <a:p>
            <a:r>
              <a:rPr lang="en-US" dirty="0"/>
              <a:t>- Para </a:t>
            </a:r>
            <a:r>
              <a:rPr lang="en-US" dirty="0" err="1"/>
              <a:t>realizar</a:t>
            </a:r>
            <a:r>
              <a:rPr lang="en-US" dirty="0"/>
              <a:t> </a:t>
            </a:r>
            <a:r>
              <a:rPr lang="en-US" dirty="0" err="1"/>
              <a:t>el</a:t>
            </a:r>
            <a:r>
              <a:rPr lang="en-US" dirty="0"/>
              <a:t> fine-tuning de GPT2, </a:t>
            </a:r>
            <a:r>
              <a:rPr lang="en-US" dirty="0" err="1"/>
              <a:t>realice</a:t>
            </a:r>
            <a:r>
              <a:rPr lang="en-US" dirty="0"/>
              <a:t> prompt/completion (que </a:t>
            </a:r>
            <a:r>
              <a:rPr lang="en-US" dirty="0" err="1"/>
              <a:t>explcare</a:t>
            </a:r>
            <a:r>
              <a:rPr lang="en-US" dirty="0"/>
              <a:t> </a:t>
            </a:r>
            <a:r>
              <a:rPr lang="en-US" dirty="0" err="1"/>
              <a:t>en</a:t>
            </a:r>
            <a:r>
              <a:rPr lang="en-US" dirty="0"/>
              <a:t> la </a:t>
            </a:r>
            <a:r>
              <a:rPr lang="en-US" dirty="0" err="1"/>
              <a:t>proxima</a:t>
            </a:r>
            <a:r>
              <a:rPr lang="en-US" dirty="0"/>
              <a:t> slide) </a:t>
            </a:r>
            <a:r>
              <a:rPr lang="en-US" dirty="0" err="1"/>
              <a:t>utilizando</a:t>
            </a:r>
            <a:r>
              <a:rPr lang="en-US" dirty="0"/>
              <a:t> </a:t>
            </a:r>
            <a:r>
              <a:rPr lang="en-US" dirty="0" err="1"/>
              <a:t>información</a:t>
            </a:r>
            <a:r>
              <a:rPr lang="en-US" dirty="0"/>
              <a:t> de </a:t>
            </a:r>
            <a:r>
              <a:rPr lang="en-US" dirty="0" err="1"/>
              <a:t>los</a:t>
            </a:r>
            <a:r>
              <a:rPr lang="en-US" dirty="0"/>
              <a:t> k días </a:t>
            </a:r>
            <a:r>
              <a:rPr lang="en-US" dirty="0" err="1"/>
              <a:t>previos</a:t>
            </a:r>
            <a:r>
              <a:rPr lang="en-US" dirty="0"/>
              <a:t> a un día t+1.
- Las labels del target vienen del dato real. La direccion se infiere del retorno de t+1. El sentimiento se infiere con un lexicon simple de palabras positivas y negativas sobre los titulares reales de t+1, </a:t>
            </a:r>
            <a:r>
              <a:rPr lang="en-US" dirty="0" err="1"/>
              <a:t>aproposito</a:t>
            </a:r>
            <a:r>
              <a:rPr lang="en-US" dirty="0"/>
              <a:t> </a:t>
            </a:r>
            <a:r>
              <a:rPr lang="en-US" dirty="0" err="1"/>
              <a:t>porque</a:t>
            </a:r>
            <a:r>
              <a:rPr lang="en-US" dirty="0"/>
              <a:t> para </a:t>
            </a:r>
            <a:r>
              <a:rPr lang="en-US" dirty="0" err="1"/>
              <a:t>evaluar</a:t>
            </a:r>
            <a:r>
              <a:rPr lang="en-US" dirty="0"/>
              <a:t> se </a:t>
            </a:r>
            <a:r>
              <a:rPr lang="en-US" dirty="0" err="1"/>
              <a:t>usa</a:t>
            </a:r>
            <a:r>
              <a:rPr lang="en-US" dirty="0"/>
              <a:t> </a:t>
            </a:r>
            <a:r>
              <a:rPr lang="en-US" dirty="0" err="1"/>
              <a:t>FinBERT</a:t>
            </a:r>
            <a:r>
              <a:rPr lang="en-US" dirty="0"/>
              <a:t>.
- El split es estrictamente temporal: 70/15/15 ordenado por fecha, sin shuffle, para </a:t>
            </a:r>
            <a:r>
              <a:rPr lang="en-US" dirty="0" err="1"/>
              <a:t>evitar</a:t>
            </a:r>
            <a:r>
              <a:rPr lang="en-US" dirty="0"/>
              <a:t> data leakage. </a:t>
            </a:r>
          </a:p>
          <a:p>
            <a:endParaRPr lang="en-US" dirty="0"/>
          </a:p>
          <a:p>
            <a:r>
              <a:rPr lang="en-US" dirty="0"/>
              <a:t>-</a:t>
            </a:r>
            <a:r>
              <a:rPr lang="es-ES" b="0" i="0" dirty="0">
                <a:solidFill>
                  <a:srgbClr val="BFBFBF"/>
                </a:solidFill>
                <a:effectLst/>
                <a:latin typeface="-apple-system"/>
              </a:rPr>
              <a:t>Durante el entrenamiento la pérdida está enmascarada sobre el </a:t>
            </a:r>
            <a:r>
              <a:rPr lang="es-ES" b="0" i="0" dirty="0" err="1">
                <a:solidFill>
                  <a:srgbClr val="BFBFBF"/>
                </a:solidFill>
                <a:effectLst/>
                <a:latin typeface="-apple-system"/>
              </a:rPr>
              <a:t>prompt</a:t>
            </a:r>
            <a:r>
              <a:rPr lang="es-ES" b="0" i="0" dirty="0">
                <a:solidFill>
                  <a:srgbClr val="BFBFBF"/>
                </a:solidFill>
                <a:effectLst/>
                <a:latin typeface="-apple-system"/>
              </a:rPr>
              <a:t>: las posiciones del </a:t>
            </a:r>
            <a:r>
              <a:rPr lang="es-ES" b="0" i="0" dirty="0" err="1">
                <a:solidFill>
                  <a:srgbClr val="BFBFBF"/>
                </a:solidFill>
                <a:effectLst/>
                <a:latin typeface="-apple-system"/>
              </a:rPr>
              <a:t>prompt</a:t>
            </a:r>
            <a:r>
              <a:rPr lang="es-ES" b="0" i="0" dirty="0">
                <a:solidFill>
                  <a:srgbClr val="BFBFBF"/>
                </a:solidFill>
                <a:effectLst/>
                <a:latin typeface="-apple-system"/>
              </a:rPr>
              <a:t> llevan </a:t>
            </a:r>
            <a:r>
              <a:rPr lang="es-ES" dirty="0"/>
              <a:t>-100</a:t>
            </a:r>
            <a:r>
              <a:rPr lang="es-ES" b="0" i="0" dirty="0">
                <a:solidFill>
                  <a:srgbClr val="BFBFBF"/>
                </a:solidFill>
                <a:effectLst/>
                <a:latin typeface="-apple-system"/>
              </a:rPr>
              <a:t> como </a:t>
            </a:r>
            <a:r>
              <a:rPr lang="es-ES" b="0" i="0" dirty="0" err="1">
                <a:solidFill>
                  <a:srgbClr val="BFBFBF"/>
                </a:solidFill>
                <a:effectLst/>
                <a:latin typeface="-apple-system"/>
              </a:rPr>
              <a:t>label</a:t>
            </a:r>
            <a:r>
              <a:rPr lang="es-ES" b="0" i="0" dirty="0">
                <a:solidFill>
                  <a:srgbClr val="BFBFBF"/>
                </a:solidFill>
                <a:effectLst/>
                <a:latin typeface="-apple-system"/>
              </a:rPr>
              <a:t>, que es la convención de </a:t>
            </a:r>
            <a:r>
              <a:rPr lang="es-ES" b="0" i="0" dirty="0" err="1">
                <a:solidFill>
                  <a:srgbClr val="BFBFBF"/>
                </a:solidFill>
                <a:effectLst/>
                <a:latin typeface="-apple-system"/>
              </a:rPr>
              <a:t>PyTorch</a:t>
            </a:r>
            <a:r>
              <a:rPr lang="es-ES" b="0" i="0" dirty="0">
                <a:solidFill>
                  <a:srgbClr val="BFBFBF"/>
                </a:solidFill>
                <a:effectLst/>
                <a:latin typeface="-apple-system"/>
              </a:rPr>
              <a:t> para 'ignorar'. Así el gradiente viene solo del </a:t>
            </a:r>
            <a:r>
              <a:rPr lang="es-ES" b="0" i="0" dirty="0" err="1">
                <a:solidFill>
                  <a:srgbClr val="BFBFBF"/>
                </a:solidFill>
                <a:effectLst/>
                <a:latin typeface="-apple-system"/>
              </a:rPr>
              <a:t>completion</a:t>
            </a:r>
            <a:r>
              <a:rPr lang="es-ES" b="0" i="0" dirty="0">
                <a:solidFill>
                  <a:srgbClr val="BFBFBF"/>
                </a:solidFill>
                <a:effectLst/>
                <a:latin typeface="-apple-system"/>
              </a:rPr>
              <a:t>. El modelo igual ve el </a:t>
            </a:r>
            <a:r>
              <a:rPr lang="es-ES" b="0" i="0" dirty="0" err="1">
                <a:solidFill>
                  <a:srgbClr val="BFBFBF"/>
                </a:solidFill>
                <a:effectLst/>
                <a:latin typeface="-apple-system"/>
              </a:rPr>
              <a:t>prompt</a:t>
            </a:r>
            <a:r>
              <a:rPr lang="es-ES" b="0" i="0" dirty="0">
                <a:solidFill>
                  <a:srgbClr val="BFBFBF"/>
                </a:solidFill>
                <a:effectLst/>
                <a:latin typeface="-apple-system"/>
              </a:rPr>
              <a:t> para condicionar, pero solo aprende a generar el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 para </a:t>
            </a:r>
            <a:r>
              <a:rPr lang="en-US" dirty="0" err="1"/>
              <a:t>el</a:t>
            </a:r>
            <a:r>
              <a:rPr lang="en-US" dirty="0"/>
              <a:t> finetuning, </a:t>
            </a:r>
            <a:r>
              <a:rPr lang="en-US" dirty="0" err="1"/>
              <a:t>el</a:t>
            </a:r>
            <a:r>
              <a:rPr lang="en-US" dirty="0"/>
              <a:t> dataset lo </a:t>
            </a:r>
            <a:r>
              <a:rPr lang="en-US" dirty="0" err="1"/>
              <a:t>preprocese</a:t>
            </a:r>
            <a:r>
              <a:rPr lang="en-US" dirty="0"/>
              <a:t> </a:t>
            </a:r>
            <a:r>
              <a:rPr lang="en-US" dirty="0" err="1"/>
              <a:t>como</a:t>
            </a:r>
            <a:r>
              <a:rPr lang="en-US" dirty="0"/>
              <a:t> prompt/completion. </a:t>
            </a:r>
          </a:p>
          <a:p>
            <a:endParaRPr lang="en-US" dirty="0"/>
          </a:p>
          <a:p>
            <a:r>
              <a:rPr lang="en-US" dirty="0" err="1"/>
              <a:t>Yo</a:t>
            </a:r>
            <a:r>
              <a:rPr lang="en-US" dirty="0"/>
              <a:t> </a:t>
            </a:r>
            <a:r>
              <a:rPr lang="en-US" dirty="0" err="1"/>
              <a:t>quiero</a:t>
            </a:r>
            <a:r>
              <a:rPr lang="en-US" dirty="0"/>
              <a:t> </a:t>
            </a:r>
            <a:r>
              <a:rPr lang="en-US" dirty="0" err="1"/>
              <a:t>generar</a:t>
            </a:r>
            <a:r>
              <a:rPr lang="en-US" dirty="0"/>
              <a:t> la narrative de un día t+1. </a:t>
            </a:r>
          </a:p>
          <a:p>
            <a:endParaRPr lang="en-US" dirty="0"/>
          </a:p>
          <a:p>
            <a:r>
              <a:rPr lang="en-US" dirty="0" err="1"/>
              <a:t>Entonces</a:t>
            </a:r>
            <a:r>
              <a:rPr lang="en-US" dirty="0"/>
              <a:t>, que </a:t>
            </a:r>
            <a:r>
              <a:rPr lang="en-US" dirty="0" err="1"/>
              <a:t>hago</a:t>
            </a:r>
            <a:r>
              <a:rPr lang="en-US" dirty="0"/>
              <a:t> ? Genero para </a:t>
            </a:r>
            <a:r>
              <a:rPr lang="en-US" dirty="0" err="1"/>
              <a:t>el</a:t>
            </a:r>
            <a:r>
              <a:rPr lang="en-US" dirty="0"/>
              <a:t> input un prompt que </a:t>
            </a:r>
            <a:r>
              <a:rPr lang="en-US" dirty="0" err="1"/>
              <a:t>contiene</a:t>
            </a:r>
            <a:r>
              <a:rPr lang="en-US" dirty="0"/>
              <a:t> el contexto disponible hasta el dia t: ticker, fecha, features numericas de mercado y la ventana de noticias previas de los </a:t>
            </a:r>
            <a:r>
              <a:rPr lang="en-US" dirty="0" err="1"/>
              <a:t>ultimos</a:t>
            </a:r>
            <a:r>
              <a:rPr lang="en-US" dirty="0"/>
              <a:t> k dias, es decir t-2, t-1 y t. </a:t>
            </a:r>
          </a:p>
          <a:p>
            <a:r>
              <a:rPr lang="en-US" dirty="0" err="1"/>
              <a:t>Entonces</a:t>
            </a:r>
            <a:r>
              <a:rPr lang="en-US" dirty="0"/>
              <a:t>, </a:t>
            </a:r>
            <a:r>
              <a:rPr lang="en-US" dirty="0" err="1"/>
              <a:t>el</a:t>
            </a:r>
            <a:r>
              <a:rPr lang="en-US" dirty="0"/>
              <a:t> target es la </a:t>
            </a:r>
            <a:r>
              <a:rPr lang="en-US" dirty="0" err="1"/>
              <a:t>narrativa</a:t>
            </a:r>
            <a:r>
              <a:rPr lang="en-US" dirty="0"/>
              <a:t> del dia t+1. 
Sobre las variantes: algunos runs usan target libre, solo titulares; otros usan la version estructurada con sentimiento y direccion, para comparar si estructurar la salida ayuda al </a:t>
            </a:r>
            <a:r>
              <a:rPr lang="en-US" dirty="0" err="1"/>
              <a:t>modelo</a:t>
            </a:r>
            <a:r>
              <a:rPr lang="en-US" dirty="0"/>
              <a:t>.</a:t>
            </a:r>
          </a:p>
          <a:p>
            <a:endParaRPr lang="en-US" dirty="0"/>
          </a:p>
          <a:p>
            <a:r>
              <a:rPr lang="en-US" dirty="0"/>
              <a:t>Un </a:t>
            </a:r>
            <a:r>
              <a:rPr lang="en-US" dirty="0" err="1"/>
              <a:t>detalle</a:t>
            </a:r>
            <a:r>
              <a:rPr lang="en-US" dirty="0"/>
              <a:t> de </a:t>
            </a:r>
            <a:r>
              <a:rPr lang="en-US" dirty="0" err="1"/>
              <a:t>diseño</a:t>
            </a:r>
            <a:r>
              <a:rPr lang="en-US" dirty="0"/>
              <a:t> </a:t>
            </a:r>
            <a:r>
              <a:rPr lang="en-US" dirty="0" err="1"/>
              <a:t>importante</a:t>
            </a:r>
            <a:r>
              <a:rPr lang="en-US" dirty="0"/>
              <a:t>: </a:t>
            </a:r>
            <a:r>
              <a:rPr lang="en-US" dirty="0" err="1"/>
              <a:t>durante</a:t>
            </a:r>
            <a:r>
              <a:rPr lang="en-US" dirty="0"/>
              <a:t> </a:t>
            </a:r>
            <a:r>
              <a:rPr lang="en-US" dirty="0" err="1"/>
              <a:t>el</a:t>
            </a:r>
            <a:r>
              <a:rPr lang="en-US" dirty="0"/>
              <a:t> </a:t>
            </a:r>
            <a:r>
              <a:rPr lang="en-US" dirty="0" err="1"/>
              <a:t>entrenamiento</a:t>
            </a:r>
            <a:r>
              <a:rPr lang="en-US" dirty="0"/>
              <a:t> la </a:t>
            </a:r>
            <a:r>
              <a:rPr lang="en-US" dirty="0" err="1"/>
              <a:t>perdida</a:t>
            </a:r>
            <a:r>
              <a:rPr lang="en-US" dirty="0"/>
              <a:t> </a:t>
            </a:r>
            <a:r>
              <a:rPr lang="en-US" dirty="0" err="1"/>
              <a:t>esta</a:t>
            </a:r>
            <a:r>
              <a:rPr lang="en-US" dirty="0"/>
              <a:t> </a:t>
            </a:r>
            <a:r>
              <a:rPr lang="en-US" dirty="0" err="1"/>
              <a:t>enmascarada</a:t>
            </a:r>
            <a:r>
              <a:rPr lang="en-US" dirty="0"/>
              <a:t> </a:t>
            </a:r>
            <a:r>
              <a:rPr lang="en-US" dirty="0" err="1"/>
              <a:t>sobre</a:t>
            </a:r>
            <a:r>
              <a:rPr lang="en-US" dirty="0"/>
              <a:t> </a:t>
            </a:r>
            <a:r>
              <a:rPr lang="en-US" dirty="0" err="1"/>
              <a:t>el</a:t>
            </a:r>
            <a:r>
              <a:rPr lang="en-US" dirty="0"/>
              <a:t> prompt. Se </a:t>
            </a:r>
            <a:r>
              <a:rPr lang="en-US" dirty="0" err="1"/>
              <a:t>ponen</a:t>
            </a:r>
            <a:r>
              <a:rPr lang="en-US" dirty="0"/>
              <a:t> -100 </a:t>
            </a:r>
            <a:r>
              <a:rPr lang="en-US" dirty="0" err="1"/>
              <a:t>en</a:t>
            </a:r>
            <a:r>
              <a:rPr lang="en-US" dirty="0"/>
              <a:t> las </a:t>
            </a:r>
            <a:r>
              <a:rPr lang="en-US" dirty="0" err="1"/>
              <a:t>posiciones</a:t>
            </a:r>
            <a:r>
              <a:rPr lang="en-US" dirty="0"/>
              <a:t> del prompt, </a:t>
            </a:r>
            <a:r>
              <a:rPr lang="en-US" dirty="0" err="1"/>
              <a:t>asi</a:t>
            </a:r>
            <a:r>
              <a:rPr lang="en-US" dirty="0"/>
              <a:t> </a:t>
            </a:r>
            <a:r>
              <a:rPr lang="en-US" dirty="0" err="1"/>
              <a:t>el</a:t>
            </a:r>
            <a:r>
              <a:rPr lang="en-US" dirty="0"/>
              <a:t> </a:t>
            </a:r>
            <a:r>
              <a:rPr lang="en-US" dirty="0" err="1"/>
              <a:t>gradiente</a:t>
            </a:r>
            <a:r>
              <a:rPr lang="en-US" dirty="0"/>
              <a:t> </a:t>
            </a:r>
            <a:r>
              <a:rPr lang="en-US" dirty="0" err="1"/>
              <a:t>viene</a:t>
            </a:r>
            <a:r>
              <a:rPr lang="en-US" dirty="0"/>
              <a:t> solo del completion. El </a:t>
            </a:r>
            <a:r>
              <a:rPr lang="en-US" dirty="0" err="1"/>
              <a:t>modelo</a:t>
            </a:r>
            <a:r>
              <a:rPr lang="en-US" dirty="0"/>
              <a:t> no </a:t>
            </a:r>
            <a:r>
              <a:rPr lang="en-US" dirty="0" err="1"/>
              <a:t>aprende</a:t>
            </a:r>
            <a:r>
              <a:rPr lang="en-US" dirty="0"/>
              <a:t> a </a:t>
            </a:r>
            <a:r>
              <a:rPr lang="en-US" dirty="0" err="1"/>
              <a:t>copiar</a:t>
            </a:r>
            <a:r>
              <a:rPr lang="en-US" dirty="0"/>
              <a:t> </a:t>
            </a:r>
            <a:r>
              <a:rPr lang="en-US" dirty="0" err="1"/>
              <a:t>el</a:t>
            </a:r>
            <a:r>
              <a:rPr lang="en-US" dirty="0"/>
              <a:t> </a:t>
            </a:r>
            <a:r>
              <a:rPr lang="en-US" dirty="0" err="1"/>
              <a:t>contexto</a:t>
            </a:r>
            <a:r>
              <a:rPr lang="en-US" dirty="0"/>
              <a:t>, </a:t>
            </a:r>
            <a:r>
              <a:rPr lang="en-US" dirty="0" err="1"/>
              <a:t>aprende</a:t>
            </a:r>
            <a:r>
              <a:rPr lang="en-US" dirty="0"/>
              <a:t> a </a:t>
            </a:r>
            <a:r>
              <a:rPr lang="en-US" dirty="0" err="1"/>
              <a:t>generar</a:t>
            </a:r>
            <a:r>
              <a:rPr lang="en-US" dirty="0"/>
              <a:t> </a:t>
            </a:r>
            <a:r>
              <a:rPr lang="en-US" dirty="0" err="1"/>
              <a:t>el</a:t>
            </a:r>
            <a:r>
              <a:rPr lang="en-US" dirty="0"/>
              <a:t> target. </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s-ES" b="0" i="0" dirty="0">
                <a:solidFill>
                  <a:srgbClr val="BFBFBF"/>
                </a:solidFill>
                <a:effectLst/>
                <a:latin typeface="-apple-system"/>
              </a:rPr>
              <a:t>En generación una sola métrica no alcanza, porque hay muchas formas válidas de decir lo mismo. Por eso evalúo en cuatro capas: cada una cubre algo que las otras no ven.</a:t>
            </a:r>
          </a:p>
          <a:p>
            <a:pPr algn="l"/>
            <a:r>
              <a:rPr lang="es-ES" b="0" i="0" dirty="0">
                <a:solidFill>
                  <a:srgbClr val="BFBFBF"/>
                </a:solidFill>
                <a:effectLst/>
                <a:latin typeface="-apple-system"/>
              </a:rPr>
              <a:t>- La capa </a:t>
            </a:r>
            <a:r>
              <a:rPr lang="es-ES" b="1" i="0" dirty="0">
                <a:solidFill>
                  <a:srgbClr val="BFBFBF"/>
                </a:solidFill>
                <a:effectLst/>
                <a:latin typeface="-apple-system"/>
              </a:rPr>
              <a:t>textual</a:t>
            </a:r>
            <a:r>
              <a:rPr lang="es-ES" b="0" i="0" dirty="0">
                <a:solidFill>
                  <a:srgbClr val="BFBFBF"/>
                </a:solidFill>
                <a:effectLst/>
                <a:latin typeface="-apple-system"/>
              </a:rPr>
              <a:t>, con ROUGE-L, mide solapamiento de la </a:t>
            </a:r>
            <a:r>
              <a:rPr lang="es-ES" b="0" i="0" dirty="0" err="1">
                <a:solidFill>
                  <a:srgbClr val="BFBFBF"/>
                </a:solidFill>
                <a:effectLst/>
                <a:latin typeface="-apple-system"/>
              </a:rPr>
              <a:t>narritiva</a:t>
            </a:r>
            <a:r>
              <a:rPr lang="es-ES" b="0" i="0" dirty="0">
                <a:solidFill>
                  <a:srgbClr val="BFBFBF"/>
                </a:solidFill>
                <a:effectLst/>
                <a:latin typeface="-apple-system"/>
              </a:rPr>
              <a:t> generada, con la noticia real de ese día. Es la más conservadora, si el modelo dice lo mismo con otras palabras, ROUGE baja. Por eso lo trato como piso, no como criterio principal.</a:t>
            </a:r>
          </a:p>
          <a:p>
            <a:pPr algn="l"/>
            <a:r>
              <a:rPr lang="es-ES" b="0" i="0" dirty="0">
                <a:solidFill>
                  <a:srgbClr val="BFBFBF"/>
                </a:solidFill>
                <a:effectLst/>
                <a:latin typeface="-apple-system"/>
              </a:rPr>
              <a:t>- La capa </a:t>
            </a:r>
            <a:r>
              <a:rPr lang="es-ES" b="1" i="0" dirty="0">
                <a:solidFill>
                  <a:srgbClr val="BFBFBF"/>
                </a:solidFill>
                <a:effectLst/>
                <a:latin typeface="-apple-system"/>
              </a:rPr>
              <a:t>semántica</a:t>
            </a:r>
            <a:r>
              <a:rPr lang="es-ES" b="0" i="0" dirty="0">
                <a:solidFill>
                  <a:srgbClr val="BFBFBF"/>
                </a:solidFill>
                <a:effectLst/>
                <a:latin typeface="-apple-system"/>
              </a:rPr>
              <a:t> cubre esa limitación. </a:t>
            </a:r>
            <a:r>
              <a:rPr lang="es-ES" b="0" i="0" dirty="0" err="1">
                <a:solidFill>
                  <a:srgbClr val="BFBFBF"/>
                </a:solidFill>
                <a:effectLst/>
                <a:latin typeface="-apple-system"/>
              </a:rPr>
              <a:t>BERTScore</a:t>
            </a:r>
            <a:r>
              <a:rPr lang="es-ES" b="0" i="0" dirty="0">
                <a:solidFill>
                  <a:srgbClr val="BFBFBF"/>
                </a:solidFill>
                <a:effectLst/>
                <a:latin typeface="-apple-system"/>
              </a:rPr>
              <a:t> compara por </a:t>
            </a:r>
            <a:r>
              <a:rPr lang="es-ES" b="0" i="0" dirty="0" err="1">
                <a:solidFill>
                  <a:srgbClr val="BFBFBF"/>
                </a:solidFill>
                <a:effectLst/>
                <a:latin typeface="-apple-system"/>
              </a:rPr>
              <a:t>embeddings</a:t>
            </a:r>
            <a:r>
              <a:rPr lang="es-ES" b="0" i="0" dirty="0">
                <a:solidFill>
                  <a:srgbClr val="BFBFBF"/>
                </a:solidFill>
                <a:effectLst/>
                <a:latin typeface="-apple-system"/>
              </a:rPr>
              <a:t> y capta similitud cuando cambian las palabras pero el sentido se mantiene. Y </a:t>
            </a:r>
            <a:r>
              <a:rPr lang="es-ES" b="0" i="0" dirty="0" err="1">
                <a:solidFill>
                  <a:srgbClr val="BFBFBF"/>
                </a:solidFill>
                <a:effectLst/>
                <a:latin typeface="-apple-system"/>
              </a:rPr>
              <a:t>FinBERT</a:t>
            </a:r>
            <a:r>
              <a:rPr lang="es-ES" b="0" i="0" dirty="0">
                <a:solidFill>
                  <a:srgbClr val="BFBFBF"/>
                </a:solidFill>
                <a:effectLst/>
                <a:latin typeface="-apple-system"/>
              </a:rPr>
              <a:t> clasifica el sentimiento financiero, positivo, neutral o negativo, y me dice si el tono generado coincide con el tono real.</a:t>
            </a:r>
          </a:p>
          <a:p>
            <a:pPr algn="l"/>
            <a:r>
              <a:rPr lang="es-ES" b="0" i="0" dirty="0">
                <a:solidFill>
                  <a:srgbClr val="BFBFBF"/>
                </a:solidFill>
                <a:effectLst/>
                <a:latin typeface="-apple-system"/>
              </a:rPr>
              <a:t>- La capa </a:t>
            </a:r>
            <a:r>
              <a:rPr lang="es-ES" b="1" i="0" dirty="0">
                <a:solidFill>
                  <a:srgbClr val="BFBFBF"/>
                </a:solidFill>
                <a:effectLst/>
                <a:latin typeface="-apple-system"/>
              </a:rPr>
              <a:t>financiera</a:t>
            </a:r>
            <a:r>
              <a:rPr lang="es-ES" b="0" i="0" dirty="0">
                <a:solidFill>
                  <a:srgbClr val="BFBFBF"/>
                </a:solidFill>
                <a:effectLst/>
                <a:latin typeface="-apple-system"/>
              </a:rPr>
              <a:t> es la pregunta </a:t>
            </a:r>
            <a:r>
              <a:rPr lang="es-ES" b="0" i="0" dirty="0" err="1">
                <a:solidFill>
                  <a:srgbClr val="BFBFBF"/>
                </a:solidFill>
                <a:effectLst/>
                <a:latin typeface="-apple-system"/>
              </a:rPr>
              <a:t>downstream</a:t>
            </a:r>
            <a:r>
              <a:rPr lang="es-ES" b="0" i="0" dirty="0">
                <a:solidFill>
                  <a:srgbClr val="BFBFBF"/>
                </a:solidFill>
                <a:effectLst/>
                <a:latin typeface="-apple-system"/>
              </a:rPr>
              <a:t>: convierto el sentimiento o la dirección generada en una señal +1, -1 o 0 y la comparo con la dirección real del activo en t+1. Mide si la generación sirve para algo, más allá de parecerse al texto real.</a:t>
            </a:r>
          </a:p>
          <a:p>
            <a:pPr marL="171450" indent="-171450" algn="l">
              <a:buFontTx/>
              <a:buChar char="-"/>
            </a:pPr>
            <a:r>
              <a:rPr lang="es-ES" b="0" i="0" dirty="0">
                <a:solidFill>
                  <a:srgbClr val="BFBFBF"/>
                </a:solidFill>
                <a:effectLst/>
                <a:latin typeface="-apple-system"/>
              </a:rPr>
              <a:t>Finalmente, la capa </a:t>
            </a:r>
            <a:r>
              <a:rPr lang="es-ES" b="1" i="0" dirty="0">
                <a:solidFill>
                  <a:srgbClr val="BFBFBF"/>
                </a:solidFill>
                <a:effectLst/>
                <a:latin typeface="-apple-system"/>
              </a:rPr>
              <a:t>estadística</a:t>
            </a:r>
            <a:r>
              <a:rPr lang="es-ES" b="0" i="0" dirty="0">
                <a:solidFill>
                  <a:srgbClr val="BFBFBF"/>
                </a:solidFill>
                <a:effectLst/>
                <a:latin typeface="-apple-system"/>
              </a:rPr>
              <a:t> es un test binomial contra azar, donde verifico si la señal </a:t>
            </a:r>
            <a:r>
              <a:rPr lang="es-ES" b="0" i="0" dirty="0" err="1">
                <a:solidFill>
                  <a:srgbClr val="BFBFBF"/>
                </a:solidFill>
                <a:effectLst/>
                <a:latin typeface="-apple-system"/>
              </a:rPr>
              <a:t>suera</a:t>
            </a:r>
            <a:r>
              <a:rPr lang="es-ES" b="0" i="0" dirty="0">
                <a:solidFill>
                  <a:srgbClr val="BFBFBF"/>
                </a:solidFill>
                <a:effectLst/>
                <a:latin typeface="-apple-system"/>
              </a:rPr>
              <a:t> al azar con evidencia suficiente. </a:t>
            </a:r>
          </a:p>
          <a:p>
            <a:pPr marL="171450" indent="-171450" algn="l">
              <a:buFontTx/>
              <a:buChar char="-"/>
            </a:pPr>
            <a:endParaRPr lang="es-ES" b="0" i="0" dirty="0">
              <a:solidFill>
                <a:srgbClr val="BFBFBF"/>
              </a:solidFill>
              <a:effectLst/>
              <a:latin typeface="-apple-system"/>
            </a:endParaRPr>
          </a:p>
          <a:p>
            <a:pPr marL="171450" indent="-171450" algn="l">
              <a:buFontTx/>
              <a:buChar char="-"/>
            </a:pPr>
            <a:r>
              <a:rPr lang="es-ES" b="0" i="0" dirty="0">
                <a:solidFill>
                  <a:srgbClr val="BFBFBF"/>
                </a:solidFill>
                <a:effectLst/>
                <a:latin typeface="-apple-system"/>
              </a:rPr>
              <a:t>La regla que aplico siempre, abajo en la </a:t>
            </a:r>
            <a:r>
              <a:rPr lang="es-ES" b="0" i="0" dirty="0" err="1">
                <a:solidFill>
                  <a:srgbClr val="BFBFBF"/>
                </a:solidFill>
                <a:effectLst/>
                <a:latin typeface="-apple-system"/>
              </a:rPr>
              <a:t>slide</a:t>
            </a:r>
            <a:r>
              <a:rPr lang="es-ES" b="0" i="0" dirty="0">
                <a:solidFill>
                  <a:srgbClr val="BFBFBF"/>
                </a:solidFill>
                <a:effectLst/>
                <a:latin typeface="-apple-system"/>
              </a:rPr>
              <a:t>, es que la </a:t>
            </a:r>
            <a:r>
              <a:rPr lang="es-ES" b="0" i="0" dirty="0" err="1">
                <a:solidFill>
                  <a:srgbClr val="BFBFBF"/>
                </a:solidFill>
                <a:effectLst/>
                <a:latin typeface="-apple-system"/>
              </a:rPr>
              <a:t>directional</a:t>
            </a:r>
            <a:r>
              <a:rPr lang="es-ES" b="0" i="0" dirty="0">
                <a:solidFill>
                  <a:srgbClr val="BFBFBF"/>
                </a:solidFill>
                <a:effectLst/>
                <a:latin typeface="-apple-system"/>
              </a:rPr>
              <a:t> </a:t>
            </a:r>
            <a:r>
              <a:rPr lang="es-ES" b="0" i="0" dirty="0" err="1">
                <a:solidFill>
                  <a:srgbClr val="BFBFBF"/>
                </a:solidFill>
                <a:effectLst/>
                <a:latin typeface="-apple-system"/>
              </a:rPr>
              <a:t>accuracy</a:t>
            </a:r>
            <a:r>
              <a:rPr lang="es-ES" b="0" i="0" dirty="0">
                <a:solidFill>
                  <a:srgbClr val="BFBFBF"/>
                </a:solidFill>
                <a:effectLst/>
                <a:latin typeface="-apple-system"/>
              </a:rPr>
              <a:t> nunca va sola. Va con </a:t>
            </a:r>
            <a:r>
              <a:rPr lang="es-ES" b="0" i="0" dirty="0" err="1">
                <a:solidFill>
                  <a:srgbClr val="BFBFBF"/>
                </a:solidFill>
                <a:effectLst/>
                <a:latin typeface="-apple-system"/>
              </a:rPr>
              <a:t>coverage</a:t>
            </a:r>
            <a:r>
              <a:rPr lang="es-ES" b="0" i="0" dirty="0">
                <a:solidFill>
                  <a:srgbClr val="BFBFBF"/>
                </a:solidFill>
                <a:effectLst/>
                <a:latin typeface="-apple-system"/>
              </a:rPr>
              <a:t> — cuántas veces el modelo se animó a emitir señal — y con p-</a:t>
            </a:r>
            <a:r>
              <a:rPr lang="es-ES" b="0" i="0" dirty="0" err="1">
                <a:solidFill>
                  <a:srgbClr val="BFBFBF"/>
                </a:solidFill>
                <a:effectLst/>
                <a:latin typeface="-apple-system"/>
              </a:rPr>
              <a:t>value</a:t>
            </a:r>
            <a:r>
              <a:rPr lang="es-ES" b="0" i="0" dirty="0">
                <a:solidFill>
                  <a:srgbClr val="BFBFBF"/>
                </a:solidFill>
                <a:effectLst/>
                <a:latin typeface="-apple-system"/>
              </a:rPr>
              <a:t>. Las tres juntas evitan la lectura ingenua. En las próximas </a:t>
            </a:r>
            <a:r>
              <a:rPr lang="es-ES" b="0" i="0" dirty="0" err="1">
                <a:solidFill>
                  <a:srgbClr val="BFBFBF"/>
                </a:solidFill>
                <a:effectLst/>
                <a:latin typeface="-apple-system"/>
              </a:rPr>
              <a:t>slides</a:t>
            </a:r>
            <a:r>
              <a:rPr lang="es-ES" b="0" i="0" dirty="0">
                <a:solidFill>
                  <a:srgbClr val="BFBFBF"/>
                </a:solidFill>
                <a:effectLst/>
                <a:latin typeface="-apple-system"/>
              </a:rPr>
              <a:t> vamos a ver que estas capas no se mueven juntas, y ese es uno de los hallazgos centrales del proyecto.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GPT-2 no fine-</a:t>
            </a:r>
            <a:r>
              <a:rPr lang="en-US" dirty="0" err="1"/>
              <a:t>tuneado</a:t>
            </a:r>
            <a:r>
              <a:rPr lang="en-US" dirty="0"/>
              <a:t> </a:t>
            </a:r>
            <a:r>
              <a:rPr lang="en-US" dirty="0" err="1"/>
              <a:t>fue</a:t>
            </a:r>
            <a:r>
              <a:rPr lang="en-US" dirty="0"/>
              <a:t> </a:t>
            </a:r>
            <a:r>
              <a:rPr lang="en-US" dirty="0" err="1"/>
              <a:t>el</a:t>
            </a:r>
            <a:r>
              <a:rPr lang="en-US" dirty="0"/>
              <a:t> baseline para </a:t>
            </a:r>
            <a:r>
              <a:rPr lang="en-US" dirty="0" err="1"/>
              <a:t>medir</a:t>
            </a:r>
            <a:r>
              <a:rPr lang="en-US" dirty="0"/>
              <a:t> </a:t>
            </a:r>
            <a:r>
              <a:rPr lang="en-US" dirty="0" err="1"/>
              <a:t>si</a:t>
            </a:r>
            <a:r>
              <a:rPr lang="en-US" dirty="0"/>
              <a:t> </a:t>
            </a:r>
            <a:r>
              <a:rPr lang="en-US" dirty="0" err="1"/>
              <a:t>el</a:t>
            </a:r>
            <a:r>
              <a:rPr lang="en-US" dirty="0"/>
              <a:t> </a:t>
            </a:r>
            <a:r>
              <a:rPr lang="en-US" dirty="0" err="1"/>
              <a:t>entrenamiento</a:t>
            </a:r>
            <a:r>
              <a:rPr lang="en-US" dirty="0"/>
              <a:t> </a:t>
            </a:r>
            <a:r>
              <a:rPr lang="en-US" dirty="0" err="1"/>
              <a:t>aportó</a:t>
            </a:r>
            <a:r>
              <a:rPr lang="en-US" dirty="0"/>
              <a:t> algo. </a:t>
            </a:r>
          </a:p>
          <a:p>
            <a:pPr marL="171450" indent="-171450">
              <a:buFontTx/>
              <a:buChar char="-"/>
            </a:pPr>
            <a:r>
              <a:rPr lang="en-US" dirty="0"/>
              <a:t>SPY/QQQ </a:t>
            </a:r>
            <a:r>
              <a:rPr lang="en-US" dirty="0" err="1"/>
              <a:t>fueron</a:t>
            </a:r>
            <a:r>
              <a:rPr lang="en-US" dirty="0"/>
              <a:t> </a:t>
            </a:r>
            <a:r>
              <a:rPr lang="en-US" dirty="0" err="1"/>
              <a:t>los</a:t>
            </a:r>
            <a:r>
              <a:rPr lang="en-US" dirty="0"/>
              <a:t> stocks </a:t>
            </a:r>
            <a:r>
              <a:rPr lang="en-US" dirty="0" err="1"/>
              <a:t>utilizados</a:t>
            </a:r>
            <a:r>
              <a:rPr lang="en-US" dirty="0"/>
              <a:t> para </a:t>
            </a:r>
            <a:r>
              <a:rPr lang="en-US" dirty="0" err="1"/>
              <a:t>hacer</a:t>
            </a:r>
            <a:r>
              <a:rPr lang="en-US" dirty="0"/>
              <a:t> </a:t>
            </a:r>
            <a:r>
              <a:rPr lang="en-US" dirty="0" err="1"/>
              <a:t>el</a:t>
            </a:r>
            <a:r>
              <a:rPr lang="en-US" dirty="0"/>
              <a:t> primer finetuning y </a:t>
            </a:r>
            <a:r>
              <a:rPr lang="en-US" dirty="0" err="1"/>
              <a:t>evaluación</a:t>
            </a:r>
            <a:endParaRPr lang="en-US" dirty="0"/>
          </a:p>
          <a:p>
            <a:pPr marL="171450" indent="-171450">
              <a:buFontTx/>
              <a:buChar char="-"/>
            </a:pPr>
            <a:r>
              <a:rPr lang="en-US" dirty="0"/>
              <a:t>NVDA single sirve para ver comportamiento en un solo activo y tiene el mejor BERTScore. </a:t>
            </a:r>
          </a:p>
          <a:p>
            <a:pPr marL="171450" indent="-171450">
              <a:buFontTx/>
              <a:buChar char="-"/>
            </a:pPr>
            <a:r>
              <a:rPr lang="en-US" dirty="0"/>
              <a:t>NVDA + AMD es el run mas equilibrado en calidad textual y semantica. </a:t>
            </a:r>
          </a:p>
          <a:p>
            <a:pPr marL="171450" indent="-171450">
              <a:buFontTx/>
              <a:buChar char="-"/>
            </a:pPr>
            <a:r>
              <a:rPr lang="en-US" dirty="0"/>
              <a:t>NVDA direction features es la variante mas orientada a la </a:t>
            </a:r>
            <a:r>
              <a:rPr lang="en-US" dirty="0" err="1"/>
              <a:t>metrica</a:t>
            </a:r>
            <a:r>
              <a:rPr lang="en-US" dirty="0"/>
              <a:t> </a:t>
            </a:r>
            <a:r>
              <a:rPr lang="en-US" dirty="0" err="1"/>
              <a:t>financiera</a:t>
            </a:r>
            <a:endParaRPr lang="en-US" dirty="0"/>
          </a:p>
          <a:p>
            <a:pPr marL="171450" indent="-171450">
              <a:buFontTx/>
              <a:buChar cha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Las </a:t>
            </a:r>
            <a:r>
              <a:rPr lang="en-US" dirty="0" err="1"/>
              <a:t>metricas</a:t>
            </a:r>
            <a:r>
              <a:rPr lang="en-US" dirty="0"/>
              <a:t> no se </a:t>
            </a:r>
            <a:r>
              <a:rPr lang="en-US" dirty="0" err="1"/>
              <a:t>mueven</a:t>
            </a:r>
            <a:r>
              <a:rPr lang="en-US" dirty="0"/>
              <a:t> juntas.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GPT-2 sin fine-tuning </a:t>
            </a:r>
            <a:r>
              <a:rPr lang="en-US" dirty="0" err="1"/>
              <a:t>tiene</a:t>
            </a:r>
            <a:r>
              <a:rPr lang="en-US" dirty="0"/>
              <a:t> ROUGE-L bajo, 0.040, y sentiment match bajo, 0.273. Sin embargo </a:t>
            </a:r>
            <a:r>
              <a:rPr lang="en-US" dirty="0" err="1"/>
              <a:t>tiene</a:t>
            </a:r>
            <a:r>
              <a:rPr lang="en-US" dirty="0"/>
              <a:t> directional accuracy de 0.549 con coverage 1.0. </a:t>
            </a:r>
            <a:r>
              <a:rPr lang="en-US" dirty="0" err="1"/>
              <a:t>Esto</a:t>
            </a:r>
            <a:r>
              <a:rPr lang="en-US" dirty="0"/>
              <a:t> es </a:t>
            </a:r>
            <a:r>
              <a:rPr lang="en-US" dirty="0" err="1"/>
              <a:t>una</a:t>
            </a:r>
            <a:r>
              <a:rPr lang="en-US" dirty="0"/>
              <a:t> </a:t>
            </a:r>
            <a:r>
              <a:rPr lang="en-US" dirty="0" err="1"/>
              <a:t>alerta</a:t>
            </a:r>
            <a:r>
              <a:rPr lang="en-US" dirty="0"/>
              <a:t>: </a:t>
            </a:r>
            <a:r>
              <a:rPr lang="en-US" dirty="0" err="1"/>
              <a:t>una</a:t>
            </a:r>
            <a:r>
              <a:rPr lang="en-US" dirty="0"/>
              <a:t> </a:t>
            </a:r>
            <a:r>
              <a:rPr lang="en-US" dirty="0" err="1"/>
              <a:t>metrica</a:t>
            </a:r>
            <a:r>
              <a:rPr lang="en-US" dirty="0"/>
              <a:t> </a:t>
            </a:r>
            <a:r>
              <a:rPr lang="en-US" dirty="0" err="1"/>
              <a:t>financiera</a:t>
            </a:r>
            <a:r>
              <a:rPr lang="en-US" dirty="0"/>
              <a:t> </a:t>
            </a:r>
            <a:r>
              <a:rPr lang="en-US" dirty="0" err="1"/>
              <a:t>alta</a:t>
            </a:r>
            <a:r>
              <a:rPr lang="en-US" dirty="0"/>
              <a:t> </a:t>
            </a:r>
            <a:r>
              <a:rPr lang="en-US" dirty="0" err="1"/>
              <a:t>puede</a:t>
            </a:r>
            <a:r>
              <a:rPr lang="en-US" dirty="0"/>
              <a:t> </a:t>
            </a:r>
            <a:r>
              <a:rPr lang="en-US" dirty="0" err="1"/>
              <a:t>aparecer</a:t>
            </a:r>
            <a:r>
              <a:rPr lang="en-US" dirty="0"/>
              <a:t> </a:t>
            </a:r>
            <a:r>
              <a:rPr lang="en-US" dirty="0" err="1"/>
              <a:t>incluso</a:t>
            </a:r>
            <a:r>
              <a:rPr lang="en-US" dirty="0"/>
              <a:t> </a:t>
            </a:r>
            <a:r>
              <a:rPr lang="en-US" dirty="0" err="1"/>
              <a:t>cuando</a:t>
            </a:r>
            <a:r>
              <a:rPr lang="en-US" dirty="0"/>
              <a:t> la </a:t>
            </a:r>
            <a:r>
              <a:rPr lang="en-US" dirty="0" err="1"/>
              <a:t>calidad</a:t>
            </a:r>
            <a:r>
              <a:rPr lang="en-US" dirty="0"/>
              <a:t> </a:t>
            </a:r>
            <a:r>
              <a:rPr lang="en-US" dirty="0" err="1"/>
              <a:t>semantica</a:t>
            </a:r>
            <a:r>
              <a:rPr lang="en-US" dirty="0"/>
              <a:t> es </a:t>
            </a:r>
            <a:r>
              <a:rPr lang="en-US" dirty="0" err="1"/>
              <a:t>pobre</a:t>
            </a:r>
            <a:r>
              <a:rPr lang="en-US" dirty="0"/>
              <a:t>. El run NVDA + AMD </a:t>
            </a:r>
            <a:r>
              <a:rPr lang="en-US" dirty="0" err="1"/>
              <a:t>tiene</a:t>
            </a:r>
            <a:r>
              <a:rPr lang="en-US" dirty="0"/>
              <a:t> </a:t>
            </a:r>
            <a:r>
              <a:rPr lang="en-US" dirty="0" err="1"/>
              <a:t>mejor</a:t>
            </a:r>
            <a:r>
              <a:rPr lang="en-US" dirty="0"/>
              <a:t> </a:t>
            </a:r>
            <a:r>
              <a:rPr lang="en-US" dirty="0" err="1"/>
              <a:t>calidad</a:t>
            </a:r>
            <a:r>
              <a:rPr lang="en-US" dirty="0"/>
              <a:t> textual y </a:t>
            </a:r>
            <a:r>
              <a:rPr lang="en-US" dirty="0" err="1"/>
              <a:t>semantica</a:t>
            </a:r>
            <a:r>
              <a:rPr lang="en-US" dirty="0"/>
              <a:t>: ROUGE-L 0.074 y sentiment match 0.442, </a:t>
            </a:r>
            <a:r>
              <a:rPr lang="en-US" dirty="0" err="1"/>
              <a:t>pero</a:t>
            </a:r>
            <a:r>
              <a:rPr lang="en-US" dirty="0"/>
              <a:t> </a:t>
            </a:r>
            <a:r>
              <a:rPr lang="en-US" dirty="0" err="1"/>
              <a:t>su</a:t>
            </a:r>
            <a:r>
              <a:rPr lang="en-US" dirty="0"/>
              <a:t> directional accuracy es 0.530. El run con direction features </a:t>
            </a:r>
            <a:r>
              <a:rPr lang="en-US" dirty="0" err="1"/>
              <a:t>tiene</a:t>
            </a:r>
            <a:r>
              <a:rPr lang="en-US" dirty="0"/>
              <a:t> la </a:t>
            </a:r>
            <a:r>
              <a:rPr lang="en-US" dirty="0" err="1"/>
              <a:t>mejor</a:t>
            </a:r>
            <a:r>
              <a:rPr lang="en-US" dirty="0"/>
              <a:t> directional accuracy, 0.556, </a:t>
            </a:r>
            <a:r>
              <a:rPr lang="en-US" dirty="0" err="1"/>
              <a:t>pero</a:t>
            </a:r>
            <a:r>
              <a:rPr lang="en-US" dirty="0"/>
              <a:t> </a:t>
            </a:r>
            <a:r>
              <a:rPr lang="en-US" dirty="0" err="1"/>
              <a:t>tampoco</a:t>
            </a:r>
            <a:r>
              <a:rPr lang="en-US" dirty="0"/>
              <a:t> </a:t>
            </a:r>
            <a:r>
              <a:rPr lang="en-US" dirty="0" err="1"/>
              <a:t>alcanza</a:t>
            </a:r>
            <a:r>
              <a:rPr lang="en-US" dirty="0"/>
              <a:t> </a:t>
            </a:r>
            <a:r>
              <a:rPr lang="en-US" dirty="0" err="1"/>
              <a:t>significancia</a:t>
            </a:r>
            <a:r>
              <a:rPr lang="en-US" dirty="0"/>
              <a:t>.</a:t>
            </a:r>
          </a:p>
          <a:p>
            <a:pPr marL="0" indent="0">
              <a:buFontTx/>
              <a:buNone/>
            </a:pP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Las curvas de loss muestran que hubo fine-tuning real: modelo ajusta la tarea de language modeling sobre el corpus financiero. </a:t>
            </a:r>
          </a:p>
          <a:p>
            <a:pPr marL="171450" indent="-171450">
              <a:buFontTx/>
              <a:buChar char="-"/>
            </a:pPr>
            <a:r>
              <a:rPr lang="en-US" dirty="0"/>
              <a:t>Tambien calculi perplexity como exponencial de la eval loss. Es una metrica clasica: menor perplexity significa que el modelo asigna mas probabilidad al texto de validacion. </a:t>
            </a:r>
          </a:p>
          <a:p>
            <a:pPr marL="171450" indent="-171450">
              <a:buFontTx/>
              <a:buChar char="-"/>
            </a:pPr>
            <a:r>
              <a:rPr lang="en-US" dirty="0"/>
              <a:t>Pero hay un hallazgo importante: el mejor valor de perplexity no coincide necesariamente con el mejor resultado financiero. Esto separa aprender a modelar texto de producir una senal util.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matrices comparan sentimiento real contra sentimiento generado, usando FinBERT como evaluador externo. En GPT-2 base el match semantico es bajo: el modelo puede generar texto que parece financiero pero no con el tono correcto. Con fine-tuning, especialmente en NVDA + AMD, mejora la alineacion, pero todavia no supera claramente el baseline neutral. La matriz financiera mira si la direccion generada coincide con la real: el run con features direccionales obtiene la mejor directional accuracy, alrededor de 0.556, con coverage total, pero el p-value contra azar es aproximadamente 0.225. Por eso lo presentamos como senal exploratoria.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ejemplos ayudan a entender por que las metricas agregadas no alcanzan. En un caso, el fine-tuning mejora la alineacion semantica y ROUGE-L frente a GPT-2 base: el entrenamiento si adapta el modelo al dominio. Pero en otro caso, GPT-2 base acierta la direccion mientras genera una narrativa pobre o generica. Ese ejemplo es central: muestra que directional accuracy puede verse bien aunque el texto no sea bueno. La evaluacion cuantitativa necesita lectura cualitativa.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limitaciones son varias: el dataset de test es chico, el target son titulares agregados por dia y no articulos completos, GPT-2 small tiene capacidad limitada, FinBERT es un evaluador imperfecto y la directional accuracy depende de la distribucion de clases. La mas importante: no hay significancia estadistica fuerte. Conclusiones: GPT-2 fine-tuneado aprende vocabulario y formato financiero; el fine-tuning mejora la calidad textual y semantica; las metricas no son equivalentes; la directional accuracy no alcanza para afirmar predictividad. El aporte principal es metodologico: un pipeline reproducible de NLP generativo evaluado criticamente. Como trabajo futuro: baselines estadisticos mas fuertes, mas datos, modelos mas grandes, mejor control de salida y evaluacion humana. Cierre: el proyecto muestra que fine-tunear GPT-2 adapta el modelo al dominio financiero, pero tambien por que evaluar generacion es dificil. La contribucion principal es el pipeline de evaluacion multicapa y la lectura critica.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0.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image" Target="../media/image11.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1.png"/><Relationship Id="rId9"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9.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25.png"/><Relationship Id="rId4" Type="http://schemas.openxmlformats.org/officeDocument/2006/relationships/image" Target="../media/image24.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A4A"/>
        </a:solidFill>
        <a:effectLst/>
      </p:bgPr>
    </p:bg>
    <p:spTree>
      <p:nvGrpSpPr>
        <p:cNvPr id="1" name=""/>
        <p:cNvGrpSpPr/>
        <p:nvPr/>
      </p:nvGrpSpPr>
      <p:grpSpPr>
        <a:xfrm>
          <a:off x="0" y="0"/>
          <a:ext cx="0" cy="0"/>
          <a:chOff x="0" y="0"/>
          <a:chExt cx="0" cy="0"/>
        </a:xfrm>
      </p:grpSpPr>
      <p:sp>
        <p:nvSpPr>
          <p:cNvPr id="2" name="Shape 0"/>
          <p:cNvSpPr/>
          <p:nvPr/>
        </p:nvSpPr>
        <p:spPr>
          <a:xfrm>
            <a:off x="8991295" y="0"/>
            <a:ext cx="3200400" cy="6858000"/>
          </a:xfrm>
          <a:prstGeom prst="rect">
            <a:avLst/>
          </a:prstGeom>
          <a:solidFill>
            <a:srgbClr val="182238"/>
          </a:solidFill>
          <a:ln w="12700">
            <a:solidFill>
              <a:srgbClr val="333333"/>
            </a:solidFill>
            <a:prstDash val="solid"/>
          </a:ln>
        </p:spPr>
      </p:sp>
      <p:sp>
        <p:nvSpPr>
          <p:cNvPr id="3" name="Shape 1"/>
          <p:cNvSpPr/>
          <p:nvPr/>
        </p:nvSpPr>
        <p:spPr>
          <a:xfrm>
            <a:off x="9494215" y="1828800"/>
            <a:ext cx="1920240" cy="384048"/>
          </a:xfrm>
          <a:prstGeom prst="roundRect">
            <a:avLst>
              <a:gd name="adj" fmla="val 14286"/>
            </a:avLst>
          </a:prstGeom>
          <a:solidFill>
            <a:srgbClr val="2A7F8C"/>
          </a:solidFill>
          <a:ln w="12700">
            <a:solidFill>
              <a:srgbClr val="333333"/>
            </a:solidFill>
            <a:prstDash val="solid"/>
          </a:ln>
        </p:spPr>
      </p:sp>
      <p:sp>
        <p:nvSpPr>
          <p:cNvPr id="4" name="Shape 2"/>
          <p:cNvSpPr/>
          <p:nvPr/>
        </p:nvSpPr>
        <p:spPr>
          <a:xfrm>
            <a:off x="9816860" y="2395728"/>
            <a:ext cx="1615883" cy="384048"/>
          </a:xfrm>
          <a:prstGeom prst="roundRect">
            <a:avLst>
              <a:gd name="adj" fmla="val 14286"/>
            </a:avLst>
          </a:prstGeom>
          <a:solidFill>
            <a:srgbClr val="3A4E72"/>
          </a:solidFill>
          <a:ln w="12700">
            <a:solidFill>
              <a:srgbClr val="333333"/>
            </a:solidFill>
            <a:prstDash val="solid"/>
          </a:ln>
        </p:spPr>
      </p:sp>
      <p:sp>
        <p:nvSpPr>
          <p:cNvPr id="5" name="Shape 3"/>
          <p:cNvSpPr/>
          <p:nvPr/>
        </p:nvSpPr>
        <p:spPr>
          <a:xfrm>
            <a:off x="10170543" y="2962656"/>
            <a:ext cx="1280488" cy="384048"/>
          </a:xfrm>
          <a:prstGeom prst="roundRect">
            <a:avLst>
              <a:gd name="adj" fmla="val 14286"/>
            </a:avLst>
          </a:prstGeom>
          <a:solidFill>
            <a:srgbClr val="2A7F8C"/>
          </a:solidFill>
          <a:ln w="12700">
            <a:solidFill>
              <a:srgbClr val="333333"/>
            </a:solidFill>
            <a:prstDash val="solid"/>
          </a:ln>
        </p:spPr>
      </p:sp>
      <p:sp>
        <p:nvSpPr>
          <p:cNvPr id="6" name="Shape 4"/>
          <p:cNvSpPr/>
          <p:nvPr/>
        </p:nvSpPr>
        <p:spPr>
          <a:xfrm>
            <a:off x="10489081" y="3529584"/>
            <a:ext cx="980237" cy="384048"/>
          </a:xfrm>
          <a:prstGeom prst="roundRect">
            <a:avLst>
              <a:gd name="adj" fmla="val 14286"/>
            </a:avLst>
          </a:prstGeom>
          <a:solidFill>
            <a:srgbClr val="3A4E72"/>
          </a:solidFill>
          <a:ln w="12700">
            <a:solidFill>
              <a:srgbClr val="333333"/>
            </a:solidFill>
            <a:prstDash val="solid"/>
          </a:ln>
        </p:spPr>
      </p:sp>
      <p:sp>
        <p:nvSpPr>
          <p:cNvPr id="7" name="Shape 5"/>
          <p:cNvSpPr/>
          <p:nvPr/>
        </p:nvSpPr>
        <p:spPr>
          <a:xfrm>
            <a:off x="10869283" y="4096512"/>
            <a:ext cx="618324" cy="384048"/>
          </a:xfrm>
          <a:prstGeom prst="roundRect">
            <a:avLst>
              <a:gd name="adj" fmla="val 14286"/>
            </a:avLst>
          </a:prstGeom>
          <a:solidFill>
            <a:srgbClr val="2A7F8C"/>
          </a:solidFill>
          <a:ln w="12700">
            <a:solidFill>
              <a:srgbClr val="333333"/>
            </a:solidFill>
            <a:prstDash val="solid"/>
          </a:ln>
        </p:spPr>
      </p:sp>
      <p:sp>
        <p:nvSpPr>
          <p:cNvPr id="9" name="Text 7"/>
          <p:cNvSpPr/>
          <p:nvPr/>
        </p:nvSpPr>
        <p:spPr>
          <a:xfrm>
            <a:off x="640080" y="624380"/>
            <a:ext cx="7772400" cy="795528"/>
          </a:xfrm>
          <a:prstGeom prst="rect">
            <a:avLst/>
          </a:prstGeom>
          <a:noFill/>
          <a:ln/>
        </p:spPr>
        <p:txBody>
          <a:bodyPr wrap="square" lIns="0" tIns="0" rIns="0" bIns="0" rtlCol="0" anchor="ctr"/>
          <a:lstStyle/>
          <a:p>
            <a:pPr marL="0" indent="0">
              <a:buNone/>
            </a:pPr>
            <a:r>
              <a:rPr lang="en-US" sz="1200" b="1" kern="0" spc="200" dirty="0">
                <a:solidFill>
                  <a:srgbClr val="2A7F8C"/>
                </a:solidFill>
                <a:latin typeface="Calibri" pitchFamily="34" charset="0"/>
                <a:ea typeface="Calibri" pitchFamily="34" charset="-122"/>
                <a:cs typeface="Calibri" pitchFamily="34" charset="-120"/>
              </a:rPr>
              <a:t>PROCESAMIENTO DE LENGUAJE NATURAL</a:t>
            </a:r>
          </a:p>
          <a:p>
            <a:pPr marL="0" indent="0">
              <a:buNone/>
            </a:pPr>
            <a:r>
              <a:rPr lang="en-US" sz="1200" b="1" kern="0" spc="200" dirty="0">
                <a:solidFill>
                  <a:srgbClr val="2A7F8C"/>
                </a:solidFill>
                <a:latin typeface="Calibri" pitchFamily="34" charset="0"/>
                <a:ea typeface="Calibri" pitchFamily="34" charset="-122"/>
                <a:cs typeface="Calibri" pitchFamily="34" charset="-120"/>
              </a:rPr>
              <a:t>Universidad de San Andres</a:t>
            </a:r>
          </a:p>
          <a:p>
            <a:pPr marL="0" indent="0">
              <a:buNone/>
            </a:pPr>
            <a:r>
              <a:rPr lang="en-US" sz="1200" b="1" kern="0" spc="200" dirty="0">
                <a:solidFill>
                  <a:srgbClr val="2A7F8C"/>
                </a:solidFill>
                <a:latin typeface="Calibri" pitchFamily="34" charset="0"/>
                <a:ea typeface="Calibri" pitchFamily="34" charset="-122"/>
                <a:cs typeface="Calibri" pitchFamily="34" charset="-120"/>
              </a:rPr>
              <a:t>Luciano Rielo</a:t>
            </a:r>
            <a:endParaRPr lang="en-US" sz="1200" dirty="0"/>
          </a:p>
        </p:txBody>
      </p:sp>
      <p:sp>
        <p:nvSpPr>
          <p:cNvPr id="10" name="Text 8"/>
          <p:cNvSpPr/>
          <p:nvPr/>
        </p:nvSpPr>
        <p:spPr>
          <a:xfrm>
            <a:off x="647395" y="2002536"/>
            <a:ext cx="7955280" cy="2286000"/>
          </a:xfrm>
          <a:prstGeom prst="rect">
            <a:avLst/>
          </a:prstGeom>
          <a:noFill/>
          <a:ln/>
        </p:spPr>
        <p:txBody>
          <a:bodyPr wrap="square" lIns="0" tIns="0" rIns="0" bIns="0" rtlCol="0" anchor="ctr"/>
          <a:lstStyle/>
          <a:p>
            <a:pPr marL="0" indent="0">
              <a:lnSpc>
                <a:spcPct val="105000"/>
              </a:lnSpc>
              <a:buNone/>
            </a:pPr>
            <a:r>
              <a:rPr lang="en-US" sz="4200" b="1" dirty="0">
                <a:solidFill>
                  <a:srgbClr val="FFFFFF"/>
                </a:solidFill>
                <a:latin typeface="Georgia" pitchFamily="34" charset="0"/>
                <a:ea typeface="Georgia" pitchFamily="34" charset="-122"/>
                <a:cs typeface="Georgia" pitchFamily="34" charset="-120"/>
              </a:rPr>
              <a:t>Fine-tuning de GPT-2 para</a:t>
            </a:r>
            <a:endParaRPr lang="en-US" sz="4200" dirty="0"/>
          </a:p>
          <a:p>
            <a:pPr marL="0" indent="0">
              <a:lnSpc>
                <a:spcPct val="105000"/>
              </a:lnSpc>
              <a:buNone/>
            </a:pPr>
            <a:r>
              <a:rPr lang="en-US" sz="4200" b="1" dirty="0">
                <a:solidFill>
                  <a:srgbClr val="FFFFFF"/>
                </a:solidFill>
                <a:latin typeface="Georgia" pitchFamily="34" charset="0"/>
                <a:ea typeface="Georgia" pitchFamily="34" charset="-122"/>
                <a:cs typeface="Georgia" pitchFamily="34" charset="-120"/>
              </a:rPr>
              <a:t>generación de narrativas</a:t>
            </a:r>
            <a:endParaRPr lang="en-US" sz="4200" dirty="0"/>
          </a:p>
          <a:p>
            <a:pPr marL="0" indent="0">
              <a:lnSpc>
                <a:spcPct val="105000"/>
              </a:lnSpc>
              <a:buNone/>
            </a:pPr>
            <a:r>
              <a:rPr lang="en-US" sz="4200" b="1" dirty="0">
                <a:solidFill>
                  <a:srgbClr val="FFFFFF"/>
                </a:solidFill>
                <a:latin typeface="Georgia" pitchFamily="34" charset="0"/>
                <a:ea typeface="Georgia" pitchFamily="34" charset="-122"/>
                <a:cs typeface="Georgia" pitchFamily="34" charset="-120"/>
              </a:rPr>
              <a:t>financieras</a:t>
            </a:r>
            <a:endParaRPr lang="en-US" sz="4200" dirty="0"/>
          </a:p>
        </p:txBody>
      </p:sp>
      <p:sp>
        <p:nvSpPr>
          <p:cNvPr id="11" name="Shape 9"/>
          <p:cNvSpPr/>
          <p:nvPr/>
        </p:nvSpPr>
        <p:spPr>
          <a:xfrm>
            <a:off x="647395" y="4664647"/>
            <a:ext cx="2743200" cy="0"/>
          </a:xfrm>
          <a:prstGeom prst="line">
            <a:avLst/>
          </a:prstGeom>
          <a:noFill/>
          <a:ln w="25400">
            <a:solidFill>
              <a:srgbClr val="2A7F8C"/>
            </a:solidFill>
            <a:prstDash val="solid"/>
          </a:ln>
        </p:spPr>
      </p:sp>
      <p:sp>
        <p:nvSpPr>
          <p:cNvPr id="12" name="Text 10"/>
          <p:cNvSpPr/>
          <p:nvPr/>
        </p:nvSpPr>
        <p:spPr>
          <a:xfrm>
            <a:off x="647395" y="4951044"/>
            <a:ext cx="7589520" cy="1005840"/>
          </a:xfrm>
          <a:prstGeom prst="rect">
            <a:avLst/>
          </a:prstGeom>
          <a:noFill/>
          <a:ln/>
        </p:spPr>
        <p:txBody>
          <a:bodyPr wrap="square" lIns="0" tIns="0" rIns="0" bIns="0" rtlCol="0" anchor="ctr"/>
          <a:lstStyle/>
          <a:p>
            <a:pPr marL="0" indent="0">
              <a:lnSpc>
                <a:spcPct val="125000"/>
              </a:lnSpc>
              <a:buNone/>
            </a:pPr>
            <a:r>
              <a:rPr lang="en-US" sz="1300" dirty="0">
                <a:solidFill>
                  <a:srgbClr val="C2CEDF"/>
                </a:solidFill>
                <a:latin typeface="Calibri" pitchFamily="34" charset="0"/>
                <a:ea typeface="Calibri" pitchFamily="34" charset="-122"/>
                <a:cs typeface="Calibri" pitchFamily="34" charset="-120"/>
              </a:rPr>
              <a:t>Un pipeline de NLP generativo aplicado a finanzas: dado un contexto financiero previo, adaptamos un modelo de lenguaje causal para producir la narrativa del día siguiente y la evaluamos de forma crítica.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442093"/>
            <a:ext cx="10332720" cy="749808"/>
          </a:xfrm>
          <a:prstGeom prst="rect">
            <a:avLst/>
          </a:prstGeom>
          <a:noFill/>
          <a:ln/>
        </p:spPr>
        <p:txBody>
          <a:bodyPr wrap="square" lIns="0" tIns="0" rIns="0" bIns="0" rtlCol="0" anchor="ctr"/>
          <a:lstStyle/>
          <a:p>
            <a:pPr marL="0" indent="0">
              <a:buNone/>
            </a:pPr>
            <a:r>
              <a:rPr lang="en-US" sz="2800" b="1" dirty="0" err="1">
                <a:solidFill>
                  <a:srgbClr val="23304A"/>
                </a:solidFill>
                <a:latin typeface="Arial" panose="020B0604020202020204" pitchFamily="34" charset="0"/>
                <a:ea typeface="Georgia" pitchFamily="34" charset="-122"/>
                <a:cs typeface="Arial" panose="020B0604020202020204" pitchFamily="34" charset="0"/>
              </a:rPr>
              <a:t>Varías</a:t>
            </a:r>
            <a:r>
              <a:rPr lang="en-US" sz="2800" b="1" dirty="0">
                <a:solidFill>
                  <a:srgbClr val="23304A"/>
                </a:solidFill>
                <a:latin typeface="Arial" panose="020B0604020202020204" pitchFamily="34" charset="0"/>
                <a:ea typeface="Georgia" pitchFamily="34" charset="-122"/>
                <a:cs typeface="Arial" panose="020B0604020202020204" pitchFamily="34" charset="0"/>
              </a:rPr>
              <a:t> </a:t>
            </a:r>
            <a:r>
              <a:rPr lang="en-US" sz="2800" b="1" dirty="0" err="1">
                <a:solidFill>
                  <a:srgbClr val="23304A"/>
                </a:solidFill>
                <a:latin typeface="Arial" panose="020B0604020202020204" pitchFamily="34" charset="0"/>
                <a:ea typeface="Georgia" pitchFamily="34" charset="-122"/>
                <a:cs typeface="Arial" panose="020B0604020202020204" pitchFamily="34" charset="0"/>
              </a:rPr>
              <a:t>capas</a:t>
            </a:r>
            <a:r>
              <a:rPr lang="en-US" sz="2800" b="1" dirty="0">
                <a:solidFill>
                  <a:srgbClr val="23304A"/>
                </a:solidFill>
                <a:latin typeface="Arial" panose="020B0604020202020204" pitchFamily="34" charset="0"/>
                <a:ea typeface="Georgia" pitchFamily="34" charset="-122"/>
                <a:cs typeface="Arial" panose="020B0604020202020204" pitchFamily="34" charset="0"/>
              </a:rPr>
              <a:t> de </a:t>
            </a:r>
            <a:r>
              <a:rPr lang="en-US" sz="2800" b="1" dirty="0" err="1">
                <a:solidFill>
                  <a:srgbClr val="23304A"/>
                </a:solidFill>
                <a:latin typeface="Arial" panose="020B0604020202020204" pitchFamily="34" charset="0"/>
                <a:ea typeface="Georgia" pitchFamily="34" charset="-122"/>
                <a:cs typeface="Arial" panose="020B0604020202020204" pitchFamily="34" charset="0"/>
              </a:rPr>
              <a:t>análisis</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02</a:t>
            </a:r>
            <a:endParaRPr lang="en-US" sz="1500" dirty="0">
              <a:latin typeface="Arial" panose="020B0604020202020204" pitchFamily="34" charset="0"/>
              <a:cs typeface="Arial" panose="020B0604020202020204" pitchFamily="34" charset="0"/>
            </a:endParaRPr>
          </a:p>
        </p:txBody>
      </p:sp>
      <p:sp>
        <p:nvSpPr>
          <p:cNvPr id="5" name="Text 3"/>
          <p:cNvSpPr/>
          <p:nvPr/>
        </p:nvSpPr>
        <p:spPr>
          <a:xfrm>
            <a:off x="640080" y="1362058"/>
            <a:ext cx="10881360" cy="365760"/>
          </a:xfrm>
          <a:prstGeom prst="rect">
            <a:avLst/>
          </a:prstGeom>
          <a:noFill/>
          <a:ln/>
        </p:spPr>
        <p:txBody>
          <a:bodyPr wrap="square" lIns="0" tIns="0" rIns="0" bIns="0" rtlCol="0" anchor="ctr"/>
          <a:lstStyle/>
          <a:p>
            <a:pPr marL="0" indent="0">
              <a:buNone/>
            </a:pPr>
            <a:r>
              <a:rPr lang="en-US" sz="1250" dirty="0">
                <a:solidFill>
                  <a:srgbClr val="667085"/>
                </a:solidFill>
                <a:latin typeface="Arial" panose="020B0604020202020204" pitchFamily="34" charset="0"/>
                <a:ea typeface="Calibri" pitchFamily="34" charset="-122"/>
                <a:cs typeface="Arial" panose="020B0604020202020204" pitchFamily="34" charset="0"/>
              </a:rPr>
              <a:t>La pregunta no es una sola. </a:t>
            </a:r>
            <a:endParaRPr lang="en-US" sz="1250" dirty="0">
              <a:latin typeface="Arial" panose="020B0604020202020204" pitchFamily="34" charset="0"/>
              <a:cs typeface="Arial" panose="020B0604020202020204" pitchFamily="34" charset="0"/>
            </a:endParaRPr>
          </a:p>
        </p:txBody>
      </p:sp>
      <p:sp>
        <p:nvSpPr>
          <p:cNvPr id="6" name="Shape 4"/>
          <p:cNvSpPr/>
          <p:nvPr/>
        </p:nvSpPr>
        <p:spPr>
          <a:xfrm>
            <a:off x="640080" y="2057400"/>
            <a:ext cx="3456432" cy="233172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sp>
      <p:sp>
        <p:nvSpPr>
          <p:cNvPr id="8" name="Shape 6"/>
          <p:cNvSpPr/>
          <p:nvPr/>
        </p:nvSpPr>
        <p:spPr>
          <a:xfrm>
            <a:off x="914400" y="2350008"/>
            <a:ext cx="566928" cy="566928"/>
          </a:xfrm>
          <a:prstGeom prst="ellipse">
            <a:avLst/>
          </a:prstGeom>
          <a:solidFill>
            <a:schemeClr val="tx2">
              <a:lumMod val="75000"/>
            </a:schemeClr>
          </a:solidFill>
          <a:ln w="12700">
            <a:solidFill>
              <a:srgbClr val="333333"/>
            </a:solidFill>
            <a:prstDash val="solid"/>
          </a:ln>
        </p:spPr>
      </p:sp>
      <p:sp>
        <p:nvSpPr>
          <p:cNvPr id="9" name="Text 7"/>
          <p:cNvSpPr/>
          <p:nvPr/>
        </p:nvSpPr>
        <p:spPr>
          <a:xfrm>
            <a:off x="914400" y="235000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Georgia" pitchFamily="34" charset="-122"/>
                <a:cs typeface="Arial" panose="020B0604020202020204" pitchFamily="34" charset="0"/>
              </a:rPr>
              <a:t>1</a:t>
            </a:r>
            <a:endParaRPr lang="en-US" sz="2200" dirty="0">
              <a:latin typeface="Arial" panose="020B0604020202020204" pitchFamily="34" charset="0"/>
              <a:cs typeface="Arial" panose="020B0604020202020204" pitchFamily="34" charset="0"/>
            </a:endParaRPr>
          </a:p>
        </p:txBody>
      </p:sp>
      <p:pic>
        <p:nvPicPr>
          <p:cNvPr id="10" name="Image 0" descr="icon_text.png"/>
          <p:cNvPicPr>
            <a:picLocks noChangeAspect="1"/>
          </p:cNvPicPr>
          <p:nvPr/>
        </p:nvPicPr>
        <p:blipFill>
          <a:blip r:embed="rId3"/>
          <a:stretch>
            <a:fillRect/>
          </a:stretch>
        </p:blipFill>
        <p:spPr>
          <a:xfrm>
            <a:off x="3383280" y="2368296"/>
            <a:ext cx="384048" cy="384048"/>
          </a:xfrm>
          <a:prstGeom prst="rect">
            <a:avLst/>
          </a:prstGeom>
        </p:spPr>
      </p:pic>
      <p:sp>
        <p:nvSpPr>
          <p:cNvPr id="11" name="Text 8"/>
          <p:cNvSpPr/>
          <p:nvPr/>
        </p:nvSpPr>
        <p:spPr>
          <a:xfrm>
            <a:off x="914400" y="3081528"/>
            <a:ext cx="2907792" cy="457200"/>
          </a:xfrm>
          <a:prstGeom prst="rect">
            <a:avLst/>
          </a:prstGeom>
          <a:noFill/>
          <a:ln/>
        </p:spPr>
        <p:txBody>
          <a:bodyPr wrap="square" lIns="0" tIns="0" rIns="0" bIns="0" rtlCol="0" anchor="ctr"/>
          <a:lstStyle/>
          <a:p>
            <a:pPr marL="0" indent="0">
              <a:buNone/>
            </a:pPr>
            <a:r>
              <a:rPr lang="en-US" sz="1500" b="1" dirty="0">
                <a:solidFill>
                  <a:srgbClr val="23304A"/>
                </a:solidFill>
                <a:latin typeface="Arial" panose="020B0604020202020204" pitchFamily="34" charset="0"/>
                <a:ea typeface="Calibri" pitchFamily="34" charset="-122"/>
                <a:cs typeface="Arial" panose="020B0604020202020204" pitchFamily="34" charset="0"/>
              </a:rPr>
              <a:t>Calidad textual</a:t>
            </a:r>
            <a:endParaRPr lang="en-US" sz="1500" dirty="0">
              <a:latin typeface="Arial" panose="020B0604020202020204" pitchFamily="34" charset="0"/>
              <a:cs typeface="Arial" panose="020B0604020202020204" pitchFamily="34" charset="0"/>
            </a:endParaRPr>
          </a:p>
        </p:txBody>
      </p:sp>
      <p:sp>
        <p:nvSpPr>
          <p:cNvPr id="12" name="Text 9"/>
          <p:cNvSpPr/>
          <p:nvPr/>
        </p:nvSpPr>
        <p:spPr>
          <a:xfrm>
            <a:off x="914400" y="3502152"/>
            <a:ext cx="2907792" cy="822960"/>
          </a:xfrm>
          <a:prstGeom prst="rect">
            <a:avLst/>
          </a:prstGeom>
          <a:noFill/>
          <a:ln/>
        </p:spPr>
        <p:txBody>
          <a:bodyPr wrap="square" lIns="0" tIns="0" rIns="0" bIns="0" rtlCol="0" anchor="ctr"/>
          <a:lstStyle/>
          <a:p>
            <a:pPr marL="0" indent="0">
              <a:lnSpc>
                <a:spcPct val="115000"/>
              </a:lnSpc>
              <a:buNone/>
            </a:pPr>
            <a:r>
              <a:rPr lang="en-US" sz="1100" dirty="0">
                <a:solidFill>
                  <a:srgbClr val="667085"/>
                </a:solidFill>
                <a:latin typeface="Arial" panose="020B0604020202020204" pitchFamily="34" charset="0"/>
                <a:ea typeface="Calibri" pitchFamily="34" charset="-122"/>
                <a:cs typeface="Arial" panose="020B0604020202020204" pitchFamily="34" charset="0"/>
              </a:rPr>
              <a:t>¿Puede GPT-2 generar texto financiero plausible? ¿El fine-tuning mejora frente al modelo base?</a:t>
            </a:r>
            <a:endParaRPr lang="en-US" sz="1100" dirty="0">
              <a:latin typeface="Arial" panose="020B0604020202020204" pitchFamily="34" charset="0"/>
              <a:cs typeface="Arial" panose="020B0604020202020204" pitchFamily="34" charset="0"/>
            </a:endParaRPr>
          </a:p>
        </p:txBody>
      </p:sp>
      <p:sp>
        <p:nvSpPr>
          <p:cNvPr id="13" name="Shape 10"/>
          <p:cNvSpPr/>
          <p:nvPr/>
        </p:nvSpPr>
        <p:spPr>
          <a:xfrm>
            <a:off x="4343400" y="2057400"/>
            <a:ext cx="3456432" cy="233172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sp>
      <p:sp>
        <p:nvSpPr>
          <p:cNvPr id="15" name="Shape 12"/>
          <p:cNvSpPr/>
          <p:nvPr/>
        </p:nvSpPr>
        <p:spPr>
          <a:xfrm>
            <a:off x="4617720" y="2350008"/>
            <a:ext cx="566928" cy="566928"/>
          </a:xfrm>
          <a:prstGeom prst="ellipse">
            <a:avLst/>
          </a:prstGeom>
          <a:solidFill>
            <a:srgbClr val="2A7F8C"/>
          </a:solidFill>
          <a:ln w="12700">
            <a:solidFill>
              <a:srgbClr val="333333"/>
            </a:solidFill>
            <a:prstDash val="solid"/>
          </a:ln>
        </p:spPr>
      </p:sp>
      <p:sp>
        <p:nvSpPr>
          <p:cNvPr id="16" name="Text 13"/>
          <p:cNvSpPr/>
          <p:nvPr/>
        </p:nvSpPr>
        <p:spPr>
          <a:xfrm>
            <a:off x="4617720" y="2350008"/>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Georgia" pitchFamily="34" charset="-122"/>
                <a:cs typeface="Arial" panose="020B0604020202020204" pitchFamily="34" charset="0"/>
              </a:rPr>
              <a:t>2</a:t>
            </a:r>
            <a:endParaRPr lang="en-US" sz="2200" dirty="0">
              <a:latin typeface="Arial" panose="020B0604020202020204" pitchFamily="34" charset="0"/>
              <a:cs typeface="Arial" panose="020B0604020202020204" pitchFamily="34" charset="0"/>
            </a:endParaRPr>
          </a:p>
        </p:txBody>
      </p:sp>
      <p:pic>
        <p:nvPicPr>
          <p:cNvPr id="17" name="Image 1" descr="icon_balance.png"/>
          <p:cNvPicPr>
            <a:picLocks noChangeAspect="1"/>
          </p:cNvPicPr>
          <p:nvPr/>
        </p:nvPicPr>
        <p:blipFill>
          <a:blip r:embed="rId4"/>
          <a:stretch>
            <a:fillRect/>
          </a:stretch>
        </p:blipFill>
        <p:spPr>
          <a:xfrm>
            <a:off x="7086600" y="2368296"/>
            <a:ext cx="384048" cy="384048"/>
          </a:xfrm>
          <a:prstGeom prst="rect">
            <a:avLst/>
          </a:prstGeom>
        </p:spPr>
      </p:pic>
      <p:sp>
        <p:nvSpPr>
          <p:cNvPr id="18" name="Text 14"/>
          <p:cNvSpPr/>
          <p:nvPr/>
        </p:nvSpPr>
        <p:spPr>
          <a:xfrm>
            <a:off x="4617720" y="3081528"/>
            <a:ext cx="2907792" cy="457200"/>
          </a:xfrm>
          <a:prstGeom prst="rect">
            <a:avLst/>
          </a:prstGeom>
          <a:noFill/>
          <a:ln/>
        </p:spPr>
        <p:txBody>
          <a:bodyPr wrap="square" lIns="0" tIns="0" rIns="0" bIns="0" rtlCol="0" anchor="ctr"/>
          <a:lstStyle/>
          <a:p>
            <a:pPr marL="0" indent="0">
              <a:buNone/>
            </a:pPr>
            <a:r>
              <a:rPr lang="en-US" sz="1500" b="1" dirty="0">
                <a:solidFill>
                  <a:srgbClr val="23304A"/>
                </a:solidFill>
                <a:latin typeface="Arial" panose="020B0604020202020204" pitchFamily="34" charset="0"/>
                <a:ea typeface="Calibri" pitchFamily="34" charset="-122"/>
                <a:cs typeface="Arial" panose="020B0604020202020204" pitchFamily="34" charset="0"/>
              </a:rPr>
              <a:t>Alineación semántica</a:t>
            </a:r>
            <a:endParaRPr lang="en-US" sz="1500" dirty="0">
              <a:latin typeface="Arial" panose="020B0604020202020204" pitchFamily="34" charset="0"/>
              <a:cs typeface="Arial" panose="020B0604020202020204" pitchFamily="34" charset="0"/>
            </a:endParaRPr>
          </a:p>
        </p:txBody>
      </p:sp>
      <p:sp>
        <p:nvSpPr>
          <p:cNvPr id="19" name="Text 15"/>
          <p:cNvSpPr/>
          <p:nvPr/>
        </p:nvSpPr>
        <p:spPr>
          <a:xfrm>
            <a:off x="4617720" y="3502152"/>
            <a:ext cx="2907792" cy="822960"/>
          </a:xfrm>
          <a:prstGeom prst="rect">
            <a:avLst/>
          </a:prstGeom>
          <a:noFill/>
          <a:ln/>
        </p:spPr>
        <p:txBody>
          <a:bodyPr wrap="square" lIns="0" tIns="0" rIns="0" bIns="0" rtlCol="0" anchor="ctr"/>
          <a:lstStyle/>
          <a:p>
            <a:pPr marL="0" indent="0">
              <a:lnSpc>
                <a:spcPct val="115000"/>
              </a:lnSpc>
              <a:buNone/>
            </a:pPr>
            <a:r>
              <a:rPr lang="en-US" sz="1100" dirty="0">
                <a:solidFill>
                  <a:srgbClr val="667085"/>
                </a:solidFill>
                <a:latin typeface="Arial" panose="020B0604020202020204" pitchFamily="34" charset="0"/>
                <a:ea typeface="Calibri" pitchFamily="34" charset="-122"/>
                <a:cs typeface="Arial" panose="020B0604020202020204" pitchFamily="34" charset="0"/>
              </a:rPr>
              <a:t>¿La narrativa generada mantiene un tono y un sentimiento coherentes con la noticia real?</a:t>
            </a:r>
            <a:endParaRPr lang="en-US" sz="1100" dirty="0">
              <a:latin typeface="Arial" panose="020B0604020202020204" pitchFamily="34" charset="0"/>
              <a:cs typeface="Arial" panose="020B0604020202020204" pitchFamily="34" charset="0"/>
            </a:endParaRPr>
          </a:p>
        </p:txBody>
      </p:sp>
      <p:sp>
        <p:nvSpPr>
          <p:cNvPr id="20" name="Shape 16"/>
          <p:cNvSpPr/>
          <p:nvPr/>
        </p:nvSpPr>
        <p:spPr>
          <a:xfrm>
            <a:off x="8046720" y="2057400"/>
            <a:ext cx="3456432" cy="233172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sp>
      <p:sp>
        <p:nvSpPr>
          <p:cNvPr id="22" name="Shape 18"/>
          <p:cNvSpPr/>
          <p:nvPr/>
        </p:nvSpPr>
        <p:spPr>
          <a:xfrm>
            <a:off x="8321040" y="2350008"/>
            <a:ext cx="566928" cy="566928"/>
          </a:xfrm>
          <a:prstGeom prst="ellipse">
            <a:avLst/>
          </a:prstGeom>
          <a:solidFill>
            <a:schemeClr val="tx2">
              <a:lumMod val="40000"/>
              <a:lumOff val="60000"/>
            </a:schemeClr>
          </a:solidFill>
          <a:ln w="12700">
            <a:solidFill>
              <a:srgbClr val="333333"/>
            </a:solidFill>
            <a:prstDash val="solid"/>
          </a:ln>
        </p:spPr>
      </p:sp>
      <p:sp>
        <p:nvSpPr>
          <p:cNvPr id="23" name="Text 19"/>
          <p:cNvSpPr/>
          <p:nvPr/>
        </p:nvSpPr>
        <p:spPr>
          <a:xfrm>
            <a:off x="8323823" y="2347424"/>
            <a:ext cx="566928" cy="566928"/>
          </a:xfrm>
          <a:prstGeom prst="rect">
            <a:avLst/>
          </a:prstGeom>
          <a:noFill/>
          <a:ln/>
        </p:spPr>
        <p:txBody>
          <a:bodyPr wrap="square" lIns="0" tIns="0" rIns="0" bIns="0" rtlCol="0" anchor="ctr"/>
          <a:lstStyle/>
          <a:p>
            <a:pPr marL="0" indent="0" algn="ctr">
              <a:buNone/>
            </a:pPr>
            <a:r>
              <a:rPr lang="en-US" sz="2200" b="1" dirty="0">
                <a:solidFill>
                  <a:srgbClr val="FFFFFF"/>
                </a:solidFill>
                <a:latin typeface="Arial" panose="020B0604020202020204" pitchFamily="34" charset="0"/>
                <a:ea typeface="Georgia" pitchFamily="34" charset="-122"/>
                <a:cs typeface="Arial" panose="020B0604020202020204" pitchFamily="34" charset="0"/>
              </a:rPr>
              <a:t>3</a:t>
            </a:r>
            <a:endParaRPr lang="en-US" sz="2200" dirty="0">
              <a:latin typeface="Arial" panose="020B0604020202020204" pitchFamily="34" charset="0"/>
              <a:cs typeface="Arial" panose="020B0604020202020204" pitchFamily="34" charset="0"/>
            </a:endParaRPr>
          </a:p>
        </p:txBody>
      </p:sp>
      <p:pic>
        <p:nvPicPr>
          <p:cNvPr id="24" name="Image 2" descr="icon_chart.png"/>
          <p:cNvPicPr>
            <a:picLocks noChangeAspect="1"/>
          </p:cNvPicPr>
          <p:nvPr/>
        </p:nvPicPr>
        <p:blipFill>
          <a:blip r:embed="rId5"/>
          <a:stretch>
            <a:fillRect/>
          </a:stretch>
        </p:blipFill>
        <p:spPr>
          <a:xfrm>
            <a:off x="10789920" y="2368296"/>
            <a:ext cx="384048" cy="384048"/>
          </a:xfrm>
          <a:prstGeom prst="rect">
            <a:avLst/>
          </a:prstGeom>
        </p:spPr>
      </p:pic>
      <p:sp>
        <p:nvSpPr>
          <p:cNvPr id="25" name="Text 20"/>
          <p:cNvSpPr/>
          <p:nvPr/>
        </p:nvSpPr>
        <p:spPr>
          <a:xfrm>
            <a:off x="8321040" y="3081528"/>
            <a:ext cx="2907792" cy="457200"/>
          </a:xfrm>
          <a:prstGeom prst="rect">
            <a:avLst/>
          </a:prstGeom>
          <a:noFill/>
          <a:ln/>
        </p:spPr>
        <p:txBody>
          <a:bodyPr wrap="square" lIns="0" tIns="0" rIns="0" bIns="0" rtlCol="0" anchor="ctr"/>
          <a:lstStyle/>
          <a:p>
            <a:pPr marL="0" indent="0">
              <a:buNone/>
            </a:pPr>
            <a:r>
              <a:rPr lang="en-US" sz="1500" b="1" dirty="0">
                <a:solidFill>
                  <a:srgbClr val="23304A"/>
                </a:solidFill>
                <a:latin typeface="Arial" panose="020B0604020202020204" pitchFamily="34" charset="0"/>
                <a:ea typeface="Calibri" pitchFamily="34" charset="-122"/>
                <a:cs typeface="Arial" panose="020B0604020202020204" pitchFamily="34" charset="0"/>
              </a:rPr>
              <a:t>Utilidad downstream</a:t>
            </a:r>
            <a:endParaRPr lang="en-US" sz="1500" dirty="0">
              <a:latin typeface="Arial" panose="020B0604020202020204" pitchFamily="34" charset="0"/>
              <a:cs typeface="Arial" panose="020B0604020202020204" pitchFamily="34" charset="0"/>
            </a:endParaRPr>
          </a:p>
        </p:txBody>
      </p:sp>
      <p:sp>
        <p:nvSpPr>
          <p:cNvPr id="26" name="Text 21"/>
          <p:cNvSpPr/>
          <p:nvPr/>
        </p:nvSpPr>
        <p:spPr>
          <a:xfrm>
            <a:off x="8321040" y="3502152"/>
            <a:ext cx="2907792" cy="822960"/>
          </a:xfrm>
          <a:prstGeom prst="rect">
            <a:avLst/>
          </a:prstGeom>
          <a:noFill/>
          <a:ln/>
        </p:spPr>
        <p:txBody>
          <a:bodyPr wrap="square" lIns="0" tIns="0" rIns="0" bIns="0" rtlCol="0" anchor="ctr"/>
          <a:lstStyle/>
          <a:p>
            <a:pPr marL="0" indent="0">
              <a:lnSpc>
                <a:spcPct val="115000"/>
              </a:lnSpc>
              <a:buNone/>
            </a:pPr>
            <a:r>
              <a:rPr lang="en-US" sz="1100" dirty="0">
                <a:solidFill>
                  <a:srgbClr val="667085"/>
                </a:solidFill>
                <a:latin typeface="Arial" panose="020B0604020202020204" pitchFamily="34" charset="0"/>
                <a:ea typeface="Calibri" pitchFamily="34" charset="-122"/>
                <a:cs typeface="Arial" panose="020B0604020202020204" pitchFamily="34" charset="0"/>
              </a:rPr>
              <a:t>¿La señal que aparece en la narrativa se relaciona con la dirección real del activo?</a:t>
            </a:r>
            <a:endParaRPr lang="en-US" sz="1100" dirty="0">
              <a:latin typeface="Arial" panose="020B0604020202020204" pitchFamily="34" charset="0"/>
              <a:cs typeface="Arial" panose="020B0604020202020204" pitchFamily="34" charset="0"/>
            </a:endParaRPr>
          </a:p>
        </p:txBody>
      </p:sp>
      <p:sp>
        <p:nvSpPr>
          <p:cNvPr id="27" name="Shape 22"/>
          <p:cNvSpPr/>
          <p:nvPr/>
        </p:nvSpPr>
        <p:spPr>
          <a:xfrm>
            <a:off x="640080" y="4709160"/>
            <a:ext cx="10908792" cy="960120"/>
          </a:xfrm>
          <a:prstGeom prst="rect">
            <a:avLst/>
          </a:prstGeom>
          <a:solidFill>
            <a:srgbClr val="1E2A4A"/>
          </a:solidFill>
          <a:ln w="12700">
            <a:solidFill>
              <a:srgbClr val="333333"/>
            </a:solidFill>
            <a:prstDash val="solid"/>
          </a:ln>
          <a:effectLst>
            <a:outerShdw blurRad="114300" dist="38100" dir="8100000" algn="bl" rotWithShape="0">
              <a:srgbClr val="1E2A4A">
                <a:alpha val="14000"/>
              </a:srgbClr>
            </a:outerShdw>
          </a:effectLst>
        </p:spPr>
      </p:sp>
      <p:sp>
        <p:nvSpPr>
          <p:cNvPr id="29" name="Text 23"/>
          <p:cNvSpPr/>
          <p:nvPr/>
        </p:nvSpPr>
        <p:spPr>
          <a:xfrm>
            <a:off x="914400" y="4709160"/>
            <a:ext cx="10378440" cy="960120"/>
          </a:xfrm>
          <a:prstGeom prst="rect">
            <a:avLst/>
          </a:prstGeom>
          <a:noFill/>
          <a:ln/>
        </p:spPr>
        <p:txBody>
          <a:bodyPr wrap="square" lIns="0" tIns="0" rIns="0" bIns="0" rtlCol="0" anchor="ctr"/>
          <a:lstStyle/>
          <a:p>
            <a:pPr marL="0" indent="0">
              <a:lnSpc>
                <a:spcPct val="115000"/>
              </a:lnSpc>
              <a:buNone/>
            </a:pPr>
            <a:r>
              <a:rPr lang="en-US" sz="1150" b="1" dirty="0">
                <a:solidFill>
                  <a:srgbClr val="C8923B"/>
                </a:solidFill>
                <a:latin typeface="Arial" panose="020B0604020202020204" pitchFamily="34" charset="0"/>
                <a:ea typeface="Calibri" pitchFamily="34" charset="-122"/>
                <a:cs typeface="Arial" panose="020B0604020202020204" pitchFamily="34" charset="0"/>
              </a:rPr>
              <a:t>Idea central:  </a:t>
            </a:r>
            <a:r>
              <a:rPr lang="en-US" sz="1150" dirty="0">
                <a:solidFill>
                  <a:srgbClr val="DCE4F0"/>
                </a:solidFill>
                <a:latin typeface="Arial" panose="020B0604020202020204" pitchFamily="34" charset="0"/>
                <a:ea typeface="Calibri" pitchFamily="34" charset="-122"/>
                <a:cs typeface="Arial" panose="020B0604020202020204" pitchFamily="34" charset="0"/>
              </a:rPr>
              <a:t>una respuesta puede ser positiva en una capa y negativa en otra. Un texto puede sonar financiero sin tener el sentimiento correcto, o acertar una dirección por sesgo de datos generando una narrativa pobre.</a:t>
            </a:r>
            <a:endParaRPr lang="en-US" sz="1150" dirty="0">
              <a:latin typeface="Arial" panose="020B0604020202020204" pitchFamily="34" charset="0"/>
              <a:cs typeface="Arial" panose="020B0604020202020204" pitchFamily="34" charset="0"/>
            </a:endParaRPr>
          </a:p>
        </p:txBody>
      </p:sp>
      <p:sp>
        <p:nvSpPr>
          <p:cNvPr id="32" name="Text 7">
            <a:extLst>
              <a:ext uri="{FF2B5EF4-FFF2-40B4-BE49-F238E27FC236}">
                <a16:creationId xmlns:a16="http://schemas.microsoft.com/office/drawing/2014/main" id="{D8980A2B-3426-6159-48E5-1951E46DF5AE}"/>
              </a:ext>
            </a:extLst>
          </p:cNvPr>
          <p:cNvSpPr/>
          <p:nvPr/>
        </p:nvSpPr>
        <p:spPr>
          <a:xfrm>
            <a:off x="6947452" y="5943202"/>
            <a:ext cx="4573988" cy="795528"/>
          </a:xfrm>
          <a:prstGeom prst="rect">
            <a:avLst/>
          </a:prstGeom>
          <a:noFill/>
          <a:ln/>
        </p:spPr>
        <p:txBody>
          <a:bodyPr wrap="square" lIns="0" tIns="0" rIns="0" bIns="0" rtlCol="0" anchor="ctr"/>
          <a:lstStyle/>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200" dirty="0">
              <a:solidFill>
                <a:schemeClr val="bg2">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488608"/>
            <a:ext cx="10863072"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Conceptos de NLP utilizados</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03</a:t>
            </a:r>
            <a:endParaRPr lang="en-US" sz="1500" dirty="0">
              <a:latin typeface="Arial" panose="020B0604020202020204" pitchFamily="34" charset="0"/>
              <a:cs typeface="Arial" panose="020B0604020202020204" pitchFamily="34" charset="0"/>
            </a:endParaRPr>
          </a:p>
        </p:txBody>
      </p:sp>
      <p:sp>
        <p:nvSpPr>
          <p:cNvPr id="5" name="Text 3"/>
          <p:cNvSpPr/>
          <p:nvPr/>
        </p:nvSpPr>
        <p:spPr>
          <a:xfrm>
            <a:off x="640080" y="1350927"/>
            <a:ext cx="10881360" cy="365760"/>
          </a:xfrm>
          <a:prstGeom prst="rect">
            <a:avLst/>
          </a:prstGeom>
          <a:noFill/>
          <a:ln/>
        </p:spPr>
        <p:txBody>
          <a:bodyPr wrap="square" lIns="0" tIns="0" rIns="0" bIns="0" rtlCol="0" anchor="ctr"/>
          <a:lstStyle/>
          <a:p>
            <a:pPr marL="0" indent="0">
              <a:buNone/>
            </a:pPr>
            <a:r>
              <a:rPr lang="en-US" sz="1250" dirty="0">
                <a:solidFill>
                  <a:srgbClr val="667085"/>
                </a:solidFill>
                <a:latin typeface="Arial" panose="020B0604020202020204" pitchFamily="34" charset="0"/>
                <a:ea typeface="Calibri" pitchFamily="34" charset="-122"/>
                <a:cs typeface="Arial" panose="020B0604020202020204" pitchFamily="34" charset="0"/>
              </a:rPr>
              <a:t>Partimos de GPT-2 preentrenado y lo adaptamos al dominio financiero. El entrenamiento sigue siendo modelado de lenguaje causal.</a:t>
            </a:r>
            <a:endParaRPr lang="en-US" sz="1250" dirty="0">
              <a:latin typeface="Arial" panose="020B0604020202020204" pitchFamily="34" charset="0"/>
              <a:cs typeface="Arial" panose="020B0604020202020204" pitchFamily="34" charset="0"/>
            </a:endParaRPr>
          </a:p>
        </p:txBody>
      </p:sp>
      <p:sp>
        <p:nvSpPr>
          <p:cNvPr id="6" name="Shape 4"/>
          <p:cNvSpPr/>
          <p:nvPr/>
        </p:nvSpPr>
        <p:spPr>
          <a:xfrm>
            <a:off x="640080" y="20574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pic>
        <p:nvPicPr>
          <p:cNvPr id="8" name="Image 0" descr="icon_exchange.png"/>
          <p:cNvPicPr>
            <a:picLocks noChangeAspect="1"/>
          </p:cNvPicPr>
          <p:nvPr/>
        </p:nvPicPr>
        <p:blipFill>
          <a:blip r:embed="rId3"/>
          <a:stretch>
            <a:fillRect/>
          </a:stretch>
        </p:blipFill>
        <p:spPr>
          <a:xfrm>
            <a:off x="841248" y="2258568"/>
            <a:ext cx="310896" cy="310896"/>
          </a:xfrm>
          <a:prstGeom prst="rect">
            <a:avLst/>
          </a:prstGeom>
        </p:spPr>
      </p:pic>
      <p:sp>
        <p:nvSpPr>
          <p:cNvPr id="9" name="Text 6"/>
          <p:cNvSpPr/>
          <p:nvPr/>
        </p:nvSpPr>
        <p:spPr>
          <a:xfrm>
            <a:off x="1243584" y="22128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Transfer learning</a:t>
            </a:r>
            <a:endParaRPr lang="en-US" sz="1350" dirty="0">
              <a:latin typeface="Arial" panose="020B0604020202020204" pitchFamily="34" charset="0"/>
              <a:cs typeface="Arial" panose="020B0604020202020204" pitchFamily="34" charset="0"/>
            </a:endParaRPr>
          </a:p>
        </p:txBody>
      </p:sp>
      <p:sp>
        <p:nvSpPr>
          <p:cNvPr id="10" name="Text 7"/>
          <p:cNvSpPr/>
          <p:nvPr/>
        </p:nvSpPr>
        <p:spPr>
          <a:xfrm>
            <a:off x="859536" y="26609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Reutilizamos el conocimiento general del lenguaje aprendido en preentrenamiento.</a:t>
            </a:r>
            <a:endParaRPr lang="en-US" sz="1080" dirty="0">
              <a:latin typeface="Arial" panose="020B0604020202020204" pitchFamily="34" charset="0"/>
              <a:cs typeface="Arial" panose="020B0604020202020204" pitchFamily="34" charset="0"/>
            </a:endParaRPr>
          </a:p>
        </p:txBody>
      </p:sp>
      <p:sp>
        <p:nvSpPr>
          <p:cNvPr id="11" name="Shape 8"/>
          <p:cNvSpPr/>
          <p:nvPr/>
        </p:nvSpPr>
        <p:spPr>
          <a:xfrm>
            <a:off x="4343400" y="20574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pic>
        <p:nvPicPr>
          <p:cNvPr id="13" name="Image 1" descr="icon_brain.png"/>
          <p:cNvPicPr>
            <a:picLocks noChangeAspect="1"/>
          </p:cNvPicPr>
          <p:nvPr/>
        </p:nvPicPr>
        <p:blipFill>
          <a:blip r:embed="rId4"/>
          <a:stretch>
            <a:fillRect/>
          </a:stretch>
        </p:blipFill>
        <p:spPr>
          <a:xfrm>
            <a:off x="4544568" y="2258568"/>
            <a:ext cx="310896" cy="310896"/>
          </a:xfrm>
          <a:prstGeom prst="rect">
            <a:avLst/>
          </a:prstGeom>
        </p:spPr>
      </p:pic>
      <p:sp>
        <p:nvSpPr>
          <p:cNvPr id="14" name="Text 10"/>
          <p:cNvSpPr/>
          <p:nvPr/>
        </p:nvSpPr>
        <p:spPr>
          <a:xfrm>
            <a:off x="4946904" y="22128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GPT-2 / LM causal</a:t>
            </a:r>
            <a:endParaRPr lang="en-US" sz="1350" dirty="0">
              <a:latin typeface="Arial" panose="020B0604020202020204" pitchFamily="34" charset="0"/>
              <a:cs typeface="Arial" panose="020B0604020202020204" pitchFamily="34" charset="0"/>
            </a:endParaRPr>
          </a:p>
        </p:txBody>
      </p:sp>
      <p:sp>
        <p:nvSpPr>
          <p:cNvPr id="15" name="Text 11"/>
          <p:cNvSpPr/>
          <p:nvPr/>
        </p:nvSpPr>
        <p:spPr>
          <a:xfrm>
            <a:off x="4562856" y="26609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Modelo autoregresivo: predice el siguiente token condicionado por los anteriores.</a:t>
            </a:r>
            <a:endParaRPr lang="en-US" sz="1080" dirty="0">
              <a:latin typeface="Arial" panose="020B0604020202020204" pitchFamily="34" charset="0"/>
              <a:cs typeface="Arial" panose="020B0604020202020204" pitchFamily="34" charset="0"/>
            </a:endParaRPr>
          </a:p>
        </p:txBody>
      </p:sp>
      <p:sp>
        <p:nvSpPr>
          <p:cNvPr id="16" name="Shape 12"/>
          <p:cNvSpPr/>
          <p:nvPr/>
        </p:nvSpPr>
        <p:spPr>
          <a:xfrm>
            <a:off x="8046720" y="20574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pic>
        <p:nvPicPr>
          <p:cNvPr id="18" name="Image 2" descr="icon_code.png"/>
          <p:cNvPicPr>
            <a:picLocks noChangeAspect="1"/>
          </p:cNvPicPr>
          <p:nvPr/>
        </p:nvPicPr>
        <p:blipFill>
          <a:blip r:embed="rId5"/>
          <a:stretch>
            <a:fillRect/>
          </a:stretch>
        </p:blipFill>
        <p:spPr>
          <a:xfrm>
            <a:off x="8247888" y="2258568"/>
            <a:ext cx="310896" cy="310896"/>
          </a:xfrm>
          <a:prstGeom prst="rect">
            <a:avLst/>
          </a:prstGeom>
        </p:spPr>
      </p:pic>
      <p:sp>
        <p:nvSpPr>
          <p:cNvPr id="19" name="Text 14"/>
          <p:cNvSpPr/>
          <p:nvPr/>
        </p:nvSpPr>
        <p:spPr>
          <a:xfrm>
            <a:off x="8650224" y="22128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Tokenización subword</a:t>
            </a:r>
            <a:endParaRPr lang="en-US" sz="1350" dirty="0">
              <a:latin typeface="Arial" panose="020B0604020202020204" pitchFamily="34" charset="0"/>
              <a:cs typeface="Arial" panose="020B0604020202020204" pitchFamily="34" charset="0"/>
            </a:endParaRPr>
          </a:p>
        </p:txBody>
      </p:sp>
      <p:sp>
        <p:nvSpPr>
          <p:cNvPr id="20" name="Text 15"/>
          <p:cNvSpPr/>
          <p:nvPr/>
        </p:nvSpPr>
        <p:spPr>
          <a:xfrm>
            <a:off x="8266176" y="26609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El texto se divide en unidades subléxicas, no necesariamente palabras completas.</a:t>
            </a:r>
            <a:endParaRPr lang="en-US" sz="1080" dirty="0">
              <a:latin typeface="Arial" panose="020B0604020202020204" pitchFamily="34" charset="0"/>
              <a:cs typeface="Arial" panose="020B0604020202020204" pitchFamily="34" charset="0"/>
            </a:endParaRPr>
          </a:p>
        </p:txBody>
      </p:sp>
      <p:sp>
        <p:nvSpPr>
          <p:cNvPr id="21" name="Shape 16"/>
          <p:cNvSpPr/>
          <p:nvPr/>
        </p:nvSpPr>
        <p:spPr>
          <a:xfrm>
            <a:off x="640080" y="38862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pic>
        <p:nvPicPr>
          <p:cNvPr id="23" name="Image 3" descr="icon_layers.png"/>
          <p:cNvPicPr>
            <a:picLocks noChangeAspect="1"/>
          </p:cNvPicPr>
          <p:nvPr/>
        </p:nvPicPr>
        <p:blipFill>
          <a:blip r:embed="rId6"/>
          <a:stretch>
            <a:fillRect/>
          </a:stretch>
        </p:blipFill>
        <p:spPr>
          <a:xfrm>
            <a:off x="841248" y="4087368"/>
            <a:ext cx="310896" cy="310896"/>
          </a:xfrm>
          <a:prstGeom prst="rect">
            <a:avLst/>
          </a:prstGeom>
        </p:spPr>
      </p:pic>
      <p:sp>
        <p:nvSpPr>
          <p:cNvPr id="24" name="Text 18"/>
          <p:cNvSpPr/>
          <p:nvPr/>
        </p:nvSpPr>
        <p:spPr>
          <a:xfrm>
            <a:off x="1243584" y="40416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Embeddings contextuales</a:t>
            </a:r>
            <a:endParaRPr lang="en-US" sz="1350" dirty="0">
              <a:latin typeface="Arial" panose="020B0604020202020204" pitchFamily="34" charset="0"/>
              <a:cs typeface="Arial" panose="020B0604020202020204" pitchFamily="34" charset="0"/>
            </a:endParaRPr>
          </a:p>
        </p:txBody>
      </p:sp>
      <p:sp>
        <p:nvSpPr>
          <p:cNvPr id="25" name="Text 19"/>
          <p:cNvSpPr/>
          <p:nvPr/>
        </p:nvSpPr>
        <p:spPr>
          <a:xfrm>
            <a:off x="859536" y="44897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Cada token se representa según su contexto, no de forma fija.</a:t>
            </a:r>
            <a:endParaRPr lang="en-US" sz="1080" dirty="0">
              <a:latin typeface="Arial" panose="020B0604020202020204" pitchFamily="34" charset="0"/>
              <a:cs typeface="Arial" panose="020B0604020202020204" pitchFamily="34" charset="0"/>
            </a:endParaRPr>
          </a:p>
        </p:txBody>
      </p:sp>
      <p:sp>
        <p:nvSpPr>
          <p:cNvPr id="26" name="Shape 20"/>
          <p:cNvSpPr/>
          <p:nvPr/>
        </p:nvSpPr>
        <p:spPr>
          <a:xfrm>
            <a:off x="4343400" y="38862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pic>
        <p:nvPicPr>
          <p:cNvPr id="28" name="Image 4" descr="icon_sliders.png"/>
          <p:cNvPicPr>
            <a:picLocks noChangeAspect="1"/>
          </p:cNvPicPr>
          <p:nvPr/>
        </p:nvPicPr>
        <p:blipFill>
          <a:blip r:embed="rId7"/>
          <a:stretch>
            <a:fillRect/>
          </a:stretch>
        </p:blipFill>
        <p:spPr>
          <a:xfrm>
            <a:off x="4544568" y="4087368"/>
            <a:ext cx="310896" cy="310896"/>
          </a:xfrm>
          <a:prstGeom prst="rect">
            <a:avLst/>
          </a:prstGeom>
        </p:spPr>
      </p:pic>
      <p:sp>
        <p:nvSpPr>
          <p:cNvPr id="29" name="Text 22"/>
          <p:cNvSpPr/>
          <p:nvPr/>
        </p:nvSpPr>
        <p:spPr>
          <a:xfrm>
            <a:off x="4946904" y="40416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Fine-tuning</a:t>
            </a:r>
            <a:endParaRPr lang="en-US" sz="1350" dirty="0">
              <a:latin typeface="Arial" panose="020B0604020202020204" pitchFamily="34" charset="0"/>
              <a:cs typeface="Arial" panose="020B0604020202020204" pitchFamily="34" charset="0"/>
            </a:endParaRPr>
          </a:p>
        </p:txBody>
      </p:sp>
      <p:sp>
        <p:nvSpPr>
          <p:cNvPr id="30" name="Text 23"/>
          <p:cNvSpPr/>
          <p:nvPr/>
        </p:nvSpPr>
        <p:spPr>
          <a:xfrm>
            <a:off x="4562856" y="44897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Ajustamos los pesos del modelo sobre un corpus financiero específico.</a:t>
            </a:r>
            <a:endParaRPr lang="en-US" sz="1080" dirty="0">
              <a:latin typeface="Arial" panose="020B0604020202020204" pitchFamily="34" charset="0"/>
              <a:cs typeface="Arial" panose="020B0604020202020204" pitchFamily="34" charset="0"/>
            </a:endParaRPr>
          </a:p>
        </p:txBody>
      </p:sp>
      <p:sp>
        <p:nvSpPr>
          <p:cNvPr id="31" name="Shape 24"/>
          <p:cNvSpPr/>
          <p:nvPr/>
        </p:nvSpPr>
        <p:spPr>
          <a:xfrm>
            <a:off x="8046720" y="3886200"/>
            <a:ext cx="3456432" cy="15544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pic>
        <p:nvPicPr>
          <p:cNvPr id="33" name="Image 5" descr="icon_search.png"/>
          <p:cNvPicPr>
            <a:picLocks noChangeAspect="1"/>
          </p:cNvPicPr>
          <p:nvPr/>
        </p:nvPicPr>
        <p:blipFill>
          <a:blip r:embed="rId8"/>
          <a:stretch>
            <a:fillRect/>
          </a:stretch>
        </p:blipFill>
        <p:spPr>
          <a:xfrm>
            <a:off x="8247888" y="4087368"/>
            <a:ext cx="310896" cy="310896"/>
          </a:xfrm>
          <a:prstGeom prst="rect">
            <a:avLst/>
          </a:prstGeom>
        </p:spPr>
      </p:pic>
      <p:sp>
        <p:nvSpPr>
          <p:cNvPr id="34" name="Text 26"/>
          <p:cNvSpPr/>
          <p:nvPr/>
        </p:nvSpPr>
        <p:spPr>
          <a:xfrm>
            <a:off x="8650224" y="4041648"/>
            <a:ext cx="2679192" cy="402336"/>
          </a:xfrm>
          <a:prstGeom prst="rect">
            <a:avLst/>
          </a:prstGeom>
          <a:noFill/>
          <a:ln/>
        </p:spPr>
        <p:txBody>
          <a:bodyPr wrap="square" lIns="0" tIns="0" rIns="0" bIns="0" rtlCol="0" anchor="ctr"/>
          <a:lstStyle/>
          <a:p>
            <a:pPr marL="0" indent="0">
              <a:buNone/>
            </a:pPr>
            <a:r>
              <a:rPr lang="en-US" sz="1350" b="1" dirty="0">
                <a:solidFill>
                  <a:srgbClr val="23304A"/>
                </a:solidFill>
                <a:latin typeface="Arial" panose="020B0604020202020204" pitchFamily="34" charset="0"/>
                <a:ea typeface="Calibri" pitchFamily="34" charset="-122"/>
                <a:cs typeface="Arial" panose="020B0604020202020204" pitchFamily="34" charset="0"/>
              </a:rPr>
              <a:t>Evaluación generativa</a:t>
            </a:r>
            <a:endParaRPr lang="en-US" sz="1350" dirty="0">
              <a:latin typeface="Arial" panose="020B0604020202020204" pitchFamily="34" charset="0"/>
              <a:cs typeface="Arial" panose="020B0604020202020204" pitchFamily="34" charset="0"/>
            </a:endParaRPr>
          </a:p>
        </p:txBody>
      </p:sp>
      <p:sp>
        <p:nvSpPr>
          <p:cNvPr id="35" name="Text 27"/>
          <p:cNvSpPr/>
          <p:nvPr/>
        </p:nvSpPr>
        <p:spPr>
          <a:xfrm>
            <a:off x="8266176" y="4489704"/>
            <a:ext cx="3035808" cy="777240"/>
          </a:xfrm>
          <a:prstGeom prst="rect">
            <a:avLst/>
          </a:prstGeom>
          <a:noFill/>
          <a:ln/>
        </p:spPr>
        <p:txBody>
          <a:bodyPr wrap="square" lIns="0" tIns="0" rIns="0" bIns="0" rtlCol="0" anchor="ctr"/>
          <a:lstStyle/>
          <a:p>
            <a:pPr marL="0" indent="0">
              <a:lnSpc>
                <a:spcPct val="105000"/>
              </a:lnSpc>
              <a:buNone/>
            </a:pPr>
            <a:r>
              <a:rPr lang="en-US" sz="1080" dirty="0">
                <a:solidFill>
                  <a:srgbClr val="667085"/>
                </a:solidFill>
                <a:latin typeface="Arial" panose="020B0604020202020204" pitchFamily="34" charset="0"/>
                <a:ea typeface="Calibri" pitchFamily="34" charset="-122"/>
                <a:cs typeface="Arial" panose="020B0604020202020204" pitchFamily="34" charset="0"/>
              </a:rPr>
              <a:t>La calidad de la generación requiere métricas más allá de la pérdida.</a:t>
            </a:r>
            <a:endParaRPr lang="en-US" sz="1080" dirty="0">
              <a:latin typeface="Arial" panose="020B0604020202020204" pitchFamily="34" charset="0"/>
              <a:cs typeface="Arial" panose="020B0604020202020204" pitchFamily="34" charset="0"/>
            </a:endParaRPr>
          </a:p>
        </p:txBody>
      </p:sp>
      <p:sp>
        <p:nvSpPr>
          <p:cNvPr id="37" name="Text 7">
            <a:extLst>
              <a:ext uri="{FF2B5EF4-FFF2-40B4-BE49-F238E27FC236}">
                <a16:creationId xmlns:a16="http://schemas.microsoft.com/office/drawing/2014/main" id="{7111F171-549B-0BDF-D63E-27AB2E910371}"/>
              </a:ext>
            </a:extLst>
          </p:cNvPr>
          <p:cNvSpPr/>
          <p:nvPr/>
        </p:nvSpPr>
        <p:spPr>
          <a:xfrm>
            <a:off x="3749040" y="5943202"/>
            <a:ext cx="7772400" cy="795528"/>
          </a:xfrm>
          <a:prstGeom prst="rect">
            <a:avLst/>
          </a:prstGeom>
          <a:noFill/>
          <a:ln/>
        </p:spPr>
        <p:txBody>
          <a:bodyPr wrap="square" lIns="0" tIns="0" rIns="0" bIns="0" rtlCol="0" anchor="ctr"/>
          <a:lstStyle/>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200" dirty="0">
              <a:solidFill>
                <a:schemeClr val="bg2">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Pipeline</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04</a:t>
            </a:r>
            <a:endParaRPr lang="en-US" sz="1500" dirty="0">
              <a:latin typeface="Arial" panose="020B0604020202020204" pitchFamily="34" charset="0"/>
              <a:cs typeface="Arial" panose="020B0604020202020204" pitchFamily="34" charset="0"/>
            </a:endParaRPr>
          </a:p>
        </p:txBody>
      </p:sp>
      <p:sp>
        <p:nvSpPr>
          <p:cNvPr id="5" name="Shape 3"/>
          <p:cNvSpPr/>
          <p:nvPr/>
        </p:nvSpPr>
        <p:spPr>
          <a:xfrm>
            <a:off x="705460" y="1965960"/>
            <a:ext cx="1591056" cy="214884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sp>
        <p:nvSpPr>
          <p:cNvPr id="6" name="Shape 4"/>
          <p:cNvSpPr/>
          <p:nvPr/>
        </p:nvSpPr>
        <p:spPr>
          <a:xfrm>
            <a:off x="1171804" y="2203704"/>
            <a:ext cx="658368" cy="658368"/>
          </a:xfrm>
          <a:prstGeom prst="ellipse">
            <a:avLst/>
          </a:prstGeom>
          <a:solidFill>
            <a:srgbClr val="EAF1F4"/>
          </a:solidFill>
          <a:ln w="12700">
            <a:solidFill>
              <a:srgbClr val="333333"/>
            </a:solidFill>
            <a:prstDash val="solid"/>
          </a:ln>
        </p:spPr>
      </p:sp>
      <p:pic>
        <p:nvPicPr>
          <p:cNvPr id="7" name="Image 0" descr="icon_table.png"/>
          <p:cNvPicPr>
            <a:picLocks noChangeAspect="1"/>
          </p:cNvPicPr>
          <p:nvPr/>
        </p:nvPicPr>
        <p:blipFill>
          <a:blip r:embed="rId3"/>
          <a:stretch>
            <a:fillRect/>
          </a:stretch>
        </p:blipFill>
        <p:spPr>
          <a:xfrm>
            <a:off x="1308964" y="2340864"/>
            <a:ext cx="384048" cy="384048"/>
          </a:xfrm>
          <a:prstGeom prst="rect">
            <a:avLst/>
          </a:prstGeom>
        </p:spPr>
      </p:pic>
      <p:sp>
        <p:nvSpPr>
          <p:cNvPr id="8" name="Text 5"/>
          <p:cNvSpPr/>
          <p:nvPr/>
        </p:nvSpPr>
        <p:spPr>
          <a:xfrm>
            <a:off x="705460" y="2935224"/>
            <a:ext cx="1591056" cy="237744"/>
          </a:xfrm>
          <a:prstGeom prst="rect">
            <a:avLst/>
          </a:prstGeom>
          <a:noFill/>
          <a:ln/>
        </p:spPr>
        <p:txBody>
          <a:bodyPr wrap="square" lIns="0" tIns="0" rIns="0" bIns="0" rtlCol="0" anchor="ctr"/>
          <a:lstStyle/>
          <a:p>
            <a:pPr marL="0" indent="0" algn="ctr">
              <a:buNone/>
            </a:pPr>
            <a:r>
              <a:rPr lang="en-US" sz="850" b="1" kern="0" spc="150" dirty="0">
                <a:solidFill>
                  <a:srgbClr val="2A7F8C"/>
                </a:solidFill>
                <a:latin typeface="Arial" panose="020B0604020202020204" pitchFamily="34" charset="0"/>
                <a:ea typeface="Calibri" pitchFamily="34" charset="-122"/>
                <a:cs typeface="Arial" panose="020B0604020202020204" pitchFamily="34" charset="0"/>
              </a:rPr>
              <a:t>PASO 1</a:t>
            </a:r>
            <a:endParaRPr lang="en-US" sz="850" dirty="0">
              <a:latin typeface="Arial" panose="020B0604020202020204" pitchFamily="34" charset="0"/>
              <a:cs typeface="Arial" panose="020B0604020202020204" pitchFamily="34" charset="0"/>
            </a:endParaRPr>
          </a:p>
        </p:txBody>
      </p:sp>
      <p:sp>
        <p:nvSpPr>
          <p:cNvPr id="9" name="Text 6"/>
          <p:cNvSpPr/>
          <p:nvPr/>
        </p:nvSpPr>
        <p:spPr>
          <a:xfrm>
            <a:off x="796900" y="3154680"/>
            <a:ext cx="1408176" cy="365760"/>
          </a:xfrm>
          <a:prstGeom prst="rect">
            <a:avLst/>
          </a:prstGeom>
          <a:noFill/>
          <a:ln/>
        </p:spPr>
        <p:txBody>
          <a:bodyPr wrap="square" lIns="0" tIns="0" rIns="0" bIns="0" rtlCol="0" anchor="ctr"/>
          <a:lstStyle/>
          <a:p>
            <a:pPr marL="0" indent="0" algn="ctr">
              <a:buNone/>
            </a:pPr>
            <a:r>
              <a:rPr lang="en-US" sz="1300" b="1" dirty="0">
                <a:solidFill>
                  <a:srgbClr val="23304A"/>
                </a:solidFill>
                <a:latin typeface="Arial" panose="020B0604020202020204" pitchFamily="34" charset="0"/>
                <a:ea typeface="Calibri" pitchFamily="34" charset="-122"/>
                <a:cs typeface="Arial" panose="020B0604020202020204" pitchFamily="34" charset="0"/>
              </a:rPr>
              <a:t>Datos</a:t>
            </a:r>
            <a:endParaRPr lang="en-US" sz="1300" dirty="0">
              <a:latin typeface="Arial" panose="020B0604020202020204" pitchFamily="34" charset="0"/>
              <a:cs typeface="Arial" panose="020B0604020202020204" pitchFamily="34" charset="0"/>
            </a:endParaRPr>
          </a:p>
        </p:txBody>
      </p:sp>
      <p:sp>
        <p:nvSpPr>
          <p:cNvPr id="10" name="Text 7"/>
          <p:cNvSpPr/>
          <p:nvPr/>
        </p:nvSpPr>
        <p:spPr>
          <a:xfrm>
            <a:off x="824332" y="3502152"/>
            <a:ext cx="1353312" cy="548640"/>
          </a:xfrm>
          <a:prstGeom prst="rect">
            <a:avLst/>
          </a:prstGeom>
          <a:noFill/>
          <a:ln/>
        </p:spPr>
        <p:txBody>
          <a:bodyPr wrap="square" lIns="0" tIns="0" rIns="0" bIns="0" rtlCol="0" anchor="ctr"/>
          <a:lstStyle/>
          <a:p>
            <a:pPr marL="0" indent="0" algn="ctr">
              <a:lnSpc>
                <a:spcPct val="110000"/>
              </a:lnSpc>
              <a:buNone/>
            </a:pPr>
            <a:r>
              <a:rPr lang="en-US" sz="900" dirty="0">
                <a:solidFill>
                  <a:srgbClr val="667085"/>
                </a:solidFill>
                <a:latin typeface="Arial" panose="020B0604020202020204" pitchFamily="34" charset="0"/>
                <a:ea typeface="Calibri" pitchFamily="34" charset="-122"/>
                <a:cs typeface="Arial" panose="020B0604020202020204" pitchFamily="34" charset="0"/>
              </a:rPr>
              <a:t>FNSPID: noticias + datos de mercado</a:t>
            </a:r>
            <a:endParaRPr lang="en-US" sz="900" dirty="0">
              <a:latin typeface="Arial" panose="020B0604020202020204" pitchFamily="34" charset="0"/>
              <a:cs typeface="Arial" panose="020B0604020202020204" pitchFamily="34" charset="0"/>
            </a:endParaRPr>
          </a:p>
        </p:txBody>
      </p:sp>
      <p:pic>
        <p:nvPicPr>
          <p:cNvPr id="11" name="Image 1" descr="icon_arrow_t.png"/>
          <p:cNvPicPr>
            <a:picLocks noChangeAspect="1"/>
          </p:cNvPicPr>
          <p:nvPr/>
        </p:nvPicPr>
        <p:blipFill>
          <a:blip r:embed="rId4"/>
          <a:stretch>
            <a:fillRect/>
          </a:stretch>
        </p:blipFill>
        <p:spPr>
          <a:xfrm>
            <a:off x="2319376" y="2939796"/>
            <a:ext cx="201168" cy="201168"/>
          </a:xfrm>
          <a:prstGeom prst="rect">
            <a:avLst/>
          </a:prstGeom>
        </p:spPr>
      </p:pic>
      <p:sp>
        <p:nvSpPr>
          <p:cNvPr id="12" name="Shape 8"/>
          <p:cNvSpPr/>
          <p:nvPr/>
        </p:nvSpPr>
        <p:spPr>
          <a:xfrm>
            <a:off x="2543404" y="1965960"/>
            <a:ext cx="1591056" cy="214884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sp>
        <p:nvSpPr>
          <p:cNvPr id="13" name="Shape 9"/>
          <p:cNvSpPr/>
          <p:nvPr/>
        </p:nvSpPr>
        <p:spPr>
          <a:xfrm>
            <a:off x="3009748" y="2203704"/>
            <a:ext cx="658368" cy="658368"/>
          </a:xfrm>
          <a:prstGeom prst="ellipse">
            <a:avLst/>
          </a:prstGeom>
          <a:solidFill>
            <a:srgbClr val="EAF1F4"/>
          </a:solidFill>
          <a:ln w="12700">
            <a:solidFill>
              <a:srgbClr val="333333"/>
            </a:solidFill>
            <a:prstDash val="solid"/>
          </a:ln>
        </p:spPr>
      </p:sp>
      <p:pic>
        <p:nvPicPr>
          <p:cNvPr id="14" name="Image 2" descr="icon_code.png"/>
          <p:cNvPicPr>
            <a:picLocks noChangeAspect="1"/>
          </p:cNvPicPr>
          <p:nvPr/>
        </p:nvPicPr>
        <p:blipFill>
          <a:blip r:embed="rId5"/>
          <a:stretch>
            <a:fillRect/>
          </a:stretch>
        </p:blipFill>
        <p:spPr>
          <a:xfrm>
            <a:off x="3146908" y="2340864"/>
            <a:ext cx="384048" cy="384048"/>
          </a:xfrm>
          <a:prstGeom prst="rect">
            <a:avLst/>
          </a:prstGeom>
        </p:spPr>
      </p:pic>
      <p:sp>
        <p:nvSpPr>
          <p:cNvPr id="15" name="Text 10"/>
          <p:cNvSpPr/>
          <p:nvPr/>
        </p:nvSpPr>
        <p:spPr>
          <a:xfrm>
            <a:off x="2543404" y="2935224"/>
            <a:ext cx="1591056" cy="237744"/>
          </a:xfrm>
          <a:prstGeom prst="rect">
            <a:avLst/>
          </a:prstGeom>
          <a:noFill/>
          <a:ln/>
        </p:spPr>
        <p:txBody>
          <a:bodyPr wrap="square" lIns="0" tIns="0" rIns="0" bIns="0" rtlCol="0" anchor="ctr"/>
          <a:lstStyle/>
          <a:p>
            <a:pPr marL="0" indent="0" algn="ctr">
              <a:buNone/>
            </a:pPr>
            <a:r>
              <a:rPr lang="en-US" sz="850" b="1" kern="0" spc="150" dirty="0">
                <a:solidFill>
                  <a:srgbClr val="2A7F8C"/>
                </a:solidFill>
                <a:latin typeface="Arial" panose="020B0604020202020204" pitchFamily="34" charset="0"/>
                <a:ea typeface="Calibri" pitchFamily="34" charset="-122"/>
                <a:cs typeface="Arial" panose="020B0604020202020204" pitchFamily="34" charset="0"/>
              </a:rPr>
              <a:t>PASO 2</a:t>
            </a:r>
            <a:endParaRPr lang="en-US" sz="850" dirty="0">
              <a:latin typeface="Arial" panose="020B0604020202020204" pitchFamily="34" charset="0"/>
              <a:cs typeface="Arial" panose="020B0604020202020204" pitchFamily="34" charset="0"/>
            </a:endParaRPr>
          </a:p>
        </p:txBody>
      </p:sp>
      <p:sp>
        <p:nvSpPr>
          <p:cNvPr id="16" name="Text 11"/>
          <p:cNvSpPr/>
          <p:nvPr/>
        </p:nvSpPr>
        <p:spPr>
          <a:xfrm>
            <a:off x="2634844" y="3154680"/>
            <a:ext cx="1408176" cy="365760"/>
          </a:xfrm>
          <a:prstGeom prst="rect">
            <a:avLst/>
          </a:prstGeom>
          <a:noFill/>
          <a:ln/>
        </p:spPr>
        <p:txBody>
          <a:bodyPr wrap="square" lIns="0" tIns="0" rIns="0" bIns="0" rtlCol="0" anchor="ctr"/>
          <a:lstStyle/>
          <a:p>
            <a:pPr marL="0" indent="0" algn="ctr">
              <a:buNone/>
            </a:pPr>
            <a:r>
              <a:rPr lang="en-US" sz="1300" b="1" dirty="0">
                <a:solidFill>
                  <a:srgbClr val="23304A"/>
                </a:solidFill>
                <a:latin typeface="Arial" panose="020B0604020202020204" pitchFamily="34" charset="0"/>
                <a:ea typeface="Calibri" pitchFamily="34" charset="-122"/>
                <a:cs typeface="Arial" panose="020B0604020202020204" pitchFamily="34" charset="0"/>
              </a:rPr>
              <a:t>Prompts</a:t>
            </a:r>
            <a:endParaRPr lang="en-US" sz="1300" dirty="0">
              <a:latin typeface="Arial" panose="020B0604020202020204" pitchFamily="34" charset="0"/>
              <a:cs typeface="Arial" panose="020B0604020202020204" pitchFamily="34" charset="0"/>
            </a:endParaRPr>
          </a:p>
        </p:txBody>
      </p:sp>
      <p:sp>
        <p:nvSpPr>
          <p:cNvPr id="17" name="Text 12"/>
          <p:cNvSpPr/>
          <p:nvPr/>
        </p:nvSpPr>
        <p:spPr>
          <a:xfrm>
            <a:off x="2662276" y="3502152"/>
            <a:ext cx="1353312" cy="548640"/>
          </a:xfrm>
          <a:prstGeom prst="rect">
            <a:avLst/>
          </a:prstGeom>
          <a:noFill/>
          <a:ln/>
        </p:spPr>
        <p:txBody>
          <a:bodyPr wrap="square" lIns="0" tIns="0" rIns="0" bIns="0" rtlCol="0" anchor="ctr"/>
          <a:lstStyle/>
          <a:p>
            <a:pPr marL="0" indent="0" algn="ctr">
              <a:lnSpc>
                <a:spcPct val="110000"/>
              </a:lnSpc>
              <a:buNone/>
            </a:pPr>
            <a:r>
              <a:rPr lang="en-US" sz="900" dirty="0">
                <a:solidFill>
                  <a:srgbClr val="667085"/>
                </a:solidFill>
                <a:latin typeface="Arial" panose="020B0604020202020204" pitchFamily="34" charset="0"/>
                <a:ea typeface="Calibri" pitchFamily="34" charset="-122"/>
                <a:cs typeface="Arial" panose="020B0604020202020204" pitchFamily="34" charset="0"/>
              </a:rPr>
              <a:t>Ventana de contexto por ticker y fecha</a:t>
            </a:r>
            <a:endParaRPr lang="en-US" sz="900" dirty="0">
              <a:latin typeface="Arial" panose="020B0604020202020204" pitchFamily="34" charset="0"/>
              <a:cs typeface="Arial" panose="020B0604020202020204" pitchFamily="34" charset="0"/>
            </a:endParaRPr>
          </a:p>
        </p:txBody>
      </p:sp>
      <p:pic>
        <p:nvPicPr>
          <p:cNvPr id="18" name="Image 3" descr="icon_arrow_t.png"/>
          <p:cNvPicPr>
            <a:picLocks noChangeAspect="1"/>
          </p:cNvPicPr>
          <p:nvPr/>
        </p:nvPicPr>
        <p:blipFill>
          <a:blip r:embed="rId4"/>
          <a:stretch>
            <a:fillRect/>
          </a:stretch>
        </p:blipFill>
        <p:spPr>
          <a:xfrm>
            <a:off x="4157320" y="2939796"/>
            <a:ext cx="201168" cy="201168"/>
          </a:xfrm>
          <a:prstGeom prst="rect">
            <a:avLst/>
          </a:prstGeom>
        </p:spPr>
      </p:pic>
      <p:sp>
        <p:nvSpPr>
          <p:cNvPr id="19" name="Shape 13"/>
          <p:cNvSpPr/>
          <p:nvPr/>
        </p:nvSpPr>
        <p:spPr>
          <a:xfrm>
            <a:off x="4381348" y="1965960"/>
            <a:ext cx="1591056" cy="214884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sp>
        <p:nvSpPr>
          <p:cNvPr id="20" name="Shape 14"/>
          <p:cNvSpPr/>
          <p:nvPr/>
        </p:nvSpPr>
        <p:spPr>
          <a:xfrm>
            <a:off x="4847692" y="2203704"/>
            <a:ext cx="658368" cy="658368"/>
          </a:xfrm>
          <a:prstGeom prst="ellipse">
            <a:avLst/>
          </a:prstGeom>
          <a:solidFill>
            <a:srgbClr val="EAF1F4"/>
          </a:solidFill>
          <a:ln w="12700">
            <a:solidFill>
              <a:srgbClr val="333333"/>
            </a:solidFill>
            <a:prstDash val="solid"/>
          </a:ln>
        </p:spPr>
      </p:sp>
      <p:pic>
        <p:nvPicPr>
          <p:cNvPr id="21" name="Image 4" descr="icon_wave.png"/>
          <p:cNvPicPr>
            <a:picLocks noChangeAspect="1"/>
          </p:cNvPicPr>
          <p:nvPr/>
        </p:nvPicPr>
        <p:blipFill>
          <a:blip r:embed="rId6"/>
          <a:stretch>
            <a:fillRect/>
          </a:stretch>
        </p:blipFill>
        <p:spPr>
          <a:xfrm>
            <a:off x="4984852" y="2340864"/>
            <a:ext cx="384048" cy="384048"/>
          </a:xfrm>
          <a:prstGeom prst="rect">
            <a:avLst/>
          </a:prstGeom>
        </p:spPr>
      </p:pic>
      <p:sp>
        <p:nvSpPr>
          <p:cNvPr id="22" name="Text 15"/>
          <p:cNvSpPr/>
          <p:nvPr/>
        </p:nvSpPr>
        <p:spPr>
          <a:xfrm>
            <a:off x="4381348" y="2935224"/>
            <a:ext cx="1591056" cy="237744"/>
          </a:xfrm>
          <a:prstGeom prst="rect">
            <a:avLst/>
          </a:prstGeom>
          <a:noFill/>
          <a:ln/>
        </p:spPr>
        <p:txBody>
          <a:bodyPr wrap="square" lIns="0" tIns="0" rIns="0" bIns="0" rtlCol="0" anchor="ctr"/>
          <a:lstStyle/>
          <a:p>
            <a:pPr marL="0" indent="0" algn="ctr">
              <a:buNone/>
            </a:pPr>
            <a:r>
              <a:rPr lang="en-US" sz="850" b="1" kern="0" spc="150" dirty="0">
                <a:solidFill>
                  <a:srgbClr val="2A7F8C"/>
                </a:solidFill>
                <a:latin typeface="Arial" panose="020B0604020202020204" pitchFamily="34" charset="0"/>
                <a:ea typeface="Calibri" pitchFamily="34" charset="-122"/>
                <a:cs typeface="Arial" panose="020B0604020202020204" pitchFamily="34" charset="0"/>
              </a:rPr>
              <a:t>PASO 3</a:t>
            </a:r>
            <a:endParaRPr lang="en-US" sz="850" dirty="0">
              <a:latin typeface="Arial" panose="020B0604020202020204" pitchFamily="34" charset="0"/>
              <a:cs typeface="Arial" panose="020B0604020202020204" pitchFamily="34" charset="0"/>
            </a:endParaRPr>
          </a:p>
        </p:txBody>
      </p:sp>
      <p:sp>
        <p:nvSpPr>
          <p:cNvPr id="23" name="Text 16"/>
          <p:cNvSpPr/>
          <p:nvPr/>
        </p:nvSpPr>
        <p:spPr>
          <a:xfrm>
            <a:off x="4472788" y="3154680"/>
            <a:ext cx="1408176" cy="365760"/>
          </a:xfrm>
          <a:prstGeom prst="rect">
            <a:avLst/>
          </a:prstGeom>
          <a:noFill/>
          <a:ln/>
        </p:spPr>
        <p:txBody>
          <a:bodyPr wrap="square" lIns="0" tIns="0" rIns="0" bIns="0" rtlCol="0" anchor="ctr"/>
          <a:lstStyle/>
          <a:p>
            <a:pPr marL="0" indent="0" algn="ctr">
              <a:buNone/>
            </a:pPr>
            <a:r>
              <a:rPr lang="en-US" sz="1300" b="1" dirty="0">
                <a:solidFill>
                  <a:srgbClr val="23304A"/>
                </a:solidFill>
                <a:latin typeface="Arial" panose="020B0604020202020204" pitchFamily="34" charset="0"/>
                <a:ea typeface="Calibri" pitchFamily="34" charset="-122"/>
                <a:cs typeface="Arial" panose="020B0604020202020204" pitchFamily="34" charset="0"/>
              </a:rPr>
              <a:t>Split temporal</a:t>
            </a:r>
            <a:endParaRPr lang="en-US" sz="1300" dirty="0">
              <a:latin typeface="Arial" panose="020B0604020202020204" pitchFamily="34" charset="0"/>
              <a:cs typeface="Arial" panose="020B0604020202020204" pitchFamily="34" charset="0"/>
            </a:endParaRPr>
          </a:p>
        </p:txBody>
      </p:sp>
      <p:sp>
        <p:nvSpPr>
          <p:cNvPr id="24" name="Text 17"/>
          <p:cNvSpPr/>
          <p:nvPr/>
        </p:nvSpPr>
        <p:spPr>
          <a:xfrm>
            <a:off x="4500220" y="3502152"/>
            <a:ext cx="1353312" cy="548640"/>
          </a:xfrm>
          <a:prstGeom prst="rect">
            <a:avLst/>
          </a:prstGeom>
          <a:noFill/>
          <a:ln/>
        </p:spPr>
        <p:txBody>
          <a:bodyPr wrap="square" lIns="0" tIns="0" rIns="0" bIns="0" rtlCol="0" anchor="ctr"/>
          <a:lstStyle/>
          <a:p>
            <a:pPr marL="0" indent="0" algn="ctr">
              <a:lnSpc>
                <a:spcPct val="110000"/>
              </a:lnSpc>
              <a:buNone/>
            </a:pPr>
            <a:r>
              <a:rPr lang="en-US" sz="900" dirty="0">
                <a:solidFill>
                  <a:srgbClr val="667085"/>
                </a:solidFill>
                <a:latin typeface="Arial" panose="020B0604020202020204" pitchFamily="34" charset="0"/>
                <a:ea typeface="Calibri" pitchFamily="34" charset="-122"/>
                <a:cs typeface="Arial" panose="020B0604020202020204" pitchFamily="34" charset="0"/>
              </a:rPr>
              <a:t>Train / val / test sin fugas de futuro</a:t>
            </a:r>
            <a:endParaRPr lang="en-US" sz="900" dirty="0">
              <a:latin typeface="Arial" panose="020B0604020202020204" pitchFamily="34" charset="0"/>
              <a:cs typeface="Arial" panose="020B0604020202020204" pitchFamily="34" charset="0"/>
            </a:endParaRPr>
          </a:p>
        </p:txBody>
      </p:sp>
      <p:pic>
        <p:nvPicPr>
          <p:cNvPr id="25" name="Image 5" descr="icon_arrow_t.png"/>
          <p:cNvPicPr>
            <a:picLocks noChangeAspect="1"/>
          </p:cNvPicPr>
          <p:nvPr/>
        </p:nvPicPr>
        <p:blipFill>
          <a:blip r:embed="rId4"/>
          <a:stretch>
            <a:fillRect/>
          </a:stretch>
        </p:blipFill>
        <p:spPr>
          <a:xfrm>
            <a:off x="5995264" y="2939796"/>
            <a:ext cx="201168" cy="201168"/>
          </a:xfrm>
          <a:prstGeom prst="rect">
            <a:avLst/>
          </a:prstGeom>
        </p:spPr>
      </p:pic>
      <p:sp>
        <p:nvSpPr>
          <p:cNvPr id="26" name="Shape 18"/>
          <p:cNvSpPr/>
          <p:nvPr/>
        </p:nvSpPr>
        <p:spPr>
          <a:xfrm>
            <a:off x="6219292" y="1965960"/>
            <a:ext cx="1591056" cy="214884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sp>
        <p:nvSpPr>
          <p:cNvPr id="27" name="Shape 19"/>
          <p:cNvSpPr/>
          <p:nvPr/>
        </p:nvSpPr>
        <p:spPr>
          <a:xfrm>
            <a:off x="6685636" y="2203704"/>
            <a:ext cx="658368" cy="658368"/>
          </a:xfrm>
          <a:prstGeom prst="ellipse">
            <a:avLst/>
          </a:prstGeom>
          <a:solidFill>
            <a:srgbClr val="EAF1F4"/>
          </a:solidFill>
          <a:ln w="12700">
            <a:solidFill>
              <a:srgbClr val="333333"/>
            </a:solidFill>
            <a:prstDash val="solid"/>
          </a:ln>
        </p:spPr>
      </p:sp>
      <p:pic>
        <p:nvPicPr>
          <p:cNvPr id="28" name="Image 6" descr="icon_sliders.png"/>
          <p:cNvPicPr>
            <a:picLocks noChangeAspect="1"/>
          </p:cNvPicPr>
          <p:nvPr/>
        </p:nvPicPr>
        <p:blipFill>
          <a:blip r:embed="rId7"/>
          <a:stretch>
            <a:fillRect/>
          </a:stretch>
        </p:blipFill>
        <p:spPr>
          <a:xfrm>
            <a:off x="6822796" y="2340864"/>
            <a:ext cx="384048" cy="384048"/>
          </a:xfrm>
          <a:prstGeom prst="rect">
            <a:avLst/>
          </a:prstGeom>
        </p:spPr>
      </p:pic>
      <p:sp>
        <p:nvSpPr>
          <p:cNvPr id="29" name="Text 20"/>
          <p:cNvSpPr/>
          <p:nvPr/>
        </p:nvSpPr>
        <p:spPr>
          <a:xfrm>
            <a:off x="6219292" y="2935224"/>
            <a:ext cx="1591056" cy="237744"/>
          </a:xfrm>
          <a:prstGeom prst="rect">
            <a:avLst/>
          </a:prstGeom>
          <a:noFill/>
          <a:ln/>
        </p:spPr>
        <p:txBody>
          <a:bodyPr wrap="square" lIns="0" tIns="0" rIns="0" bIns="0" rtlCol="0" anchor="ctr"/>
          <a:lstStyle/>
          <a:p>
            <a:pPr marL="0" indent="0" algn="ctr">
              <a:buNone/>
            </a:pPr>
            <a:r>
              <a:rPr lang="en-US" sz="850" b="1" kern="0" spc="150" dirty="0">
                <a:solidFill>
                  <a:srgbClr val="2A7F8C"/>
                </a:solidFill>
                <a:latin typeface="Arial" panose="020B0604020202020204" pitchFamily="34" charset="0"/>
                <a:ea typeface="Calibri" pitchFamily="34" charset="-122"/>
                <a:cs typeface="Arial" panose="020B0604020202020204" pitchFamily="34" charset="0"/>
              </a:rPr>
              <a:t>PASO 4</a:t>
            </a:r>
            <a:endParaRPr lang="en-US" sz="850" dirty="0">
              <a:latin typeface="Arial" panose="020B0604020202020204" pitchFamily="34" charset="0"/>
              <a:cs typeface="Arial" panose="020B0604020202020204" pitchFamily="34" charset="0"/>
            </a:endParaRPr>
          </a:p>
        </p:txBody>
      </p:sp>
      <p:sp>
        <p:nvSpPr>
          <p:cNvPr id="30" name="Text 21"/>
          <p:cNvSpPr/>
          <p:nvPr/>
        </p:nvSpPr>
        <p:spPr>
          <a:xfrm>
            <a:off x="6310732" y="3154680"/>
            <a:ext cx="1408176" cy="365760"/>
          </a:xfrm>
          <a:prstGeom prst="rect">
            <a:avLst/>
          </a:prstGeom>
          <a:noFill/>
          <a:ln/>
        </p:spPr>
        <p:txBody>
          <a:bodyPr wrap="square" lIns="0" tIns="0" rIns="0" bIns="0" rtlCol="0" anchor="ctr"/>
          <a:lstStyle/>
          <a:p>
            <a:pPr marL="0" indent="0" algn="ctr">
              <a:buNone/>
            </a:pPr>
            <a:r>
              <a:rPr lang="en-US" sz="1300" b="1" dirty="0">
                <a:solidFill>
                  <a:srgbClr val="23304A"/>
                </a:solidFill>
                <a:latin typeface="Arial" panose="020B0604020202020204" pitchFamily="34" charset="0"/>
                <a:ea typeface="Calibri" pitchFamily="34" charset="-122"/>
                <a:cs typeface="Arial" panose="020B0604020202020204" pitchFamily="34" charset="0"/>
              </a:rPr>
              <a:t>Fine-tuning</a:t>
            </a:r>
            <a:endParaRPr lang="en-US" sz="1300" dirty="0">
              <a:latin typeface="Arial" panose="020B0604020202020204" pitchFamily="34" charset="0"/>
              <a:cs typeface="Arial" panose="020B0604020202020204" pitchFamily="34" charset="0"/>
            </a:endParaRPr>
          </a:p>
        </p:txBody>
      </p:sp>
      <p:sp>
        <p:nvSpPr>
          <p:cNvPr id="31" name="Text 22"/>
          <p:cNvSpPr/>
          <p:nvPr/>
        </p:nvSpPr>
        <p:spPr>
          <a:xfrm>
            <a:off x="6338164" y="3502152"/>
            <a:ext cx="1353312" cy="548640"/>
          </a:xfrm>
          <a:prstGeom prst="rect">
            <a:avLst/>
          </a:prstGeom>
          <a:noFill/>
          <a:ln/>
        </p:spPr>
        <p:txBody>
          <a:bodyPr wrap="square" lIns="0" tIns="0" rIns="0" bIns="0" rtlCol="0" anchor="ctr"/>
          <a:lstStyle/>
          <a:p>
            <a:pPr marL="0" indent="0" algn="ctr">
              <a:lnSpc>
                <a:spcPct val="110000"/>
              </a:lnSpc>
              <a:buNone/>
            </a:pPr>
            <a:r>
              <a:rPr lang="en-US" sz="900" dirty="0">
                <a:solidFill>
                  <a:srgbClr val="667085"/>
                </a:solidFill>
                <a:latin typeface="Arial" panose="020B0604020202020204" pitchFamily="34" charset="0"/>
                <a:ea typeface="Calibri" pitchFamily="34" charset="-122"/>
                <a:cs typeface="Arial" panose="020B0604020202020204" pitchFamily="34" charset="0"/>
              </a:rPr>
              <a:t>Adaptación de GPT-2 al corpus</a:t>
            </a:r>
            <a:endParaRPr lang="en-US" sz="900" dirty="0">
              <a:latin typeface="Arial" panose="020B0604020202020204" pitchFamily="34" charset="0"/>
              <a:cs typeface="Arial" panose="020B0604020202020204" pitchFamily="34" charset="0"/>
            </a:endParaRPr>
          </a:p>
        </p:txBody>
      </p:sp>
      <p:pic>
        <p:nvPicPr>
          <p:cNvPr id="32" name="Image 7" descr="icon_arrow_t.png"/>
          <p:cNvPicPr>
            <a:picLocks noChangeAspect="1"/>
          </p:cNvPicPr>
          <p:nvPr/>
        </p:nvPicPr>
        <p:blipFill>
          <a:blip r:embed="rId4"/>
          <a:stretch>
            <a:fillRect/>
          </a:stretch>
        </p:blipFill>
        <p:spPr>
          <a:xfrm>
            <a:off x="7833208" y="2939796"/>
            <a:ext cx="201168" cy="201168"/>
          </a:xfrm>
          <a:prstGeom prst="rect">
            <a:avLst/>
          </a:prstGeom>
        </p:spPr>
      </p:pic>
      <p:sp>
        <p:nvSpPr>
          <p:cNvPr id="33" name="Shape 23"/>
          <p:cNvSpPr/>
          <p:nvPr/>
        </p:nvSpPr>
        <p:spPr>
          <a:xfrm>
            <a:off x="8057236" y="1965960"/>
            <a:ext cx="1591056" cy="214884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sp>
        <p:nvSpPr>
          <p:cNvPr id="34" name="Shape 24"/>
          <p:cNvSpPr/>
          <p:nvPr/>
        </p:nvSpPr>
        <p:spPr>
          <a:xfrm>
            <a:off x="8523580" y="2203704"/>
            <a:ext cx="658368" cy="658368"/>
          </a:xfrm>
          <a:prstGeom prst="ellipse">
            <a:avLst/>
          </a:prstGeom>
          <a:solidFill>
            <a:srgbClr val="EAF1F4"/>
          </a:solidFill>
          <a:ln w="12700">
            <a:solidFill>
              <a:srgbClr val="333333"/>
            </a:solidFill>
            <a:prstDash val="solid"/>
          </a:ln>
        </p:spPr>
      </p:sp>
      <p:pic>
        <p:nvPicPr>
          <p:cNvPr id="35" name="Image 8" descr="icon_brain.png"/>
          <p:cNvPicPr>
            <a:picLocks noChangeAspect="1"/>
          </p:cNvPicPr>
          <p:nvPr/>
        </p:nvPicPr>
        <p:blipFill>
          <a:blip r:embed="rId8"/>
          <a:stretch>
            <a:fillRect/>
          </a:stretch>
        </p:blipFill>
        <p:spPr>
          <a:xfrm>
            <a:off x="8660740" y="2340864"/>
            <a:ext cx="384048" cy="384048"/>
          </a:xfrm>
          <a:prstGeom prst="rect">
            <a:avLst/>
          </a:prstGeom>
        </p:spPr>
      </p:pic>
      <p:sp>
        <p:nvSpPr>
          <p:cNvPr id="36" name="Text 25"/>
          <p:cNvSpPr/>
          <p:nvPr/>
        </p:nvSpPr>
        <p:spPr>
          <a:xfrm>
            <a:off x="8057236" y="2935224"/>
            <a:ext cx="1591056" cy="237744"/>
          </a:xfrm>
          <a:prstGeom prst="rect">
            <a:avLst/>
          </a:prstGeom>
          <a:noFill/>
          <a:ln/>
        </p:spPr>
        <p:txBody>
          <a:bodyPr wrap="square" lIns="0" tIns="0" rIns="0" bIns="0" rtlCol="0" anchor="ctr"/>
          <a:lstStyle/>
          <a:p>
            <a:pPr marL="0" indent="0" algn="ctr">
              <a:buNone/>
            </a:pPr>
            <a:r>
              <a:rPr lang="en-US" sz="850" b="1" kern="0" spc="150" dirty="0">
                <a:solidFill>
                  <a:srgbClr val="2A7F8C"/>
                </a:solidFill>
                <a:latin typeface="Arial" panose="020B0604020202020204" pitchFamily="34" charset="0"/>
                <a:ea typeface="Calibri" pitchFamily="34" charset="-122"/>
                <a:cs typeface="Arial" panose="020B0604020202020204" pitchFamily="34" charset="0"/>
              </a:rPr>
              <a:t>PASO 5</a:t>
            </a:r>
            <a:endParaRPr lang="en-US" sz="850" dirty="0">
              <a:latin typeface="Arial" panose="020B0604020202020204" pitchFamily="34" charset="0"/>
              <a:cs typeface="Arial" panose="020B0604020202020204" pitchFamily="34" charset="0"/>
            </a:endParaRPr>
          </a:p>
        </p:txBody>
      </p:sp>
      <p:sp>
        <p:nvSpPr>
          <p:cNvPr id="37" name="Text 26"/>
          <p:cNvSpPr/>
          <p:nvPr/>
        </p:nvSpPr>
        <p:spPr>
          <a:xfrm>
            <a:off x="8148676" y="3154680"/>
            <a:ext cx="1408176" cy="365760"/>
          </a:xfrm>
          <a:prstGeom prst="rect">
            <a:avLst/>
          </a:prstGeom>
          <a:noFill/>
          <a:ln/>
        </p:spPr>
        <p:txBody>
          <a:bodyPr wrap="square" lIns="0" tIns="0" rIns="0" bIns="0" rtlCol="0" anchor="ctr"/>
          <a:lstStyle/>
          <a:p>
            <a:pPr marL="0" indent="0" algn="ctr">
              <a:buNone/>
            </a:pPr>
            <a:r>
              <a:rPr lang="en-US" sz="1300" b="1" dirty="0">
                <a:solidFill>
                  <a:srgbClr val="23304A"/>
                </a:solidFill>
                <a:latin typeface="Arial" panose="020B0604020202020204" pitchFamily="34" charset="0"/>
                <a:ea typeface="Calibri" pitchFamily="34" charset="-122"/>
                <a:cs typeface="Arial" panose="020B0604020202020204" pitchFamily="34" charset="0"/>
              </a:rPr>
              <a:t>Generación</a:t>
            </a:r>
            <a:endParaRPr lang="en-US" sz="1300" dirty="0">
              <a:latin typeface="Arial" panose="020B0604020202020204" pitchFamily="34" charset="0"/>
              <a:cs typeface="Arial" panose="020B0604020202020204" pitchFamily="34" charset="0"/>
            </a:endParaRPr>
          </a:p>
        </p:txBody>
      </p:sp>
      <p:sp>
        <p:nvSpPr>
          <p:cNvPr id="38" name="Text 27"/>
          <p:cNvSpPr/>
          <p:nvPr/>
        </p:nvSpPr>
        <p:spPr>
          <a:xfrm>
            <a:off x="8176108" y="3502152"/>
            <a:ext cx="1353312" cy="548640"/>
          </a:xfrm>
          <a:prstGeom prst="rect">
            <a:avLst/>
          </a:prstGeom>
          <a:noFill/>
          <a:ln/>
        </p:spPr>
        <p:txBody>
          <a:bodyPr wrap="square" lIns="0" tIns="0" rIns="0" bIns="0" rtlCol="0" anchor="ctr"/>
          <a:lstStyle/>
          <a:p>
            <a:pPr marL="0" indent="0" algn="ctr">
              <a:lnSpc>
                <a:spcPct val="110000"/>
              </a:lnSpc>
              <a:buNone/>
            </a:pPr>
            <a:r>
              <a:rPr lang="en-US" sz="900" dirty="0">
                <a:solidFill>
                  <a:srgbClr val="667085"/>
                </a:solidFill>
                <a:latin typeface="Arial" panose="020B0604020202020204" pitchFamily="34" charset="0"/>
                <a:ea typeface="Calibri" pitchFamily="34" charset="-122"/>
                <a:cs typeface="Arial" panose="020B0604020202020204" pitchFamily="34" charset="0"/>
              </a:rPr>
              <a:t>Narrativas sobre el conjunto de test</a:t>
            </a:r>
            <a:endParaRPr lang="en-US" sz="900" dirty="0">
              <a:latin typeface="Arial" panose="020B0604020202020204" pitchFamily="34" charset="0"/>
              <a:cs typeface="Arial" panose="020B0604020202020204" pitchFamily="34" charset="0"/>
            </a:endParaRPr>
          </a:p>
        </p:txBody>
      </p:sp>
      <p:pic>
        <p:nvPicPr>
          <p:cNvPr id="39" name="Image 9" descr="icon_arrow_t.png"/>
          <p:cNvPicPr>
            <a:picLocks noChangeAspect="1"/>
          </p:cNvPicPr>
          <p:nvPr/>
        </p:nvPicPr>
        <p:blipFill>
          <a:blip r:embed="rId4"/>
          <a:stretch>
            <a:fillRect/>
          </a:stretch>
        </p:blipFill>
        <p:spPr>
          <a:xfrm>
            <a:off x="9671152" y="2939796"/>
            <a:ext cx="201168" cy="201168"/>
          </a:xfrm>
          <a:prstGeom prst="rect">
            <a:avLst/>
          </a:prstGeom>
        </p:spPr>
      </p:pic>
      <p:sp>
        <p:nvSpPr>
          <p:cNvPr id="40" name="Shape 28"/>
          <p:cNvSpPr/>
          <p:nvPr/>
        </p:nvSpPr>
        <p:spPr>
          <a:xfrm>
            <a:off x="9895180" y="1965960"/>
            <a:ext cx="1591056" cy="2148840"/>
          </a:xfrm>
          <a:prstGeom prst="rect">
            <a:avLst/>
          </a:prstGeom>
          <a:solidFill>
            <a:srgbClr val="1E2A4A"/>
          </a:solidFill>
          <a:ln w="12700">
            <a:solidFill>
              <a:srgbClr val="1E2A4A"/>
            </a:solidFill>
            <a:prstDash val="solid"/>
          </a:ln>
          <a:effectLst>
            <a:outerShdw blurRad="114300" dist="38100" dir="8100000" algn="bl" rotWithShape="0">
              <a:srgbClr val="1E2A4A">
                <a:alpha val="14000"/>
              </a:srgbClr>
            </a:outerShdw>
          </a:effectLst>
        </p:spPr>
      </p:sp>
      <p:sp>
        <p:nvSpPr>
          <p:cNvPr id="41" name="Shape 29"/>
          <p:cNvSpPr/>
          <p:nvPr/>
        </p:nvSpPr>
        <p:spPr>
          <a:xfrm>
            <a:off x="10361524" y="2203704"/>
            <a:ext cx="658368" cy="658368"/>
          </a:xfrm>
          <a:prstGeom prst="ellipse">
            <a:avLst/>
          </a:prstGeom>
          <a:solidFill>
            <a:srgbClr val="2A7F8C"/>
          </a:solidFill>
          <a:ln w="12700">
            <a:solidFill>
              <a:srgbClr val="333333"/>
            </a:solidFill>
            <a:prstDash val="solid"/>
          </a:ln>
        </p:spPr>
      </p:sp>
      <p:pic>
        <p:nvPicPr>
          <p:cNvPr id="42" name="Image 10" descr="icon_search_w.png"/>
          <p:cNvPicPr>
            <a:picLocks noChangeAspect="1"/>
          </p:cNvPicPr>
          <p:nvPr/>
        </p:nvPicPr>
        <p:blipFill>
          <a:blip r:embed="rId9"/>
          <a:stretch>
            <a:fillRect/>
          </a:stretch>
        </p:blipFill>
        <p:spPr>
          <a:xfrm>
            <a:off x="10498684" y="2340864"/>
            <a:ext cx="384048" cy="384048"/>
          </a:xfrm>
          <a:prstGeom prst="rect">
            <a:avLst/>
          </a:prstGeom>
        </p:spPr>
      </p:pic>
      <p:sp>
        <p:nvSpPr>
          <p:cNvPr id="43" name="Text 30"/>
          <p:cNvSpPr/>
          <p:nvPr/>
        </p:nvSpPr>
        <p:spPr>
          <a:xfrm>
            <a:off x="9895180" y="2935224"/>
            <a:ext cx="1591056" cy="237744"/>
          </a:xfrm>
          <a:prstGeom prst="rect">
            <a:avLst/>
          </a:prstGeom>
          <a:noFill/>
          <a:ln/>
        </p:spPr>
        <p:txBody>
          <a:bodyPr wrap="square" lIns="0" tIns="0" rIns="0" bIns="0" rtlCol="0" anchor="ctr"/>
          <a:lstStyle/>
          <a:p>
            <a:pPr marL="0" indent="0" algn="ctr">
              <a:buNone/>
            </a:pPr>
            <a:r>
              <a:rPr lang="en-US" sz="850" b="1" kern="0" spc="150" dirty="0">
                <a:solidFill>
                  <a:srgbClr val="C8923B"/>
                </a:solidFill>
                <a:latin typeface="Arial" panose="020B0604020202020204" pitchFamily="34" charset="0"/>
                <a:ea typeface="Calibri" pitchFamily="34" charset="-122"/>
                <a:cs typeface="Arial" panose="020B0604020202020204" pitchFamily="34" charset="0"/>
              </a:rPr>
              <a:t>PASO 6</a:t>
            </a:r>
            <a:endParaRPr lang="en-US" sz="850" dirty="0">
              <a:latin typeface="Arial" panose="020B0604020202020204" pitchFamily="34" charset="0"/>
              <a:cs typeface="Arial" panose="020B0604020202020204" pitchFamily="34" charset="0"/>
            </a:endParaRPr>
          </a:p>
        </p:txBody>
      </p:sp>
      <p:sp>
        <p:nvSpPr>
          <p:cNvPr id="44" name="Text 31"/>
          <p:cNvSpPr/>
          <p:nvPr/>
        </p:nvSpPr>
        <p:spPr>
          <a:xfrm>
            <a:off x="9986620" y="3154680"/>
            <a:ext cx="1408176" cy="36576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anose="020B0604020202020204" pitchFamily="34" charset="0"/>
                <a:ea typeface="Calibri" pitchFamily="34" charset="-122"/>
                <a:cs typeface="Arial" panose="020B0604020202020204" pitchFamily="34" charset="0"/>
              </a:rPr>
              <a:t>Evaluación</a:t>
            </a:r>
            <a:endParaRPr lang="en-US" sz="1300" dirty="0">
              <a:latin typeface="Arial" panose="020B0604020202020204" pitchFamily="34" charset="0"/>
              <a:cs typeface="Arial" panose="020B0604020202020204" pitchFamily="34" charset="0"/>
            </a:endParaRPr>
          </a:p>
        </p:txBody>
      </p:sp>
      <p:sp>
        <p:nvSpPr>
          <p:cNvPr id="45" name="Text 32"/>
          <p:cNvSpPr/>
          <p:nvPr/>
        </p:nvSpPr>
        <p:spPr>
          <a:xfrm>
            <a:off x="10014052" y="3502152"/>
            <a:ext cx="1353312" cy="548640"/>
          </a:xfrm>
          <a:prstGeom prst="rect">
            <a:avLst/>
          </a:prstGeom>
          <a:noFill/>
          <a:ln/>
        </p:spPr>
        <p:txBody>
          <a:bodyPr wrap="square" lIns="0" tIns="0" rIns="0" bIns="0" rtlCol="0" anchor="ctr"/>
          <a:lstStyle/>
          <a:p>
            <a:pPr marL="0" indent="0" algn="ctr">
              <a:lnSpc>
                <a:spcPct val="110000"/>
              </a:lnSpc>
              <a:buNone/>
            </a:pPr>
            <a:r>
              <a:rPr lang="en-US" sz="900" dirty="0">
                <a:solidFill>
                  <a:srgbClr val="C2CEDF"/>
                </a:solidFill>
                <a:latin typeface="Arial" panose="020B0604020202020204" pitchFamily="34" charset="0"/>
                <a:ea typeface="Calibri" pitchFamily="34" charset="-122"/>
                <a:cs typeface="Arial" panose="020B0604020202020204" pitchFamily="34" charset="0"/>
              </a:rPr>
              <a:t>Textual · semántica · financiera</a:t>
            </a:r>
            <a:endParaRPr lang="en-US" sz="900" dirty="0">
              <a:latin typeface="Arial" panose="020B0604020202020204" pitchFamily="34" charset="0"/>
              <a:cs typeface="Arial" panose="020B0604020202020204" pitchFamily="34" charset="0"/>
            </a:endParaRPr>
          </a:p>
        </p:txBody>
      </p:sp>
      <p:sp>
        <p:nvSpPr>
          <p:cNvPr id="46" name="Shape 33"/>
          <p:cNvSpPr/>
          <p:nvPr/>
        </p:nvSpPr>
        <p:spPr>
          <a:xfrm>
            <a:off x="640080" y="4709160"/>
            <a:ext cx="10846156" cy="777240"/>
          </a:xfrm>
          <a:prstGeom prst="rect">
            <a:avLst/>
          </a:prstGeom>
          <a:solidFill>
            <a:srgbClr val="EAF1F4"/>
          </a:solidFill>
          <a:ln w="12700">
            <a:solidFill>
              <a:srgbClr val="D6DEE4"/>
            </a:solidFill>
            <a:prstDash val="solid"/>
          </a:ln>
        </p:spPr>
      </p:sp>
      <p:sp>
        <p:nvSpPr>
          <p:cNvPr id="48" name="Text 34"/>
          <p:cNvSpPr/>
          <p:nvPr/>
        </p:nvSpPr>
        <p:spPr>
          <a:xfrm>
            <a:off x="824332" y="4709160"/>
            <a:ext cx="10661904" cy="777240"/>
          </a:xfrm>
          <a:prstGeom prst="rect">
            <a:avLst/>
          </a:prstGeom>
          <a:noFill/>
          <a:ln/>
        </p:spPr>
        <p:txBody>
          <a:bodyPr wrap="square" lIns="0" tIns="0" rIns="0" bIns="0" rtlCol="0" anchor="ctr"/>
          <a:lstStyle/>
          <a:p>
            <a:pPr marL="0" indent="0">
              <a:lnSpc>
                <a:spcPct val="112000"/>
              </a:lnSpc>
              <a:buNone/>
            </a:pPr>
            <a:r>
              <a:rPr lang="en-US" sz="1100" b="1" dirty="0">
                <a:solidFill>
                  <a:srgbClr val="2A7F8C"/>
                </a:solidFill>
                <a:latin typeface="Arial" panose="020B0604020202020204" pitchFamily="34" charset="0"/>
                <a:ea typeface="Calibri" pitchFamily="34" charset="-122"/>
                <a:cs typeface="Arial" panose="020B0604020202020204" pitchFamily="34" charset="0"/>
              </a:rPr>
              <a:t>Split temporal:  </a:t>
            </a:r>
            <a:r>
              <a:rPr lang="en-US" sz="1100" dirty="0">
                <a:solidFill>
                  <a:srgbClr val="23304A"/>
                </a:solidFill>
                <a:latin typeface="Arial" panose="020B0604020202020204" pitchFamily="34" charset="0"/>
                <a:ea typeface="Calibri" pitchFamily="34" charset="-122"/>
                <a:cs typeface="Arial" panose="020B0604020202020204" pitchFamily="34" charset="0"/>
              </a:rPr>
              <a:t>el contexto del día t nunca incluye información futura; el target es la narrativa del día t+1. La misma evaluación se aplica a todos los runs para que sean comparables.</a:t>
            </a:r>
            <a:endParaRPr lang="en-US" sz="1100" dirty="0">
              <a:latin typeface="Arial" panose="020B0604020202020204" pitchFamily="34" charset="0"/>
              <a:cs typeface="Arial" panose="020B0604020202020204" pitchFamily="34" charset="0"/>
            </a:endParaRPr>
          </a:p>
        </p:txBody>
      </p:sp>
      <p:sp>
        <p:nvSpPr>
          <p:cNvPr id="50" name="Text 7">
            <a:extLst>
              <a:ext uri="{FF2B5EF4-FFF2-40B4-BE49-F238E27FC236}">
                <a16:creationId xmlns:a16="http://schemas.microsoft.com/office/drawing/2014/main" id="{F182E096-EAE7-4076-96E0-AAE033DB3696}"/>
              </a:ext>
            </a:extLst>
          </p:cNvPr>
          <p:cNvSpPr/>
          <p:nvPr/>
        </p:nvSpPr>
        <p:spPr>
          <a:xfrm>
            <a:off x="3749040" y="5943202"/>
            <a:ext cx="7772400" cy="795528"/>
          </a:xfrm>
          <a:prstGeom prst="rect">
            <a:avLst/>
          </a:prstGeom>
          <a:noFill/>
          <a:ln/>
        </p:spPr>
        <p:txBody>
          <a:bodyPr wrap="square" lIns="0" tIns="0" rIns="0" bIns="0" rtlCol="0" anchor="ctr"/>
          <a:lstStyle/>
          <a:p>
            <a:pPr marL="0" indent="0" algn="r">
              <a:buNone/>
            </a:pPr>
            <a:r>
              <a:rPr lang="en-US" sz="11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1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1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100" dirty="0">
              <a:solidFill>
                <a:schemeClr val="bg2">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Construcción del dataset</a:t>
            </a:r>
            <a:endParaRPr lang="en-US" sz="2800" dirty="0">
              <a:latin typeface="Arial" panose="020B0604020202020204" pitchFamily="34" charset="0"/>
              <a:cs typeface="Arial" panose="020B0604020202020204" pitchFamily="34" charset="0"/>
            </a:endParaRPr>
          </a:p>
        </p:txBody>
      </p:sp>
      <p:sp>
        <p:nvSpPr>
          <p:cNvPr id="5" name="Text 3"/>
          <p:cNvSpPr/>
          <p:nvPr/>
        </p:nvSpPr>
        <p:spPr>
          <a:xfrm>
            <a:off x="640080" y="1481328"/>
            <a:ext cx="10881360" cy="365760"/>
          </a:xfrm>
          <a:prstGeom prst="rect">
            <a:avLst/>
          </a:prstGeom>
          <a:noFill/>
          <a:ln/>
        </p:spPr>
        <p:txBody>
          <a:bodyPr wrap="square" lIns="0" tIns="0" rIns="0" bIns="0" rtlCol="0" anchor="ctr"/>
          <a:lstStyle/>
          <a:p>
            <a:pPr marL="0" indent="0">
              <a:buNone/>
            </a:pPr>
            <a:r>
              <a:rPr lang="en-US" sz="1250" dirty="0">
                <a:solidFill>
                  <a:srgbClr val="667085"/>
                </a:solidFill>
                <a:latin typeface="Arial" panose="020B0604020202020204" pitchFamily="34" charset="0"/>
                <a:ea typeface="Calibri" pitchFamily="34" charset="-122"/>
                <a:cs typeface="Arial" panose="020B0604020202020204" pitchFamily="34" charset="0"/>
              </a:rPr>
              <a:t>La data cruda se transforma en pares prompt/target con labels derivadas del dato real.</a:t>
            </a:r>
            <a:endParaRPr lang="en-US" sz="1250" dirty="0">
              <a:latin typeface="Arial" panose="020B0604020202020204" pitchFamily="34" charset="0"/>
              <a:cs typeface="Arial" panose="020B0604020202020204" pitchFamily="34" charset="0"/>
            </a:endParaRPr>
          </a:p>
        </p:txBody>
      </p:sp>
      <p:sp>
        <p:nvSpPr>
          <p:cNvPr id="6" name="Shape 4"/>
          <p:cNvSpPr/>
          <p:nvPr/>
        </p:nvSpPr>
        <p:spPr>
          <a:xfrm>
            <a:off x="640080" y="2057400"/>
            <a:ext cx="5029200" cy="237744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pic>
        <p:nvPicPr>
          <p:cNvPr id="8" name="Image 0" descr="icon_calendar.png"/>
          <p:cNvPicPr>
            <a:picLocks noChangeAspect="1"/>
          </p:cNvPicPr>
          <p:nvPr/>
        </p:nvPicPr>
        <p:blipFill>
          <a:blip r:embed="rId3"/>
          <a:stretch>
            <a:fillRect/>
          </a:stretch>
        </p:blipFill>
        <p:spPr>
          <a:xfrm>
            <a:off x="859536" y="2276856"/>
            <a:ext cx="310896" cy="310896"/>
          </a:xfrm>
          <a:prstGeom prst="rect">
            <a:avLst/>
          </a:prstGeom>
        </p:spPr>
      </p:pic>
      <p:sp>
        <p:nvSpPr>
          <p:cNvPr id="9" name="Text 6"/>
          <p:cNvSpPr/>
          <p:nvPr/>
        </p:nvSpPr>
        <p:spPr>
          <a:xfrm>
            <a:off x="1261872" y="2240280"/>
            <a:ext cx="4206240" cy="384048"/>
          </a:xfrm>
          <a:prstGeom prst="rect">
            <a:avLst/>
          </a:prstGeom>
          <a:noFill/>
          <a:ln/>
        </p:spPr>
        <p:txBody>
          <a:bodyPr wrap="square" lIns="0" tIns="0" rIns="0" bIns="0" rtlCol="0" anchor="ctr"/>
          <a:lstStyle/>
          <a:p>
            <a:pPr marL="0" indent="0">
              <a:buNone/>
            </a:pPr>
            <a:r>
              <a:rPr lang="en-US" sz="1300" b="1" dirty="0">
                <a:solidFill>
                  <a:srgbClr val="23304A"/>
                </a:solidFill>
                <a:latin typeface="Arial" panose="020B0604020202020204" pitchFamily="34" charset="0"/>
                <a:ea typeface="Calibri" pitchFamily="34" charset="-122"/>
                <a:cs typeface="Arial" panose="020B0604020202020204" pitchFamily="34" charset="0"/>
              </a:rPr>
              <a:t>Ventana temporal  ·  k = 3 días</a:t>
            </a:r>
            <a:endParaRPr lang="en-US" sz="1300" dirty="0">
              <a:latin typeface="Arial" panose="020B0604020202020204" pitchFamily="34" charset="0"/>
              <a:cs typeface="Arial" panose="020B0604020202020204" pitchFamily="34" charset="0"/>
            </a:endParaRPr>
          </a:p>
        </p:txBody>
      </p:sp>
      <p:sp>
        <p:nvSpPr>
          <p:cNvPr id="10" name="Text 7"/>
          <p:cNvSpPr/>
          <p:nvPr/>
        </p:nvSpPr>
        <p:spPr>
          <a:xfrm>
            <a:off x="877824" y="2660904"/>
            <a:ext cx="4572000" cy="566928"/>
          </a:xfrm>
          <a:prstGeom prst="rect">
            <a:avLst/>
          </a:prstGeom>
          <a:noFill/>
          <a:ln/>
        </p:spPr>
        <p:txBody>
          <a:bodyPr wrap="square" lIns="0" tIns="0" rIns="0" bIns="0" rtlCol="0" anchor="ctr"/>
          <a:lstStyle/>
          <a:p>
            <a:pPr marL="0" indent="0">
              <a:lnSpc>
                <a:spcPct val="115000"/>
              </a:lnSpc>
              <a:buNone/>
            </a:pPr>
            <a:r>
              <a:rPr lang="en-US" sz="1030" dirty="0">
                <a:solidFill>
                  <a:srgbClr val="667085"/>
                </a:solidFill>
                <a:latin typeface="Arial" panose="020B0604020202020204" pitchFamily="34" charset="0"/>
                <a:ea typeface="Calibri" pitchFamily="34" charset="-122"/>
                <a:cs typeface="Arial" panose="020B0604020202020204" pitchFamily="34" charset="0"/>
              </a:rPr>
              <a:t>El prompt agrega las noticias previas de t-2, t-1 y t. El target es la narrativa del día t+1.</a:t>
            </a:r>
            <a:endParaRPr lang="en-US" sz="1030" dirty="0">
              <a:latin typeface="Arial" panose="020B0604020202020204" pitchFamily="34" charset="0"/>
              <a:cs typeface="Arial" panose="020B0604020202020204" pitchFamily="34" charset="0"/>
            </a:endParaRPr>
          </a:p>
        </p:txBody>
      </p:sp>
      <p:sp>
        <p:nvSpPr>
          <p:cNvPr id="11" name="Shape 8"/>
          <p:cNvSpPr/>
          <p:nvPr/>
        </p:nvSpPr>
        <p:spPr>
          <a:xfrm>
            <a:off x="877824" y="3355848"/>
            <a:ext cx="841248" cy="512064"/>
          </a:xfrm>
          <a:prstGeom prst="roundRect">
            <a:avLst>
              <a:gd name="adj" fmla="val 10714"/>
            </a:avLst>
          </a:prstGeom>
          <a:solidFill>
            <a:srgbClr val="E3EFF1"/>
          </a:solidFill>
          <a:ln w="12700">
            <a:solidFill>
              <a:srgbClr val="2A7F8C"/>
            </a:solidFill>
            <a:prstDash val="solid"/>
          </a:ln>
        </p:spPr>
      </p:sp>
      <p:sp>
        <p:nvSpPr>
          <p:cNvPr id="12" name="Text 9"/>
          <p:cNvSpPr/>
          <p:nvPr/>
        </p:nvSpPr>
        <p:spPr>
          <a:xfrm>
            <a:off x="877824" y="3355848"/>
            <a:ext cx="841248" cy="512064"/>
          </a:xfrm>
          <a:prstGeom prst="rect">
            <a:avLst/>
          </a:prstGeom>
          <a:noFill/>
          <a:ln/>
        </p:spPr>
        <p:txBody>
          <a:bodyPr wrap="square" lIns="0" tIns="0" rIns="0" bIns="0" rtlCol="0" anchor="ctr"/>
          <a:lstStyle/>
          <a:p>
            <a:pPr marL="0" indent="0" algn="ctr">
              <a:buNone/>
            </a:pPr>
            <a:r>
              <a:rPr lang="en-US" sz="1200" b="1" dirty="0">
                <a:solidFill>
                  <a:srgbClr val="2A7F8C"/>
                </a:solidFill>
                <a:latin typeface="Arial" panose="020B0604020202020204" pitchFamily="34" charset="0"/>
                <a:ea typeface="Consolas" pitchFamily="34" charset="-122"/>
                <a:cs typeface="Arial" panose="020B0604020202020204" pitchFamily="34" charset="0"/>
              </a:rPr>
              <a:t>t-2</a:t>
            </a:r>
            <a:endParaRPr lang="en-US" sz="1200" dirty="0">
              <a:latin typeface="Arial" panose="020B0604020202020204" pitchFamily="34" charset="0"/>
              <a:cs typeface="Arial" panose="020B0604020202020204" pitchFamily="34" charset="0"/>
            </a:endParaRPr>
          </a:p>
        </p:txBody>
      </p:sp>
      <p:pic>
        <p:nvPicPr>
          <p:cNvPr id="13" name="Image 1" descr="icon_arrow_t.png"/>
          <p:cNvPicPr>
            <a:picLocks noChangeAspect="1"/>
          </p:cNvPicPr>
          <p:nvPr/>
        </p:nvPicPr>
        <p:blipFill>
          <a:blip r:embed="rId4"/>
          <a:stretch>
            <a:fillRect/>
          </a:stretch>
        </p:blipFill>
        <p:spPr>
          <a:xfrm>
            <a:off x="1719072" y="3520440"/>
            <a:ext cx="164592" cy="164592"/>
          </a:xfrm>
          <a:prstGeom prst="rect">
            <a:avLst/>
          </a:prstGeom>
        </p:spPr>
      </p:pic>
      <p:sp>
        <p:nvSpPr>
          <p:cNvPr id="14" name="Shape 10"/>
          <p:cNvSpPr/>
          <p:nvPr/>
        </p:nvSpPr>
        <p:spPr>
          <a:xfrm>
            <a:off x="1865376" y="3355848"/>
            <a:ext cx="841248" cy="512064"/>
          </a:xfrm>
          <a:prstGeom prst="roundRect">
            <a:avLst>
              <a:gd name="adj" fmla="val 10714"/>
            </a:avLst>
          </a:prstGeom>
          <a:solidFill>
            <a:srgbClr val="E3EFF1"/>
          </a:solidFill>
          <a:ln w="12700">
            <a:solidFill>
              <a:srgbClr val="2A7F8C"/>
            </a:solidFill>
            <a:prstDash val="solid"/>
          </a:ln>
        </p:spPr>
      </p:sp>
      <p:sp>
        <p:nvSpPr>
          <p:cNvPr id="15" name="Text 11"/>
          <p:cNvSpPr/>
          <p:nvPr/>
        </p:nvSpPr>
        <p:spPr>
          <a:xfrm>
            <a:off x="1865376" y="3355848"/>
            <a:ext cx="841248" cy="512064"/>
          </a:xfrm>
          <a:prstGeom prst="rect">
            <a:avLst/>
          </a:prstGeom>
          <a:noFill/>
          <a:ln/>
        </p:spPr>
        <p:txBody>
          <a:bodyPr wrap="square" lIns="0" tIns="0" rIns="0" bIns="0" rtlCol="0" anchor="ctr"/>
          <a:lstStyle/>
          <a:p>
            <a:pPr marL="0" indent="0" algn="ctr">
              <a:buNone/>
            </a:pPr>
            <a:r>
              <a:rPr lang="en-US" sz="1200" b="1" dirty="0">
                <a:solidFill>
                  <a:srgbClr val="2A7F8C"/>
                </a:solidFill>
                <a:latin typeface="Arial" panose="020B0604020202020204" pitchFamily="34" charset="0"/>
                <a:ea typeface="Consolas" pitchFamily="34" charset="-122"/>
                <a:cs typeface="Arial" panose="020B0604020202020204" pitchFamily="34" charset="0"/>
              </a:rPr>
              <a:t>t-1</a:t>
            </a:r>
            <a:endParaRPr lang="en-US" sz="1200" dirty="0">
              <a:latin typeface="Arial" panose="020B0604020202020204" pitchFamily="34" charset="0"/>
              <a:cs typeface="Arial" panose="020B0604020202020204" pitchFamily="34" charset="0"/>
            </a:endParaRPr>
          </a:p>
        </p:txBody>
      </p:sp>
      <p:pic>
        <p:nvPicPr>
          <p:cNvPr id="16" name="Image 2" descr="icon_arrow_t.png"/>
          <p:cNvPicPr>
            <a:picLocks noChangeAspect="1"/>
          </p:cNvPicPr>
          <p:nvPr/>
        </p:nvPicPr>
        <p:blipFill>
          <a:blip r:embed="rId4"/>
          <a:stretch>
            <a:fillRect/>
          </a:stretch>
        </p:blipFill>
        <p:spPr>
          <a:xfrm>
            <a:off x="2706624" y="3520440"/>
            <a:ext cx="164592" cy="164592"/>
          </a:xfrm>
          <a:prstGeom prst="rect">
            <a:avLst/>
          </a:prstGeom>
        </p:spPr>
      </p:pic>
      <p:sp>
        <p:nvSpPr>
          <p:cNvPr id="17" name="Shape 12"/>
          <p:cNvSpPr/>
          <p:nvPr/>
        </p:nvSpPr>
        <p:spPr>
          <a:xfrm>
            <a:off x="2852928" y="3355848"/>
            <a:ext cx="841248" cy="512064"/>
          </a:xfrm>
          <a:prstGeom prst="roundRect">
            <a:avLst>
              <a:gd name="adj" fmla="val 10714"/>
            </a:avLst>
          </a:prstGeom>
          <a:solidFill>
            <a:srgbClr val="E3EFF1"/>
          </a:solidFill>
          <a:ln w="12700">
            <a:solidFill>
              <a:srgbClr val="2A7F8C"/>
            </a:solidFill>
            <a:prstDash val="solid"/>
          </a:ln>
        </p:spPr>
      </p:sp>
      <p:sp>
        <p:nvSpPr>
          <p:cNvPr id="18" name="Text 13"/>
          <p:cNvSpPr/>
          <p:nvPr/>
        </p:nvSpPr>
        <p:spPr>
          <a:xfrm>
            <a:off x="2852928" y="3355848"/>
            <a:ext cx="841248" cy="512064"/>
          </a:xfrm>
          <a:prstGeom prst="rect">
            <a:avLst/>
          </a:prstGeom>
          <a:noFill/>
          <a:ln/>
        </p:spPr>
        <p:txBody>
          <a:bodyPr wrap="square" lIns="0" tIns="0" rIns="0" bIns="0" rtlCol="0" anchor="ctr"/>
          <a:lstStyle/>
          <a:p>
            <a:pPr marL="0" indent="0" algn="ctr">
              <a:buNone/>
            </a:pPr>
            <a:r>
              <a:rPr lang="en-US" sz="1200" b="1" dirty="0">
                <a:solidFill>
                  <a:srgbClr val="2A7F8C"/>
                </a:solidFill>
                <a:latin typeface="Arial" panose="020B0604020202020204" pitchFamily="34" charset="0"/>
                <a:ea typeface="Consolas" pitchFamily="34" charset="-122"/>
                <a:cs typeface="Arial" panose="020B0604020202020204" pitchFamily="34" charset="0"/>
              </a:rPr>
              <a:t>t</a:t>
            </a:r>
            <a:endParaRPr lang="en-US" sz="1200" dirty="0">
              <a:latin typeface="Arial" panose="020B0604020202020204" pitchFamily="34" charset="0"/>
              <a:cs typeface="Arial" panose="020B0604020202020204" pitchFamily="34" charset="0"/>
            </a:endParaRPr>
          </a:p>
        </p:txBody>
      </p:sp>
      <p:pic>
        <p:nvPicPr>
          <p:cNvPr id="19" name="Image 3" descr="icon_arrow_t.png"/>
          <p:cNvPicPr>
            <a:picLocks noChangeAspect="1"/>
          </p:cNvPicPr>
          <p:nvPr/>
        </p:nvPicPr>
        <p:blipFill>
          <a:blip r:embed="rId4"/>
          <a:stretch>
            <a:fillRect/>
          </a:stretch>
        </p:blipFill>
        <p:spPr>
          <a:xfrm>
            <a:off x="3694176" y="3520440"/>
            <a:ext cx="164592" cy="164592"/>
          </a:xfrm>
          <a:prstGeom prst="rect">
            <a:avLst/>
          </a:prstGeom>
        </p:spPr>
      </p:pic>
      <p:sp>
        <p:nvSpPr>
          <p:cNvPr id="20" name="Shape 14"/>
          <p:cNvSpPr/>
          <p:nvPr/>
        </p:nvSpPr>
        <p:spPr>
          <a:xfrm>
            <a:off x="3840480" y="3355848"/>
            <a:ext cx="841248" cy="512064"/>
          </a:xfrm>
          <a:prstGeom prst="roundRect">
            <a:avLst>
              <a:gd name="adj" fmla="val 10714"/>
            </a:avLst>
          </a:prstGeom>
          <a:solidFill>
            <a:srgbClr val="F7EEDD"/>
          </a:solidFill>
          <a:ln w="12700">
            <a:solidFill>
              <a:srgbClr val="C8923B"/>
            </a:solidFill>
            <a:prstDash val="solid"/>
          </a:ln>
        </p:spPr>
      </p:sp>
      <p:sp>
        <p:nvSpPr>
          <p:cNvPr id="21" name="Text 15"/>
          <p:cNvSpPr/>
          <p:nvPr/>
        </p:nvSpPr>
        <p:spPr>
          <a:xfrm>
            <a:off x="3840480" y="3355848"/>
            <a:ext cx="841248" cy="512064"/>
          </a:xfrm>
          <a:prstGeom prst="rect">
            <a:avLst/>
          </a:prstGeom>
          <a:noFill/>
          <a:ln/>
        </p:spPr>
        <p:txBody>
          <a:bodyPr wrap="square" lIns="0" tIns="0" rIns="0" bIns="0" rtlCol="0" anchor="ctr"/>
          <a:lstStyle/>
          <a:p>
            <a:pPr marL="0" indent="0" algn="ctr">
              <a:buNone/>
            </a:pPr>
            <a:r>
              <a:rPr lang="en-US" sz="1200" b="1" dirty="0">
                <a:solidFill>
                  <a:srgbClr val="C8923B"/>
                </a:solidFill>
                <a:latin typeface="Arial" panose="020B0604020202020204" pitchFamily="34" charset="0"/>
                <a:ea typeface="Consolas" pitchFamily="34" charset="-122"/>
                <a:cs typeface="Arial" panose="020B0604020202020204" pitchFamily="34" charset="0"/>
              </a:rPr>
              <a:t>t+1</a:t>
            </a:r>
            <a:endParaRPr lang="en-US" sz="1200" dirty="0">
              <a:latin typeface="Arial" panose="020B0604020202020204" pitchFamily="34" charset="0"/>
              <a:cs typeface="Arial" panose="020B0604020202020204" pitchFamily="34" charset="0"/>
            </a:endParaRPr>
          </a:p>
        </p:txBody>
      </p:sp>
      <p:sp>
        <p:nvSpPr>
          <p:cNvPr id="22" name="Text 16"/>
          <p:cNvSpPr/>
          <p:nvPr/>
        </p:nvSpPr>
        <p:spPr>
          <a:xfrm>
            <a:off x="877824" y="3922776"/>
            <a:ext cx="2816352" cy="237744"/>
          </a:xfrm>
          <a:prstGeom prst="rect">
            <a:avLst/>
          </a:prstGeom>
          <a:noFill/>
          <a:ln/>
        </p:spPr>
        <p:txBody>
          <a:bodyPr wrap="square" lIns="0" tIns="0" rIns="0" bIns="0" rtlCol="0" anchor="ctr"/>
          <a:lstStyle/>
          <a:p>
            <a:pPr marL="0" indent="0" algn="ctr">
              <a:buNone/>
            </a:pPr>
            <a:r>
              <a:rPr lang="en-US" sz="850" i="1" dirty="0">
                <a:solidFill>
                  <a:srgbClr val="2A7F8C"/>
                </a:solidFill>
                <a:latin typeface="Arial" panose="020B0604020202020204" pitchFamily="34" charset="0"/>
                <a:ea typeface="Calibri" pitchFamily="34" charset="-122"/>
                <a:cs typeface="Arial" panose="020B0604020202020204" pitchFamily="34" charset="0"/>
              </a:rPr>
              <a:t>ventana de contexto (prompt)</a:t>
            </a:r>
            <a:endParaRPr lang="en-US" sz="850" dirty="0">
              <a:latin typeface="Arial" panose="020B0604020202020204" pitchFamily="34" charset="0"/>
              <a:cs typeface="Arial" panose="020B0604020202020204" pitchFamily="34" charset="0"/>
            </a:endParaRPr>
          </a:p>
        </p:txBody>
      </p:sp>
      <p:sp>
        <p:nvSpPr>
          <p:cNvPr id="23" name="Text 17"/>
          <p:cNvSpPr/>
          <p:nvPr/>
        </p:nvSpPr>
        <p:spPr>
          <a:xfrm>
            <a:off x="3840480" y="3922776"/>
            <a:ext cx="841248" cy="237744"/>
          </a:xfrm>
          <a:prstGeom prst="rect">
            <a:avLst/>
          </a:prstGeom>
          <a:noFill/>
          <a:ln/>
        </p:spPr>
        <p:txBody>
          <a:bodyPr wrap="square" lIns="0" tIns="0" rIns="0" bIns="0" rtlCol="0" anchor="ctr"/>
          <a:lstStyle/>
          <a:p>
            <a:pPr marL="0" indent="0" algn="ctr">
              <a:buNone/>
            </a:pPr>
            <a:r>
              <a:rPr lang="en-US" sz="850" i="1" dirty="0">
                <a:solidFill>
                  <a:srgbClr val="C8923B"/>
                </a:solidFill>
                <a:latin typeface="Arial" panose="020B0604020202020204" pitchFamily="34" charset="0"/>
                <a:ea typeface="Calibri" pitchFamily="34" charset="-122"/>
                <a:cs typeface="Arial" panose="020B0604020202020204" pitchFamily="34" charset="0"/>
              </a:rPr>
              <a:t>target</a:t>
            </a:r>
            <a:endParaRPr lang="en-US" sz="850" dirty="0">
              <a:latin typeface="Arial" panose="020B0604020202020204" pitchFamily="34" charset="0"/>
              <a:cs typeface="Arial" panose="020B0604020202020204" pitchFamily="34" charset="0"/>
            </a:endParaRPr>
          </a:p>
        </p:txBody>
      </p:sp>
      <p:sp>
        <p:nvSpPr>
          <p:cNvPr id="24" name="Shape 18"/>
          <p:cNvSpPr/>
          <p:nvPr/>
        </p:nvSpPr>
        <p:spPr>
          <a:xfrm>
            <a:off x="5971032" y="2057400"/>
            <a:ext cx="5580583" cy="237744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sp>
      <p:pic>
        <p:nvPicPr>
          <p:cNvPr id="26" name="Image 4" descr="icon_tags.png"/>
          <p:cNvPicPr>
            <a:picLocks noChangeAspect="1"/>
          </p:cNvPicPr>
          <p:nvPr/>
        </p:nvPicPr>
        <p:blipFill>
          <a:blip r:embed="rId5"/>
          <a:stretch>
            <a:fillRect/>
          </a:stretch>
        </p:blipFill>
        <p:spPr>
          <a:xfrm>
            <a:off x="6190488" y="2258568"/>
            <a:ext cx="292608" cy="292608"/>
          </a:xfrm>
          <a:prstGeom prst="rect">
            <a:avLst/>
          </a:prstGeom>
        </p:spPr>
      </p:pic>
      <p:sp>
        <p:nvSpPr>
          <p:cNvPr id="27" name="Text 20"/>
          <p:cNvSpPr/>
          <p:nvPr/>
        </p:nvSpPr>
        <p:spPr>
          <a:xfrm>
            <a:off x="6574536" y="2221992"/>
            <a:ext cx="4757623" cy="365760"/>
          </a:xfrm>
          <a:prstGeom prst="rect">
            <a:avLst/>
          </a:prstGeom>
          <a:noFill/>
          <a:ln/>
        </p:spPr>
        <p:txBody>
          <a:bodyPr wrap="square" lIns="0" tIns="0" rIns="0" bIns="0" rtlCol="0" anchor="ctr"/>
          <a:lstStyle/>
          <a:p>
            <a:pPr marL="0" indent="0">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Supervisión: cómo se etiqueta el target</a:t>
            </a:r>
            <a:endParaRPr lang="en-US" sz="1250" dirty="0">
              <a:latin typeface="Arial" panose="020B0604020202020204" pitchFamily="34" charset="0"/>
              <a:cs typeface="Arial" panose="020B0604020202020204" pitchFamily="34" charset="0"/>
            </a:endParaRPr>
          </a:p>
        </p:txBody>
      </p:sp>
      <p:pic>
        <p:nvPicPr>
          <p:cNvPr id="28" name="Image 5" descr="icon_up.png"/>
          <p:cNvPicPr>
            <a:picLocks noChangeAspect="1"/>
          </p:cNvPicPr>
          <p:nvPr/>
        </p:nvPicPr>
        <p:blipFill>
          <a:blip r:embed="rId6"/>
          <a:stretch>
            <a:fillRect/>
          </a:stretch>
        </p:blipFill>
        <p:spPr>
          <a:xfrm>
            <a:off x="6217920" y="2952037"/>
            <a:ext cx="219456" cy="219456"/>
          </a:xfrm>
          <a:prstGeom prst="rect">
            <a:avLst/>
          </a:prstGeom>
        </p:spPr>
      </p:pic>
      <p:sp>
        <p:nvSpPr>
          <p:cNvPr id="29" name="Text 21"/>
          <p:cNvSpPr/>
          <p:nvPr/>
        </p:nvSpPr>
        <p:spPr>
          <a:xfrm>
            <a:off x="6547104" y="2869741"/>
            <a:ext cx="4775911" cy="566928"/>
          </a:xfrm>
          <a:prstGeom prst="rect">
            <a:avLst/>
          </a:prstGeom>
          <a:noFill/>
          <a:ln/>
        </p:spPr>
        <p:txBody>
          <a:bodyPr wrap="square" lIns="0" tIns="0" rIns="0" bIns="0" rtlCol="0" anchor="ctr"/>
          <a:lstStyle/>
          <a:p>
            <a:pPr marL="0" indent="0">
              <a:lnSpc>
                <a:spcPct val="113000"/>
              </a:lnSpc>
              <a:buNone/>
            </a:pPr>
            <a:r>
              <a:rPr lang="en-US" sz="980" b="1" dirty="0">
                <a:solidFill>
                  <a:srgbClr val="23304A"/>
                </a:solidFill>
                <a:latin typeface="Arial" panose="020B0604020202020204" pitchFamily="34" charset="0"/>
                <a:ea typeface="Calibri" pitchFamily="34" charset="-122"/>
                <a:cs typeface="Arial" panose="020B0604020202020204" pitchFamily="34" charset="0"/>
              </a:rPr>
              <a:t>Dirección.  </a:t>
            </a:r>
            <a:r>
              <a:rPr lang="en-US" sz="980" dirty="0">
                <a:solidFill>
                  <a:srgbClr val="667085"/>
                </a:solidFill>
                <a:latin typeface="Arial" panose="020B0604020202020204" pitchFamily="34" charset="0"/>
                <a:ea typeface="Calibri" pitchFamily="34" charset="-122"/>
                <a:cs typeface="Arial" panose="020B0604020202020204" pitchFamily="34" charset="0"/>
              </a:rPr>
              <a:t>del retorno real de t+1, con umbral de ±0.1 % para separar up · flat · down.</a:t>
            </a:r>
            <a:endParaRPr lang="en-US" sz="980" dirty="0">
              <a:latin typeface="Arial" panose="020B0604020202020204" pitchFamily="34" charset="0"/>
              <a:cs typeface="Arial" panose="020B0604020202020204" pitchFamily="34" charset="0"/>
            </a:endParaRPr>
          </a:p>
        </p:txBody>
      </p:sp>
      <p:pic>
        <p:nvPicPr>
          <p:cNvPr id="30" name="Image 6" descr="icon_book.png"/>
          <p:cNvPicPr>
            <a:picLocks noChangeAspect="1"/>
          </p:cNvPicPr>
          <p:nvPr/>
        </p:nvPicPr>
        <p:blipFill>
          <a:blip r:embed="rId7"/>
          <a:stretch>
            <a:fillRect/>
          </a:stretch>
        </p:blipFill>
        <p:spPr>
          <a:xfrm>
            <a:off x="6217920" y="3555541"/>
            <a:ext cx="219456" cy="219456"/>
          </a:xfrm>
          <a:prstGeom prst="rect">
            <a:avLst/>
          </a:prstGeom>
        </p:spPr>
      </p:pic>
      <p:sp>
        <p:nvSpPr>
          <p:cNvPr id="31" name="Text 22"/>
          <p:cNvSpPr/>
          <p:nvPr/>
        </p:nvSpPr>
        <p:spPr>
          <a:xfrm>
            <a:off x="6547104" y="3473245"/>
            <a:ext cx="4775911" cy="566928"/>
          </a:xfrm>
          <a:prstGeom prst="rect">
            <a:avLst/>
          </a:prstGeom>
          <a:noFill/>
          <a:ln/>
        </p:spPr>
        <p:txBody>
          <a:bodyPr wrap="square" lIns="0" tIns="0" rIns="0" bIns="0" rtlCol="0" anchor="ctr"/>
          <a:lstStyle/>
          <a:p>
            <a:pPr marL="0" indent="0">
              <a:lnSpc>
                <a:spcPct val="113000"/>
              </a:lnSpc>
              <a:buNone/>
            </a:pPr>
            <a:r>
              <a:rPr lang="en-US" sz="980" b="1" dirty="0">
                <a:solidFill>
                  <a:srgbClr val="23304A"/>
                </a:solidFill>
                <a:latin typeface="Arial" panose="020B0604020202020204" pitchFamily="34" charset="0"/>
                <a:ea typeface="Calibri" pitchFamily="34" charset="-122"/>
                <a:cs typeface="Arial" panose="020B0604020202020204" pitchFamily="34" charset="0"/>
              </a:rPr>
              <a:t>Sentimiento.  </a:t>
            </a:r>
            <a:r>
              <a:rPr lang="en-US" sz="980" dirty="0">
                <a:solidFill>
                  <a:srgbClr val="667085"/>
                </a:solidFill>
                <a:latin typeface="Arial" panose="020B0604020202020204" pitchFamily="34" charset="0"/>
                <a:ea typeface="Calibri" pitchFamily="34" charset="-122"/>
                <a:cs typeface="Arial" panose="020B0604020202020204" pitchFamily="34" charset="0"/>
              </a:rPr>
              <a:t>lexicón de palabras positivas y negativas sobre los titulares reales de t+1, no FinBERT.</a:t>
            </a:r>
            <a:endParaRPr lang="en-US" sz="980" dirty="0">
              <a:latin typeface="Arial" panose="020B0604020202020204" pitchFamily="34" charset="0"/>
              <a:cs typeface="Arial" panose="020B0604020202020204" pitchFamily="34" charset="0"/>
            </a:endParaRPr>
          </a:p>
        </p:txBody>
      </p:sp>
      <p:sp>
        <p:nvSpPr>
          <p:cNvPr id="34" name="Shape 25"/>
          <p:cNvSpPr/>
          <p:nvPr/>
        </p:nvSpPr>
        <p:spPr>
          <a:xfrm>
            <a:off x="640080" y="4709160"/>
            <a:ext cx="5330952" cy="128016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pic>
        <p:nvPicPr>
          <p:cNvPr id="36" name="Image 7" descr="icon_cut.png"/>
          <p:cNvPicPr>
            <a:picLocks noChangeAspect="1"/>
          </p:cNvPicPr>
          <p:nvPr/>
        </p:nvPicPr>
        <p:blipFill>
          <a:blip r:embed="rId8"/>
          <a:stretch>
            <a:fillRect/>
          </a:stretch>
        </p:blipFill>
        <p:spPr>
          <a:xfrm>
            <a:off x="859536" y="4910328"/>
            <a:ext cx="274320" cy="274320"/>
          </a:xfrm>
          <a:prstGeom prst="rect">
            <a:avLst/>
          </a:prstGeom>
        </p:spPr>
      </p:pic>
      <p:sp>
        <p:nvSpPr>
          <p:cNvPr id="37" name="Text 27"/>
          <p:cNvSpPr/>
          <p:nvPr/>
        </p:nvSpPr>
        <p:spPr>
          <a:xfrm>
            <a:off x="1225296" y="4855464"/>
            <a:ext cx="4553712" cy="384048"/>
          </a:xfrm>
          <a:prstGeom prst="rect">
            <a:avLst/>
          </a:prstGeom>
          <a:noFill/>
          <a:ln/>
        </p:spPr>
        <p:txBody>
          <a:bodyPr wrap="square" lIns="0" tIns="0" rIns="0" bIns="0" rtlCol="0" anchor="ctr"/>
          <a:lstStyle/>
          <a:p>
            <a:pPr marL="0" indent="0">
              <a:buNone/>
            </a:pPr>
            <a:r>
              <a:rPr lang="en-US" sz="1200" b="1" dirty="0">
                <a:solidFill>
                  <a:srgbClr val="23304A"/>
                </a:solidFill>
                <a:latin typeface="Arial" panose="020B0604020202020204" pitchFamily="34" charset="0"/>
                <a:ea typeface="Calibri" pitchFamily="34" charset="-122"/>
                <a:cs typeface="Arial" panose="020B0604020202020204" pitchFamily="34" charset="0"/>
              </a:rPr>
              <a:t>Split estrictamente temporal</a:t>
            </a:r>
            <a:endParaRPr lang="en-US" sz="1200" dirty="0">
              <a:latin typeface="Arial" panose="020B0604020202020204" pitchFamily="34" charset="0"/>
              <a:cs typeface="Arial" panose="020B0604020202020204" pitchFamily="34" charset="0"/>
            </a:endParaRPr>
          </a:p>
        </p:txBody>
      </p:sp>
      <p:sp>
        <p:nvSpPr>
          <p:cNvPr id="38" name="Text 28"/>
          <p:cNvSpPr/>
          <p:nvPr/>
        </p:nvSpPr>
        <p:spPr>
          <a:xfrm>
            <a:off x="877824" y="5239512"/>
            <a:ext cx="4873752" cy="685800"/>
          </a:xfrm>
          <a:prstGeom prst="rect">
            <a:avLst/>
          </a:prstGeom>
          <a:noFill/>
          <a:ln/>
        </p:spPr>
        <p:txBody>
          <a:bodyPr wrap="square" lIns="0" tIns="0" rIns="0" bIns="0" rtlCol="0" anchor="ctr"/>
          <a:lstStyle/>
          <a:p>
            <a:pPr marL="0" indent="0">
              <a:lnSpc>
                <a:spcPct val="115000"/>
              </a:lnSpc>
              <a:buNone/>
            </a:pPr>
            <a:r>
              <a:rPr lang="en-US" sz="980" dirty="0">
                <a:solidFill>
                  <a:srgbClr val="667085"/>
                </a:solidFill>
                <a:latin typeface="Arial" panose="020B0604020202020204" pitchFamily="34" charset="0"/>
                <a:ea typeface="Calibri" pitchFamily="34" charset="-122"/>
                <a:cs typeface="Arial" panose="020B0604020202020204" pitchFamily="34" charset="0"/>
              </a:rPr>
              <a:t>70 / 15 / 15 ordenado por fecha, sin shuffle. Evita el leakage de información futura, fundamental en finanzas.</a:t>
            </a:r>
            <a:endParaRPr lang="en-US" sz="980" dirty="0">
              <a:latin typeface="Arial" panose="020B0604020202020204" pitchFamily="34" charset="0"/>
              <a:cs typeface="Arial" panose="020B0604020202020204" pitchFamily="34" charset="0"/>
            </a:endParaRPr>
          </a:p>
        </p:txBody>
      </p:sp>
      <p:sp>
        <p:nvSpPr>
          <p:cNvPr id="39" name="Shape 29"/>
          <p:cNvSpPr/>
          <p:nvPr/>
        </p:nvSpPr>
        <p:spPr>
          <a:xfrm>
            <a:off x="6217920" y="4709160"/>
            <a:ext cx="5330952" cy="1280160"/>
          </a:xfrm>
          <a:prstGeom prst="rect">
            <a:avLst/>
          </a:prstGeom>
          <a:solidFill>
            <a:srgbClr val="1E2A4A"/>
          </a:solidFill>
          <a:ln w="12700">
            <a:solidFill>
              <a:srgbClr val="1E2A4A"/>
            </a:solidFill>
            <a:prstDash val="solid"/>
          </a:ln>
          <a:effectLst>
            <a:outerShdw blurRad="114300" dist="38100" dir="8100000" algn="bl" rotWithShape="0">
              <a:srgbClr val="1E2A4A">
                <a:alpha val="14000"/>
              </a:srgbClr>
            </a:outerShdw>
          </a:effectLst>
        </p:spPr>
      </p:sp>
      <p:pic>
        <p:nvPicPr>
          <p:cNvPr id="41" name="Image 8" descr="icon_sliders.png"/>
          <p:cNvPicPr>
            <a:picLocks noChangeAspect="1"/>
          </p:cNvPicPr>
          <p:nvPr/>
        </p:nvPicPr>
        <p:blipFill>
          <a:blip r:embed="rId9"/>
          <a:stretch>
            <a:fillRect/>
          </a:stretch>
        </p:blipFill>
        <p:spPr>
          <a:xfrm>
            <a:off x="6437376" y="4910328"/>
            <a:ext cx="274320" cy="274320"/>
          </a:xfrm>
          <a:prstGeom prst="rect">
            <a:avLst/>
          </a:prstGeom>
        </p:spPr>
      </p:pic>
      <p:sp>
        <p:nvSpPr>
          <p:cNvPr id="42" name="Text 31"/>
          <p:cNvSpPr/>
          <p:nvPr/>
        </p:nvSpPr>
        <p:spPr>
          <a:xfrm>
            <a:off x="6803136" y="4855464"/>
            <a:ext cx="4553712" cy="384048"/>
          </a:xfrm>
          <a:prstGeom prst="rect">
            <a:avLst/>
          </a:prstGeom>
          <a:noFill/>
          <a:ln/>
        </p:spPr>
        <p:txBody>
          <a:bodyPr wrap="square" lIns="0" tIns="0" rIns="0" bIns="0" rtlCol="0" anchor="ctr"/>
          <a:lstStyle/>
          <a:p>
            <a:pPr marL="0" indent="0">
              <a:buNone/>
            </a:pPr>
            <a:r>
              <a:rPr lang="en-US" sz="1200" b="1" dirty="0">
                <a:solidFill>
                  <a:srgbClr val="FFFFFF"/>
                </a:solidFill>
                <a:latin typeface="Arial" panose="020B0604020202020204" pitchFamily="34" charset="0"/>
                <a:ea typeface="Calibri" pitchFamily="34" charset="-122"/>
                <a:cs typeface="Arial" panose="020B0604020202020204" pitchFamily="34" charset="0"/>
              </a:rPr>
              <a:t>Pérdida enmascarada sobre el prompt</a:t>
            </a:r>
            <a:endParaRPr lang="en-US" sz="1200" dirty="0">
              <a:latin typeface="Arial" panose="020B0604020202020204" pitchFamily="34" charset="0"/>
              <a:cs typeface="Arial" panose="020B0604020202020204" pitchFamily="34" charset="0"/>
            </a:endParaRPr>
          </a:p>
        </p:txBody>
      </p:sp>
      <p:sp>
        <p:nvSpPr>
          <p:cNvPr id="43" name="Text 32"/>
          <p:cNvSpPr/>
          <p:nvPr/>
        </p:nvSpPr>
        <p:spPr>
          <a:xfrm>
            <a:off x="6455664" y="5239512"/>
            <a:ext cx="4873752" cy="685800"/>
          </a:xfrm>
          <a:prstGeom prst="rect">
            <a:avLst/>
          </a:prstGeom>
          <a:noFill/>
          <a:ln/>
        </p:spPr>
        <p:txBody>
          <a:bodyPr wrap="square" lIns="0" tIns="0" rIns="0" bIns="0" rtlCol="0" anchor="ctr"/>
          <a:lstStyle/>
          <a:p>
            <a:pPr marL="0" indent="0">
              <a:lnSpc>
                <a:spcPct val="115000"/>
              </a:lnSpc>
              <a:buNone/>
            </a:pPr>
            <a:r>
              <a:rPr lang="en-US" sz="980" dirty="0">
                <a:solidFill>
                  <a:srgbClr val="C2CEDF"/>
                </a:solidFill>
                <a:latin typeface="Arial" panose="020B0604020202020204" pitchFamily="34" charset="0"/>
                <a:ea typeface="Calibri" pitchFamily="34" charset="-122"/>
                <a:cs typeface="Arial" panose="020B0604020202020204" pitchFamily="34" charset="0"/>
              </a:rPr>
              <a:t>Se asignan -100 a las posiciones del prompt: el gradiente proviene solo del completion. El modelo no copia el contexto, genera el target.</a:t>
            </a:r>
            <a:endParaRPr lang="en-US" sz="980" dirty="0">
              <a:latin typeface="Arial" panose="020B0604020202020204" pitchFamily="34" charset="0"/>
              <a:cs typeface="Arial" panose="020B0604020202020204" pitchFamily="34" charset="0"/>
            </a:endParaRPr>
          </a:p>
        </p:txBody>
      </p:sp>
      <p:sp>
        <p:nvSpPr>
          <p:cNvPr id="45" name="Text 7">
            <a:extLst>
              <a:ext uri="{FF2B5EF4-FFF2-40B4-BE49-F238E27FC236}">
                <a16:creationId xmlns:a16="http://schemas.microsoft.com/office/drawing/2014/main" id="{4FD5CD8B-C6AE-63F7-45C7-B02BA5D575EA}"/>
              </a:ext>
            </a:extLst>
          </p:cNvPr>
          <p:cNvSpPr/>
          <p:nvPr/>
        </p:nvSpPr>
        <p:spPr>
          <a:xfrm>
            <a:off x="6947452" y="6010977"/>
            <a:ext cx="4573988" cy="795528"/>
          </a:xfrm>
          <a:prstGeom prst="rect">
            <a:avLst/>
          </a:prstGeom>
          <a:noFill/>
          <a:ln/>
        </p:spPr>
        <p:txBody>
          <a:bodyPr wrap="square" lIns="0" tIns="0" rIns="0" bIns="0" rtlCol="0" anchor="ctr"/>
          <a:lstStyle/>
          <a:p>
            <a:pPr marL="0" indent="0" algn="r">
              <a:buNone/>
            </a:pPr>
            <a:r>
              <a:rPr lang="en-US" sz="105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05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05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050" dirty="0">
              <a:solidFill>
                <a:schemeClr val="bg2">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Finetuning: </a:t>
            </a:r>
            <a:r>
              <a:rPr lang="en-US" sz="2800" b="1" dirty="0" err="1">
                <a:solidFill>
                  <a:srgbClr val="23304A"/>
                </a:solidFill>
                <a:latin typeface="Arial" panose="020B0604020202020204" pitchFamily="34" charset="0"/>
                <a:ea typeface="Georgia" pitchFamily="34" charset="-122"/>
                <a:cs typeface="Arial" panose="020B0604020202020204" pitchFamily="34" charset="0"/>
              </a:rPr>
              <a:t>supervisado</a:t>
            </a:r>
            <a:r>
              <a:rPr lang="en-US" sz="2800" b="1" dirty="0">
                <a:solidFill>
                  <a:srgbClr val="23304A"/>
                </a:solidFill>
                <a:latin typeface="Arial" panose="020B0604020202020204" pitchFamily="34" charset="0"/>
                <a:ea typeface="Georgia" pitchFamily="34" charset="-122"/>
                <a:cs typeface="Arial" panose="020B0604020202020204" pitchFamily="34" charset="0"/>
              </a:rPr>
              <a:t> &amp; prompt / target</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06</a:t>
            </a:r>
            <a:endParaRPr lang="en-US" sz="1500" dirty="0">
              <a:latin typeface="Arial" panose="020B0604020202020204" pitchFamily="34" charset="0"/>
              <a:cs typeface="Arial" panose="020B0604020202020204" pitchFamily="34" charset="0"/>
            </a:endParaRPr>
          </a:p>
        </p:txBody>
      </p:sp>
      <p:sp>
        <p:nvSpPr>
          <p:cNvPr id="5" name="Text 3"/>
          <p:cNvSpPr/>
          <p:nvPr/>
        </p:nvSpPr>
        <p:spPr>
          <a:xfrm>
            <a:off x="640080" y="1481328"/>
            <a:ext cx="10881360" cy="365760"/>
          </a:xfrm>
          <a:prstGeom prst="rect">
            <a:avLst/>
          </a:prstGeom>
          <a:noFill/>
          <a:ln/>
        </p:spPr>
        <p:txBody>
          <a:bodyPr wrap="square" lIns="0" tIns="0" rIns="0" bIns="0" rtlCol="0" anchor="ctr"/>
          <a:lstStyle/>
          <a:p>
            <a:pPr marL="0" indent="0">
              <a:buNone/>
            </a:pPr>
            <a:r>
              <a:rPr lang="en-US" sz="1250" dirty="0" err="1">
                <a:latin typeface="Arial" panose="020B0604020202020204" pitchFamily="34" charset="0"/>
                <a:cs typeface="Arial" panose="020B0604020202020204" pitchFamily="34" charset="0"/>
              </a:rPr>
              <a:t>Preprocesamiento</a:t>
            </a:r>
            <a:r>
              <a:rPr lang="en-US" sz="1250" dirty="0">
                <a:latin typeface="Arial" panose="020B0604020202020204" pitchFamily="34" charset="0"/>
                <a:cs typeface="Arial" panose="020B0604020202020204" pitchFamily="34" charset="0"/>
              </a:rPr>
              <a:t> del dataset con prompt/competition.</a:t>
            </a:r>
          </a:p>
        </p:txBody>
      </p:sp>
      <p:sp>
        <p:nvSpPr>
          <p:cNvPr id="6" name="Shape 4"/>
          <p:cNvSpPr/>
          <p:nvPr/>
        </p:nvSpPr>
        <p:spPr>
          <a:xfrm>
            <a:off x="640080" y="2011680"/>
            <a:ext cx="5989320" cy="3310128"/>
          </a:xfrm>
          <a:prstGeom prst="rect">
            <a:avLst/>
          </a:prstGeom>
          <a:solidFill>
            <a:srgbClr val="1E2A4A"/>
          </a:solidFill>
          <a:ln w="12700">
            <a:solidFill>
              <a:srgbClr val="333333"/>
            </a:solidFill>
            <a:prstDash val="solid"/>
          </a:ln>
          <a:effectLst>
            <a:outerShdw blurRad="114300" dist="38100" dir="8100000" algn="bl" rotWithShape="0">
              <a:srgbClr val="1E2A4A">
                <a:alpha val="14000"/>
              </a:srgbClr>
            </a:outerShdw>
          </a:effectLst>
        </p:spPr>
      </p:sp>
      <p:sp>
        <p:nvSpPr>
          <p:cNvPr id="7" name="Shape 5"/>
          <p:cNvSpPr/>
          <p:nvPr/>
        </p:nvSpPr>
        <p:spPr>
          <a:xfrm>
            <a:off x="640080" y="2011680"/>
            <a:ext cx="5989320" cy="384048"/>
          </a:xfrm>
          <a:prstGeom prst="rect">
            <a:avLst/>
          </a:prstGeom>
          <a:solidFill>
            <a:srgbClr val="182238"/>
          </a:solidFill>
          <a:ln w="12700">
            <a:solidFill>
              <a:srgbClr val="333333"/>
            </a:solidFill>
            <a:prstDash val="solid"/>
          </a:ln>
        </p:spPr>
      </p:sp>
      <p:sp>
        <p:nvSpPr>
          <p:cNvPr id="8" name="Shape 6"/>
          <p:cNvSpPr/>
          <p:nvPr/>
        </p:nvSpPr>
        <p:spPr>
          <a:xfrm>
            <a:off x="841248" y="2139696"/>
            <a:ext cx="128016" cy="128016"/>
          </a:xfrm>
          <a:prstGeom prst="ellipse">
            <a:avLst/>
          </a:prstGeom>
          <a:solidFill>
            <a:srgbClr val="B0413E"/>
          </a:solidFill>
          <a:ln w="12700">
            <a:solidFill>
              <a:srgbClr val="333333"/>
            </a:solidFill>
            <a:prstDash val="solid"/>
          </a:ln>
        </p:spPr>
      </p:sp>
      <p:sp>
        <p:nvSpPr>
          <p:cNvPr id="9" name="Shape 7"/>
          <p:cNvSpPr/>
          <p:nvPr/>
        </p:nvSpPr>
        <p:spPr>
          <a:xfrm>
            <a:off x="1078992" y="2139696"/>
            <a:ext cx="128016" cy="128016"/>
          </a:xfrm>
          <a:prstGeom prst="ellipse">
            <a:avLst/>
          </a:prstGeom>
          <a:solidFill>
            <a:srgbClr val="C8923B"/>
          </a:solidFill>
          <a:ln w="12700">
            <a:solidFill>
              <a:srgbClr val="333333"/>
            </a:solidFill>
            <a:prstDash val="solid"/>
          </a:ln>
        </p:spPr>
      </p:sp>
      <p:sp>
        <p:nvSpPr>
          <p:cNvPr id="10" name="Shape 8"/>
          <p:cNvSpPr/>
          <p:nvPr/>
        </p:nvSpPr>
        <p:spPr>
          <a:xfrm>
            <a:off x="1316736" y="2139696"/>
            <a:ext cx="128016" cy="128016"/>
          </a:xfrm>
          <a:prstGeom prst="ellipse">
            <a:avLst/>
          </a:prstGeom>
          <a:solidFill>
            <a:srgbClr val="3F7D58"/>
          </a:solidFill>
          <a:ln w="12700">
            <a:solidFill>
              <a:srgbClr val="333333"/>
            </a:solidFill>
            <a:prstDash val="solid"/>
          </a:ln>
        </p:spPr>
      </p:sp>
      <p:sp>
        <p:nvSpPr>
          <p:cNvPr id="11" name="Text 9"/>
          <p:cNvSpPr/>
          <p:nvPr/>
        </p:nvSpPr>
        <p:spPr>
          <a:xfrm>
            <a:off x="1737360" y="2011680"/>
            <a:ext cx="4709160" cy="384048"/>
          </a:xfrm>
          <a:prstGeom prst="rect">
            <a:avLst/>
          </a:prstGeom>
          <a:noFill/>
          <a:ln/>
        </p:spPr>
        <p:txBody>
          <a:bodyPr wrap="square" lIns="0" tIns="0" rIns="0" bIns="0" rtlCol="0" anchor="ctr"/>
          <a:lstStyle/>
          <a:p>
            <a:pPr marL="0" indent="0">
              <a:buNone/>
            </a:pPr>
            <a:r>
              <a:rPr lang="en-US" sz="950" dirty="0">
                <a:solidFill>
                  <a:srgbClr val="8FA6C4"/>
                </a:solidFill>
                <a:latin typeface="Consolas" pitchFamily="34" charset="0"/>
                <a:ea typeface="Consolas" pitchFamily="34" charset="-122"/>
                <a:cs typeface="Consolas" pitchFamily="34" charset="-120"/>
              </a:rPr>
              <a:t>prompt  ·  ejemplo abreviado</a:t>
            </a:r>
            <a:endParaRPr lang="en-US" sz="950" dirty="0"/>
          </a:p>
        </p:txBody>
      </p:sp>
      <p:sp>
        <p:nvSpPr>
          <p:cNvPr id="12" name="Text 10"/>
          <p:cNvSpPr/>
          <p:nvPr/>
        </p:nvSpPr>
        <p:spPr>
          <a:xfrm>
            <a:off x="932688" y="2542032"/>
            <a:ext cx="5486400" cy="2596896"/>
          </a:xfrm>
          <a:prstGeom prst="rect">
            <a:avLst/>
          </a:prstGeom>
          <a:noFill/>
          <a:ln/>
        </p:spPr>
        <p:txBody>
          <a:bodyPr wrap="square" lIns="0" tIns="0" rIns="0" bIns="0" rtlCol="0" anchor="ctr"/>
          <a:lstStyle/>
          <a:p>
            <a:pPr marL="0" indent="0">
              <a:lnSpc>
                <a:spcPct val="122000"/>
              </a:lnSpc>
              <a:buNone/>
            </a:pPr>
            <a:r>
              <a:rPr lang="en-US" sz="1050" dirty="0">
                <a:solidFill>
                  <a:srgbClr val="6FB8C4"/>
                </a:solidFill>
                <a:latin typeface="Consolas" pitchFamily="34" charset="0"/>
                <a:ea typeface="Consolas" pitchFamily="34" charset="-122"/>
                <a:cs typeface="Consolas" pitchFamily="34" charset="-120"/>
              </a:rPr>
              <a:t>[TICKER: AMD]</a:t>
            </a:r>
            <a:endParaRPr lang="en-US" sz="1050" dirty="0"/>
          </a:p>
          <a:p>
            <a:pPr marL="0" indent="0">
              <a:lnSpc>
                <a:spcPct val="122000"/>
              </a:lnSpc>
              <a:buNone/>
            </a:pPr>
            <a:r>
              <a:rPr lang="en-US" sz="1050" dirty="0">
                <a:solidFill>
                  <a:srgbClr val="6FB8C4"/>
                </a:solidFill>
                <a:latin typeface="Consolas" pitchFamily="34" charset="0"/>
                <a:ea typeface="Consolas" pitchFamily="34" charset="-122"/>
                <a:cs typeface="Consolas" pitchFamily="34" charset="-120"/>
              </a:rPr>
              <a:t>[DATE: 2023-04-18]</a:t>
            </a:r>
            <a:endParaRPr lang="en-US" sz="1050" dirty="0"/>
          </a:p>
          <a:p>
            <a:pPr marL="0" indent="0">
              <a:lnSpc>
                <a:spcPct val="122000"/>
              </a:lnSpc>
              <a:buNone/>
            </a:pPr>
            <a:r>
              <a:rPr lang="en-US" sz="1050" dirty="0">
                <a:solidFill>
                  <a:srgbClr val="D8A24A"/>
                </a:solidFill>
                <a:latin typeface="Consolas" pitchFamily="34" charset="0"/>
                <a:ea typeface="Consolas" pitchFamily="34" charset="-122"/>
                <a:cs typeface="Consolas" pitchFamily="34" charset="-120"/>
              </a:rPr>
              <a:t>[PRICE_CHANGE: -0.10%]</a:t>
            </a:r>
            <a:endParaRPr lang="en-US" sz="1050" dirty="0"/>
          </a:p>
          <a:p>
            <a:pPr marL="0" indent="0">
              <a:lnSpc>
                <a:spcPct val="122000"/>
              </a:lnSpc>
              <a:buNone/>
            </a:pPr>
            <a:r>
              <a:rPr lang="en-US" sz="1050" dirty="0">
                <a:solidFill>
                  <a:srgbClr val="D8A24A"/>
                </a:solidFill>
                <a:latin typeface="Consolas" pitchFamily="34" charset="0"/>
                <a:ea typeface="Consolas" pitchFamily="34" charset="-122"/>
                <a:cs typeface="Consolas" pitchFamily="34" charset="-120"/>
              </a:rPr>
              <a:t>[VOLUME_RATIO: 0.80]</a:t>
            </a:r>
            <a:endParaRPr lang="en-US" sz="1050" dirty="0"/>
          </a:p>
          <a:p>
            <a:pPr marL="0" indent="0">
              <a:lnSpc>
                <a:spcPct val="122000"/>
              </a:lnSpc>
              <a:buNone/>
            </a:pPr>
            <a:r>
              <a:rPr lang="en-US" sz="1050" dirty="0">
                <a:solidFill>
                  <a:srgbClr val="D8A24A"/>
                </a:solidFill>
                <a:latin typeface="Consolas" pitchFamily="34" charset="0"/>
                <a:ea typeface="Consolas" pitchFamily="34" charset="-122"/>
                <a:cs typeface="Consolas" pitchFamily="34" charset="-120"/>
              </a:rPr>
              <a:t>[RSI: 36.50]</a:t>
            </a:r>
            <a:endParaRPr lang="en-US" sz="1050" dirty="0"/>
          </a:p>
          <a:p>
            <a:pPr marL="0" indent="0">
              <a:lnSpc>
                <a:spcPct val="122000"/>
              </a:lnSpc>
              <a:buNone/>
            </a:pPr>
            <a:r>
              <a:rPr lang="en-US" sz="1050" dirty="0">
                <a:solidFill>
                  <a:srgbClr val="FFFFFF"/>
                </a:solidFill>
                <a:latin typeface="Consolas" pitchFamily="34" charset="0"/>
                <a:ea typeface="Consolas" pitchFamily="34" charset="-122"/>
                <a:cs typeface="Consolas" pitchFamily="34" charset="-120"/>
              </a:rPr>
              <a:t> </a:t>
            </a:r>
            <a:endParaRPr lang="en-US" sz="1050" dirty="0"/>
          </a:p>
          <a:p>
            <a:pPr marL="0" indent="0">
              <a:lnSpc>
                <a:spcPct val="122000"/>
              </a:lnSpc>
              <a:buNone/>
            </a:pPr>
            <a:r>
              <a:rPr lang="en-US" sz="1050" dirty="0">
                <a:solidFill>
                  <a:srgbClr val="9FB0CC"/>
                </a:solidFill>
                <a:latin typeface="Consolas" pitchFamily="34" charset="0"/>
                <a:ea typeface="Consolas" pitchFamily="34" charset="-122"/>
                <a:cs typeface="Consolas" pitchFamily="34" charset="-120"/>
              </a:rPr>
              <a:t>[PREVIOUS NEWS]</a:t>
            </a:r>
            <a:endParaRPr lang="en-US" sz="1050" dirty="0"/>
          </a:p>
          <a:p>
            <a:pPr marL="0" indent="0">
              <a:lnSpc>
                <a:spcPct val="122000"/>
              </a:lnSpc>
              <a:buNone/>
            </a:pPr>
            <a:r>
              <a:rPr lang="en-US" sz="1050" dirty="0">
                <a:solidFill>
                  <a:srgbClr val="E6ECF5"/>
                </a:solidFill>
                <a:latin typeface="Consolas" pitchFamily="34" charset="0"/>
                <a:ea typeface="Consolas" pitchFamily="34" charset="-122"/>
                <a:cs typeface="Consolas" pitchFamily="34" charset="-120"/>
              </a:rPr>
              <a:t>  - 2023-04-16: analysts trim AMD estimates</a:t>
            </a:r>
            <a:endParaRPr lang="en-US" sz="1050" dirty="0"/>
          </a:p>
          <a:p>
            <a:pPr marL="0" indent="0">
              <a:lnSpc>
                <a:spcPct val="122000"/>
              </a:lnSpc>
              <a:buNone/>
            </a:pPr>
            <a:r>
              <a:rPr lang="en-US" sz="1050" dirty="0">
                <a:solidFill>
                  <a:srgbClr val="E6ECF5"/>
                </a:solidFill>
                <a:latin typeface="Consolas" pitchFamily="34" charset="0"/>
                <a:ea typeface="Consolas" pitchFamily="34" charset="-122"/>
                <a:cs typeface="Consolas" pitchFamily="34" charset="-120"/>
              </a:rPr>
              <a:t>  - 2023-04-17: chip sector slides on macro</a:t>
            </a:r>
            <a:endParaRPr lang="en-US" sz="1050" dirty="0"/>
          </a:p>
          <a:p>
            <a:pPr marL="0" indent="0">
              <a:lnSpc>
                <a:spcPct val="122000"/>
              </a:lnSpc>
              <a:buNone/>
            </a:pPr>
            <a:r>
              <a:rPr lang="en-US" sz="1050" dirty="0">
                <a:solidFill>
                  <a:srgbClr val="E6ECF5"/>
                </a:solidFill>
                <a:latin typeface="Consolas" pitchFamily="34" charset="0"/>
                <a:ea typeface="Consolas" pitchFamily="34" charset="-122"/>
                <a:cs typeface="Consolas" pitchFamily="34" charset="-120"/>
              </a:rPr>
              <a:t>  - 2023-04-18: AMD sinks as market gains</a:t>
            </a:r>
            <a:endParaRPr lang="en-US" sz="1050" dirty="0"/>
          </a:p>
          <a:p>
            <a:pPr marL="0" indent="0">
              <a:lnSpc>
                <a:spcPct val="122000"/>
              </a:lnSpc>
              <a:buNone/>
            </a:pPr>
            <a:r>
              <a:rPr lang="en-US" sz="1050" dirty="0">
                <a:solidFill>
                  <a:srgbClr val="8FA6C4"/>
                </a:solidFill>
                <a:latin typeface="Consolas" pitchFamily="34" charset="0"/>
                <a:ea typeface="Consolas" pitchFamily="34" charset="-122"/>
                <a:cs typeface="Consolas" pitchFamily="34" charset="-120"/>
              </a:rPr>
              <a:t>                       &lt;-- ventana k=3</a:t>
            </a:r>
            <a:endParaRPr lang="en-US" sz="1050" dirty="0"/>
          </a:p>
          <a:p>
            <a:pPr marL="0" indent="0">
              <a:lnSpc>
                <a:spcPct val="122000"/>
              </a:lnSpc>
              <a:buNone/>
            </a:pPr>
            <a:r>
              <a:rPr lang="en-US" sz="1050" dirty="0">
                <a:solidFill>
                  <a:srgbClr val="FFFFFF"/>
                </a:solidFill>
                <a:latin typeface="Consolas" pitchFamily="34" charset="0"/>
                <a:ea typeface="Consolas" pitchFamily="34" charset="-122"/>
                <a:cs typeface="Consolas" pitchFamily="34" charset="-120"/>
              </a:rPr>
              <a:t> </a:t>
            </a:r>
            <a:endParaRPr lang="en-US" sz="1050" dirty="0"/>
          </a:p>
          <a:p>
            <a:pPr marL="0" indent="0">
              <a:lnSpc>
                <a:spcPct val="122000"/>
              </a:lnSpc>
              <a:buNone/>
            </a:pPr>
            <a:r>
              <a:rPr lang="en-US" sz="1050" dirty="0">
                <a:solidFill>
                  <a:srgbClr val="82C49B"/>
                </a:solidFill>
                <a:latin typeface="Consolas" pitchFamily="34" charset="0"/>
                <a:ea typeface="Consolas" pitchFamily="34" charset="-122"/>
                <a:cs typeface="Consolas" pitchFamily="34" charset="-120"/>
              </a:rPr>
              <a:t>[NEXT DAY NEWS]   &lt;-- target</a:t>
            </a:r>
            <a:endParaRPr lang="en-US" sz="1050" dirty="0"/>
          </a:p>
        </p:txBody>
      </p:sp>
      <p:sp>
        <p:nvSpPr>
          <p:cNvPr id="13" name="Shape 11"/>
          <p:cNvSpPr/>
          <p:nvPr/>
        </p:nvSpPr>
        <p:spPr>
          <a:xfrm>
            <a:off x="640080" y="5468112"/>
            <a:ext cx="5989320" cy="566928"/>
          </a:xfrm>
          <a:prstGeom prst="rect">
            <a:avLst/>
          </a:prstGeom>
          <a:solidFill>
            <a:srgbClr val="EAF1F4"/>
          </a:solidFill>
          <a:ln w="12700">
            <a:solidFill>
              <a:srgbClr val="D6DEE4"/>
            </a:solidFill>
            <a:prstDash val="solid"/>
          </a:ln>
        </p:spPr>
      </p:sp>
      <p:sp>
        <p:nvSpPr>
          <p:cNvPr id="15" name="Text 13"/>
          <p:cNvSpPr/>
          <p:nvPr/>
        </p:nvSpPr>
        <p:spPr>
          <a:xfrm>
            <a:off x="859536" y="5468112"/>
            <a:ext cx="5568696" cy="566928"/>
          </a:xfrm>
          <a:prstGeom prst="rect">
            <a:avLst/>
          </a:prstGeom>
          <a:noFill/>
          <a:ln/>
        </p:spPr>
        <p:txBody>
          <a:bodyPr wrap="square" lIns="0" tIns="0" rIns="0" bIns="0" rtlCol="0" anchor="ctr"/>
          <a:lstStyle/>
          <a:p>
            <a:pPr marL="0" indent="0">
              <a:buNone/>
            </a:pPr>
            <a:r>
              <a:rPr lang="en-US" sz="1000" b="1" dirty="0">
                <a:solidFill>
                  <a:srgbClr val="23304A"/>
                </a:solidFill>
                <a:latin typeface="Arial" panose="020B0604020202020204" pitchFamily="34" charset="0"/>
                <a:ea typeface="Calibri" pitchFamily="34" charset="-122"/>
                <a:cs typeface="Arial" panose="020B0604020202020204" pitchFamily="34" charset="0"/>
              </a:rPr>
              <a:t>Pérdida enmascarada sobre el prompt  </a:t>
            </a:r>
            <a:r>
              <a:rPr lang="en-US" sz="1000" dirty="0">
                <a:solidFill>
                  <a:srgbClr val="667085"/>
                </a:solidFill>
                <a:latin typeface="Arial" panose="020B0604020202020204" pitchFamily="34" charset="0"/>
                <a:ea typeface="Calibri" pitchFamily="34" charset="-122"/>
                <a:cs typeface="Arial" panose="020B0604020202020204" pitchFamily="34" charset="0"/>
              </a:rPr>
              <a:t>→  el gradiente viene solo del completion.</a:t>
            </a:r>
            <a:endParaRPr lang="en-US" sz="1000" dirty="0">
              <a:latin typeface="Arial" panose="020B0604020202020204" pitchFamily="34" charset="0"/>
              <a:cs typeface="Arial" panose="020B0604020202020204" pitchFamily="34" charset="0"/>
            </a:endParaRPr>
          </a:p>
        </p:txBody>
      </p:sp>
      <p:sp>
        <p:nvSpPr>
          <p:cNvPr id="16" name="Shape 14"/>
          <p:cNvSpPr/>
          <p:nvPr/>
        </p:nvSpPr>
        <p:spPr>
          <a:xfrm>
            <a:off x="6931152" y="2011680"/>
            <a:ext cx="4620463" cy="1078992"/>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pic>
        <p:nvPicPr>
          <p:cNvPr id="18" name="Image 0" descr="icon_arrow_t.png"/>
          <p:cNvPicPr>
            <a:picLocks noChangeAspect="1"/>
          </p:cNvPicPr>
          <p:nvPr/>
        </p:nvPicPr>
        <p:blipFill>
          <a:blip r:embed="rId3"/>
          <a:stretch>
            <a:fillRect/>
          </a:stretch>
        </p:blipFill>
        <p:spPr>
          <a:xfrm>
            <a:off x="7132320" y="2194560"/>
            <a:ext cx="292608" cy="292608"/>
          </a:xfrm>
          <a:prstGeom prst="rect">
            <a:avLst/>
          </a:prstGeom>
        </p:spPr>
      </p:pic>
      <p:sp>
        <p:nvSpPr>
          <p:cNvPr id="19" name="Text 16"/>
          <p:cNvSpPr/>
          <p:nvPr/>
        </p:nvSpPr>
        <p:spPr>
          <a:xfrm>
            <a:off x="7534656" y="2157984"/>
            <a:ext cx="3843223" cy="365760"/>
          </a:xfrm>
          <a:prstGeom prst="rect">
            <a:avLst/>
          </a:prstGeom>
          <a:noFill/>
          <a:ln/>
        </p:spPr>
        <p:txBody>
          <a:bodyPr wrap="square" lIns="0" tIns="0" rIns="0" bIns="0" rtlCol="0" anchor="ctr"/>
          <a:lstStyle/>
          <a:p>
            <a:pPr marL="0" indent="0">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Prompt (contexto hasta el día t)</a:t>
            </a:r>
            <a:endParaRPr lang="en-US" sz="1250" dirty="0">
              <a:latin typeface="Arial" panose="020B0604020202020204" pitchFamily="34" charset="0"/>
              <a:cs typeface="Arial" panose="020B0604020202020204" pitchFamily="34" charset="0"/>
            </a:endParaRPr>
          </a:p>
        </p:txBody>
      </p:sp>
      <p:sp>
        <p:nvSpPr>
          <p:cNvPr id="20" name="Text 17"/>
          <p:cNvSpPr/>
          <p:nvPr/>
        </p:nvSpPr>
        <p:spPr>
          <a:xfrm>
            <a:off x="7150608" y="2514600"/>
            <a:ext cx="4199839" cy="438912"/>
          </a:xfrm>
          <a:prstGeom prst="rect">
            <a:avLst/>
          </a:prstGeom>
          <a:noFill/>
          <a:ln/>
        </p:spPr>
        <p:txBody>
          <a:bodyPr wrap="square" lIns="0" tIns="0" rIns="0" bIns="0" rtlCol="0" anchor="ctr"/>
          <a:lstStyle/>
          <a:p>
            <a:pPr marL="0" indent="0">
              <a:lnSpc>
                <a:spcPct val="112000"/>
              </a:lnSpc>
              <a:buNone/>
            </a:pPr>
            <a:r>
              <a:rPr lang="en-US" sz="1030" dirty="0">
                <a:solidFill>
                  <a:srgbClr val="667085"/>
                </a:solidFill>
                <a:latin typeface="Arial" panose="020B0604020202020204" pitchFamily="34" charset="0"/>
                <a:ea typeface="Calibri" pitchFamily="34" charset="-122"/>
                <a:cs typeface="Arial" panose="020B0604020202020204" pitchFamily="34" charset="0"/>
              </a:rPr>
              <a:t>Ticker, fecha, features numéricas de mercado y la ventana de noticias previas (k = 3 días).</a:t>
            </a:r>
            <a:endParaRPr lang="en-US" sz="1030" dirty="0">
              <a:latin typeface="Arial" panose="020B0604020202020204" pitchFamily="34" charset="0"/>
              <a:cs typeface="Arial" panose="020B0604020202020204" pitchFamily="34" charset="0"/>
            </a:endParaRPr>
          </a:p>
        </p:txBody>
      </p:sp>
      <p:sp>
        <p:nvSpPr>
          <p:cNvPr id="21" name="Shape 18"/>
          <p:cNvSpPr/>
          <p:nvPr/>
        </p:nvSpPr>
        <p:spPr>
          <a:xfrm>
            <a:off x="6931152" y="3273552"/>
            <a:ext cx="4620463" cy="969264"/>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pic>
        <p:nvPicPr>
          <p:cNvPr id="23" name="Image 1" descr="icon_target.png"/>
          <p:cNvPicPr>
            <a:picLocks noChangeAspect="1"/>
          </p:cNvPicPr>
          <p:nvPr/>
        </p:nvPicPr>
        <p:blipFill>
          <a:blip r:embed="rId4"/>
          <a:stretch>
            <a:fillRect/>
          </a:stretch>
        </p:blipFill>
        <p:spPr>
          <a:xfrm>
            <a:off x="7132320" y="3456432"/>
            <a:ext cx="292608" cy="292608"/>
          </a:xfrm>
          <a:prstGeom prst="rect">
            <a:avLst/>
          </a:prstGeom>
        </p:spPr>
      </p:pic>
      <p:sp>
        <p:nvSpPr>
          <p:cNvPr id="24" name="Text 20"/>
          <p:cNvSpPr/>
          <p:nvPr/>
        </p:nvSpPr>
        <p:spPr>
          <a:xfrm>
            <a:off x="7534656" y="3419856"/>
            <a:ext cx="3843223" cy="365760"/>
          </a:xfrm>
          <a:prstGeom prst="rect">
            <a:avLst/>
          </a:prstGeom>
          <a:noFill/>
          <a:ln/>
        </p:spPr>
        <p:txBody>
          <a:bodyPr wrap="square" lIns="0" tIns="0" rIns="0" bIns="0" rtlCol="0" anchor="ctr"/>
          <a:lstStyle/>
          <a:p>
            <a:pPr marL="0" indent="0">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Target (día t+1)</a:t>
            </a:r>
            <a:endParaRPr lang="en-US" sz="1250" dirty="0">
              <a:latin typeface="Arial" panose="020B0604020202020204" pitchFamily="34" charset="0"/>
              <a:cs typeface="Arial" panose="020B0604020202020204" pitchFamily="34" charset="0"/>
            </a:endParaRPr>
          </a:p>
        </p:txBody>
      </p:sp>
      <p:sp>
        <p:nvSpPr>
          <p:cNvPr id="25" name="Text 21"/>
          <p:cNvSpPr/>
          <p:nvPr/>
        </p:nvSpPr>
        <p:spPr>
          <a:xfrm>
            <a:off x="7150608" y="3776472"/>
            <a:ext cx="4199839" cy="329184"/>
          </a:xfrm>
          <a:prstGeom prst="rect">
            <a:avLst/>
          </a:prstGeom>
          <a:noFill/>
          <a:ln/>
        </p:spPr>
        <p:txBody>
          <a:bodyPr wrap="square" lIns="0" tIns="0" rIns="0" bIns="0" rtlCol="0" anchor="ctr"/>
          <a:lstStyle/>
          <a:p>
            <a:pPr marL="0" indent="0">
              <a:lnSpc>
                <a:spcPct val="112000"/>
              </a:lnSpc>
              <a:buNone/>
            </a:pPr>
            <a:r>
              <a:rPr lang="en-US" sz="1030" dirty="0">
                <a:solidFill>
                  <a:srgbClr val="667085"/>
                </a:solidFill>
                <a:latin typeface="Arial" panose="020B0604020202020204" pitchFamily="34" charset="0"/>
                <a:ea typeface="Calibri" pitchFamily="34" charset="-122"/>
                <a:cs typeface="Arial" panose="020B0604020202020204" pitchFamily="34" charset="0"/>
              </a:rPr>
              <a:t>La narrativa u outlook del día siguiente que el modelo debe generar.</a:t>
            </a:r>
            <a:endParaRPr lang="en-US" sz="1030" dirty="0">
              <a:latin typeface="Arial" panose="020B0604020202020204" pitchFamily="34" charset="0"/>
              <a:cs typeface="Arial" panose="020B0604020202020204" pitchFamily="34" charset="0"/>
            </a:endParaRPr>
          </a:p>
        </p:txBody>
      </p:sp>
      <p:sp>
        <p:nvSpPr>
          <p:cNvPr id="26" name="Shape 22"/>
          <p:cNvSpPr/>
          <p:nvPr/>
        </p:nvSpPr>
        <p:spPr>
          <a:xfrm>
            <a:off x="6931152" y="4425696"/>
            <a:ext cx="4620463" cy="137160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pic>
        <p:nvPicPr>
          <p:cNvPr id="28" name="Image 2" descr="icon_sliders.png"/>
          <p:cNvPicPr>
            <a:picLocks noChangeAspect="1"/>
          </p:cNvPicPr>
          <p:nvPr/>
        </p:nvPicPr>
        <p:blipFill>
          <a:blip r:embed="rId5"/>
          <a:stretch>
            <a:fillRect/>
          </a:stretch>
        </p:blipFill>
        <p:spPr>
          <a:xfrm>
            <a:off x="7132320" y="4608576"/>
            <a:ext cx="292608" cy="292608"/>
          </a:xfrm>
          <a:prstGeom prst="rect">
            <a:avLst/>
          </a:prstGeom>
        </p:spPr>
      </p:pic>
      <p:sp>
        <p:nvSpPr>
          <p:cNvPr id="29" name="Text 24"/>
          <p:cNvSpPr/>
          <p:nvPr/>
        </p:nvSpPr>
        <p:spPr>
          <a:xfrm>
            <a:off x="7534656" y="4572000"/>
            <a:ext cx="3843223" cy="365760"/>
          </a:xfrm>
          <a:prstGeom prst="rect">
            <a:avLst/>
          </a:prstGeom>
          <a:noFill/>
          <a:ln/>
        </p:spPr>
        <p:txBody>
          <a:bodyPr wrap="square" lIns="0" tIns="0" rIns="0" bIns="0" rtlCol="0" anchor="ctr"/>
          <a:lstStyle/>
          <a:p>
            <a:pPr marL="0" indent="0">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Variantes de target</a:t>
            </a:r>
            <a:endParaRPr lang="en-US" sz="1250" dirty="0">
              <a:latin typeface="Arial" panose="020B0604020202020204" pitchFamily="34" charset="0"/>
              <a:cs typeface="Arial" panose="020B0604020202020204" pitchFamily="34" charset="0"/>
            </a:endParaRPr>
          </a:p>
        </p:txBody>
      </p:sp>
      <p:sp>
        <p:nvSpPr>
          <p:cNvPr id="30" name="Text 25"/>
          <p:cNvSpPr/>
          <p:nvPr/>
        </p:nvSpPr>
        <p:spPr>
          <a:xfrm>
            <a:off x="7150608" y="4928616"/>
            <a:ext cx="4199839" cy="731520"/>
          </a:xfrm>
          <a:prstGeom prst="rect">
            <a:avLst/>
          </a:prstGeom>
          <a:noFill/>
          <a:ln/>
        </p:spPr>
        <p:txBody>
          <a:bodyPr wrap="square" lIns="0" tIns="0" rIns="0" bIns="0" rtlCol="0" anchor="ctr"/>
          <a:lstStyle/>
          <a:p>
            <a:pPr marL="0" indent="0">
              <a:lnSpc>
                <a:spcPct val="112000"/>
              </a:lnSpc>
              <a:buNone/>
            </a:pPr>
            <a:r>
              <a:rPr lang="en-US" sz="1030" dirty="0">
                <a:solidFill>
                  <a:srgbClr val="667085"/>
                </a:solidFill>
                <a:latin typeface="Arial" panose="020B0604020202020204" pitchFamily="34" charset="0"/>
                <a:ea typeface="Calibri" pitchFamily="34" charset="-122"/>
                <a:cs typeface="Arial" panose="020B0604020202020204" pitchFamily="34" charset="0"/>
              </a:rPr>
              <a:t>Algunos runs usan texto libre, solo titulares; otros añaden estructura explícita de sentimiento y dirección, para comparar si estructurar ayuda al modelo.</a:t>
            </a:r>
            <a:endParaRPr lang="en-US" sz="1030" dirty="0">
              <a:latin typeface="Arial" panose="020B0604020202020204" pitchFamily="34" charset="0"/>
              <a:cs typeface="Arial" panose="020B0604020202020204" pitchFamily="34" charset="0"/>
            </a:endParaRPr>
          </a:p>
        </p:txBody>
      </p:sp>
      <p:sp>
        <p:nvSpPr>
          <p:cNvPr id="32" name="Text 7">
            <a:extLst>
              <a:ext uri="{FF2B5EF4-FFF2-40B4-BE49-F238E27FC236}">
                <a16:creationId xmlns:a16="http://schemas.microsoft.com/office/drawing/2014/main" id="{3FF02E16-F9F5-40BA-0320-130C2A311FA6}"/>
              </a:ext>
            </a:extLst>
          </p:cNvPr>
          <p:cNvSpPr/>
          <p:nvPr/>
        </p:nvSpPr>
        <p:spPr>
          <a:xfrm>
            <a:off x="6947452" y="5943202"/>
            <a:ext cx="4573988" cy="795528"/>
          </a:xfrm>
          <a:prstGeom prst="rect">
            <a:avLst/>
          </a:prstGeom>
          <a:noFill/>
          <a:ln/>
        </p:spPr>
        <p:txBody>
          <a:bodyPr wrap="square" lIns="0" tIns="0" rIns="0" bIns="0" rtlCol="0" anchor="ctr"/>
          <a:lstStyle/>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PROCESAMIENTO DE LENGUAJE NATURAL</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Universidad de San Andres – MIA</a:t>
            </a:r>
          </a:p>
          <a:p>
            <a:pPr marL="0" indent="0" algn="r">
              <a:buNone/>
            </a:pPr>
            <a:r>
              <a:rPr lang="en-US" sz="1200" b="1" kern="0" spc="200" dirty="0">
                <a:solidFill>
                  <a:schemeClr val="bg2">
                    <a:lumMod val="75000"/>
                  </a:schemeClr>
                </a:solidFill>
                <a:latin typeface="Arial" panose="020B0604020202020204" pitchFamily="34" charset="0"/>
                <a:ea typeface="Calibri" pitchFamily="34" charset="-122"/>
                <a:cs typeface="Arial" panose="020B0604020202020204" pitchFamily="34" charset="0"/>
              </a:rPr>
              <a:t>Luciano Rielo</a:t>
            </a:r>
            <a:endParaRPr lang="en-US" sz="1200" dirty="0">
              <a:solidFill>
                <a:schemeClr val="bg2">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721699" y="923544"/>
            <a:ext cx="10332720" cy="749808"/>
          </a:xfrm>
          <a:prstGeom prst="rect">
            <a:avLst/>
          </a:prstGeom>
          <a:noFill/>
          <a:ln/>
        </p:spPr>
        <p:txBody>
          <a:bodyPr wrap="square" lIns="0" tIns="0" rIns="0" bIns="0" rtlCol="0" anchor="ctr"/>
          <a:lstStyle/>
          <a:p>
            <a:pPr marL="0" indent="0">
              <a:buNone/>
            </a:pPr>
            <a:r>
              <a:rPr lang="en-US" sz="2800" b="1" dirty="0" err="1">
                <a:solidFill>
                  <a:srgbClr val="23304A"/>
                </a:solidFill>
                <a:latin typeface="Arial" panose="020B0604020202020204" pitchFamily="34" charset="0"/>
                <a:ea typeface="Georgia" pitchFamily="34" charset="-122"/>
                <a:cs typeface="Arial" panose="020B0604020202020204" pitchFamily="34" charset="0"/>
              </a:rPr>
              <a:t>Evaluación</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06</a:t>
            </a:r>
            <a:endParaRPr lang="en-US" sz="1500" dirty="0">
              <a:latin typeface="Arial" panose="020B0604020202020204" pitchFamily="34" charset="0"/>
              <a:cs typeface="Arial" panose="020B0604020202020204" pitchFamily="34" charset="0"/>
            </a:endParaRPr>
          </a:p>
        </p:txBody>
      </p:sp>
      <p:sp>
        <p:nvSpPr>
          <p:cNvPr id="6" name="Shape 4"/>
          <p:cNvSpPr/>
          <p:nvPr/>
        </p:nvSpPr>
        <p:spPr>
          <a:xfrm>
            <a:off x="1965960" y="2250779"/>
            <a:ext cx="2651760" cy="274320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sp>
      <p:sp>
        <p:nvSpPr>
          <p:cNvPr id="7" name="Shape 5"/>
          <p:cNvSpPr/>
          <p:nvPr/>
        </p:nvSpPr>
        <p:spPr>
          <a:xfrm>
            <a:off x="1965960" y="2250779"/>
            <a:ext cx="2651760" cy="457200"/>
          </a:xfrm>
          <a:prstGeom prst="rect">
            <a:avLst/>
          </a:prstGeom>
          <a:solidFill>
            <a:srgbClr val="2A7F8C"/>
          </a:solidFill>
          <a:ln w="12700">
            <a:solidFill>
              <a:srgbClr val="333333"/>
            </a:solidFill>
            <a:prstDash val="solid"/>
          </a:ln>
        </p:spPr>
      </p:sp>
      <p:sp>
        <p:nvSpPr>
          <p:cNvPr id="8" name="Text 6"/>
          <p:cNvSpPr/>
          <p:nvPr/>
        </p:nvSpPr>
        <p:spPr>
          <a:xfrm>
            <a:off x="2057400" y="2250779"/>
            <a:ext cx="2468880" cy="457200"/>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Arial" panose="020B0604020202020204" pitchFamily="34" charset="0"/>
                <a:ea typeface="Calibri" pitchFamily="34" charset="-122"/>
                <a:cs typeface="Arial" panose="020B0604020202020204" pitchFamily="34" charset="0"/>
              </a:rPr>
              <a:t>CAPA 1  ·  TEXTUAL</a:t>
            </a:r>
            <a:endParaRPr lang="en-US" sz="950" dirty="0">
              <a:latin typeface="Arial" panose="020B0604020202020204" pitchFamily="34" charset="0"/>
              <a:cs typeface="Arial" panose="020B0604020202020204" pitchFamily="34" charset="0"/>
            </a:endParaRPr>
          </a:p>
        </p:txBody>
      </p:sp>
      <p:sp>
        <p:nvSpPr>
          <p:cNvPr id="9" name="Shape 7"/>
          <p:cNvSpPr/>
          <p:nvPr/>
        </p:nvSpPr>
        <p:spPr>
          <a:xfrm>
            <a:off x="2990088" y="2890859"/>
            <a:ext cx="603504" cy="603504"/>
          </a:xfrm>
          <a:prstGeom prst="ellipse">
            <a:avLst/>
          </a:prstGeom>
          <a:solidFill>
            <a:srgbClr val="FFFFFF"/>
          </a:solidFill>
          <a:ln w="12700">
            <a:solidFill>
              <a:srgbClr val="D6DEE4"/>
            </a:solidFill>
            <a:prstDash val="solid"/>
          </a:ln>
        </p:spPr>
      </p:sp>
      <p:pic>
        <p:nvPicPr>
          <p:cNvPr id="10" name="Image 0" descr="icon_text.png"/>
          <p:cNvPicPr>
            <a:picLocks noChangeAspect="1"/>
          </p:cNvPicPr>
          <p:nvPr/>
        </p:nvPicPr>
        <p:blipFill>
          <a:blip r:embed="rId3"/>
          <a:stretch>
            <a:fillRect/>
          </a:stretch>
        </p:blipFill>
        <p:spPr>
          <a:xfrm>
            <a:off x="3118104" y="3018875"/>
            <a:ext cx="347472" cy="347472"/>
          </a:xfrm>
          <a:prstGeom prst="rect">
            <a:avLst/>
          </a:prstGeom>
        </p:spPr>
      </p:pic>
      <p:sp>
        <p:nvSpPr>
          <p:cNvPr id="11" name="Text 8"/>
          <p:cNvSpPr/>
          <p:nvPr/>
        </p:nvSpPr>
        <p:spPr>
          <a:xfrm>
            <a:off x="2084832" y="3604091"/>
            <a:ext cx="2414016" cy="548640"/>
          </a:xfrm>
          <a:prstGeom prst="rect">
            <a:avLst/>
          </a:prstGeom>
          <a:noFill/>
          <a:ln/>
        </p:spPr>
        <p:txBody>
          <a:bodyPr wrap="square" lIns="0" tIns="0" rIns="0" bIns="0" rtlCol="0" anchor="ctr"/>
          <a:lstStyle/>
          <a:p>
            <a:pPr marL="0" indent="0" algn="ctr">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ROUGE-L</a:t>
            </a:r>
            <a:endParaRPr lang="en-US" sz="1250" dirty="0">
              <a:latin typeface="Arial" panose="020B0604020202020204" pitchFamily="34" charset="0"/>
              <a:cs typeface="Arial" panose="020B0604020202020204" pitchFamily="34" charset="0"/>
            </a:endParaRPr>
          </a:p>
        </p:txBody>
      </p:sp>
      <p:sp>
        <p:nvSpPr>
          <p:cNvPr id="12" name="Text 9"/>
          <p:cNvSpPr/>
          <p:nvPr/>
        </p:nvSpPr>
        <p:spPr>
          <a:xfrm>
            <a:off x="2148840" y="4079579"/>
            <a:ext cx="2286000" cy="822960"/>
          </a:xfrm>
          <a:prstGeom prst="rect">
            <a:avLst/>
          </a:prstGeom>
          <a:noFill/>
          <a:ln/>
        </p:spPr>
        <p:txBody>
          <a:bodyPr wrap="square" lIns="0" tIns="0" rIns="0" bIns="0" rtlCol="0" anchor="ctr"/>
          <a:lstStyle/>
          <a:p>
            <a:pPr marL="0" indent="0" algn="ctr">
              <a:lnSpc>
                <a:spcPct val="115000"/>
              </a:lnSpc>
              <a:buNone/>
            </a:pPr>
            <a:r>
              <a:rPr lang="en-US" sz="980" dirty="0">
                <a:solidFill>
                  <a:srgbClr val="667085"/>
                </a:solidFill>
                <a:latin typeface="Arial" panose="020B0604020202020204" pitchFamily="34" charset="0"/>
                <a:ea typeface="Calibri" pitchFamily="34" charset="-122"/>
                <a:cs typeface="Arial" panose="020B0604020202020204" pitchFamily="34" charset="0"/>
              </a:rPr>
              <a:t>Solapamiento secuencial con la noticia real. Coincidencia más literal.</a:t>
            </a:r>
            <a:endParaRPr lang="en-US" sz="980" dirty="0">
              <a:latin typeface="Arial" panose="020B0604020202020204" pitchFamily="34" charset="0"/>
              <a:cs typeface="Arial" panose="020B0604020202020204" pitchFamily="34" charset="0"/>
            </a:endParaRPr>
          </a:p>
        </p:txBody>
      </p:sp>
      <p:sp>
        <p:nvSpPr>
          <p:cNvPr id="13" name="Shape 10"/>
          <p:cNvSpPr/>
          <p:nvPr/>
        </p:nvSpPr>
        <p:spPr>
          <a:xfrm>
            <a:off x="4809744" y="2250779"/>
            <a:ext cx="2651760" cy="274320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sp>
      <p:sp>
        <p:nvSpPr>
          <p:cNvPr id="14" name="Shape 11"/>
          <p:cNvSpPr/>
          <p:nvPr/>
        </p:nvSpPr>
        <p:spPr>
          <a:xfrm>
            <a:off x="4809744" y="2250779"/>
            <a:ext cx="2651760" cy="457200"/>
          </a:xfrm>
          <a:prstGeom prst="rect">
            <a:avLst/>
          </a:prstGeom>
          <a:solidFill>
            <a:srgbClr val="2A7F8C"/>
          </a:solidFill>
          <a:ln w="12700">
            <a:solidFill>
              <a:srgbClr val="333333"/>
            </a:solidFill>
            <a:prstDash val="solid"/>
          </a:ln>
        </p:spPr>
      </p:sp>
      <p:sp>
        <p:nvSpPr>
          <p:cNvPr id="15" name="Text 12"/>
          <p:cNvSpPr/>
          <p:nvPr/>
        </p:nvSpPr>
        <p:spPr>
          <a:xfrm>
            <a:off x="4901184" y="2250779"/>
            <a:ext cx="2468880" cy="457200"/>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Arial" panose="020B0604020202020204" pitchFamily="34" charset="0"/>
                <a:ea typeface="Calibri" pitchFamily="34" charset="-122"/>
                <a:cs typeface="Arial" panose="020B0604020202020204" pitchFamily="34" charset="0"/>
              </a:rPr>
              <a:t>CAPA 2  ·  SEMÁNTICA</a:t>
            </a:r>
            <a:endParaRPr lang="en-US" sz="950" dirty="0">
              <a:latin typeface="Arial" panose="020B0604020202020204" pitchFamily="34" charset="0"/>
              <a:cs typeface="Arial" panose="020B0604020202020204" pitchFamily="34" charset="0"/>
            </a:endParaRPr>
          </a:p>
        </p:txBody>
      </p:sp>
      <p:sp>
        <p:nvSpPr>
          <p:cNvPr id="16" name="Shape 13"/>
          <p:cNvSpPr/>
          <p:nvPr/>
        </p:nvSpPr>
        <p:spPr>
          <a:xfrm>
            <a:off x="5833872" y="2890859"/>
            <a:ext cx="603504" cy="603504"/>
          </a:xfrm>
          <a:prstGeom prst="ellipse">
            <a:avLst/>
          </a:prstGeom>
          <a:solidFill>
            <a:srgbClr val="FFFFFF"/>
          </a:solidFill>
          <a:ln w="12700">
            <a:solidFill>
              <a:srgbClr val="D6DEE4"/>
            </a:solidFill>
            <a:prstDash val="solid"/>
          </a:ln>
        </p:spPr>
      </p:sp>
      <p:pic>
        <p:nvPicPr>
          <p:cNvPr id="17" name="Image 1" descr="icon_balance.png"/>
          <p:cNvPicPr>
            <a:picLocks noChangeAspect="1"/>
          </p:cNvPicPr>
          <p:nvPr/>
        </p:nvPicPr>
        <p:blipFill>
          <a:blip r:embed="rId4"/>
          <a:stretch>
            <a:fillRect/>
          </a:stretch>
        </p:blipFill>
        <p:spPr>
          <a:xfrm>
            <a:off x="5961888" y="3018875"/>
            <a:ext cx="347472" cy="347472"/>
          </a:xfrm>
          <a:prstGeom prst="rect">
            <a:avLst/>
          </a:prstGeom>
        </p:spPr>
      </p:pic>
      <p:sp>
        <p:nvSpPr>
          <p:cNvPr id="18" name="Text 14"/>
          <p:cNvSpPr/>
          <p:nvPr/>
        </p:nvSpPr>
        <p:spPr>
          <a:xfrm>
            <a:off x="4928616" y="3604091"/>
            <a:ext cx="2414016" cy="548640"/>
          </a:xfrm>
          <a:prstGeom prst="rect">
            <a:avLst/>
          </a:prstGeom>
          <a:noFill/>
          <a:ln/>
        </p:spPr>
        <p:txBody>
          <a:bodyPr wrap="square" lIns="0" tIns="0" rIns="0" bIns="0" rtlCol="0" anchor="ctr"/>
          <a:lstStyle/>
          <a:p>
            <a:pPr marL="0" indent="0" algn="ctr">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BERTScore · FinBERT</a:t>
            </a:r>
            <a:endParaRPr lang="en-US" sz="1250" dirty="0">
              <a:latin typeface="Arial" panose="020B0604020202020204" pitchFamily="34" charset="0"/>
              <a:cs typeface="Arial" panose="020B0604020202020204" pitchFamily="34" charset="0"/>
            </a:endParaRPr>
          </a:p>
        </p:txBody>
      </p:sp>
      <p:sp>
        <p:nvSpPr>
          <p:cNvPr id="19" name="Text 15"/>
          <p:cNvSpPr/>
          <p:nvPr/>
        </p:nvSpPr>
        <p:spPr>
          <a:xfrm>
            <a:off x="4992624" y="4079579"/>
            <a:ext cx="2286000" cy="822960"/>
          </a:xfrm>
          <a:prstGeom prst="rect">
            <a:avLst/>
          </a:prstGeom>
          <a:noFill/>
          <a:ln/>
        </p:spPr>
        <p:txBody>
          <a:bodyPr wrap="square" lIns="0" tIns="0" rIns="0" bIns="0" rtlCol="0" anchor="ctr"/>
          <a:lstStyle/>
          <a:p>
            <a:pPr marL="0" indent="0" algn="ctr">
              <a:lnSpc>
                <a:spcPct val="115000"/>
              </a:lnSpc>
              <a:buNone/>
            </a:pPr>
            <a:r>
              <a:rPr lang="en-US" sz="980" dirty="0">
                <a:solidFill>
                  <a:srgbClr val="667085"/>
                </a:solidFill>
                <a:latin typeface="Arial" panose="020B0604020202020204" pitchFamily="34" charset="0"/>
                <a:ea typeface="Calibri" pitchFamily="34" charset="-122"/>
                <a:cs typeface="Arial" panose="020B0604020202020204" pitchFamily="34" charset="0"/>
              </a:rPr>
              <a:t>Cercanía semántica con embeddings y match de sentimiento financiero.</a:t>
            </a:r>
            <a:endParaRPr lang="en-US" sz="980" dirty="0">
              <a:latin typeface="Arial" panose="020B0604020202020204" pitchFamily="34" charset="0"/>
              <a:cs typeface="Arial" panose="020B0604020202020204" pitchFamily="34" charset="0"/>
            </a:endParaRPr>
          </a:p>
        </p:txBody>
      </p:sp>
      <p:sp>
        <p:nvSpPr>
          <p:cNvPr id="20" name="Shape 16"/>
          <p:cNvSpPr/>
          <p:nvPr/>
        </p:nvSpPr>
        <p:spPr>
          <a:xfrm>
            <a:off x="7653528" y="2250779"/>
            <a:ext cx="2651760" cy="2743200"/>
          </a:xfrm>
          <a:prstGeom prst="rect">
            <a:avLst/>
          </a:prstGeom>
          <a:solidFill>
            <a:srgbClr val="EAF1F4"/>
          </a:solidFill>
          <a:ln w="12700">
            <a:solidFill>
              <a:srgbClr val="D6DEE4"/>
            </a:solidFill>
            <a:prstDash val="solid"/>
          </a:ln>
          <a:effectLst>
            <a:outerShdw blurRad="114300" dist="38100" dir="8100000" algn="bl" rotWithShape="0">
              <a:srgbClr val="1E2A4A">
                <a:alpha val="14000"/>
              </a:srgbClr>
            </a:outerShdw>
          </a:effectLst>
        </p:spPr>
      </p:sp>
      <p:sp>
        <p:nvSpPr>
          <p:cNvPr id="21" name="Shape 17"/>
          <p:cNvSpPr/>
          <p:nvPr/>
        </p:nvSpPr>
        <p:spPr>
          <a:xfrm>
            <a:off x="7653528" y="2250779"/>
            <a:ext cx="2651760" cy="457200"/>
          </a:xfrm>
          <a:prstGeom prst="rect">
            <a:avLst/>
          </a:prstGeom>
          <a:solidFill>
            <a:srgbClr val="C8923B"/>
          </a:solidFill>
          <a:ln w="12700">
            <a:solidFill>
              <a:srgbClr val="333333"/>
            </a:solidFill>
            <a:prstDash val="solid"/>
          </a:ln>
        </p:spPr>
      </p:sp>
      <p:sp>
        <p:nvSpPr>
          <p:cNvPr id="22" name="Text 18"/>
          <p:cNvSpPr/>
          <p:nvPr/>
        </p:nvSpPr>
        <p:spPr>
          <a:xfrm>
            <a:off x="7744968" y="2250779"/>
            <a:ext cx="2468880" cy="457200"/>
          </a:xfrm>
          <a:prstGeom prst="rect">
            <a:avLst/>
          </a:prstGeom>
          <a:noFill/>
          <a:ln/>
        </p:spPr>
        <p:txBody>
          <a:bodyPr wrap="square" lIns="0" tIns="0" rIns="0" bIns="0" rtlCol="0" anchor="ctr"/>
          <a:lstStyle/>
          <a:p>
            <a:pPr marL="0" indent="0" algn="ctr">
              <a:buNone/>
            </a:pPr>
            <a:r>
              <a:rPr lang="en-US" sz="950" b="1" kern="0" spc="100" dirty="0">
                <a:solidFill>
                  <a:srgbClr val="FFFFFF"/>
                </a:solidFill>
                <a:latin typeface="Arial" panose="020B0604020202020204" pitchFamily="34" charset="0"/>
                <a:ea typeface="Calibri" pitchFamily="34" charset="-122"/>
                <a:cs typeface="Arial" panose="020B0604020202020204" pitchFamily="34" charset="0"/>
              </a:rPr>
              <a:t>CAPA 3  ·  FINANCIERA</a:t>
            </a:r>
            <a:endParaRPr lang="en-US" sz="950" dirty="0">
              <a:latin typeface="Arial" panose="020B0604020202020204" pitchFamily="34" charset="0"/>
              <a:cs typeface="Arial" panose="020B0604020202020204" pitchFamily="34" charset="0"/>
            </a:endParaRPr>
          </a:p>
        </p:txBody>
      </p:sp>
      <p:sp>
        <p:nvSpPr>
          <p:cNvPr id="23" name="Shape 19"/>
          <p:cNvSpPr/>
          <p:nvPr/>
        </p:nvSpPr>
        <p:spPr>
          <a:xfrm>
            <a:off x="8677656" y="2890859"/>
            <a:ext cx="603504" cy="603504"/>
          </a:xfrm>
          <a:prstGeom prst="ellipse">
            <a:avLst/>
          </a:prstGeom>
          <a:solidFill>
            <a:srgbClr val="FFFFFF"/>
          </a:solidFill>
          <a:ln w="12700">
            <a:solidFill>
              <a:srgbClr val="D6DEE4"/>
            </a:solidFill>
            <a:prstDash val="solid"/>
          </a:ln>
        </p:spPr>
      </p:sp>
      <p:pic>
        <p:nvPicPr>
          <p:cNvPr id="24" name="Image 2" descr="icon_chart.png"/>
          <p:cNvPicPr>
            <a:picLocks noChangeAspect="1"/>
          </p:cNvPicPr>
          <p:nvPr/>
        </p:nvPicPr>
        <p:blipFill>
          <a:blip r:embed="rId5"/>
          <a:stretch>
            <a:fillRect/>
          </a:stretch>
        </p:blipFill>
        <p:spPr>
          <a:xfrm>
            <a:off x="8805672" y="3018875"/>
            <a:ext cx="347472" cy="347472"/>
          </a:xfrm>
          <a:prstGeom prst="rect">
            <a:avLst/>
          </a:prstGeom>
        </p:spPr>
      </p:pic>
      <p:sp>
        <p:nvSpPr>
          <p:cNvPr id="25" name="Text 20"/>
          <p:cNvSpPr/>
          <p:nvPr/>
        </p:nvSpPr>
        <p:spPr>
          <a:xfrm>
            <a:off x="7772400" y="3604091"/>
            <a:ext cx="2414016" cy="548640"/>
          </a:xfrm>
          <a:prstGeom prst="rect">
            <a:avLst/>
          </a:prstGeom>
          <a:noFill/>
          <a:ln/>
        </p:spPr>
        <p:txBody>
          <a:bodyPr wrap="square" lIns="0" tIns="0" rIns="0" bIns="0" rtlCol="0" anchor="ctr"/>
          <a:lstStyle/>
          <a:p>
            <a:pPr marL="0" indent="0" algn="ctr">
              <a:buNone/>
            </a:pPr>
            <a:r>
              <a:rPr lang="en-US" sz="1250" b="1" dirty="0">
                <a:solidFill>
                  <a:srgbClr val="23304A"/>
                </a:solidFill>
                <a:latin typeface="Arial" panose="020B0604020202020204" pitchFamily="34" charset="0"/>
                <a:ea typeface="Calibri" pitchFamily="34" charset="-122"/>
                <a:cs typeface="Arial" panose="020B0604020202020204" pitchFamily="34" charset="0"/>
              </a:rPr>
              <a:t>Dir. accuracy + coverage</a:t>
            </a:r>
            <a:endParaRPr lang="en-US" sz="1250" dirty="0">
              <a:latin typeface="Arial" panose="020B0604020202020204" pitchFamily="34" charset="0"/>
              <a:cs typeface="Arial" panose="020B0604020202020204" pitchFamily="34" charset="0"/>
            </a:endParaRPr>
          </a:p>
        </p:txBody>
      </p:sp>
      <p:sp>
        <p:nvSpPr>
          <p:cNvPr id="26" name="Text 21"/>
          <p:cNvSpPr/>
          <p:nvPr/>
        </p:nvSpPr>
        <p:spPr>
          <a:xfrm>
            <a:off x="7836408" y="4079579"/>
            <a:ext cx="2286000" cy="822960"/>
          </a:xfrm>
          <a:prstGeom prst="rect">
            <a:avLst/>
          </a:prstGeom>
          <a:noFill/>
          <a:ln/>
        </p:spPr>
        <p:txBody>
          <a:bodyPr wrap="square" lIns="0" tIns="0" rIns="0" bIns="0" rtlCol="0" anchor="ctr"/>
          <a:lstStyle/>
          <a:p>
            <a:pPr marL="0" indent="0" algn="ctr">
              <a:lnSpc>
                <a:spcPct val="115000"/>
              </a:lnSpc>
              <a:buNone/>
            </a:pPr>
            <a:r>
              <a:rPr lang="en-US" sz="980" dirty="0">
                <a:solidFill>
                  <a:srgbClr val="667085"/>
                </a:solidFill>
                <a:latin typeface="Arial" panose="020B0604020202020204" pitchFamily="34" charset="0"/>
                <a:ea typeface="Calibri" pitchFamily="34" charset="-122"/>
                <a:cs typeface="Arial" panose="020B0604020202020204" pitchFamily="34" charset="0"/>
              </a:rPr>
              <a:t>Convierte la salida en una señal direccional y la compara con el activo.</a:t>
            </a:r>
            <a:endParaRPr lang="en-US" sz="980" dirty="0">
              <a:latin typeface="Arial" panose="020B0604020202020204" pitchFamily="34" charset="0"/>
              <a:cs typeface="Arial" panose="020B0604020202020204" pitchFamily="34" charset="0"/>
            </a:endParaRPr>
          </a:p>
        </p:txBody>
      </p:sp>
      <p:sp>
        <p:nvSpPr>
          <p:cNvPr id="37" name="Text 30"/>
          <p:cNvSpPr/>
          <p:nvPr/>
        </p:nvSpPr>
        <p:spPr>
          <a:xfrm>
            <a:off x="640080" y="6473952"/>
            <a:ext cx="7315200" cy="274320"/>
          </a:xfrm>
          <a:prstGeom prst="rect">
            <a:avLst/>
          </a:prstGeom>
          <a:noFill/>
          <a:ln/>
        </p:spPr>
        <p:txBody>
          <a:bodyPr wrap="square" lIns="0" tIns="0" rIns="0" bIns="0" rtlCol="0" anchor="ctr"/>
          <a:lstStyle/>
          <a:p>
            <a:pPr marL="0" indent="0">
              <a:buNone/>
            </a:pPr>
            <a:r>
              <a:rPr lang="en-US" sz="850" dirty="0">
                <a:solidFill>
                  <a:srgbClr val="667085"/>
                </a:solidFill>
                <a:latin typeface="Arial" panose="020B0604020202020204" pitchFamily="34" charset="0"/>
                <a:ea typeface="Calibri" pitchFamily="34" charset="-122"/>
                <a:cs typeface="Arial" panose="020B0604020202020204" pitchFamily="34" charset="0"/>
              </a:rPr>
              <a:t>Fine-tuning de GPT-2  ·  Narrativas financieras  ·  NLP</a:t>
            </a:r>
            <a:endParaRPr lang="en-US" sz="850" dirty="0">
              <a:latin typeface="Arial" panose="020B0604020202020204" pitchFamily="34" charset="0"/>
              <a:cs typeface="Arial" panose="020B06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err="1">
                <a:solidFill>
                  <a:srgbClr val="23304A"/>
                </a:solidFill>
                <a:latin typeface="Arial" panose="020B0604020202020204" pitchFamily="34" charset="0"/>
                <a:ea typeface="Georgia" pitchFamily="34" charset="-122"/>
                <a:cs typeface="Arial" panose="020B0604020202020204" pitchFamily="34" charset="0"/>
              </a:rPr>
              <a:t>Resultados</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07</a:t>
            </a:r>
            <a:endParaRPr lang="en-US" sz="1500" dirty="0">
              <a:latin typeface="Arial" panose="020B0604020202020204" pitchFamily="34" charset="0"/>
              <a:cs typeface="Arial" panose="020B0604020202020204" pitchFamily="34" charset="0"/>
            </a:endParaRPr>
          </a:p>
        </p:txBody>
      </p:sp>
      <p:sp>
        <p:nvSpPr>
          <p:cNvPr id="5" name="Text 3"/>
          <p:cNvSpPr/>
          <p:nvPr/>
        </p:nvSpPr>
        <p:spPr>
          <a:xfrm>
            <a:off x="672084" y="1372277"/>
            <a:ext cx="10881360" cy="329184"/>
          </a:xfrm>
          <a:prstGeom prst="rect">
            <a:avLst/>
          </a:prstGeom>
          <a:noFill/>
          <a:ln/>
        </p:spPr>
        <p:txBody>
          <a:bodyPr wrap="square" lIns="0" tIns="0" rIns="0" bIns="0" rtlCol="0" anchor="ctr"/>
          <a:lstStyle/>
          <a:p>
            <a:pPr marL="0" indent="0">
              <a:buNone/>
            </a:pPr>
            <a:r>
              <a:rPr lang="en-US" sz="1200" dirty="0">
                <a:solidFill>
                  <a:srgbClr val="667085"/>
                </a:solidFill>
                <a:latin typeface="Arial" panose="020B0604020202020204" pitchFamily="34" charset="0"/>
                <a:ea typeface="Calibri" pitchFamily="34" charset="-122"/>
                <a:cs typeface="Arial" panose="020B0604020202020204" pitchFamily="34" charset="0"/>
              </a:rPr>
              <a:t>No todos los runs responden la misma pregunta: cada uno cumple un rol distinto.</a:t>
            </a:r>
            <a:endParaRPr lang="en-US" sz="1200" dirty="0">
              <a:latin typeface="Arial" panose="020B0604020202020204" pitchFamily="34" charset="0"/>
              <a:cs typeface="Arial" panose="020B0604020202020204" pitchFamily="34" charset="0"/>
            </a:endParaRPr>
          </a:p>
        </p:txBody>
      </p:sp>
      <p:graphicFrame>
        <p:nvGraphicFramePr>
          <p:cNvPr id="8" name="Table 0"/>
          <p:cNvGraphicFramePr>
            <a:graphicFrameLocks noGrp="1"/>
          </p:cNvGraphicFramePr>
          <p:nvPr>
            <p:extLst>
              <p:ext uri="{D42A27DB-BD31-4B8C-83A1-F6EECF244321}">
                <p14:modId xmlns:p14="http://schemas.microsoft.com/office/powerpoint/2010/main" val="2398250395"/>
              </p:ext>
            </p:extLst>
          </p:nvPr>
        </p:nvGraphicFramePr>
        <p:xfrm>
          <a:off x="640080" y="1874520"/>
          <a:ext cx="10863073" cy="2194560"/>
        </p:xfrm>
        <a:graphic>
          <a:graphicData uri="http://schemas.openxmlformats.org/drawingml/2006/table">
            <a:tbl>
              <a:tblPr/>
              <a:tblGrid>
                <a:gridCol w="2401526">
                  <a:extLst>
                    <a:ext uri="{9D8B030D-6E8A-4147-A177-3AD203B41FA5}">
                      <a16:colId xmlns:a16="http://schemas.microsoft.com/office/drawing/2014/main" val="20000"/>
                    </a:ext>
                  </a:extLst>
                </a:gridCol>
                <a:gridCol w="2094948">
                  <a:extLst>
                    <a:ext uri="{9D8B030D-6E8A-4147-A177-3AD203B41FA5}">
                      <a16:colId xmlns:a16="http://schemas.microsoft.com/office/drawing/2014/main" val="20001"/>
                    </a:ext>
                  </a:extLst>
                </a:gridCol>
                <a:gridCol w="1348942">
                  <a:extLst>
                    <a:ext uri="{9D8B030D-6E8A-4147-A177-3AD203B41FA5}">
                      <a16:colId xmlns:a16="http://schemas.microsoft.com/office/drawing/2014/main" val="20002"/>
                    </a:ext>
                  </a:extLst>
                </a:gridCol>
                <a:gridCol w="1297846">
                  <a:extLst>
                    <a:ext uri="{9D8B030D-6E8A-4147-A177-3AD203B41FA5}">
                      <a16:colId xmlns:a16="http://schemas.microsoft.com/office/drawing/2014/main" val="20003"/>
                    </a:ext>
                  </a:extLst>
                </a:gridCol>
                <a:gridCol w="1205873">
                  <a:extLst>
                    <a:ext uri="{9D8B030D-6E8A-4147-A177-3AD203B41FA5}">
                      <a16:colId xmlns:a16="http://schemas.microsoft.com/office/drawing/2014/main" val="20004"/>
                    </a:ext>
                  </a:extLst>
                </a:gridCol>
                <a:gridCol w="1451135">
                  <a:extLst>
                    <a:ext uri="{9D8B030D-6E8A-4147-A177-3AD203B41FA5}">
                      <a16:colId xmlns:a16="http://schemas.microsoft.com/office/drawing/2014/main" val="20005"/>
                    </a:ext>
                  </a:extLst>
                </a:gridCol>
                <a:gridCol w="1062803">
                  <a:extLst>
                    <a:ext uri="{9D8B030D-6E8A-4147-A177-3AD203B41FA5}">
                      <a16:colId xmlns:a16="http://schemas.microsoft.com/office/drawing/2014/main" val="20006"/>
                    </a:ext>
                  </a:extLst>
                </a:gridCol>
              </a:tblGrid>
              <a:tr h="365760">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Run</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Rol</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ROUGE-L</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BERT F1</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Sent.</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Dir. acc.</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Cov.</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1E2A4A"/>
                    </a:solidFill>
                  </a:tcPr>
                </a:tc>
                <a:extLst>
                  <a:ext uri="{0D108BD9-81ED-4DB2-BD59-A6C34878D82A}">
                    <a16:rowId xmlns:a16="http://schemas.microsoft.com/office/drawing/2014/main" val="10000"/>
                  </a:ext>
                </a:extLst>
              </a:tr>
              <a:tr h="365760">
                <a:tc>
                  <a:txBody>
                    <a:bodyPr/>
                    <a:lstStyle/>
                    <a:p>
                      <a:pPr marL="0" indent="0" algn="l">
                        <a:buNone/>
                      </a:pPr>
                      <a:r>
                        <a:rPr lang="en-US" sz="1000" b="1" dirty="0">
                          <a:solidFill>
                            <a:srgbClr val="23304A"/>
                          </a:solidFill>
                          <a:latin typeface="Calibri" pitchFamily="34" charset="0"/>
                          <a:ea typeface="Calibri" pitchFamily="34" charset="-122"/>
                          <a:cs typeface="Calibri" pitchFamily="34" charset="-120"/>
                        </a:rPr>
                        <a:t>SPY/QQQ baseline</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667085"/>
                          </a:solidFill>
                          <a:latin typeface="Calibri" pitchFamily="34" charset="0"/>
                          <a:ea typeface="Calibri" pitchFamily="34" charset="-122"/>
                          <a:cs typeface="Calibri" pitchFamily="34" charset="-120"/>
                        </a:rPr>
                        <a:t>Primer finetuning</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0.062</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0.732</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0.386</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0.528</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0.47</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000" b="1" dirty="0">
                          <a:solidFill>
                            <a:srgbClr val="C8923B"/>
                          </a:solidFill>
                          <a:latin typeface="Calibri" pitchFamily="34" charset="0"/>
                          <a:ea typeface="Calibri" pitchFamily="34" charset="-122"/>
                          <a:cs typeface="Calibri" pitchFamily="34" charset="-120"/>
                        </a:rPr>
                        <a:t>GPT-2 no fine-tune</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7EEDD"/>
                    </a:solidFill>
                  </a:tcPr>
                </a:tc>
                <a:tc>
                  <a:txBody>
                    <a:bodyPr/>
                    <a:lstStyle/>
                    <a:p>
                      <a:pPr marL="0" indent="0" algn="l">
                        <a:buNone/>
                      </a:pPr>
                      <a:r>
                        <a:rPr lang="en-US" sz="1000" i="1" dirty="0">
                          <a:solidFill>
                            <a:srgbClr val="667085"/>
                          </a:solidFill>
                          <a:latin typeface="Calibri" pitchFamily="34" charset="0"/>
                          <a:ea typeface="Calibri" pitchFamily="34" charset="-122"/>
                          <a:cs typeface="Calibri" pitchFamily="34" charset="-120"/>
                        </a:rPr>
                        <a:t>Baseline de modelo</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0.040</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0.273</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0.549</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extLst>
                  <a:ext uri="{0D108BD9-81ED-4DB2-BD59-A6C34878D82A}">
                    <a16:rowId xmlns:a16="http://schemas.microsoft.com/office/drawing/2014/main" val="10002"/>
                  </a:ext>
                </a:extLst>
              </a:tr>
              <a:tr h="365760">
                <a:tc>
                  <a:txBody>
                    <a:bodyPr/>
                    <a:lstStyle/>
                    <a:p>
                      <a:pPr marL="0" indent="0" algn="l">
                        <a:buNone/>
                      </a:pPr>
                      <a:r>
                        <a:rPr lang="en-US" sz="1000" b="1" dirty="0">
                          <a:solidFill>
                            <a:srgbClr val="23304A"/>
                          </a:solidFill>
                          <a:latin typeface="Calibri" pitchFamily="34" charset="0"/>
                          <a:ea typeface="Calibri" pitchFamily="34" charset="-122"/>
                          <a:cs typeface="Calibri" pitchFamily="34" charset="-120"/>
                        </a:rPr>
                        <a:t>NVDA single</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l">
                        <a:buNone/>
                      </a:pPr>
                      <a:r>
                        <a:rPr lang="en-US" sz="1000" i="1" dirty="0">
                          <a:solidFill>
                            <a:srgbClr val="667085"/>
                          </a:solidFill>
                          <a:latin typeface="Calibri" pitchFamily="34" charset="0"/>
                          <a:ea typeface="Calibri" pitchFamily="34" charset="-122"/>
                          <a:cs typeface="Calibri" pitchFamily="34" charset="-120"/>
                        </a:rPr>
                        <a:t>Mejor BERTScore</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0.070</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0.744</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0.346</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0.462</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0.59</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000" b="1" dirty="0">
                          <a:solidFill>
                            <a:srgbClr val="2A7F8C"/>
                          </a:solidFill>
                          <a:latin typeface="Calibri" pitchFamily="34" charset="0"/>
                          <a:ea typeface="Calibri" pitchFamily="34" charset="-122"/>
                          <a:cs typeface="Calibri" pitchFamily="34" charset="-120"/>
                        </a:rPr>
                        <a:t>NVDA + AMD</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E3EFF1"/>
                    </a:solidFill>
                  </a:tcPr>
                </a:tc>
                <a:tc>
                  <a:txBody>
                    <a:bodyPr/>
                    <a:lstStyle/>
                    <a:p>
                      <a:pPr marL="0" indent="0" algn="l">
                        <a:buNone/>
                      </a:pPr>
                      <a:r>
                        <a:rPr lang="en-US" sz="1000" i="1" dirty="0">
                          <a:solidFill>
                            <a:srgbClr val="667085"/>
                          </a:solidFill>
                          <a:latin typeface="Calibri" pitchFamily="34" charset="0"/>
                          <a:ea typeface="Calibri" pitchFamily="34" charset="-122"/>
                          <a:cs typeface="Calibri" pitchFamily="34" charset="-120"/>
                        </a:rPr>
                        <a:t>Mejor equilibrio</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0.074</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0.738</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0.442</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0.530</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0.36</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4F7F9"/>
                    </a:solidFill>
                  </a:tcPr>
                </a:tc>
                <a:extLst>
                  <a:ext uri="{0D108BD9-81ED-4DB2-BD59-A6C34878D82A}">
                    <a16:rowId xmlns:a16="http://schemas.microsoft.com/office/drawing/2014/main" val="10004"/>
                  </a:ext>
                </a:extLst>
              </a:tr>
              <a:tr h="365760">
                <a:tc>
                  <a:txBody>
                    <a:bodyPr/>
                    <a:lstStyle/>
                    <a:p>
                      <a:pPr marL="0" indent="0" algn="l">
                        <a:buNone/>
                      </a:pPr>
                      <a:r>
                        <a:rPr lang="en-US" sz="1000" b="1" dirty="0">
                          <a:solidFill>
                            <a:srgbClr val="C8923B"/>
                          </a:solidFill>
                          <a:latin typeface="Calibri" pitchFamily="34" charset="0"/>
                          <a:ea typeface="Calibri" pitchFamily="34" charset="-122"/>
                          <a:cs typeface="Calibri" pitchFamily="34" charset="-120"/>
                        </a:rPr>
                        <a:t>NVDA direction feat.</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7EEDD"/>
                    </a:solidFill>
                  </a:tcPr>
                </a:tc>
                <a:tc>
                  <a:txBody>
                    <a:bodyPr/>
                    <a:lstStyle/>
                    <a:p>
                      <a:pPr marL="0" indent="0" algn="l">
                        <a:buNone/>
                      </a:pPr>
                      <a:r>
                        <a:rPr lang="en-US" sz="1000" i="1" dirty="0">
                          <a:solidFill>
                            <a:srgbClr val="667085"/>
                          </a:solidFill>
                          <a:latin typeface="Calibri" pitchFamily="34" charset="0"/>
                          <a:ea typeface="Calibri" pitchFamily="34" charset="-122"/>
                          <a:cs typeface="Calibri" pitchFamily="34" charset="-120"/>
                        </a:rPr>
                        <a:t>Mejor dir. acc.</a:t>
                      </a:r>
                      <a:endParaRPr lang="en-US" sz="100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0.063</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0.734</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0.346</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0.556</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3304A"/>
                          </a:solidFill>
                          <a:latin typeface="Calibri" pitchFamily="34" charset="0"/>
                          <a:ea typeface="Calibri" pitchFamily="34" charset="-122"/>
                          <a:cs typeface="Calibri" pitchFamily="34" charset="-120"/>
                        </a:rPr>
                        <a:t>1.00</a:t>
                      </a:r>
                      <a:endParaRPr lang="en-US" sz="1050" dirty="0">
                        <a:latin typeface="Calibri" charset="0"/>
                        <a:ea typeface="Calibri" charset="0"/>
                        <a:cs typeface="Calibri" charset="0"/>
                      </a:endParaRPr>
                    </a:p>
                  </a:txBody>
                  <a:tcPr marL="38100" marR="38100" marT="38100" marB="38100" anchor="ctr">
                    <a:lnL w="12700" cap="flat" cmpd="sng" algn="ctr">
                      <a:solidFill>
                        <a:srgbClr val="D6DEE4"/>
                      </a:solidFill>
                      <a:prstDash val="solid"/>
                      <a:round/>
                      <a:headEnd type="none" w="med" len="med"/>
                      <a:tailEnd type="none" w="med" len="med"/>
                    </a:lnL>
                    <a:lnR w="12700" cap="flat" cmpd="sng" algn="ctr">
                      <a:solidFill>
                        <a:srgbClr val="D6DEE4"/>
                      </a:solidFill>
                      <a:prstDash val="solid"/>
                      <a:round/>
                      <a:headEnd type="none" w="med" len="med"/>
                      <a:tailEnd type="none" w="med" len="med"/>
                    </a:lnR>
                    <a:lnT w="12700" cap="flat" cmpd="sng" algn="ctr">
                      <a:solidFill>
                        <a:srgbClr val="D6DEE4"/>
                      </a:solidFill>
                      <a:prstDash val="solid"/>
                      <a:round/>
                      <a:headEnd type="none" w="med" len="med"/>
                      <a:tailEnd type="none" w="med" len="med"/>
                    </a:lnT>
                    <a:lnB w="12700" cap="flat" cmpd="sng" algn="ctr">
                      <a:solidFill>
                        <a:srgbClr val="D6DEE4"/>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640080" y="4434840"/>
            <a:ext cx="3456432" cy="1463040"/>
          </a:xfrm>
          <a:prstGeom prst="rect">
            <a:avLst/>
          </a:prstGeom>
          <a:solidFill>
            <a:srgbClr val="EAF1F4"/>
          </a:solidFill>
          <a:ln w="12700">
            <a:solidFill>
              <a:srgbClr val="D6DEE4"/>
            </a:solidFill>
            <a:prstDash val="solid"/>
          </a:ln>
        </p:spPr>
      </p:sp>
      <p:sp>
        <p:nvSpPr>
          <p:cNvPr id="6" name="Shape 5"/>
          <p:cNvSpPr/>
          <p:nvPr/>
        </p:nvSpPr>
        <p:spPr>
          <a:xfrm>
            <a:off x="640080" y="4434840"/>
            <a:ext cx="64008" cy="1463040"/>
          </a:xfrm>
          <a:prstGeom prst="rect">
            <a:avLst/>
          </a:prstGeom>
          <a:solidFill>
            <a:srgbClr val="C8923B"/>
          </a:solidFill>
          <a:ln w="12700">
            <a:solidFill>
              <a:srgbClr val="333333"/>
            </a:solidFill>
            <a:prstDash val="solid"/>
          </a:ln>
        </p:spPr>
      </p:sp>
      <p:pic>
        <p:nvPicPr>
          <p:cNvPr id="9" name="Image 0" descr="icon_x.png"/>
          <p:cNvPicPr>
            <a:picLocks noChangeAspect="1"/>
          </p:cNvPicPr>
          <p:nvPr/>
        </p:nvPicPr>
        <p:blipFill>
          <a:blip r:embed="rId3"/>
          <a:stretch>
            <a:fillRect/>
          </a:stretch>
        </p:blipFill>
        <p:spPr>
          <a:xfrm>
            <a:off x="822960" y="4599432"/>
            <a:ext cx="274320" cy="274320"/>
          </a:xfrm>
          <a:prstGeom prst="rect">
            <a:avLst/>
          </a:prstGeom>
        </p:spPr>
      </p:pic>
      <p:sp>
        <p:nvSpPr>
          <p:cNvPr id="10" name="Text 6"/>
          <p:cNvSpPr/>
          <p:nvPr/>
        </p:nvSpPr>
        <p:spPr>
          <a:xfrm>
            <a:off x="1188720" y="4553712"/>
            <a:ext cx="2743200" cy="365760"/>
          </a:xfrm>
          <a:prstGeom prst="rect">
            <a:avLst/>
          </a:prstGeom>
          <a:noFill/>
          <a:ln/>
        </p:spPr>
        <p:txBody>
          <a:bodyPr wrap="square" lIns="0" tIns="0" rIns="0" bIns="0" rtlCol="0" anchor="ctr"/>
          <a:lstStyle/>
          <a:p>
            <a:pPr marL="0" indent="0">
              <a:buNone/>
            </a:pPr>
            <a:r>
              <a:rPr lang="en-US" sz="1150" b="1" dirty="0">
                <a:solidFill>
                  <a:srgbClr val="23304A"/>
                </a:solidFill>
                <a:latin typeface="Arial" panose="020B0604020202020204" pitchFamily="34" charset="0"/>
                <a:ea typeface="Calibri" pitchFamily="34" charset="-122"/>
                <a:cs typeface="Arial" panose="020B0604020202020204" pitchFamily="34" charset="0"/>
              </a:rPr>
              <a:t>Baseline sin fine-tuning</a:t>
            </a:r>
            <a:endParaRPr lang="en-US" sz="1150" dirty="0">
              <a:latin typeface="Arial" panose="020B0604020202020204" pitchFamily="34" charset="0"/>
              <a:cs typeface="Arial" panose="020B0604020202020204" pitchFamily="34" charset="0"/>
            </a:endParaRPr>
          </a:p>
        </p:txBody>
      </p:sp>
      <p:sp>
        <p:nvSpPr>
          <p:cNvPr id="11" name="Text 7"/>
          <p:cNvSpPr/>
          <p:nvPr/>
        </p:nvSpPr>
        <p:spPr>
          <a:xfrm>
            <a:off x="841248" y="4910328"/>
            <a:ext cx="3072384" cy="868680"/>
          </a:xfrm>
          <a:prstGeom prst="rect">
            <a:avLst/>
          </a:prstGeom>
          <a:noFill/>
          <a:ln/>
        </p:spPr>
        <p:txBody>
          <a:bodyPr wrap="square" lIns="0" tIns="0" rIns="0" bIns="0" rtlCol="0" anchor="ctr"/>
          <a:lstStyle/>
          <a:p>
            <a:pPr marL="0" indent="0">
              <a:lnSpc>
                <a:spcPct val="112000"/>
              </a:lnSpc>
              <a:buNone/>
            </a:pPr>
            <a:r>
              <a:rPr lang="en-US" sz="970" dirty="0">
                <a:solidFill>
                  <a:srgbClr val="667085"/>
                </a:solidFill>
                <a:latin typeface="Arial" panose="020B0604020202020204" pitchFamily="34" charset="0"/>
                <a:ea typeface="Calibri" pitchFamily="34" charset="-122"/>
                <a:cs typeface="Arial" panose="020B0604020202020204" pitchFamily="34" charset="0"/>
              </a:rPr>
              <a:t>ROUGE-L y sentiment bajos, pero dir. acc. alta: una alerta sobre la métrica financiera.</a:t>
            </a:r>
            <a:endParaRPr lang="en-US" sz="970" dirty="0">
              <a:latin typeface="Arial" panose="020B0604020202020204" pitchFamily="34" charset="0"/>
              <a:cs typeface="Arial" panose="020B0604020202020204" pitchFamily="34" charset="0"/>
            </a:endParaRPr>
          </a:p>
        </p:txBody>
      </p:sp>
      <p:sp>
        <p:nvSpPr>
          <p:cNvPr id="12" name="Shape 8"/>
          <p:cNvSpPr/>
          <p:nvPr/>
        </p:nvSpPr>
        <p:spPr>
          <a:xfrm>
            <a:off x="4343400" y="4434840"/>
            <a:ext cx="3456432" cy="1463040"/>
          </a:xfrm>
          <a:prstGeom prst="rect">
            <a:avLst/>
          </a:prstGeom>
          <a:solidFill>
            <a:srgbClr val="EAF1F4"/>
          </a:solidFill>
          <a:ln w="12700">
            <a:solidFill>
              <a:srgbClr val="D6DEE4"/>
            </a:solidFill>
            <a:prstDash val="solid"/>
          </a:ln>
        </p:spPr>
      </p:sp>
      <p:sp>
        <p:nvSpPr>
          <p:cNvPr id="13" name="Shape 9"/>
          <p:cNvSpPr/>
          <p:nvPr/>
        </p:nvSpPr>
        <p:spPr>
          <a:xfrm>
            <a:off x="4343400" y="4434840"/>
            <a:ext cx="64008" cy="1463040"/>
          </a:xfrm>
          <a:prstGeom prst="rect">
            <a:avLst/>
          </a:prstGeom>
          <a:solidFill>
            <a:srgbClr val="2A7F8C"/>
          </a:solidFill>
          <a:ln w="12700">
            <a:solidFill>
              <a:srgbClr val="333333"/>
            </a:solidFill>
            <a:prstDash val="solid"/>
          </a:ln>
        </p:spPr>
      </p:sp>
      <p:pic>
        <p:nvPicPr>
          <p:cNvPr id="14" name="Image 1" descr="icon_balance.png"/>
          <p:cNvPicPr>
            <a:picLocks noChangeAspect="1"/>
          </p:cNvPicPr>
          <p:nvPr/>
        </p:nvPicPr>
        <p:blipFill>
          <a:blip r:embed="rId4"/>
          <a:stretch>
            <a:fillRect/>
          </a:stretch>
        </p:blipFill>
        <p:spPr>
          <a:xfrm>
            <a:off x="4526280" y="4599432"/>
            <a:ext cx="274320" cy="274320"/>
          </a:xfrm>
          <a:prstGeom prst="rect">
            <a:avLst/>
          </a:prstGeom>
        </p:spPr>
      </p:pic>
      <p:sp>
        <p:nvSpPr>
          <p:cNvPr id="15" name="Text 10"/>
          <p:cNvSpPr/>
          <p:nvPr/>
        </p:nvSpPr>
        <p:spPr>
          <a:xfrm>
            <a:off x="4892040" y="4553712"/>
            <a:ext cx="2743200" cy="365760"/>
          </a:xfrm>
          <a:prstGeom prst="rect">
            <a:avLst/>
          </a:prstGeom>
          <a:noFill/>
          <a:ln/>
        </p:spPr>
        <p:txBody>
          <a:bodyPr wrap="square" lIns="0" tIns="0" rIns="0" bIns="0" rtlCol="0" anchor="ctr"/>
          <a:lstStyle/>
          <a:p>
            <a:pPr marL="0" indent="0">
              <a:buNone/>
            </a:pPr>
            <a:r>
              <a:rPr lang="en-US" sz="1150" b="1" dirty="0">
                <a:solidFill>
                  <a:srgbClr val="23304A"/>
                </a:solidFill>
                <a:latin typeface="Arial" panose="020B0604020202020204" pitchFamily="34" charset="0"/>
                <a:ea typeface="Calibri" pitchFamily="34" charset="-122"/>
                <a:cs typeface="Arial" panose="020B0604020202020204" pitchFamily="34" charset="0"/>
              </a:rPr>
              <a:t>NVDA + AMD</a:t>
            </a:r>
            <a:endParaRPr lang="en-US" sz="1150" dirty="0">
              <a:latin typeface="Arial" panose="020B0604020202020204" pitchFamily="34" charset="0"/>
              <a:cs typeface="Arial" panose="020B0604020202020204" pitchFamily="34" charset="0"/>
            </a:endParaRPr>
          </a:p>
        </p:txBody>
      </p:sp>
      <p:sp>
        <p:nvSpPr>
          <p:cNvPr id="16" name="Text 11"/>
          <p:cNvSpPr/>
          <p:nvPr/>
        </p:nvSpPr>
        <p:spPr>
          <a:xfrm>
            <a:off x="4544568" y="4910328"/>
            <a:ext cx="3072384" cy="868680"/>
          </a:xfrm>
          <a:prstGeom prst="rect">
            <a:avLst/>
          </a:prstGeom>
          <a:noFill/>
          <a:ln/>
        </p:spPr>
        <p:txBody>
          <a:bodyPr wrap="square" lIns="0" tIns="0" rIns="0" bIns="0" rtlCol="0" anchor="ctr"/>
          <a:lstStyle/>
          <a:p>
            <a:pPr marL="0" indent="0">
              <a:lnSpc>
                <a:spcPct val="112000"/>
              </a:lnSpc>
              <a:buNone/>
            </a:pPr>
            <a:r>
              <a:rPr lang="en-US" sz="970" dirty="0">
                <a:solidFill>
                  <a:srgbClr val="667085"/>
                </a:solidFill>
                <a:latin typeface="Arial" panose="020B0604020202020204" pitchFamily="34" charset="0"/>
                <a:ea typeface="Calibri" pitchFamily="34" charset="-122"/>
                <a:cs typeface="Arial" panose="020B0604020202020204" pitchFamily="34" charset="0"/>
              </a:rPr>
              <a:t>El run más equilibrado en calidad textual y semántica. Defendible como modelo general.</a:t>
            </a:r>
            <a:endParaRPr lang="en-US" sz="970" dirty="0">
              <a:latin typeface="Arial" panose="020B0604020202020204" pitchFamily="34" charset="0"/>
              <a:cs typeface="Arial" panose="020B0604020202020204" pitchFamily="34" charset="0"/>
            </a:endParaRPr>
          </a:p>
        </p:txBody>
      </p:sp>
      <p:sp>
        <p:nvSpPr>
          <p:cNvPr id="17" name="Shape 12"/>
          <p:cNvSpPr/>
          <p:nvPr/>
        </p:nvSpPr>
        <p:spPr>
          <a:xfrm>
            <a:off x="8046720" y="4434840"/>
            <a:ext cx="3456432" cy="1463040"/>
          </a:xfrm>
          <a:prstGeom prst="rect">
            <a:avLst/>
          </a:prstGeom>
          <a:solidFill>
            <a:srgbClr val="EAF1F4"/>
          </a:solidFill>
          <a:ln w="12700">
            <a:solidFill>
              <a:srgbClr val="D6DEE4"/>
            </a:solidFill>
            <a:prstDash val="solid"/>
          </a:ln>
        </p:spPr>
      </p:sp>
      <p:sp>
        <p:nvSpPr>
          <p:cNvPr id="18" name="Shape 13"/>
          <p:cNvSpPr/>
          <p:nvPr/>
        </p:nvSpPr>
        <p:spPr>
          <a:xfrm>
            <a:off x="8046720" y="4434840"/>
            <a:ext cx="64008" cy="1463040"/>
          </a:xfrm>
          <a:prstGeom prst="rect">
            <a:avLst/>
          </a:prstGeom>
          <a:solidFill>
            <a:srgbClr val="C8923B"/>
          </a:solidFill>
          <a:ln w="12700">
            <a:solidFill>
              <a:srgbClr val="333333"/>
            </a:solidFill>
            <a:prstDash val="solid"/>
          </a:ln>
        </p:spPr>
      </p:sp>
      <p:pic>
        <p:nvPicPr>
          <p:cNvPr id="19" name="Image 2" descr="icon_target.png"/>
          <p:cNvPicPr>
            <a:picLocks noChangeAspect="1"/>
          </p:cNvPicPr>
          <p:nvPr/>
        </p:nvPicPr>
        <p:blipFill>
          <a:blip r:embed="rId5"/>
          <a:stretch>
            <a:fillRect/>
          </a:stretch>
        </p:blipFill>
        <p:spPr>
          <a:xfrm>
            <a:off x="8229600" y="4599432"/>
            <a:ext cx="274320" cy="274320"/>
          </a:xfrm>
          <a:prstGeom prst="rect">
            <a:avLst/>
          </a:prstGeom>
        </p:spPr>
      </p:pic>
      <p:sp>
        <p:nvSpPr>
          <p:cNvPr id="20" name="Text 14"/>
          <p:cNvSpPr/>
          <p:nvPr/>
        </p:nvSpPr>
        <p:spPr>
          <a:xfrm>
            <a:off x="8595360" y="4553712"/>
            <a:ext cx="2743200" cy="365760"/>
          </a:xfrm>
          <a:prstGeom prst="rect">
            <a:avLst/>
          </a:prstGeom>
          <a:noFill/>
          <a:ln/>
        </p:spPr>
        <p:txBody>
          <a:bodyPr wrap="square" lIns="0" tIns="0" rIns="0" bIns="0" rtlCol="0" anchor="ctr"/>
          <a:lstStyle/>
          <a:p>
            <a:pPr marL="0" indent="0">
              <a:buNone/>
            </a:pPr>
            <a:r>
              <a:rPr lang="en-US" sz="1150" b="1" dirty="0">
                <a:solidFill>
                  <a:srgbClr val="23304A"/>
                </a:solidFill>
                <a:latin typeface="Arial" panose="020B0604020202020204" pitchFamily="34" charset="0"/>
                <a:ea typeface="Calibri" pitchFamily="34" charset="-122"/>
                <a:cs typeface="Arial" panose="020B0604020202020204" pitchFamily="34" charset="0"/>
              </a:rPr>
              <a:t>NVDA direction features</a:t>
            </a:r>
            <a:endParaRPr lang="en-US" sz="1150" dirty="0">
              <a:latin typeface="Arial" panose="020B0604020202020204" pitchFamily="34" charset="0"/>
              <a:cs typeface="Arial" panose="020B0604020202020204" pitchFamily="34" charset="0"/>
            </a:endParaRPr>
          </a:p>
        </p:txBody>
      </p:sp>
      <p:sp>
        <p:nvSpPr>
          <p:cNvPr id="21" name="Text 15"/>
          <p:cNvSpPr/>
          <p:nvPr/>
        </p:nvSpPr>
        <p:spPr>
          <a:xfrm>
            <a:off x="8247888" y="4910328"/>
            <a:ext cx="3072384" cy="868680"/>
          </a:xfrm>
          <a:prstGeom prst="rect">
            <a:avLst/>
          </a:prstGeom>
          <a:noFill/>
          <a:ln/>
        </p:spPr>
        <p:txBody>
          <a:bodyPr wrap="square" lIns="0" tIns="0" rIns="0" bIns="0" rtlCol="0" anchor="ctr"/>
          <a:lstStyle/>
          <a:p>
            <a:pPr marL="0" indent="0">
              <a:lnSpc>
                <a:spcPct val="112000"/>
              </a:lnSpc>
              <a:buNone/>
            </a:pPr>
            <a:r>
              <a:rPr lang="en-US" sz="970" dirty="0">
                <a:solidFill>
                  <a:srgbClr val="667085"/>
                </a:solidFill>
                <a:latin typeface="Arial" panose="020B0604020202020204" pitchFamily="34" charset="0"/>
                <a:ea typeface="Calibri" pitchFamily="34" charset="-122"/>
                <a:cs typeface="Arial" panose="020B0604020202020204" pitchFamily="34" charset="0"/>
              </a:rPr>
              <a:t>La mejor directional accuracy (0.556)</a:t>
            </a:r>
            <a:endParaRPr lang="en-US" sz="970" dirty="0">
              <a:latin typeface="Arial" panose="020B0604020202020204" pitchFamily="34" charset="0"/>
              <a:cs typeface="Arial" panose="020B0604020202020204" pitchFamily="34" charset="0"/>
            </a:endParaRPr>
          </a:p>
        </p:txBody>
      </p:sp>
      <p:sp>
        <p:nvSpPr>
          <p:cNvPr id="22" name="Text 16"/>
          <p:cNvSpPr/>
          <p:nvPr/>
        </p:nvSpPr>
        <p:spPr>
          <a:xfrm>
            <a:off x="640080" y="6473952"/>
            <a:ext cx="7315200" cy="274320"/>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Fine-tuning de GPT-2  ·  Narrativas financieras  ·  NLP</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err="1">
                <a:solidFill>
                  <a:srgbClr val="23304A"/>
                </a:solidFill>
                <a:latin typeface="Arial" panose="020B0604020202020204" pitchFamily="34" charset="0"/>
                <a:ea typeface="Georgia" pitchFamily="34" charset="-122"/>
                <a:cs typeface="Arial" panose="020B0604020202020204" pitchFamily="34" charset="0"/>
              </a:rPr>
              <a:t>Entrenamiento</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Georgia" pitchFamily="34" charset="0"/>
                <a:ea typeface="Georgia" pitchFamily="34" charset="-122"/>
                <a:cs typeface="Georgia" pitchFamily="34" charset="-120"/>
              </a:rPr>
              <a:t>09</a:t>
            </a:r>
            <a:endParaRPr lang="en-US" sz="1500" dirty="0"/>
          </a:p>
        </p:txBody>
      </p:sp>
      <p:sp>
        <p:nvSpPr>
          <p:cNvPr id="5" name="Text 3"/>
          <p:cNvSpPr/>
          <p:nvPr/>
        </p:nvSpPr>
        <p:spPr>
          <a:xfrm>
            <a:off x="640080" y="1463040"/>
            <a:ext cx="10881360" cy="329184"/>
          </a:xfrm>
          <a:prstGeom prst="rect">
            <a:avLst/>
          </a:prstGeom>
          <a:noFill/>
          <a:ln/>
        </p:spPr>
        <p:txBody>
          <a:bodyPr wrap="square" lIns="0" tIns="0" rIns="0" bIns="0" rtlCol="0" anchor="ctr"/>
          <a:lstStyle/>
          <a:p>
            <a:pPr marL="0" indent="0">
              <a:buNone/>
            </a:pPr>
            <a:r>
              <a:rPr lang="en-US" sz="1200" dirty="0">
                <a:solidFill>
                  <a:srgbClr val="667085"/>
                </a:solidFill>
                <a:latin typeface="Arial" panose="020B0604020202020204" pitchFamily="34" charset="0"/>
                <a:ea typeface="Calibri" pitchFamily="34" charset="-122"/>
                <a:cs typeface="Arial" panose="020B0604020202020204" pitchFamily="34" charset="0"/>
              </a:rPr>
              <a:t>Las curvas confirman fine-tuning real; la perplexity = exp(eval loss) mide el lenguaje, no la utilidad financiera.</a:t>
            </a:r>
            <a:endParaRPr lang="en-US" sz="1200" dirty="0">
              <a:latin typeface="Arial" panose="020B0604020202020204" pitchFamily="34" charset="0"/>
              <a:cs typeface="Arial" panose="020B0604020202020204" pitchFamily="34" charset="0"/>
            </a:endParaRPr>
          </a:p>
        </p:txBody>
      </p:sp>
      <p:sp>
        <p:nvSpPr>
          <p:cNvPr id="6" name="Shape 4"/>
          <p:cNvSpPr/>
          <p:nvPr/>
        </p:nvSpPr>
        <p:spPr>
          <a:xfrm>
            <a:off x="640080" y="1874520"/>
            <a:ext cx="5394960" cy="2770632"/>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pic>
        <p:nvPicPr>
          <p:cNvPr id="7" name="Image 0" descr="training_loss_curves.png"/>
          <p:cNvPicPr>
            <a:picLocks noChangeAspect="1"/>
          </p:cNvPicPr>
          <p:nvPr/>
        </p:nvPicPr>
        <p:blipFill>
          <a:blip r:embed="rId3"/>
          <a:stretch>
            <a:fillRect/>
          </a:stretch>
        </p:blipFill>
        <p:spPr>
          <a:xfrm>
            <a:off x="713232" y="1947672"/>
            <a:ext cx="5248656" cy="2624328"/>
          </a:xfrm>
          <a:prstGeom prst="rect">
            <a:avLst/>
          </a:prstGeom>
        </p:spPr>
      </p:pic>
      <p:sp>
        <p:nvSpPr>
          <p:cNvPr id="8" name="Text 5"/>
          <p:cNvSpPr/>
          <p:nvPr/>
        </p:nvSpPr>
        <p:spPr>
          <a:xfrm>
            <a:off x="640080" y="4663440"/>
            <a:ext cx="5394960" cy="219456"/>
          </a:xfrm>
          <a:prstGeom prst="rect">
            <a:avLst/>
          </a:prstGeom>
          <a:noFill/>
          <a:ln/>
        </p:spPr>
        <p:txBody>
          <a:bodyPr wrap="square" lIns="0" tIns="0" rIns="0" bIns="0" rtlCol="0" anchor="ctr"/>
          <a:lstStyle/>
          <a:p>
            <a:pPr marL="0" indent="0" algn="ctr">
              <a:buNone/>
            </a:pPr>
            <a:r>
              <a:rPr lang="en-US" sz="850" i="1" dirty="0">
                <a:solidFill>
                  <a:srgbClr val="667085"/>
                </a:solidFill>
                <a:latin typeface="Arial" panose="020B0604020202020204" pitchFamily="34" charset="0"/>
                <a:ea typeface="Calibri" pitchFamily="34" charset="-122"/>
                <a:cs typeface="Arial" panose="020B0604020202020204" pitchFamily="34" charset="0"/>
              </a:rPr>
              <a:t>Training loss</a:t>
            </a:r>
            <a:endParaRPr lang="en-US" sz="850" dirty="0">
              <a:latin typeface="Arial" panose="020B0604020202020204" pitchFamily="34" charset="0"/>
              <a:cs typeface="Arial" panose="020B0604020202020204" pitchFamily="34" charset="0"/>
            </a:endParaRPr>
          </a:p>
        </p:txBody>
      </p:sp>
      <p:sp>
        <p:nvSpPr>
          <p:cNvPr id="9" name="Shape 6"/>
          <p:cNvSpPr/>
          <p:nvPr/>
        </p:nvSpPr>
        <p:spPr>
          <a:xfrm>
            <a:off x="6300216" y="1874520"/>
            <a:ext cx="5394960" cy="2770632"/>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pic>
        <p:nvPicPr>
          <p:cNvPr id="10" name="Image 1" descr="eval_loss_curves.png"/>
          <p:cNvPicPr>
            <a:picLocks noChangeAspect="1"/>
          </p:cNvPicPr>
          <p:nvPr/>
        </p:nvPicPr>
        <p:blipFill>
          <a:blip r:embed="rId4"/>
          <a:stretch>
            <a:fillRect/>
          </a:stretch>
        </p:blipFill>
        <p:spPr>
          <a:xfrm>
            <a:off x="6373368" y="1947672"/>
            <a:ext cx="5248656" cy="2624328"/>
          </a:xfrm>
          <a:prstGeom prst="rect">
            <a:avLst/>
          </a:prstGeom>
        </p:spPr>
      </p:pic>
      <p:sp>
        <p:nvSpPr>
          <p:cNvPr id="11" name="Text 7"/>
          <p:cNvSpPr/>
          <p:nvPr/>
        </p:nvSpPr>
        <p:spPr>
          <a:xfrm>
            <a:off x="6300216" y="4663440"/>
            <a:ext cx="5394960" cy="219456"/>
          </a:xfrm>
          <a:prstGeom prst="rect">
            <a:avLst/>
          </a:prstGeom>
          <a:noFill/>
          <a:ln/>
        </p:spPr>
        <p:txBody>
          <a:bodyPr wrap="square" lIns="0" tIns="0" rIns="0" bIns="0" rtlCol="0" anchor="ctr"/>
          <a:lstStyle/>
          <a:p>
            <a:pPr marL="0" indent="0" algn="ctr">
              <a:buNone/>
            </a:pPr>
            <a:r>
              <a:rPr lang="en-US" sz="850" i="1" dirty="0">
                <a:solidFill>
                  <a:srgbClr val="667085"/>
                </a:solidFill>
                <a:latin typeface="Arial" panose="020B0604020202020204" pitchFamily="34" charset="0"/>
                <a:ea typeface="Calibri" pitchFamily="34" charset="-122"/>
                <a:cs typeface="Arial" panose="020B0604020202020204" pitchFamily="34" charset="0"/>
              </a:rPr>
              <a:t>Validation loss</a:t>
            </a:r>
            <a:endParaRPr lang="en-US" sz="850" dirty="0">
              <a:latin typeface="Arial" panose="020B0604020202020204" pitchFamily="34" charset="0"/>
              <a:cs typeface="Arial" panose="020B0604020202020204" pitchFamily="34" charset="0"/>
            </a:endParaRPr>
          </a:p>
        </p:txBody>
      </p:sp>
      <p:sp>
        <p:nvSpPr>
          <p:cNvPr id="12" name="Text 8"/>
          <p:cNvSpPr/>
          <p:nvPr/>
        </p:nvSpPr>
        <p:spPr>
          <a:xfrm>
            <a:off x="640080" y="4919472"/>
            <a:ext cx="6400800" cy="274320"/>
          </a:xfrm>
          <a:prstGeom prst="rect">
            <a:avLst/>
          </a:prstGeom>
          <a:noFill/>
          <a:ln/>
        </p:spPr>
        <p:txBody>
          <a:bodyPr wrap="square" lIns="0" tIns="0" rIns="0" bIns="0" rtlCol="0" anchor="ctr"/>
          <a:lstStyle/>
          <a:p>
            <a:pPr marL="0" indent="0">
              <a:buNone/>
            </a:pPr>
            <a:r>
              <a:rPr lang="en-US" sz="1150" b="1" dirty="0">
                <a:solidFill>
                  <a:srgbClr val="23304A"/>
                </a:solidFill>
                <a:latin typeface="Arial" panose="020B0604020202020204" pitchFamily="34" charset="0"/>
                <a:ea typeface="Calibri" pitchFamily="34" charset="-122"/>
                <a:cs typeface="Arial" panose="020B0604020202020204" pitchFamily="34" charset="0"/>
              </a:rPr>
              <a:t>Perplexity por run</a:t>
            </a:r>
            <a:endParaRPr lang="en-US" sz="1150" dirty="0">
              <a:latin typeface="Arial" panose="020B0604020202020204" pitchFamily="34" charset="0"/>
              <a:cs typeface="Arial" panose="020B0604020202020204" pitchFamily="34" charset="0"/>
            </a:endParaRPr>
          </a:p>
        </p:txBody>
      </p:sp>
      <p:sp>
        <p:nvSpPr>
          <p:cNvPr id="13" name="Shape 9"/>
          <p:cNvSpPr/>
          <p:nvPr/>
        </p:nvSpPr>
        <p:spPr>
          <a:xfrm>
            <a:off x="640080" y="5212080"/>
            <a:ext cx="1490472" cy="841248"/>
          </a:xfrm>
          <a:prstGeom prst="rect">
            <a:avLst/>
          </a:prstGeom>
          <a:solidFill>
            <a:srgbClr val="EAF1F4"/>
          </a:solidFill>
          <a:ln w="12700">
            <a:solidFill>
              <a:srgbClr val="D6DEE4"/>
            </a:solidFill>
            <a:prstDash val="solid"/>
          </a:ln>
        </p:spPr>
      </p:sp>
      <p:sp>
        <p:nvSpPr>
          <p:cNvPr id="14" name="Shape 10"/>
          <p:cNvSpPr/>
          <p:nvPr/>
        </p:nvSpPr>
        <p:spPr>
          <a:xfrm>
            <a:off x="640080" y="5212080"/>
            <a:ext cx="1490472" cy="54864"/>
          </a:xfrm>
          <a:prstGeom prst="rect">
            <a:avLst/>
          </a:prstGeom>
          <a:solidFill>
            <a:srgbClr val="2A7F8C"/>
          </a:solidFill>
          <a:ln w="12700">
            <a:solidFill>
              <a:srgbClr val="333333"/>
            </a:solidFill>
            <a:prstDash val="solid"/>
          </a:ln>
        </p:spPr>
      </p:sp>
      <p:sp>
        <p:nvSpPr>
          <p:cNvPr id="15" name="Text 11"/>
          <p:cNvSpPr/>
          <p:nvPr/>
        </p:nvSpPr>
        <p:spPr>
          <a:xfrm>
            <a:off x="640080" y="5285232"/>
            <a:ext cx="1490472" cy="420624"/>
          </a:xfrm>
          <a:prstGeom prst="rect">
            <a:avLst/>
          </a:prstGeom>
          <a:noFill/>
          <a:ln/>
        </p:spPr>
        <p:txBody>
          <a:bodyPr wrap="square" lIns="0" tIns="0" rIns="0" bIns="0" rtlCol="0" anchor="ctr"/>
          <a:lstStyle/>
          <a:p>
            <a:pPr marL="0" indent="0" algn="ctr">
              <a:buNone/>
            </a:pPr>
            <a:r>
              <a:rPr lang="en-US" sz="1900" b="1" dirty="0">
                <a:solidFill>
                  <a:srgbClr val="2A7F8C"/>
                </a:solidFill>
                <a:latin typeface="Arial" panose="020B0604020202020204" pitchFamily="34" charset="0"/>
                <a:ea typeface="Georgia" pitchFamily="34" charset="-122"/>
                <a:cs typeface="Arial" panose="020B0604020202020204" pitchFamily="34" charset="0"/>
              </a:rPr>
              <a:t>14.7</a:t>
            </a:r>
            <a:endParaRPr lang="en-US" sz="1900" dirty="0">
              <a:latin typeface="Arial" panose="020B0604020202020204" pitchFamily="34" charset="0"/>
              <a:cs typeface="Arial" panose="020B0604020202020204" pitchFamily="34" charset="0"/>
            </a:endParaRPr>
          </a:p>
        </p:txBody>
      </p:sp>
      <p:sp>
        <p:nvSpPr>
          <p:cNvPr id="16" name="Text 12"/>
          <p:cNvSpPr/>
          <p:nvPr/>
        </p:nvSpPr>
        <p:spPr>
          <a:xfrm>
            <a:off x="640080" y="5724144"/>
            <a:ext cx="1490472" cy="274320"/>
          </a:xfrm>
          <a:prstGeom prst="rect">
            <a:avLst/>
          </a:prstGeom>
          <a:noFill/>
          <a:ln/>
        </p:spPr>
        <p:txBody>
          <a:bodyPr wrap="square" lIns="0" tIns="0" rIns="0" bIns="0" rtlCol="0" anchor="ctr"/>
          <a:lstStyle/>
          <a:p>
            <a:pPr marL="0" indent="0" algn="ctr">
              <a:buNone/>
            </a:pPr>
            <a:r>
              <a:rPr lang="en-US" sz="850" dirty="0">
                <a:solidFill>
                  <a:srgbClr val="667085"/>
                </a:solidFill>
                <a:latin typeface="Arial" panose="020B0604020202020204" pitchFamily="34" charset="0"/>
                <a:ea typeface="Calibri" pitchFamily="34" charset="-122"/>
                <a:cs typeface="Arial" panose="020B0604020202020204" pitchFamily="34" charset="0"/>
              </a:rPr>
              <a:t>SPY/QQQ</a:t>
            </a:r>
            <a:endParaRPr lang="en-US" sz="850" dirty="0">
              <a:latin typeface="Arial" panose="020B0604020202020204" pitchFamily="34" charset="0"/>
              <a:cs typeface="Arial" panose="020B0604020202020204" pitchFamily="34" charset="0"/>
            </a:endParaRPr>
          </a:p>
        </p:txBody>
      </p:sp>
      <p:sp>
        <p:nvSpPr>
          <p:cNvPr id="17" name="Shape 13"/>
          <p:cNvSpPr/>
          <p:nvPr/>
        </p:nvSpPr>
        <p:spPr>
          <a:xfrm>
            <a:off x="2240280" y="5212080"/>
            <a:ext cx="1490472" cy="841248"/>
          </a:xfrm>
          <a:prstGeom prst="rect">
            <a:avLst/>
          </a:prstGeom>
          <a:solidFill>
            <a:srgbClr val="EAF1F4"/>
          </a:solidFill>
          <a:ln w="12700">
            <a:solidFill>
              <a:srgbClr val="D6DEE4"/>
            </a:solidFill>
            <a:prstDash val="solid"/>
          </a:ln>
        </p:spPr>
      </p:sp>
      <p:sp>
        <p:nvSpPr>
          <p:cNvPr id="18" name="Shape 14"/>
          <p:cNvSpPr/>
          <p:nvPr/>
        </p:nvSpPr>
        <p:spPr>
          <a:xfrm>
            <a:off x="2240280" y="5212080"/>
            <a:ext cx="1490472" cy="54864"/>
          </a:xfrm>
          <a:prstGeom prst="rect">
            <a:avLst/>
          </a:prstGeom>
          <a:solidFill>
            <a:srgbClr val="2A7F8C"/>
          </a:solidFill>
          <a:ln w="12700">
            <a:solidFill>
              <a:srgbClr val="333333"/>
            </a:solidFill>
            <a:prstDash val="solid"/>
          </a:ln>
        </p:spPr>
      </p:sp>
      <p:sp>
        <p:nvSpPr>
          <p:cNvPr id="19" name="Text 15"/>
          <p:cNvSpPr/>
          <p:nvPr/>
        </p:nvSpPr>
        <p:spPr>
          <a:xfrm>
            <a:off x="2240280" y="5285232"/>
            <a:ext cx="1490472" cy="420624"/>
          </a:xfrm>
          <a:prstGeom prst="rect">
            <a:avLst/>
          </a:prstGeom>
          <a:noFill/>
          <a:ln/>
        </p:spPr>
        <p:txBody>
          <a:bodyPr wrap="square" lIns="0" tIns="0" rIns="0" bIns="0" rtlCol="0" anchor="ctr"/>
          <a:lstStyle/>
          <a:p>
            <a:pPr marL="0" indent="0" algn="ctr">
              <a:buNone/>
            </a:pPr>
            <a:r>
              <a:rPr lang="en-US" sz="1900" b="1" dirty="0">
                <a:solidFill>
                  <a:srgbClr val="2A7F8C"/>
                </a:solidFill>
                <a:latin typeface="Arial" panose="020B0604020202020204" pitchFamily="34" charset="0"/>
                <a:ea typeface="Georgia" pitchFamily="34" charset="-122"/>
                <a:cs typeface="Arial" panose="020B0604020202020204" pitchFamily="34" charset="0"/>
              </a:rPr>
              <a:t>29.6</a:t>
            </a:r>
            <a:endParaRPr lang="en-US" sz="1900" dirty="0">
              <a:latin typeface="Arial" panose="020B0604020202020204" pitchFamily="34" charset="0"/>
              <a:cs typeface="Arial" panose="020B0604020202020204" pitchFamily="34" charset="0"/>
            </a:endParaRPr>
          </a:p>
        </p:txBody>
      </p:sp>
      <p:sp>
        <p:nvSpPr>
          <p:cNvPr id="20" name="Text 16"/>
          <p:cNvSpPr/>
          <p:nvPr/>
        </p:nvSpPr>
        <p:spPr>
          <a:xfrm>
            <a:off x="2240280" y="5724144"/>
            <a:ext cx="1490472" cy="274320"/>
          </a:xfrm>
          <a:prstGeom prst="rect">
            <a:avLst/>
          </a:prstGeom>
          <a:noFill/>
          <a:ln/>
        </p:spPr>
        <p:txBody>
          <a:bodyPr wrap="square" lIns="0" tIns="0" rIns="0" bIns="0" rtlCol="0" anchor="ctr"/>
          <a:lstStyle/>
          <a:p>
            <a:pPr marL="0" indent="0" algn="ctr">
              <a:buNone/>
            </a:pPr>
            <a:r>
              <a:rPr lang="en-US" sz="850" dirty="0">
                <a:solidFill>
                  <a:srgbClr val="667085"/>
                </a:solidFill>
                <a:latin typeface="Arial" panose="020B0604020202020204" pitchFamily="34" charset="0"/>
                <a:ea typeface="Calibri" pitchFamily="34" charset="-122"/>
                <a:cs typeface="Arial" panose="020B0604020202020204" pitchFamily="34" charset="0"/>
              </a:rPr>
              <a:t>NVDA single</a:t>
            </a:r>
            <a:endParaRPr lang="en-US" sz="850" dirty="0">
              <a:latin typeface="Arial" panose="020B0604020202020204" pitchFamily="34" charset="0"/>
              <a:cs typeface="Arial" panose="020B0604020202020204" pitchFamily="34" charset="0"/>
            </a:endParaRPr>
          </a:p>
        </p:txBody>
      </p:sp>
      <p:sp>
        <p:nvSpPr>
          <p:cNvPr id="21" name="Shape 17"/>
          <p:cNvSpPr/>
          <p:nvPr/>
        </p:nvSpPr>
        <p:spPr>
          <a:xfrm>
            <a:off x="3840480" y="5212080"/>
            <a:ext cx="1490472" cy="841248"/>
          </a:xfrm>
          <a:prstGeom prst="rect">
            <a:avLst/>
          </a:prstGeom>
          <a:solidFill>
            <a:srgbClr val="EAF1F4"/>
          </a:solidFill>
          <a:ln w="12700">
            <a:solidFill>
              <a:srgbClr val="D6DEE4"/>
            </a:solidFill>
            <a:prstDash val="solid"/>
          </a:ln>
        </p:spPr>
      </p:sp>
      <p:sp>
        <p:nvSpPr>
          <p:cNvPr id="22" name="Shape 18"/>
          <p:cNvSpPr/>
          <p:nvPr/>
        </p:nvSpPr>
        <p:spPr>
          <a:xfrm>
            <a:off x="3840480" y="5212080"/>
            <a:ext cx="1490472" cy="54864"/>
          </a:xfrm>
          <a:prstGeom prst="rect">
            <a:avLst/>
          </a:prstGeom>
          <a:solidFill>
            <a:srgbClr val="2A7F8C"/>
          </a:solidFill>
          <a:ln w="12700">
            <a:solidFill>
              <a:srgbClr val="333333"/>
            </a:solidFill>
            <a:prstDash val="solid"/>
          </a:ln>
        </p:spPr>
      </p:sp>
      <p:sp>
        <p:nvSpPr>
          <p:cNvPr id="23" name="Text 19"/>
          <p:cNvSpPr/>
          <p:nvPr/>
        </p:nvSpPr>
        <p:spPr>
          <a:xfrm>
            <a:off x="3840480" y="5285232"/>
            <a:ext cx="1490472" cy="420624"/>
          </a:xfrm>
          <a:prstGeom prst="rect">
            <a:avLst/>
          </a:prstGeom>
          <a:noFill/>
          <a:ln/>
        </p:spPr>
        <p:txBody>
          <a:bodyPr wrap="square" lIns="0" tIns="0" rIns="0" bIns="0" rtlCol="0" anchor="ctr"/>
          <a:lstStyle/>
          <a:p>
            <a:pPr marL="0" indent="0" algn="ctr">
              <a:buNone/>
            </a:pPr>
            <a:r>
              <a:rPr lang="en-US" sz="1900" b="1" dirty="0">
                <a:solidFill>
                  <a:srgbClr val="2A7F8C"/>
                </a:solidFill>
                <a:latin typeface="Arial" panose="020B0604020202020204" pitchFamily="34" charset="0"/>
                <a:ea typeface="Georgia" pitchFamily="34" charset="-122"/>
                <a:cs typeface="Arial" panose="020B0604020202020204" pitchFamily="34" charset="0"/>
              </a:rPr>
              <a:t>19.3</a:t>
            </a:r>
            <a:endParaRPr lang="en-US" sz="1900" dirty="0">
              <a:latin typeface="Arial" panose="020B0604020202020204" pitchFamily="34" charset="0"/>
              <a:cs typeface="Arial" panose="020B0604020202020204" pitchFamily="34" charset="0"/>
            </a:endParaRPr>
          </a:p>
        </p:txBody>
      </p:sp>
      <p:sp>
        <p:nvSpPr>
          <p:cNvPr id="24" name="Text 20"/>
          <p:cNvSpPr/>
          <p:nvPr/>
        </p:nvSpPr>
        <p:spPr>
          <a:xfrm>
            <a:off x="3840480" y="5724144"/>
            <a:ext cx="1490472" cy="274320"/>
          </a:xfrm>
          <a:prstGeom prst="rect">
            <a:avLst/>
          </a:prstGeom>
          <a:noFill/>
          <a:ln/>
        </p:spPr>
        <p:txBody>
          <a:bodyPr wrap="square" lIns="0" tIns="0" rIns="0" bIns="0" rtlCol="0" anchor="ctr"/>
          <a:lstStyle/>
          <a:p>
            <a:pPr marL="0" indent="0" algn="ctr">
              <a:buNone/>
            </a:pPr>
            <a:r>
              <a:rPr lang="en-US" sz="850" dirty="0">
                <a:solidFill>
                  <a:srgbClr val="667085"/>
                </a:solidFill>
                <a:latin typeface="Arial" panose="020B0604020202020204" pitchFamily="34" charset="0"/>
                <a:ea typeface="Calibri" pitchFamily="34" charset="-122"/>
                <a:cs typeface="Arial" panose="020B0604020202020204" pitchFamily="34" charset="0"/>
              </a:rPr>
              <a:t>NVDA+AMD</a:t>
            </a:r>
            <a:endParaRPr lang="en-US" sz="850" dirty="0">
              <a:latin typeface="Arial" panose="020B0604020202020204" pitchFamily="34" charset="0"/>
              <a:cs typeface="Arial" panose="020B0604020202020204" pitchFamily="34" charset="0"/>
            </a:endParaRPr>
          </a:p>
        </p:txBody>
      </p:sp>
      <p:sp>
        <p:nvSpPr>
          <p:cNvPr id="25" name="Shape 21"/>
          <p:cNvSpPr/>
          <p:nvPr/>
        </p:nvSpPr>
        <p:spPr>
          <a:xfrm>
            <a:off x="5440680" y="5212080"/>
            <a:ext cx="1490472" cy="841248"/>
          </a:xfrm>
          <a:prstGeom prst="rect">
            <a:avLst/>
          </a:prstGeom>
          <a:solidFill>
            <a:srgbClr val="EAF1F4"/>
          </a:solidFill>
          <a:ln w="12700">
            <a:solidFill>
              <a:srgbClr val="D6DEE4"/>
            </a:solidFill>
            <a:prstDash val="solid"/>
          </a:ln>
        </p:spPr>
      </p:sp>
      <p:sp>
        <p:nvSpPr>
          <p:cNvPr id="26" name="Shape 22"/>
          <p:cNvSpPr/>
          <p:nvPr/>
        </p:nvSpPr>
        <p:spPr>
          <a:xfrm>
            <a:off x="5440680" y="5212080"/>
            <a:ext cx="1490472" cy="54864"/>
          </a:xfrm>
          <a:prstGeom prst="rect">
            <a:avLst/>
          </a:prstGeom>
          <a:solidFill>
            <a:srgbClr val="2A7F8C"/>
          </a:solidFill>
          <a:ln w="12700">
            <a:solidFill>
              <a:srgbClr val="333333"/>
            </a:solidFill>
            <a:prstDash val="solid"/>
          </a:ln>
        </p:spPr>
      </p:sp>
      <p:sp>
        <p:nvSpPr>
          <p:cNvPr id="27" name="Text 23"/>
          <p:cNvSpPr/>
          <p:nvPr/>
        </p:nvSpPr>
        <p:spPr>
          <a:xfrm>
            <a:off x="5440680" y="5285232"/>
            <a:ext cx="1490472" cy="420624"/>
          </a:xfrm>
          <a:prstGeom prst="rect">
            <a:avLst/>
          </a:prstGeom>
          <a:noFill/>
          <a:ln/>
        </p:spPr>
        <p:txBody>
          <a:bodyPr wrap="square" lIns="0" tIns="0" rIns="0" bIns="0" rtlCol="0" anchor="ctr"/>
          <a:lstStyle/>
          <a:p>
            <a:pPr marL="0" indent="0" algn="ctr">
              <a:buNone/>
            </a:pPr>
            <a:r>
              <a:rPr lang="en-US" sz="1900" b="1" dirty="0">
                <a:solidFill>
                  <a:srgbClr val="2A7F8C"/>
                </a:solidFill>
                <a:latin typeface="Arial" panose="020B0604020202020204" pitchFamily="34" charset="0"/>
                <a:ea typeface="Georgia" pitchFamily="34" charset="-122"/>
                <a:cs typeface="Arial" panose="020B0604020202020204" pitchFamily="34" charset="0"/>
              </a:rPr>
              <a:t>16.5</a:t>
            </a:r>
            <a:endParaRPr lang="en-US" sz="1900" dirty="0">
              <a:latin typeface="Arial" panose="020B0604020202020204" pitchFamily="34" charset="0"/>
              <a:cs typeface="Arial" panose="020B0604020202020204" pitchFamily="34" charset="0"/>
            </a:endParaRPr>
          </a:p>
        </p:txBody>
      </p:sp>
      <p:sp>
        <p:nvSpPr>
          <p:cNvPr id="28" name="Text 24"/>
          <p:cNvSpPr/>
          <p:nvPr/>
        </p:nvSpPr>
        <p:spPr>
          <a:xfrm>
            <a:off x="5440680" y="5724144"/>
            <a:ext cx="1490472" cy="274320"/>
          </a:xfrm>
          <a:prstGeom prst="rect">
            <a:avLst/>
          </a:prstGeom>
          <a:noFill/>
          <a:ln/>
        </p:spPr>
        <p:txBody>
          <a:bodyPr wrap="square" lIns="0" tIns="0" rIns="0" bIns="0" rtlCol="0" anchor="ctr"/>
          <a:lstStyle/>
          <a:p>
            <a:pPr marL="0" indent="0" algn="ctr">
              <a:buNone/>
            </a:pPr>
            <a:r>
              <a:rPr lang="en-US" sz="850" dirty="0">
                <a:solidFill>
                  <a:srgbClr val="667085"/>
                </a:solidFill>
                <a:latin typeface="Arial" panose="020B0604020202020204" pitchFamily="34" charset="0"/>
                <a:ea typeface="Calibri" pitchFamily="34" charset="-122"/>
                <a:cs typeface="Arial" panose="020B0604020202020204" pitchFamily="34" charset="0"/>
              </a:rPr>
              <a:t>NVDA dir. feat.</a:t>
            </a:r>
            <a:endParaRPr lang="en-US" sz="850" dirty="0">
              <a:latin typeface="Arial" panose="020B0604020202020204" pitchFamily="34" charset="0"/>
              <a:cs typeface="Arial" panose="020B0604020202020204" pitchFamily="34" charset="0"/>
            </a:endParaRPr>
          </a:p>
        </p:txBody>
      </p:sp>
      <p:sp>
        <p:nvSpPr>
          <p:cNvPr id="29" name="Shape 25"/>
          <p:cNvSpPr/>
          <p:nvPr/>
        </p:nvSpPr>
        <p:spPr>
          <a:xfrm>
            <a:off x="7315200" y="4919472"/>
            <a:ext cx="4236415" cy="1627632"/>
          </a:xfrm>
          <a:prstGeom prst="rect">
            <a:avLst/>
          </a:prstGeom>
          <a:solidFill>
            <a:srgbClr val="1E2A4A"/>
          </a:solidFill>
          <a:ln w="12700">
            <a:solidFill>
              <a:srgbClr val="333333"/>
            </a:solidFill>
            <a:prstDash val="solid"/>
          </a:ln>
          <a:effectLst>
            <a:outerShdw blurRad="114300" dist="38100" dir="8100000" algn="bl" rotWithShape="0">
              <a:srgbClr val="1E2A4A">
                <a:alpha val="14000"/>
              </a:srgbClr>
            </a:outerShdw>
          </a:effectLst>
        </p:spPr>
      </p:sp>
      <p:sp>
        <p:nvSpPr>
          <p:cNvPr id="31" name="Text 26"/>
          <p:cNvSpPr/>
          <p:nvPr/>
        </p:nvSpPr>
        <p:spPr>
          <a:xfrm>
            <a:off x="7552944" y="5103315"/>
            <a:ext cx="3459175" cy="310896"/>
          </a:xfrm>
          <a:prstGeom prst="rect">
            <a:avLst/>
          </a:prstGeom>
          <a:noFill/>
          <a:ln/>
        </p:spPr>
        <p:txBody>
          <a:bodyPr wrap="square" lIns="0" tIns="0" rIns="0" bIns="0" rtlCol="0" anchor="ctr"/>
          <a:lstStyle/>
          <a:p>
            <a:pPr marL="0" indent="0">
              <a:buNone/>
            </a:pPr>
            <a:r>
              <a:rPr lang="en-US" sz="1200" b="1" dirty="0" err="1">
                <a:solidFill>
                  <a:srgbClr val="C8923B"/>
                </a:solidFill>
                <a:latin typeface="Arial" panose="020B0604020202020204" pitchFamily="34" charset="0"/>
                <a:ea typeface="Calibri" pitchFamily="34" charset="-122"/>
                <a:cs typeface="Arial" panose="020B0604020202020204" pitchFamily="34" charset="0"/>
              </a:rPr>
              <a:t>Hallazgo</a:t>
            </a:r>
            <a:endParaRPr lang="en-US" sz="1200" dirty="0">
              <a:latin typeface="Arial" panose="020B0604020202020204" pitchFamily="34" charset="0"/>
              <a:cs typeface="Arial" panose="020B0604020202020204" pitchFamily="34" charset="0"/>
            </a:endParaRPr>
          </a:p>
        </p:txBody>
      </p:sp>
      <p:sp>
        <p:nvSpPr>
          <p:cNvPr id="32" name="Text 27"/>
          <p:cNvSpPr/>
          <p:nvPr/>
        </p:nvSpPr>
        <p:spPr>
          <a:xfrm>
            <a:off x="7552944" y="5431536"/>
            <a:ext cx="3779215" cy="960120"/>
          </a:xfrm>
          <a:prstGeom prst="rect">
            <a:avLst/>
          </a:prstGeom>
          <a:noFill/>
          <a:ln/>
        </p:spPr>
        <p:txBody>
          <a:bodyPr wrap="square" lIns="0" tIns="0" rIns="0" bIns="0" rtlCol="0" anchor="ctr"/>
          <a:lstStyle/>
          <a:p>
            <a:pPr marL="0" indent="0">
              <a:lnSpc>
                <a:spcPct val="120000"/>
              </a:lnSpc>
              <a:buNone/>
            </a:pPr>
            <a:r>
              <a:rPr lang="en-US" sz="1000" dirty="0">
                <a:solidFill>
                  <a:srgbClr val="DCE4F0"/>
                </a:solidFill>
                <a:latin typeface="Arial" panose="020B0604020202020204" pitchFamily="34" charset="0"/>
                <a:ea typeface="Calibri" pitchFamily="34" charset="-122"/>
                <a:cs typeface="Arial" panose="020B0604020202020204" pitchFamily="34" charset="0"/>
              </a:rPr>
              <a:t>El run con mejor perplexity no es el mejor en directional accuracy. Optimizar la pérdida de lenguaje no garantiza una señal financiera útil: modelar texto y producir una señal son objetivos distintos.</a:t>
            </a:r>
            <a:endParaRPr lang="en-US" sz="1000" dirty="0">
              <a:latin typeface="Arial" panose="020B0604020202020204" pitchFamily="34" charset="0"/>
              <a:cs typeface="Arial" panose="020B0604020202020204" pitchFamily="34" charset="0"/>
            </a:endParaRPr>
          </a:p>
        </p:txBody>
      </p:sp>
      <p:sp>
        <p:nvSpPr>
          <p:cNvPr id="33" name="Text 28"/>
          <p:cNvSpPr/>
          <p:nvPr/>
        </p:nvSpPr>
        <p:spPr>
          <a:xfrm>
            <a:off x="640080" y="6473952"/>
            <a:ext cx="7315200" cy="274320"/>
          </a:xfrm>
          <a:prstGeom prst="rect">
            <a:avLst/>
          </a:prstGeom>
          <a:noFill/>
          <a:ln/>
        </p:spPr>
        <p:txBody>
          <a:bodyPr wrap="square" lIns="0" tIns="0" rIns="0" bIns="0" rtlCol="0" anchor="ctr"/>
          <a:lstStyle/>
          <a:p>
            <a:pPr marL="0" indent="0">
              <a:buNone/>
            </a:pPr>
            <a:r>
              <a:rPr lang="en-US" sz="850" dirty="0">
                <a:solidFill>
                  <a:srgbClr val="667085"/>
                </a:solidFill>
                <a:latin typeface="Arial" panose="020B0604020202020204" pitchFamily="34" charset="0"/>
                <a:ea typeface="Calibri" pitchFamily="34" charset="-122"/>
                <a:cs typeface="Arial" panose="020B0604020202020204" pitchFamily="34" charset="0"/>
              </a:rPr>
              <a:t>Fine-tuning de GPT-2  ·  Narrativas financieras  ·  NLP</a:t>
            </a:r>
            <a:endParaRPr lang="en-US" sz="850" dirty="0">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Arial" panose="020B0604020202020204" pitchFamily="34" charset="0"/>
                <a:ea typeface="Georgia" pitchFamily="34" charset="-122"/>
                <a:cs typeface="Arial" panose="020B0604020202020204" pitchFamily="34" charset="0"/>
              </a:rPr>
              <a:t>Matrices de confusión</a:t>
            </a:r>
            <a:endParaRPr lang="en-US" sz="2800" dirty="0">
              <a:latin typeface="Arial" panose="020B0604020202020204" pitchFamily="34" charset="0"/>
              <a:cs typeface="Arial" panose="020B0604020202020204" pitchFamily="34" charset="0"/>
            </a:endParaRPr>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Arial" panose="020B0604020202020204" pitchFamily="34" charset="0"/>
                <a:ea typeface="Georgia" pitchFamily="34" charset="-122"/>
                <a:cs typeface="Arial" panose="020B0604020202020204" pitchFamily="34" charset="0"/>
              </a:rPr>
              <a:t>10</a:t>
            </a:r>
            <a:endParaRPr lang="en-US" sz="1500" dirty="0">
              <a:latin typeface="Arial" panose="020B0604020202020204" pitchFamily="34" charset="0"/>
              <a:cs typeface="Arial" panose="020B0604020202020204" pitchFamily="34" charset="0"/>
            </a:endParaRPr>
          </a:p>
        </p:txBody>
      </p:sp>
      <p:sp>
        <p:nvSpPr>
          <p:cNvPr id="5" name="Text 3"/>
          <p:cNvSpPr/>
          <p:nvPr/>
        </p:nvSpPr>
        <p:spPr>
          <a:xfrm>
            <a:off x="640080" y="1463040"/>
            <a:ext cx="10881360" cy="329184"/>
          </a:xfrm>
          <a:prstGeom prst="rect">
            <a:avLst/>
          </a:prstGeom>
          <a:noFill/>
          <a:ln/>
        </p:spPr>
        <p:txBody>
          <a:bodyPr wrap="square" lIns="0" tIns="0" rIns="0" bIns="0" rtlCol="0" anchor="ctr"/>
          <a:lstStyle/>
          <a:p>
            <a:pPr marL="0" indent="0">
              <a:buNone/>
            </a:pPr>
            <a:r>
              <a:rPr lang="en-US" sz="1200" dirty="0">
                <a:solidFill>
                  <a:srgbClr val="667085"/>
                </a:solidFill>
                <a:latin typeface="Arial" panose="020B0604020202020204" pitchFamily="34" charset="0"/>
                <a:ea typeface="Calibri" pitchFamily="34" charset="-122"/>
                <a:cs typeface="Arial" panose="020B0604020202020204" pitchFamily="34" charset="0"/>
              </a:rPr>
              <a:t>Sentimiento real vs. generado (FinBERT) y señal direccional vs. dirección real del activo.</a:t>
            </a:r>
            <a:endParaRPr lang="en-US" sz="1200" dirty="0">
              <a:latin typeface="Arial" panose="020B0604020202020204" pitchFamily="34" charset="0"/>
              <a:cs typeface="Arial" panose="020B0604020202020204" pitchFamily="34" charset="0"/>
            </a:endParaRPr>
          </a:p>
        </p:txBody>
      </p:sp>
      <p:sp>
        <p:nvSpPr>
          <p:cNvPr id="6" name="Shape 4"/>
          <p:cNvSpPr/>
          <p:nvPr/>
        </p:nvSpPr>
        <p:spPr>
          <a:xfrm>
            <a:off x="640080" y="1874520"/>
            <a:ext cx="3456432" cy="324612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sp>
        <p:nvSpPr>
          <p:cNvPr id="7" name="Text 5"/>
          <p:cNvSpPr/>
          <p:nvPr/>
        </p:nvSpPr>
        <p:spPr>
          <a:xfrm>
            <a:off x="804672" y="1993392"/>
            <a:ext cx="3127248" cy="320040"/>
          </a:xfrm>
          <a:prstGeom prst="rect">
            <a:avLst/>
          </a:prstGeom>
          <a:noFill/>
          <a:ln/>
        </p:spPr>
        <p:txBody>
          <a:bodyPr wrap="square" lIns="0" tIns="0" rIns="0" bIns="0" rtlCol="0" anchor="ctr"/>
          <a:lstStyle/>
          <a:p>
            <a:pPr marL="0" indent="0">
              <a:buNone/>
            </a:pPr>
            <a:r>
              <a:rPr lang="en-US" sz="1100" b="1" dirty="0">
                <a:solidFill>
                  <a:srgbClr val="23304A"/>
                </a:solidFill>
                <a:latin typeface="Arial" panose="020B0604020202020204" pitchFamily="34" charset="0"/>
                <a:ea typeface="Calibri" pitchFamily="34" charset="-122"/>
                <a:cs typeface="Arial" panose="020B0604020202020204" pitchFamily="34" charset="0"/>
              </a:rPr>
              <a:t>Semántica · GPT-2 base</a:t>
            </a:r>
            <a:endParaRPr lang="en-US" sz="1100" dirty="0">
              <a:latin typeface="Arial" panose="020B0604020202020204" pitchFamily="34" charset="0"/>
              <a:cs typeface="Arial" panose="020B0604020202020204" pitchFamily="34" charset="0"/>
            </a:endParaRPr>
          </a:p>
        </p:txBody>
      </p:sp>
      <p:pic>
        <p:nvPicPr>
          <p:cNvPr id="8" name="Image 0" descr="semantic_baseline_gpt2_no_finetune.png"/>
          <p:cNvPicPr>
            <a:picLocks noChangeAspect="1"/>
          </p:cNvPicPr>
          <p:nvPr/>
        </p:nvPicPr>
        <p:blipFill>
          <a:blip r:embed="rId3"/>
          <a:stretch>
            <a:fillRect/>
          </a:stretch>
        </p:blipFill>
        <p:spPr>
          <a:xfrm>
            <a:off x="1049690" y="2350008"/>
            <a:ext cx="2637213" cy="2148840"/>
          </a:xfrm>
          <a:prstGeom prst="rect">
            <a:avLst/>
          </a:prstGeom>
        </p:spPr>
      </p:pic>
      <p:sp>
        <p:nvSpPr>
          <p:cNvPr id="9" name="Text 6"/>
          <p:cNvSpPr/>
          <p:nvPr/>
        </p:nvSpPr>
        <p:spPr>
          <a:xfrm>
            <a:off x="804672" y="4553712"/>
            <a:ext cx="3127248" cy="502920"/>
          </a:xfrm>
          <a:prstGeom prst="rect">
            <a:avLst/>
          </a:prstGeom>
          <a:noFill/>
          <a:ln/>
        </p:spPr>
        <p:txBody>
          <a:bodyPr wrap="square" lIns="0" tIns="0" rIns="0" bIns="0" rtlCol="0" anchor="ctr"/>
          <a:lstStyle/>
          <a:p>
            <a:pPr marL="0" indent="0">
              <a:lnSpc>
                <a:spcPct val="110000"/>
              </a:lnSpc>
              <a:buNone/>
            </a:pPr>
            <a:r>
              <a:rPr lang="en-US" sz="870" dirty="0">
                <a:solidFill>
                  <a:srgbClr val="667085"/>
                </a:solidFill>
                <a:latin typeface="Arial" panose="020B0604020202020204" pitchFamily="34" charset="0"/>
                <a:ea typeface="Calibri" pitchFamily="34" charset="-122"/>
                <a:cs typeface="Arial" panose="020B0604020202020204" pitchFamily="34" charset="0"/>
              </a:rPr>
              <a:t>Match de sentimiento bajo: dispersión fuera de la diagonal.</a:t>
            </a:r>
            <a:endParaRPr lang="en-US" sz="870" dirty="0">
              <a:latin typeface="Arial" panose="020B0604020202020204" pitchFamily="34" charset="0"/>
              <a:cs typeface="Arial" panose="020B0604020202020204" pitchFamily="34" charset="0"/>
            </a:endParaRPr>
          </a:p>
        </p:txBody>
      </p:sp>
      <p:sp>
        <p:nvSpPr>
          <p:cNvPr id="10" name="Shape 7"/>
          <p:cNvSpPr/>
          <p:nvPr/>
        </p:nvSpPr>
        <p:spPr>
          <a:xfrm>
            <a:off x="4343400" y="1874520"/>
            <a:ext cx="3456432" cy="324612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sp>
        <p:nvSpPr>
          <p:cNvPr id="11" name="Text 8"/>
          <p:cNvSpPr/>
          <p:nvPr/>
        </p:nvSpPr>
        <p:spPr>
          <a:xfrm>
            <a:off x="4507992" y="1993392"/>
            <a:ext cx="3127248" cy="320040"/>
          </a:xfrm>
          <a:prstGeom prst="rect">
            <a:avLst/>
          </a:prstGeom>
          <a:noFill/>
          <a:ln/>
        </p:spPr>
        <p:txBody>
          <a:bodyPr wrap="square" lIns="0" tIns="0" rIns="0" bIns="0" rtlCol="0" anchor="ctr"/>
          <a:lstStyle/>
          <a:p>
            <a:pPr marL="0" indent="0">
              <a:buNone/>
            </a:pPr>
            <a:r>
              <a:rPr lang="en-US" sz="1100" b="1" dirty="0">
                <a:solidFill>
                  <a:srgbClr val="23304A"/>
                </a:solidFill>
                <a:latin typeface="Arial" panose="020B0604020202020204" pitchFamily="34" charset="0"/>
                <a:ea typeface="Calibri" pitchFamily="34" charset="-122"/>
                <a:cs typeface="Arial" panose="020B0604020202020204" pitchFamily="34" charset="0"/>
              </a:rPr>
              <a:t>Semántica · NVDA + AMD</a:t>
            </a:r>
            <a:endParaRPr lang="en-US" sz="1100" dirty="0">
              <a:latin typeface="Arial" panose="020B0604020202020204" pitchFamily="34" charset="0"/>
              <a:cs typeface="Arial" panose="020B0604020202020204" pitchFamily="34" charset="0"/>
            </a:endParaRPr>
          </a:p>
        </p:txBody>
      </p:sp>
      <p:pic>
        <p:nvPicPr>
          <p:cNvPr id="12" name="Image 1" descr="semantic_finetuned_nvda_amd.png"/>
          <p:cNvPicPr>
            <a:picLocks noChangeAspect="1"/>
          </p:cNvPicPr>
          <p:nvPr/>
        </p:nvPicPr>
        <p:blipFill>
          <a:blip r:embed="rId4"/>
          <a:stretch>
            <a:fillRect/>
          </a:stretch>
        </p:blipFill>
        <p:spPr>
          <a:xfrm>
            <a:off x="4753010" y="2350008"/>
            <a:ext cx="2637213" cy="2148840"/>
          </a:xfrm>
          <a:prstGeom prst="rect">
            <a:avLst/>
          </a:prstGeom>
        </p:spPr>
      </p:pic>
      <p:sp>
        <p:nvSpPr>
          <p:cNvPr id="13" name="Text 9"/>
          <p:cNvSpPr/>
          <p:nvPr/>
        </p:nvSpPr>
        <p:spPr>
          <a:xfrm>
            <a:off x="4507992" y="4553712"/>
            <a:ext cx="3127248" cy="502920"/>
          </a:xfrm>
          <a:prstGeom prst="rect">
            <a:avLst/>
          </a:prstGeom>
          <a:noFill/>
          <a:ln/>
        </p:spPr>
        <p:txBody>
          <a:bodyPr wrap="square" lIns="0" tIns="0" rIns="0" bIns="0" rtlCol="0" anchor="ctr"/>
          <a:lstStyle/>
          <a:p>
            <a:pPr marL="0" indent="0">
              <a:lnSpc>
                <a:spcPct val="110000"/>
              </a:lnSpc>
              <a:buNone/>
            </a:pPr>
            <a:r>
              <a:rPr lang="en-US" sz="870" dirty="0">
                <a:solidFill>
                  <a:srgbClr val="667085"/>
                </a:solidFill>
                <a:latin typeface="Arial" panose="020B0604020202020204" pitchFamily="34" charset="0"/>
                <a:ea typeface="Calibri" pitchFamily="34" charset="-122"/>
                <a:cs typeface="Arial" panose="020B0604020202020204" pitchFamily="34" charset="0"/>
              </a:rPr>
              <a:t>El fine-tuning mejora, pero no supera el baseline neutral.</a:t>
            </a:r>
            <a:endParaRPr lang="en-US" sz="870" dirty="0">
              <a:latin typeface="Arial" panose="020B0604020202020204" pitchFamily="34" charset="0"/>
              <a:cs typeface="Arial" panose="020B0604020202020204" pitchFamily="34" charset="0"/>
            </a:endParaRPr>
          </a:p>
        </p:txBody>
      </p:sp>
      <p:sp>
        <p:nvSpPr>
          <p:cNvPr id="14" name="Shape 10"/>
          <p:cNvSpPr/>
          <p:nvPr/>
        </p:nvSpPr>
        <p:spPr>
          <a:xfrm>
            <a:off x="8046720" y="1874520"/>
            <a:ext cx="3456432" cy="324612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sp>
        <p:nvSpPr>
          <p:cNvPr id="15" name="Text 11"/>
          <p:cNvSpPr/>
          <p:nvPr/>
        </p:nvSpPr>
        <p:spPr>
          <a:xfrm>
            <a:off x="8211312" y="1993392"/>
            <a:ext cx="3127248" cy="320040"/>
          </a:xfrm>
          <a:prstGeom prst="rect">
            <a:avLst/>
          </a:prstGeom>
          <a:noFill/>
          <a:ln/>
        </p:spPr>
        <p:txBody>
          <a:bodyPr wrap="square" lIns="0" tIns="0" rIns="0" bIns="0" rtlCol="0" anchor="ctr"/>
          <a:lstStyle/>
          <a:p>
            <a:pPr marL="0" indent="0">
              <a:buNone/>
            </a:pPr>
            <a:r>
              <a:rPr lang="en-US" sz="1100" b="1" dirty="0">
                <a:solidFill>
                  <a:srgbClr val="23304A"/>
                </a:solidFill>
                <a:latin typeface="Arial" panose="020B0604020202020204" pitchFamily="34" charset="0"/>
                <a:ea typeface="Calibri" pitchFamily="34" charset="-122"/>
                <a:cs typeface="Arial" panose="020B0604020202020204" pitchFamily="34" charset="0"/>
              </a:rPr>
              <a:t>Financiera · direction features</a:t>
            </a:r>
            <a:endParaRPr lang="en-US" sz="1100" dirty="0">
              <a:latin typeface="Arial" panose="020B0604020202020204" pitchFamily="34" charset="0"/>
              <a:cs typeface="Arial" panose="020B0604020202020204" pitchFamily="34" charset="0"/>
            </a:endParaRPr>
          </a:p>
        </p:txBody>
      </p:sp>
      <p:pic>
        <p:nvPicPr>
          <p:cNvPr id="16" name="Image 2" descr="financial_direction_features.png"/>
          <p:cNvPicPr>
            <a:picLocks noChangeAspect="1"/>
          </p:cNvPicPr>
          <p:nvPr/>
        </p:nvPicPr>
        <p:blipFill>
          <a:blip r:embed="rId5"/>
          <a:stretch>
            <a:fillRect/>
          </a:stretch>
        </p:blipFill>
        <p:spPr>
          <a:xfrm>
            <a:off x="8700516" y="2350008"/>
            <a:ext cx="2148840" cy="2148840"/>
          </a:xfrm>
          <a:prstGeom prst="rect">
            <a:avLst/>
          </a:prstGeom>
        </p:spPr>
      </p:pic>
      <p:sp>
        <p:nvSpPr>
          <p:cNvPr id="17" name="Text 12"/>
          <p:cNvSpPr/>
          <p:nvPr/>
        </p:nvSpPr>
        <p:spPr>
          <a:xfrm>
            <a:off x="8211312" y="4553712"/>
            <a:ext cx="3127248" cy="502920"/>
          </a:xfrm>
          <a:prstGeom prst="rect">
            <a:avLst/>
          </a:prstGeom>
          <a:noFill/>
          <a:ln/>
        </p:spPr>
        <p:txBody>
          <a:bodyPr wrap="square" lIns="0" tIns="0" rIns="0" bIns="0" rtlCol="0" anchor="ctr"/>
          <a:lstStyle/>
          <a:p>
            <a:pPr marL="0" indent="0">
              <a:lnSpc>
                <a:spcPct val="110000"/>
              </a:lnSpc>
              <a:buNone/>
            </a:pPr>
            <a:r>
              <a:rPr lang="en-US" sz="870" dirty="0">
                <a:solidFill>
                  <a:srgbClr val="667085"/>
                </a:solidFill>
                <a:latin typeface="Arial" panose="020B0604020202020204" pitchFamily="34" charset="0"/>
                <a:ea typeface="Calibri" pitchFamily="34" charset="-122"/>
                <a:cs typeface="Arial" panose="020B0604020202020204" pitchFamily="34" charset="0"/>
              </a:rPr>
              <a:t>Dir. acc. 0.556 y coverage total, pero p ≈ 0.225.</a:t>
            </a:r>
            <a:endParaRPr lang="en-US" sz="870" dirty="0">
              <a:latin typeface="Arial" panose="020B0604020202020204" pitchFamily="34" charset="0"/>
              <a:cs typeface="Arial" panose="020B0604020202020204" pitchFamily="34" charset="0"/>
            </a:endParaRPr>
          </a:p>
        </p:txBody>
      </p:sp>
      <p:sp>
        <p:nvSpPr>
          <p:cNvPr id="18" name="Shape 13"/>
          <p:cNvSpPr/>
          <p:nvPr/>
        </p:nvSpPr>
        <p:spPr>
          <a:xfrm>
            <a:off x="640080" y="5285232"/>
            <a:ext cx="10908792" cy="713232"/>
          </a:xfrm>
          <a:prstGeom prst="rect">
            <a:avLst/>
          </a:prstGeom>
          <a:solidFill>
            <a:srgbClr val="1E2A4A"/>
          </a:solidFill>
          <a:ln w="12700">
            <a:solidFill>
              <a:srgbClr val="333333"/>
            </a:solidFill>
            <a:prstDash val="solid"/>
          </a:ln>
          <a:effectLst>
            <a:outerShdw blurRad="114300" dist="38100" dir="8100000" algn="bl" rotWithShape="0">
              <a:srgbClr val="1E2A4A">
                <a:alpha val="14000"/>
              </a:srgbClr>
            </a:outerShdw>
          </a:effectLst>
        </p:spPr>
      </p:sp>
      <p:pic>
        <p:nvPicPr>
          <p:cNvPr id="19" name="Image 3" descr="icon_search.png"/>
          <p:cNvPicPr>
            <a:picLocks noChangeAspect="1"/>
          </p:cNvPicPr>
          <p:nvPr/>
        </p:nvPicPr>
        <p:blipFill>
          <a:blip r:embed="rId6"/>
          <a:stretch>
            <a:fillRect/>
          </a:stretch>
        </p:blipFill>
        <p:spPr>
          <a:xfrm>
            <a:off x="914400" y="5468112"/>
            <a:ext cx="329184" cy="329184"/>
          </a:xfrm>
          <a:prstGeom prst="rect">
            <a:avLst/>
          </a:prstGeom>
        </p:spPr>
      </p:pic>
      <p:sp>
        <p:nvSpPr>
          <p:cNvPr id="20" name="Text 14"/>
          <p:cNvSpPr/>
          <p:nvPr/>
        </p:nvSpPr>
        <p:spPr>
          <a:xfrm>
            <a:off x="1389888" y="5285232"/>
            <a:ext cx="9966960" cy="713232"/>
          </a:xfrm>
          <a:prstGeom prst="rect">
            <a:avLst/>
          </a:prstGeom>
          <a:noFill/>
          <a:ln/>
        </p:spPr>
        <p:txBody>
          <a:bodyPr wrap="square" lIns="0" tIns="0" rIns="0" bIns="0" rtlCol="0" anchor="ctr"/>
          <a:lstStyle/>
          <a:p>
            <a:pPr marL="0" indent="0">
              <a:lnSpc>
                <a:spcPct val="110000"/>
              </a:lnSpc>
              <a:buNone/>
            </a:pPr>
            <a:r>
              <a:rPr lang="en-US" sz="1100" b="1" dirty="0">
                <a:solidFill>
                  <a:srgbClr val="C8923B"/>
                </a:solidFill>
                <a:latin typeface="Arial" panose="020B0604020202020204" pitchFamily="34" charset="0"/>
                <a:ea typeface="Calibri" pitchFamily="34" charset="-122"/>
                <a:cs typeface="Arial" panose="020B0604020202020204" pitchFamily="34" charset="0"/>
              </a:rPr>
              <a:t>Lectura:  </a:t>
            </a:r>
            <a:r>
              <a:rPr lang="en-US" sz="1100" dirty="0">
                <a:solidFill>
                  <a:srgbClr val="DCE4F0"/>
                </a:solidFill>
                <a:latin typeface="Arial" panose="020B0604020202020204" pitchFamily="34" charset="0"/>
                <a:ea typeface="Calibri" pitchFamily="34" charset="-122"/>
                <a:cs typeface="Arial" panose="020B0604020202020204" pitchFamily="34" charset="0"/>
              </a:rPr>
              <a:t>el modelo genera lenguaje financiero pero controla mal el tono; y la matriz financiera, aun con coverage total, no aporta evidencia estadística fuerte.</a:t>
            </a:r>
            <a:endParaRPr lang="en-US" sz="1100" dirty="0">
              <a:latin typeface="Arial" panose="020B0604020202020204" pitchFamily="34" charset="0"/>
              <a:cs typeface="Arial" panose="020B0604020202020204" pitchFamily="34" charset="0"/>
            </a:endParaRPr>
          </a:p>
        </p:txBody>
      </p:sp>
      <p:sp>
        <p:nvSpPr>
          <p:cNvPr id="21" name="Text 15"/>
          <p:cNvSpPr/>
          <p:nvPr/>
        </p:nvSpPr>
        <p:spPr>
          <a:xfrm>
            <a:off x="640080" y="6473952"/>
            <a:ext cx="7315200" cy="274320"/>
          </a:xfrm>
          <a:prstGeom prst="rect">
            <a:avLst/>
          </a:prstGeom>
          <a:noFill/>
          <a:ln/>
        </p:spPr>
        <p:txBody>
          <a:bodyPr wrap="square" lIns="0" tIns="0" rIns="0" bIns="0" rtlCol="0" anchor="ctr"/>
          <a:lstStyle/>
          <a:p>
            <a:pPr marL="0" indent="0">
              <a:buNone/>
            </a:pPr>
            <a:r>
              <a:rPr lang="en-US" sz="850" dirty="0">
                <a:solidFill>
                  <a:srgbClr val="667085"/>
                </a:solidFill>
                <a:latin typeface="Arial" panose="020B0604020202020204" pitchFamily="34" charset="0"/>
                <a:ea typeface="Calibri" pitchFamily="34" charset="-122"/>
                <a:cs typeface="Arial" panose="020B0604020202020204" pitchFamily="34" charset="0"/>
              </a:rPr>
              <a:t>Fine-tuning de GPT-2  ·  Narrativas financieras  ·  NLP</a:t>
            </a:r>
            <a:endParaRPr lang="en-US" sz="850" dirty="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384048"/>
            <a:ext cx="8686800" cy="292608"/>
          </a:xfrm>
          <a:prstGeom prst="rect">
            <a:avLst/>
          </a:prstGeom>
          <a:noFill/>
          <a:ln/>
        </p:spPr>
        <p:txBody>
          <a:bodyPr wrap="square" lIns="0" tIns="0" rIns="0" bIns="0" rtlCol="0" anchor="ctr"/>
          <a:lstStyle/>
          <a:p>
            <a:pPr marL="0" indent="0">
              <a:buNone/>
            </a:pPr>
            <a:r>
              <a:rPr lang="en-US" sz="1150" b="1" kern="0" spc="300" dirty="0">
                <a:solidFill>
                  <a:srgbClr val="2A7F8C"/>
                </a:solidFill>
                <a:latin typeface="Calibri" pitchFamily="34" charset="0"/>
                <a:ea typeface="Calibri" pitchFamily="34" charset="-122"/>
                <a:cs typeface="Calibri" pitchFamily="34" charset="-120"/>
              </a:rPr>
              <a:t>ANÁLISIS</a:t>
            </a:r>
            <a:endParaRPr lang="en-US" sz="1150" dirty="0"/>
          </a:p>
        </p:txBody>
      </p:sp>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a:solidFill>
                  <a:srgbClr val="23304A"/>
                </a:solidFill>
                <a:latin typeface="Georgia" pitchFamily="34" charset="0"/>
                <a:ea typeface="Georgia" pitchFamily="34" charset="-122"/>
                <a:cs typeface="Georgia" pitchFamily="34" charset="-120"/>
              </a:rPr>
              <a:t>Ejemplos cualitativos</a:t>
            </a:r>
            <a:endParaRPr lang="en-US" sz="2800" dirty="0"/>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D6DEE4"/>
                </a:solidFill>
                <a:latin typeface="Georgia" pitchFamily="34" charset="0"/>
                <a:ea typeface="Georgia" pitchFamily="34" charset="-122"/>
                <a:cs typeface="Georgia" pitchFamily="34" charset="-120"/>
              </a:rPr>
              <a:t>11</a:t>
            </a:r>
            <a:endParaRPr lang="en-US" sz="1500" dirty="0"/>
          </a:p>
        </p:txBody>
      </p:sp>
      <p:sp>
        <p:nvSpPr>
          <p:cNvPr id="5" name="Text 3"/>
          <p:cNvSpPr/>
          <p:nvPr/>
        </p:nvSpPr>
        <p:spPr>
          <a:xfrm>
            <a:off x="640080" y="1463040"/>
            <a:ext cx="10881360" cy="329184"/>
          </a:xfrm>
          <a:prstGeom prst="rect">
            <a:avLst/>
          </a:prstGeom>
          <a:noFill/>
          <a:ln/>
        </p:spPr>
        <p:txBody>
          <a:bodyPr wrap="square" lIns="0" tIns="0" rIns="0" bIns="0" rtlCol="0" anchor="ctr"/>
          <a:lstStyle/>
          <a:p>
            <a:pPr marL="0" indent="0">
              <a:buNone/>
            </a:pPr>
            <a:r>
              <a:rPr lang="en-US" sz="1200" dirty="0">
                <a:solidFill>
                  <a:srgbClr val="667085"/>
                </a:solidFill>
                <a:latin typeface="Calibri" pitchFamily="34" charset="0"/>
                <a:ea typeface="Calibri" pitchFamily="34" charset="-122"/>
                <a:cs typeface="Calibri" pitchFamily="34" charset="-120"/>
              </a:rPr>
              <a:t>Mirar ejemplos cambia la lectura: las métricas agregadas necesitan inspección cualitativa.</a:t>
            </a:r>
            <a:endParaRPr lang="en-US" sz="1200" dirty="0"/>
          </a:p>
        </p:txBody>
      </p:sp>
      <p:sp>
        <p:nvSpPr>
          <p:cNvPr id="6" name="Shape 4"/>
          <p:cNvSpPr/>
          <p:nvPr/>
        </p:nvSpPr>
        <p:spPr>
          <a:xfrm>
            <a:off x="640080" y="1920240"/>
            <a:ext cx="5330952" cy="36118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sp>
        <p:nvSpPr>
          <p:cNvPr id="7" name="Shape 5"/>
          <p:cNvSpPr/>
          <p:nvPr/>
        </p:nvSpPr>
        <p:spPr>
          <a:xfrm>
            <a:off x="640080" y="1920240"/>
            <a:ext cx="5330952" cy="64008"/>
          </a:xfrm>
          <a:prstGeom prst="rect">
            <a:avLst/>
          </a:prstGeom>
          <a:solidFill>
            <a:srgbClr val="2A7F8C"/>
          </a:solidFill>
          <a:ln w="12700">
            <a:solidFill>
              <a:srgbClr val="333333"/>
            </a:solidFill>
            <a:prstDash val="solid"/>
          </a:ln>
        </p:spPr>
      </p:sp>
      <p:pic>
        <p:nvPicPr>
          <p:cNvPr id="8" name="Image 0" descr="icon_check.png"/>
          <p:cNvPicPr>
            <a:picLocks noChangeAspect="1"/>
          </p:cNvPicPr>
          <p:nvPr/>
        </p:nvPicPr>
        <p:blipFill>
          <a:blip r:embed="rId3"/>
          <a:stretch>
            <a:fillRect/>
          </a:stretch>
        </p:blipFill>
        <p:spPr>
          <a:xfrm>
            <a:off x="841248" y="2121408"/>
            <a:ext cx="292608" cy="292608"/>
          </a:xfrm>
          <a:prstGeom prst="rect">
            <a:avLst/>
          </a:prstGeom>
        </p:spPr>
      </p:pic>
      <p:sp>
        <p:nvSpPr>
          <p:cNvPr id="9" name="Text 6"/>
          <p:cNvSpPr/>
          <p:nvPr/>
        </p:nvSpPr>
        <p:spPr>
          <a:xfrm>
            <a:off x="1225296" y="2084832"/>
            <a:ext cx="3502152" cy="365760"/>
          </a:xfrm>
          <a:prstGeom prst="rect">
            <a:avLst/>
          </a:prstGeom>
          <a:noFill/>
          <a:ln/>
        </p:spPr>
        <p:txBody>
          <a:bodyPr wrap="square" lIns="0" tIns="0" rIns="0" bIns="0" rtlCol="0" anchor="ctr"/>
          <a:lstStyle/>
          <a:p>
            <a:pPr marL="0" indent="0">
              <a:buNone/>
            </a:pPr>
            <a:r>
              <a:rPr lang="en-US" sz="1250" b="1" dirty="0">
                <a:solidFill>
                  <a:srgbClr val="23304A"/>
                </a:solidFill>
                <a:latin typeface="Calibri" pitchFamily="34" charset="0"/>
                <a:ea typeface="Calibri" pitchFamily="34" charset="-122"/>
                <a:cs typeface="Calibri" pitchFamily="34" charset="-120"/>
              </a:rPr>
              <a:t>El fine-tuning mejora la alineación</a:t>
            </a:r>
            <a:endParaRPr lang="en-US" sz="1250" dirty="0"/>
          </a:p>
        </p:txBody>
      </p:sp>
      <p:sp>
        <p:nvSpPr>
          <p:cNvPr id="10" name="Text 7"/>
          <p:cNvSpPr/>
          <p:nvPr/>
        </p:nvSpPr>
        <p:spPr>
          <a:xfrm>
            <a:off x="4553712" y="2103120"/>
            <a:ext cx="1280160" cy="310896"/>
          </a:xfrm>
          <a:prstGeom prst="rect">
            <a:avLst/>
          </a:prstGeom>
          <a:noFill/>
          <a:ln/>
        </p:spPr>
        <p:txBody>
          <a:bodyPr wrap="square" lIns="0" tIns="0" rIns="0" bIns="0" rtlCol="0" anchor="ctr"/>
          <a:lstStyle/>
          <a:p>
            <a:pPr marL="0" indent="0" algn="r">
              <a:buNone/>
            </a:pPr>
            <a:r>
              <a:rPr lang="en-US" sz="850" dirty="0">
                <a:solidFill>
                  <a:srgbClr val="667085"/>
                </a:solidFill>
                <a:latin typeface="Consolas" pitchFamily="34" charset="0"/>
                <a:ea typeface="Consolas" pitchFamily="34" charset="-122"/>
                <a:cs typeface="Consolas" pitchFamily="34" charset="-120"/>
              </a:rPr>
              <a:t>AMD · 2023-06-21</a:t>
            </a:r>
            <a:endParaRPr lang="en-US" sz="850" dirty="0"/>
          </a:p>
        </p:txBody>
      </p:sp>
      <p:sp>
        <p:nvSpPr>
          <p:cNvPr id="11" name="Shape 8"/>
          <p:cNvSpPr/>
          <p:nvPr/>
        </p:nvSpPr>
        <p:spPr>
          <a:xfrm>
            <a:off x="841248" y="2523744"/>
            <a:ext cx="4928616" cy="329184"/>
          </a:xfrm>
          <a:prstGeom prst="roundRect">
            <a:avLst>
              <a:gd name="adj" fmla="val 16667"/>
            </a:avLst>
          </a:prstGeom>
          <a:solidFill>
            <a:srgbClr val="E3EFF1"/>
          </a:solidFill>
          <a:ln w="12700">
            <a:solidFill>
              <a:srgbClr val="333333"/>
            </a:solidFill>
            <a:prstDash val="solid"/>
          </a:ln>
        </p:spPr>
      </p:sp>
      <p:sp>
        <p:nvSpPr>
          <p:cNvPr id="12" name="Text 9"/>
          <p:cNvSpPr/>
          <p:nvPr/>
        </p:nvSpPr>
        <p:spPr>
          <a:xfrm>
            <a:off x="950976" y="2523744"/>
            <a:ext cx="4782312" cy="329184"/>
          </a:xfrm>
          <a:prstGeom prst="rect">
            <a:avLst/>
          </a:prstGeom>
          <a:noFill/>
          <a:ln/>
        </p:spPr>
        <p:txBody>
          <a:bodyPr wrap="square" lIns="0" tIns="0" rIns="0" bIns="0" rtlCol="0" anchor="ctr"/>
          <a:lstStyle/>
          <a:p>
            <a:pPr marL="0" indent="0">
              <a:buNone/>
            </a:pPr>
            <a:r>
              <a:rPr lang="en-US" sz="950" b="1" dirty="0">
                <a:solidFill>
                  <a:srgbClr val="2A7F8C"/>
                </a:solidFill>
                <a:latin typeface="Consolas" pitchFamily="34" charset="0"/>
                <a:ea typeface="Consolas" pitchFamily="34" charset="-122"/>
                <a:cs typeface="Consolas" pitchFamily="34" charset="-120"/>
              </a:rPr>
              <a:t>ROUGE-L: 0.031 → 0.179</a:t>
            </a:r>
            <a:endParaRPr lang="en-US" sz="950" dirty="0"/>
          </a:p>
        </p:txBody>
      </p:sp>
      <p:sp>
        <p:nvSpPr>
          <p:cNvPr id="13" name="Text 10"/>
          <p:cNvSpPr/>
          <p:nvPr/>
        </p:nvSpPr>
        <p:spPr>
          <a:xfrm>
            <a:off x="841248" y="2962656"/>
            <a:ext cx="4928616" cy="237744"/>
          </a:xfrm>
          <a:prstGeom prst="rect">
            <a:avLst/>
          </a:prstGeom>
          <a:noFill/>
          <a:ln/>
        </p:spPr>
        <p:txBody>
          <a:bodyPr wrap="square" lIns="0" tIns="0" rIns="0" bIns="0" rtlCol="0" anchor="ctr"/>
          <a:lstStyle/>
          <a:p>
            <a:pPr marL="0" indent="0">
              <a:buNone/>
            </a:pPr>
            <a:r>
              <a:rPr lang="en-US" sz="850" b="1" kern="0" spc="100" dirty="0">
                <a:solidFill>
                  <a:srgbClr val="667085"/>
                </a:solidFill>
                <a:latin typeface="Calibri" pitchFamily="34" charset="0"/>
                <a:ea typeface="Calibri" pitchFamily="34" charset="-122"/>
                <a:cs typeface="Calibri" pitchFamily="34" charset="-120"/>
              </a:rPr>
              <a:t>GPT-2 BASE</a:t>
            </a:r>
            <a:endParaRPr lang="en-US" sz="850" dirty="0"/>
          </a:p>
        </p:txBody>
      </p:sp>
      <p:sp>
        <p:nvSpPr>
          <p:cNvPr id="14" name="Text 11"/>
          <p:cNvSpPr/>
          <p:nvPr/>
        </p:nvSpPr>
        <p:spPr>
          <a:xfrm>
            <a:off x="841248" y="3182112"/>
            <a:ext cx="4928616" cy="731520"/>
          </a:xfrm>
          <a:prstGeom prst="rect">
            <a:avLst/>
          </a:prstGeom>
          <a:noFill/>
          <a:ln/>
        </p:spPr>
        <p:txBody>
          <a:bodyPr wrap="square" lIns="0" tIns="0" rIns="0" bIns="0" rtlCol="0" anchor="ctr"/>
          <a:lstStyle/>
          <a:p>
            <a:pPr marL="0" indent="0">
              <a:lnSpc>
                <a:spcPct val="112000"/>
              </a:lnSpc>
              <a:buNone/>
            </a:pPr>
            <a:r>
              <a:rPr lang="en-US" sz="950" i="1" dirty="0">
                <a:solidFill>
                  <a:srgbClr val="23304A"/>
                </a:solidFill>
                <a:latin typeface="Calibri" pitchFamily="34" charset="0"/>
                <a:ea typeface="Calibri" pitchFamily="34" charset="-122"/>
                <a:cs typeface="Calibri" pitchFamily="34" charset="-120"/>
              </a:rPr>
              <a:t>Texto genérico, divagante y fuera de dominio; describe CPUs de 2017 sin foco financiero.</a:t>
            </a:r>
            <a:endParaRPr lang="en-US" sz="950" dirty="0"/>
          </a:p>
        </p:txBody>
      </p:sp>
      <p:sp>
        <p:nvSpPr>
          <p:cNvPr id="15" name="Text 12"/>
          <p:cNvSpPr/>
          <p:nvPr/>
        </p:nvSpPr>
        <p:spPr>
          <a:xfrm>
            <a:off x="841248" y="3913632"/>
            <a:ext cx="4928616" cy="237744"/>
          </a:xfrm>
          <a:prstGeom prst="rect">
            <a:avLst/>
          </a:prstGeom>
          <a:noFill/>
          <a:ln/>
        </p:spPr>
        <p:txBody>
          <a:bodyPr wrap="square" lIns="0" tIns="0" rIns="0" bIns="0" rtlCol="0" anchor="ctr"/>
          <a:lstStyle/>
          <a:p>
            <a:pPr marL="0" indent="0">
              <a:buNone/>
            </a:pPr>
            <a:r>
              <a:rPr lang="en-US" sz="850" b="1" kern="0" spc="100" dirty="0">
                <a:solidFill>
                  <a:srgbClr val="2A7F8C"/>
                </a:solidFill>
                <a:latin typeface="Calibri" pitchFamily="34" charset="0"/>
                <a:ea typeface="Calibri" pitchFamily="34" charset="-122"/>
                <a:cs typeface="Calibri" pitchFamily="34" charset="-120"/>
              </a:rPr>
              <a:t>FINE-TUNED / VARIANTE</a:t>
            </a:r>
            <a:endParaRPr lang="en-US" sz="850" dirty="0"/>
          </a:p>
        </p:txBody>
      </p:sp>
      <p:sp>
        <p:nvSpPr>
          <p:cNvPr id="16" name="Text 13"/>
          <p:cNvSpPr/>
          <p:nvPr/>
        </p:nvSpPr>
        <p:spPr>
          <a:xfrm>
            <a:off x="841248" y="4133088"/>
            <a:ext cx="4928616" cy="731520"/>
          </a:xfrm>
          <a:prstGeom prst="rect">
            <a:avLst/>
          </a:prstGeom>
          <a:noFill/>
          <a:ln/>
        </p:spPr>
        <p:txBody>
          <a:bodyPr wrap="square" lIns="0" tIns="0" rIns="0" bIns="0" rtlCol="0" anchor="ctr"/>
          <a:lstStyle/>
          <a:p>
            <a:pPr marL="0" indent="0">
              <a:lnSpc>
                <a:spcPct val="112000"/>
              </a:lnSpc>
              <a:buNone/>
            </a:pPr>
            <a:r>
              <a:rPr lang="en-US" sz="950" i="1" dirty="0">
                <a:solidFill>
                  <a:srgbClr val="23304A"/>
                </a:solidFill>
                <a:latin typeface="Calibri" pitchFamily="34" charset="0"/>
                <a:ea typeface="Calibri" pitchFamily="34" charset="-122"/>
                <a:cs typeface="Calibri" pitchFamily="34" charset="-120"/>
              </a:rPr>
              <a:t>Genera formato de titular financiero real: "Earnings Conference Call Transcripts… Micron Technology".</a:t>
            </a:r>
            <a:endParaRPr lang="en-US" sz="950" dirty="0"/>
          </a:p>
        </p:txBody>
      </p:sp>
      <p:sp>
        <p:nvSpPr>
          <p:cNvPr id="17" name="Shape 14"/>
          <p:cNvSpPr/>
          <p:nvPr/>
        </p:nvSpPr>
        <p:spPr>
          <a:xfrm>
            <a:off x="841248" y="4864608"/>
            <a:ext cx="4928616" cy="530352"/>
          </a:xfrm>
          <a:prstGeom prst="rect">
            <a:avLst/>
          </a:prstGeom>
          <a:solidFill>
            <a:srgbClr val="EAF1F4"/>
          </a:solidFill>
          <a:ln w="12700">
            <a:solidFill>
              <a:srgbClr val="333333"/>
            </a:solidFill>
            <a:prstDash val="solid"/>
          </a:ln>
        </p:spPr>
      </p:sp>
      <p:sp>
        <p:nvSpPr>
          <p:cNvPr id="18" name="Text 15"/>
          <p:cNvSpPr/>
          <p:nvPr/>
        </p:nvSpPr>
        <p:spPr>
          <a:xfrm>
            <a:off x="969264" y="4864608"/>
            <a:ext cx="4727448" cy="530352"/>
          </a:xfrm>
          <a:prstGeom prst="rect">
            <a:avLst/>
          </a:prstGeom>
          <a:noFill/>
          <a:ln/>
        </p:spPr>
        <p:txBody>
          <a:bodyPr wrap="square" lIns="0" tIns="0" rIns="0" bIns="0" rtlCol="0" anchor="ctr"/>
          <a:lstStyle/>
          <a:p>
            <a:pPr marL="0" indent="0">
              <a:lnSpc>
                <a:spcPct val="108000"/>
              </a:lnSpc>
              <a:buNone/>
            </a:pPr>
            <a:r>
              <a:rPr lang="en-US" sz="900" dirty="0">
                <a:solidFill>
                  <a:srgbClr val="23304A"/>
                </a:solidFill>
                <a:latin typeface="Calibri" pitchFamily="34" charset="0"/>
                <a:ea typeface="Calibri" pitchFamily="34" charset="-122"/>
                <a:cs typeface="Calibri" pitchFamily="34" charset="-120"/>
              </a:rPr>
              <a:t>El entrenamiento sí adapta el modelo al vocabulario y formato del dominio.</a:t>
            </a:r>
            <a:endParaRPr lang="en-US" sz="900" dirty="0"/>
          </a:p>
        </p:txBody>
      </p:sp>
      <p:sp>
        <p:nvSpPr>
          <p:cNvPr id="19" name="Shape 16"/>
          <p:cNvSpPr/>
          <p:nvPr/>
        </p:nvSpPr>
        <p:spPr>
          <a:xfrm>
            <a:off x="6217920" y="1920240"/>
            <a:ext cx="5330952" cy="3611880"/>
          </a:xfrm>
          <a:prstGeom prst="rect">
            <a:avLst/>
          </a:prstGeom>
          <a:solidFill>
            <a:srgbClr val="FFFFFF"/>
          </a:solidFill>
          <a:ln w="12700">
            <a:solidFill>
              <a:srgbClr val="D6DEE4"/>
            </a:solidFill>
            <a:prstDash val="solid"/>
          </a:ln>
          <a:effectLst>
            <a:outerShdw blurRad="114300" dist="38100" dir="8100000" algn="bl" rotWithShape="0">
              <a:srgbClr val="1E2A4A">
                <a:alpha val="14000"/>
              </a:srgbClr>
            </a:outerShdw>
          </a:effectLst>
        </p:spPr>
      </p:sp>
      <p:sp>
        <p:nvSpPr>
          <p:cNvPr id="20" name="Shape 17"/>
          <p:cNvSpPr/>
          <p:nvPr/>
        </p:nvSpPr>
        <p:spPr>
          <a:xfrm>
            <a:off x="6217920" y="1920240"/>
            <a:ext cx="5330952" cy="64008"/>
          </a:xfrm>
          <a:prstGeom prst="rect">
            <a:avLst/>
          </a:prstGeom>
          <a:solidFill>
            <a:srgbClr val="C8923B"/>
          </a:solidFill>
          <a:ln w="12700">
            <a:solidFill>
              <a:srgbClr val="333333"/>
            </a:solidFill>
            <a:prstDash val="solid"/>
          </a:ln>
        </p:spPr>
      </p:sp>
      <p:pic>
        <p:nvPicPr>
          <p:cNvPr id="21" name="Image 1" descr="icon_warn.png"/>
          <p:cNvPicPr>
            <a:picLocks noChangeAspect="1"/>
          </p:cNvPicPr>
          <p:nvPr/>
        </p:nvPicPr>
        <p:blipFill>
          <a:blip r:embed="rId4"/>
          <a:stretch>
            <a:fillRect/>
          </a:stretch>
        </p:blipFill>
        <p:spPr>
          <a:xfrm>
            <a:off x="6419088" y="2121408"/>
            <a:ext cx="292608" cy="292608"/>
          </a:xfrm>
          <a:prstGeom prst="rect">
            <a:avLst/>
          </a:prstGeom>
        </p:spPr>
      </p:pic>
      <p:sp>
        <p:nvSpPr>
          <p:cNvPr id="22" name="Text 18"/>
          <p:cNvSpPr/>
          <p:nvPr/>
        </p:nvSpPr>
        <p:spPr>
          <a:xfrm>
            <a:off x="6803136" y="2084832"/>
            <a:ext cx="3502152" cy="365760"/>
          </a:xfrm>
          <a:prstGeom prst="rect">
            <a:avLst/>
          </a:prstGeom>
          <a:noFill/>
          <a:ln/>
        </p:spPr>
        <p:txBody>
          <a:bodyPr wrap="square" lIns="0" tIns="0" rIns="0" bIns="0" rtlCol="0" anchor="ctr"/>
          <a:lstStyle/>
          <a:p>
            <a:pPr marL="0" indent="0">
              <a:buNone/>
            </a:pPr>
            <a:r>
              <a:rPr lang="en-US" sz="1250" b="1" dirty="0">
                <a:solidFill>
                  <a:srgbClr val="23304A"/>
                </a:solidFill>
                <a:latin typeface="Calibri" pitchFamily="34" charset="0"/>
                <a:ea typeface="Calibri" pitchFamily="34" charset="-122"/>
                <a:cs typeface="Calibri" pitchFamily="34" charset="-120"/>
              </a:rPr>
              <a:t>La métrica financiera puede engañar</a:t>
            </a:r>
            <a:endParaRPr lang="en-US" sz="1250" dirty="0"/>
          </a:p>
        </p:txBody>
      </p:sp>
      <p:sp>
        <p:nvSpPr>
          <p:cNvPr id="23" name="Text 19"/>
          <p:cNvSpPr/>
          <p:nvPr/>
        </p:nvSpPr>
        <p:spPr>
          <a:xfrm>
            <a:off x="10131552" y="2103120"/>
            <a:ext cx="1280160" cy="310896"/>
          </a:xfrm>
          <a:prstGeom prst="rect">
            <a:avLst/>
          </a:prstGeom>
          <a:noFill/>
          <a:ln/>
        </p:spPr>
        <p:txBody>
          <a:bodyPr wrap="square" lIns="0" tIns="0" rIns="0" bIns="0" rtlCol="0" anchor="ctr"/>
          <a:lstStyle/>
          <a:p>
            <a:pPr marL="0" indent="0" algn="r">
              <a:buNone/>
            </a:pPr>
            <a:r>
              <a:rPr lang="en-US" sz="850" dirty="0">
                <a:solidFill>
                  <a:srgbClr val="667085"/>
                </a:solidFill>
                <a:latin typeface="Consolas" pitchFamily="34" charset="0"/>
                <a:ea typeface="Consolas" pitchFamily="34" charset="-122"/>
                <a:cs typeface="Consolas" pitchFamily="34" charset="-120"/>
              </a:rPr>
              <a:t>AMD · 2023-05-04</a:t>
            </a:r>
            <a:endParaRPr lang="en-US" sz="850" dirty="0"/>
          </a:p>
        </p:txBody>
      </p:sp>
      <p:sp>
        <p:nvSpPr>
          <p:cNvPr id="24" name="Shape 20"/>
          <p:cNvSpPr/>
          <p:nvPr/>
        </p:nvSpPr>
        <p:spPr>
          <a:xfrm>
            <a:off x="6419088" y="2523744"/>
            <a:ext cx="4928616" cy="329184"/>
          </a:xfrm>
          <a:prstGeom prst="roundRect">
            <a:avLst>
              <a:gd name="adj" fmla="val 16667"/>
            </a:avLst>
          </a:prstGeom>
          <a:solidFill>
            <a:srgbClr val="F7EEDD"/>
          </a:solidFill>
          <a:ln w="12700">
            <a:solidFill>
              <a:srgbClr val="333333"/>
            </a:solidFill>
            <a:prstDash val="solid"/>
          </a:ln>
        </p:spPr>
      </p:sp>
      <p:sp>
        <p:nvSpPr>
          <p:cNvPr id="25" name="Text 21"/>
          <p:cNvSpPr/>
          <p:nvPr/>
        </p:nvSpPr>
        <p:spPr>
          <a:xfrm>
            <a:off x="6528816" y="2523744"/>
            <a:ext cx="4782312" cy="329184"/>
          </a:xfrm>
          <a:prstGeom prst="rect">
            <a:avLst/>
          </a:prstGeom>
          <a:noFill/>
          <a:ln/>
        </p:spPr>
        <p:txBody>
          <a:bodyPr wrap="square" lIns="0" tIns="0" rIns="0" bIns="0" rtlCol="0" anchor="ctr"/>
          <a:lstStyle/>
          <a:p>
            <a:pPr marL="0" indent="0">
              <a:buNone/>
            </a:pPr>
            <a:r>
              <a:rPr lang="en-US" sz="950" b="1" dirty="0">
                <a:solidFill>
                  <a:srgbClr val="C8923B"/>
                </a:solidFill>
                <a:latin typeface="Consolas" pitchFamily="34" charset="0"/>
                <a:ea typeface="Consolas" pitchFamily="34" charset="-122"/>
                <a:cs typeface="Consolas" pitchFamily="34" charset="-120"/>
              </a:rPr>
              <a:t>Dirección correcta: GPT-2 base SÍ</a:t>
            </a:r>
            <a:endParaRPr lang="en-US" sz="950" dirty="0"/>
          </a:p>
        </p:txBody>
      </p:sp>
      <p:sp>
        <p:nvSpPr>
          <p:cNvPr id="26" name="Text 22"/>
          <p:cNvSpPr/>
          <p:nvPr/>
        </p:nvSpPr>
        <p:spPr>
          <a:xfrm>
            <a:off x="6419088" y="2962656"/>
            <a:ext cx="4928616" cy="237744"/>
          </a:xfrm>
          <a:prstGeom prst="rect">
            <a:avLst/>
          </a:prstGeom>
          <a:noFill/>
          <a:ln/>
        </p:spPr>
        <p:txBody>
          <a:bodyPr wrap="square" lIns="0" tIns="0" rIns="0" bIns="0" rtlCol="0" anchor="ctr"/>
          <a:lstStyle/>
          <a:p>
            <a:pPr marL="0" indent="0">
              <a:buNone/>
            </a:pPr>
            <a:r>
              <a:rPr lang="en-US" sz="850" b="1" kern="0" spc="100" dirty="0">
                <a:solidFill>
                  <a:srgbClr val="667085"/>
                </a:solidFill>
                <a:latin typeface="Calibri" pitchFamily="34" charset="0"/>
                <a:ea typeface="Calibri" pitchFamily="34" charset="-122"/>
                <a:cs typeface="Calibri" pitchFamily="34" charset="-120"/>
              </a:rPr>
              <a:t>GPT-2 BASE</a:t>
            </a:r>
            <a:endParaRPr lang="en-US" sz="850" dirty="0"/>
          </a:p>
        </p:txBody>
      </p:sp>
      <p:sp>
        <p:nvSpPr>
          <p:cNvPr id="27" name="Text 23"/>
          <p:cNvSpPr/>
          <p:nvPr/>
        </p:nvSpPr>
        <p:spPr>
          <a:xfrm>
            <a:off x="6419088" y="3182112"/>
            <a:ext cx="4928616" cy="731520"/>
          </a:xfrm>
          <a:prstGeom prst="rect">
            <a:avLst/>
          </a:prstGeom>
          <a:noFill/>
          <a:ln/>
        </p:spPr>
        <p:txBody>
          <a:bodyPr wrap="square" lIns="0" tIns="0" rIns="0" bIns="0" rtlCol="0" anchor="ctr"/>
          <a:lstStyle/>
          <a:p>
            <a:pPr marL="0" indent="0">
              <a:lnSpc>
                <a:spcPct val="112000"/>
              </a:lnSpc>
              <a:buNone/>
            </a:pPr>
            <a:r>
              <a:rPr lang="en-US" sz="950" i="1" dirty="0">
                <a:solidFill>
                  <a:srgbClr val="23304A"/>
                </a:solidFill>
                <a:latin typeface="Calibri" pitchFamily="34" charset="0"/>
                <a:ea typeface="Calibri" pitchFamily="34" charset="-122"/>
                <a:cs typeface="Calibri" pitchFamily="34" charset="-120"/>
              </a:rPr>
              <a:t>Acierta la dirección, pero la narrativa es pobre: una nota suelta de la CNBC sin relación clara.</a:t>
            </a:r>
            <a:endParaRPr lang="en-US" sz="950" dirty="0"/>
          </a:p>
        </p:txBody>
      </p:sp>
      <p:sp>
        <p:nvSpPr>
          <p:cNvPr id="28" name="Text 24"/>
          <p:cNvSpPr/>
          <p:nvPr/>
        </p:nvSpPr>
        <p:spPr>
          <a:xfrm>
            <a:off x="6419088" y="3913632"/>
            <a:ext cx="4928616" cy="237744"/>
          </a:xfrm>
          <a:prstGeom prst="rect">
            <a:avLst/>
          </a:prstGeom>
          <a:noFill/>
          <a:ln/>
        </p:spPr>
        <p:txBody>
          <a:bodyPr wrap="square" lIns="0" tIns="0" rIns="0" bIns="0" rtlCol="0" anchor="ctr"/>
          <a:lstStyle/>
          <a:p>
            <a:pPr marL="0" indent="0">
              <a:buNone/>
            </a:pPr>
            <a:r>
              <a:rPr lang="en-US" sz="850" b="1" kern="0" spc="100" dirty="0">
                <a:solidFill>
                  <a:srgbClr val="2A7F8C"/>
                </a:solidFill>
                <a:latin typeface="Calibri" pitchFamily="34" charset="0"/>
                <a:ea typeface="Calibri" pitchFamily="34" charset="-122"/>
                <a:cs typeface="Calibri" pitchFamily="34" charset="-120"/>
              </a:rPr>
              <a:t>FINE-TUNED / VARIANTE</a:t>
            </a:r>
            <a:endParaRPr lang="en-US" sz="850" dirty="0"/>
          </a:p>
        </p:txBody>
      </p:sp>
      <p:sp>
        <p:nvSpPr>
          <p:cNvPr id="29" name="Text 25"/>
          <p:cNvSpPr/>
          <p:nvPr/>
        </p:nvSpPr>
        <p:spPr>
          <a:xfrm>
            <a:off x="6419088" y="4133088"/>
            <a:ext cx="4928616" cy="731520"/>
          </a:xfrm>
          <a:prstGeom prst="rect">
            <a:avLst/>
          </a:prstGeom>
          <a:noFill/>
          <a:ln/>
        </p:spPr>
        <p:txBody>
          <a:bodyPr wrap="square" lIns="0" tIns="0" rIns="0" bIns="0" rtlCol="0" anchor="ctr"/>
          <a:lstStyle/>
          <a:p>
            <a:pPr marL="0" indent="0">
              <a:lnSpc>
                <a:spcPct val="112000"/>
              </a:lnSpc>
              <a:buNone/>
            </a:pPr>
            <a:r>
              <a:rPr lang="en-US" sz="950" i="1" dirty="0">
                <a:solidFill>
                  <a:srgbClr val="23304A"/>
                </a:solidFill>
                <a:latin typeface="Calibri" pitchFamily="34" charset="0"/>
                <a:ea typeface="Calibri" pitchFamily="34" charset="-122"/>
                <a:cs typeface="Calibri" pitchFamily="34" charset="-120"/>
              </a:rPr>
              <a:t>El fine-tuned falla la dirección pese a producir un texto más cercano al dominio.</a:t>
            </a:r>
            <a:endParaRPr lang="en-US" sz="950" dirty="0"/>
          </a:p>
        </p:txBody>
      </p:sp>
      <p:sp>
        <p:nvSpPr>
          <p:cNvPr id="30" name="Shape 26"/>
          <p:cNvSpPr/>
          <p:nvPr/>
        </p:nvSpPr>
        <p:spPr>
          <a:xfrm>
            <a:off x="6419088" y="4864608"/>
            <a:ext cx="4928616" cy="530352"/>
          </a:xfrm>
          <a:prstGeom prst="rect">
            <a:avLst/>
          </a:prstGeom>
          <a:solidFill>
            <a:srgbClr val="EAF1F4"/>
          </a:solidFill>
          <a:ln w="12700">
            <a:solidFill>
              <a:srgbClr val="333333"/>
            </a:solidFill>
            <a:prstDash val="solid"/>
          </a:ln>
        </p:spPr>
      </p:sp>
      <p:sp>
        <p:nvSpPr>
          <p:cNvPr id="31" name="Text 27"/>
          <p:cNvSpPr/>
          <p:nvPr/>
        </p:nvSpPr>
        <p:spPr>
          <a:xfrm>
            <a:off x="6547104" y="4864608"/>
            <a:ext cx="4727448" cy="530352"/>
          </a:xfrm>
          <a:prstGeom prst="rect">
            <a:avLst/>
          </a:prstGeom>
          <a:noFill/>
          <a:ln/>
        </p:spPr>
        <p:txBody>
          <a:bodyPr wrap="square" lIns="0" tIns="0" rIns="0" bIns="0" rtlCol="0" anchor="ctr"/>
          <a:lstStyle/>
          <a:p>
            <a:pPr marL="0" indent="0">
              <a:lnSpc>
                <a:spcPct val="108000"/>
              </a:lnSpc>
              <a:buNone/>
            </a:pPr>
            <a:r>
              <a:rPr lang="en-US" sz="900" dirty="0">
                <a:solidFill>
                  <a:srgbClr val="23304A"/>
                </a:solidFill>
                <a:latin typeface="Calibri" pitchFamily="34" charset="0"/>
                <a:ea typeface="Calibri" pitchFamily="34" charset="-122"/>
                <a:cs typeface="Calibri" pitchFamily="34" charset="-120"/>
              </a:rPr>
              <a:t>Acertar la dirección no implica una buena narrativa: dir. acc. sola no alcanza.</a:t>
            </a:r>
            <a:endParaRPr lang="en-US" sz="900" dirty="0"/>
          </a:p>
        </p:txBody>
      </p:sp>
      <p:sp>
        <p:nvSpPr>
          <p:cNvPr id="32" name="Text 28"/>
          <p:cNvSpPr/>
          <p:nvPr/>
        </p:nvSpPr>
        <p:spPr>
          <a:xfrm>
            <a:off x="640080" y="6473952"/>
            <a:ext cx="7315200" cy="274320"/>
          </a:xfrm>
          <a:prstGeom prst="rect">
            <a:avLst/>
          </a:prstGeom>
          <a:noFill/>
          <a:ln/>
        </p:spPr>
        <p:txBody>
          <a:bodyPr wrap="square" lIns="0" tIns="0" rIns="0" bIns="0" rtlCol="0" anchor="ctr"/>
          <a:lstStyle/>
          <a:p>
            <a:pPr marL="0" indent="0">
              <a:buNone/>
            </a:pPr>
            <a:r>
              <a:rPr lang="en-US" sz="850" dirty="0">
                <a:solidFill>
                  <a:srgbClr val="667085"/>
                </a:solidFill>
                <a:latin typeface="Calibri" pitchFamily="34" charset="0"/>
                <a:ea typeface="Calibri" pitchFamily="34" charset="-122"/>
                <a:cs typeface="Calibri" pitchFamily="34" charset="-120"/>
              </a:rPr>
              <a:t>Fine-tuning de GPT-2  ·  Narrativas financieras  ·  NLP</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A4A"/>
        </a:solidFill>
        <a:effectLst/>
      </p:bgPr>
    </p:bg>
    <p:spTree>
      <p:nvGrpSpPr>
        <p:cNvPr id="1" name=""/>
        <p:cNvGrpSpPr/>
        <p:nvPr/>
      </p:nvGrpSpPr>
      <p:grpSpPr>
        <a:xfrm>
          <a:off x="0" y="0"/>
          <a:ext cx="0" cy="0"/>
          <a:chOff x="0" y="0"/>
          <a:chExt cx="0" cy="0"/>
        </a:xfrm>
      </p:grpSpPr>
      <p:sp>
        <p:nvSpPr>
          <p:cNvPr id="2" name="Text 0"/>
          <p:cNvSpPr/>
          <p:nvPr/>
        </p:nvSpPr>
        <p:spPr>
          <a:xfrm>
            <a:off x="640080" y="384048"/>
            <a:ext cx="8229600" cy="292608"/>
          </a:xfrm>
          <a:prstGeom prst="rect">
            <a:avLst/>
          </a:prstGeom>
          <a:noFill/>
          <a:ln/>
        </p:spPr>
        <p:txBody>
          <a:bodyPr wrap="square" lIns="0" tIns="0" rIns="0" bIns="0" rtlCol="0" anchor="ctr"/>
          <a:lstStyle/>
          <a:p>
            <a:pPr marL="0" indent="0">
              <a:buNone/>
            </a:pPr>
            <a:r>
              <a:rPr lang="en-US" sz="1150" b="1" kern="0" spc="300" dirty="0">
                <a:solidFill>
                  <a:srgbClr val="2A7F8C"/>
                </a:solidFill>
                <a:latin typeface="Calibri" pitchFamily="34" charset="0"/>
                <a:ea typeface="Calibri" pitchFamily="34" charset="-122"/>
                <a:cs typeface="Calibri" pitchFamily="34" charset="-120"/>
              </a:rPr>
              <a:t>CIERRE</a:t>
            </a:r>
            <a:endParaRPr lang="en-US" sz="1150" dirty="0"/>
          </a:p>
        </p:txBody>
      </p:sp>
      <p:sp>
        <p:nvSpPr>
          <p:cNvPr id="3" name="Text 1"/>
          <p:cNvSpPr/>
          <p:nvPr/>
        </p:nvSpPr>
        <p:spPr>
          <a:xfrm>
            <a:off x="640080" y="640080"/>
            <a:ext cx="10332720" cy="749808"/>
          </a:xfrm>
          <a:prstGeom prst="rect">
            <a:avLst/>
          </a:prstGeom>
          <a:noFill/>
          <a:ln/>
        </p:spPr>
        <p:txBody>
          <a:bodyPr wrap="square" lIns="0" tIns="0" rIns="0" bIns="0" rtlCol="0" anchor="ctr"/>
          <a:lstStyle/>
          <a:p>
            <a:pPr marL="0" indent="0">
              <a:buNone/>
            </a:pPr>
            <a:r>
              <a:rPr lang="en-US" sz="2800" b="1" dirty="0">
                <a:solidFill>
                  <a:srgbClr val="FFFFFF"/>
                </a:solidFill>
                <a:latin typeface="Georgia" pitchFamily="34" charset="0"/>
                <a:ea typeface="Georgia" pitchFamily="34" charset="-122"/>
                <a:cs typeface="Georgia" pitchFamily="34" charset="-120"/>
              </a:rPr>
              <a:t>Limitaciones y conclusiones</a:t>
            </a:r>
            <a:endParaRPr lang="en-US" sz="2800" dirty="0"/>
          </a:p>
        </p:txBody>
      </p:sp>
      <p:sp>
        <p:nvSpPr>
          <p:cNvPr id="4" name="Text 2"/>
          <p:cNvSpPr/>
          <p:nvPr/>
        </p:nvSpPr>
        <p:spPr>
          <a:xfrm>
            <a:off x="10820095" y="365760"/>
            <a:ext cx="731520" cy="457200"/>
          </a:xfrm>
          <a:prstGeom prst="rect">
            <a:avLst/>
          </a:prstGeom>
          <a:noFill/>
          <a:ln/>
        </p:spPr>
        <p:txBody>
          <a:bodyPr wrap="square" lIns="0" tIns="0" rIns="0" bIns="0" rtlCol="0" anchor="ctr"/>
          <a:lstStyle/>
          <a:p>
            <a:pPr marL="0" indent="0" algn="r">
              <a:buNone/>
            </a:pPr>
            <a:r>
              <a:rPr lang="en-US" sz="1500" b="1" dirty="0">
                <a:solidFill>
                  <a:srgbClr val="3A4E72"/>
                </a:solidFill>
                <a:latin typeface="Georgia" pitchFamily="34" charset="0"/>
                <a:ea typeface="Georgia" pitchFamily="34" charset="-122"/>
                <a:cs typeface="Georgia" pitchFamily="34" charset="-120"/>
              </a:rPr>
              <a:t>12</a:t>
            </a:r>
            <a:endParaRPr lang="en-US" sz="1500" dirty="0"/>
          </a:p>
        </p:txBody>
      </p:sp>
      <p:sp>
        <p:nvSpPr>
          <p:cNvPr id="5" name="Shape 3"/>
          <p:cNvSpPr/>
          <p:nvPr/>
        </p:nvSpPr>
        <p:spPr>
          <a:xfrm>
            <a:off x="640080" y="1600200"/>
            <a:ext cx="5074920" cy="4334256"/>
          </a:xfrm>
          <a:prstGeom prst="rect">
            <a:avLst/>
          </a:prstGeom>
          <a:solidFill>
            <a:srgbClr val="182238"/>
          </a:solidFill>
          <a:ln w="12700">
            <a:solidFill>
              <a:srgbClr val="2E3C58"/>
            </a:solidFill>
            <a:prstDash val="solid"/>
          </a:ln>
        </p:spPr>
      </p:sp>
      <p:pic>
        <p:nvPicPr>
          <p:cNvPr id="6" name="Image 0" descr="icon_warn.png"/>
          <p:cNvPicPr>
            <a:picLocks noChangeAspect="1"/>
          </p:cNvPicPr>
          <p:nvPr/>
        </p:nvPicPr>
        <p:blipFill>
          <a:blip r:embed="rId3"/>
          <a:stretch>
            <a:fillRect/>
          </a:stretch>
        </p:blipFill>
        <p:spPr>
          <a:xfrm>
            <a:off x="914400" y="1856232"/>
            <a:ext cx="329184" cy="329184"/>
          </a:xfrm>
          <a:prstGeom prst="rect">
            <a:avLst/>
          </a:prstGeom>
        </p:spPr>
      </p:pic>
      <p:sp>
        <p:nvSpPr>
          <p:cNvPr id="7" name="Text 4"/>
          <p:cNvSpPr/>
          <p:nvPr/>
        </p:nvSpPr>
        <p:spPr>
          <a:xfrm>
            <a:off x="1353312" y="1837944"/>
            <a:ext cx="4160520" cy="36576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Limitaciones</a:t>
            </a:r>
            <a:endParaRPr lang="en-US" sz="1600" dirty="0"/>
          </a:p>
        </p:txBody>
      </p:sp>
      <p:sp>
        <p:nvSpPr>
          <p:cNvPr id="8" name="Text 5"/>
          <p:cNvSpPr/>
          <p:nvPr/>
        </p:nvSpPr>
        <p:spPr>
          <a:xfrm>
            <a:off x="950976" y="2331720"/>
            <a:ext cx="4526280" cy="3374136"/>
          </a:xfrm>
          <a:prstGeom prst="rect">
            <a:avLst/>
          </a:prstGeom>
          <a:noFill/>
          <a:ln/>
        </p:spPr>
        <p:txBody>
          <a:bodyPr wrap="square" lIns="0" tIns="0" rIns="0" bIns="0" rtlCol="0" anchor="ctr"/>
          <a:lstStyle/>
          <a:p>
            <a:pPr marL="342900" indent="-342900">
              <a:spcAft>
                <a:spcPts val="900"/>
              </a:spcAft>
              <a:buSzPct val="100000"/>
              <a:buChar char="–"/>
            </a:pPr>
            <a:r>
              <a:rPr lang="en-US" sz="1100" dirty="0">
                <a:solidFill>
                  <a:srgbClr val="C2CEDF"/>
                </a:solidFill>
                <a:latin typeface="Calibri" pitchFamily="34" charset="0"/>
                <a:ea typeface="Calibri" pitchFamily="34" charset="-122"/>
                <a:cs typeface="Calibri" pitchFamily="34" charset="-120"/>
              </a:rPr>
              <a:t>Dataset de test pequeño para concluir robustez.</a:t>
            </a:r>
            <a:endParaRPr lang="en-US" sz="1100" dirty="0"/>
          </a:p>
          <a:p>
            <a:pPr marL="342900" indent="-342900">
              <a:spcAft>
                <a:spcPts val="900"/>
              </a:spcAft>
              <a:buSzPct val="100000"/>
              <a:buChar char="–"/>
            </a:pPr>
            <a:r>
              <a:rPr lang="en-US" sz="1100" dirty="0">
                <a:solidFill>
                  <a:srgbClr val="C2CEDF"/>
                </a:solidFill>
                <a:latin typeface="Calibri" pitchFamily="34" charset="0"/>
                <a:ea typeface="Calibri" pitchFamily="34" charset="-122"/>
                <a:cs typeface="Calibri" pitchFamily="34" charset="-120"/>
              </a:rPr>
              <a:t>Titulares agregados por día, no artículos completos.</a:t>
            </a:r>
            <a:endParaRPr lang="en-US" sz="1100" dirty="0"/>
          </a:p>
          <a:p>
            <a:pPr marL="342900" indent="-342900">
              <a:spcAft>
                <a:spcPts val="900"/>
              </a:spcAft>
              <a:buSzPct val="100000"/>
              <a:buChar char="–"/>
            </a:pPr>
            <a:r>
              <a:rPr lang="en-US" sz="1100" dirty="0">
                <a:solidFill>
                  <a:srgbClr val="C2CEDF"/>
                </a:solidFill>
                <a:latin typeface="Calibri" pitchFamily="34" charset="0"/>
                <a:ea typeface="Calibri" pitchFamily="34" charset="-122"/>
                <a:cs typeface="Calibri" pitchFamily="34" charset="-120"/>
              </a:rPr>
              <a:t>GPT-2 small: capacidad limitada, salidas genéricas.</a:t>
            </a:r>
            <a:endParaRPr lang="en-US" sz="1100" dirty="0"/>
          </a:p>
          <a:p>
            <a:pPr marL="342900" indent="-342900">
              <a:spcAft>
                <a:spcPts val="900"/>
              </a:spcAft>
              <a:buSzPct val="100000"/>
              <a:buChar char="–"/>
            </a:pPr>
            <a:r>
              <a:rPr lang="en-US" sz="1100" dirty="0">
                <a:solidFill>
                  <a:srgbClr val="C2CEDF"/>
                </a:solidFill>
                <a:latin typeface="Calibri" pitchFamily="34" charset="0"/>
                <a:ea typeface="Calibri" pitchFamily="34" charset="-122"/>
                <a:cs typeface="Calibri" pitchFamily="34" charset="-120"/>
              </a:rPr>
              <a:t>FinBERT es un evaluador automático imperfecto.</a:t>
            </a:r>
            <a:endParaRPr lang="en-US" sz="1100" dirty="0"/>
          </a:p>
          <a:p>
            <a:pPr marL="342900" indent="-342900">
              <a:spcAft>
                <a:spcPts val="900"/>
              </a:spcAft>
              <a:buSzPct val="100000"/>
              <a:buChar char="–"/>
            </a:pPr>
            <a:r>
              <a:rPr lang="en-US" sz="1100" dirty="0">
                <a:solidFill>
                  <a:srgbClr val="C2CEDF"/>
                </a:solidFill>
                <a:latin typeface="Calibri" pitchFamily="34" charset="0"/>
                <a:ea typeface="Calibri" pitchFamily="34" charset="-122"/>
                <a:cs typeface="Calibri" pitchFamily="34" charset="-120"/>
              </a:rPr>
              <a:t>La dir. accuracy depende de la distribución de clases.</a:t>
            </a:r>
            <a:endParaRPr lang="en-US" sz="1100" dirty="0"/>
          </a:p>
          <a:p>
            <a:pPr marL="342900" indent="-342900">
              <a:spcAft>
                <a:spcPts val="900"/>
              </a:spcAft>
              <a:buSzPct val="100000"/>
              <a:buChar char="–"/>
            </a:pPr>
            <a:r>
              <a:rPr lang="en-US" sz="1100" dirty="0">
                <a:solidFill>
                  <a:srgbClr val="C2CEDF"/>
                </a:solidFill>
                <a:latin typeface="Calibri" pitchFamily="34" charset="0"/>
                <a:ea typeface="Calibri" pitchFamily="34" charset="-122"/>
                <a:cs typeface="Calibri" pitchFamily="34" charset="-120"/>
              </a:rPr>
              <a:t>Sin significancia estadística fuerte (p &lt; 0.05).</a:t>
            </a:r>
            <a:endParaRPr lang="en-US" sz="1100" dirty="0"/>
          </a:p>
        </p:txBody>
      </p:sp>
      <p:sp>
        <p:nvSpPr>
          <p:cNvPr id="9" name="Shape 6"/>
          <p:cNvSpPr/>
          <p:nvPr/>
        </p:nvSpPr>
        <p:spPr>
          <a:xfrm>
            <a:off x="6016752" y="1600200"/>
            <a:ext cx="5534863" cy="713232"/>
          </a:xfrm>
          <a:prstGeom prst="rect">
            <a:avLst/>
          </a:prstGeom>
          <a:solidFill>
            <a:srgbClr val="243150"/>
          </a:solidFill>
          <a:ln w="12700">
            <a:solidFill>
              <a:srgbClr val="2E3C58"/>
            </a:solidFill>
            <a:prstDash val="solid"/>
          </a:ln>
        </p:spPr>
      </p:sp>
      <p:sp>
        <p:nvSpPr>
          <p:cNvPr id="10" name="Shape 7"/>
          <p:cNvSpPr/>
          <p:nvPr/>
        </p:nvSpPr>
        <p:spPr>
          <a:xfrm>
            <a:off x="6199632" y="1764792"/>
            <a:ext cx="384048" cy="384048"/>
          </a:xfrm>
          <a:prstGeom prst="ellipse">
            <a:avLst/>
          </a:prstGeom>
          <a:solidFill>
            <a:srgbClr val="2A7F8C"/>
          </a:solidFill>
          <a:ln w="12700">
            <a:solidFill>
              <a:srgbClr val="333333"/>
            </a:solidFill>
            <a:prstDash val="solid"/>
          </a:ln>
        </p:spPr>
      </p:sp>
      <p:pic>
        <p:nvPicPr>
          <p:cNvPr id="11" name="Image 1" descr="icon_check_w.png"/>
          <p:cNvPicPr>
            <a:picLocks noChangeAspect="1"/>
          </p:cNvPicPr>
          <p:nvPr/>
        </p:nvPicPr>
        <p:blipFill>
          <a:blip r:embed="rId4"/>
          <a:stretch>
            <a:fillRect/>
          </a:stretch>
        </p:blipFill>
        <p:spPr>
          <a:xfrm>
            <a:off x="6291072" y="1856232"/>
            <a:ext cx="201168" cy="201168"/>
          </a:xfrm>
          <a:prstGeom prst="rect">
            <a:avLst/>
          </a:prstGeom>
        </p:spPr>
      </p:pic>
      <p:sp>
        <p:nvSpPr>
          <p:cNvPr id="12" name="Text 8"/>
          <p:cNvSpPr/>
          <p:nvPr/>
        </p:nvSpPr>
        <p:spPr>
          <a:xfrm>
            <a:off x="6766560" y="1600200"/>
            <a:ext cx="4602175" cy="713232"/>
          </a:xfrm>
          <a:prstGeom prst="rect">
            <a:avLst/>
          </a:prstGeom>
          <a:noFill/>
          <a:ln/>
        </p:spPr>
        <p:txBody>
          <a:bodyPr wrap="square" lIns="0" tIns="0" rIns="0" bIns="0" rtlCol="0" anchor="ctr"/>
          <a:lstStyle/>
          <a:p>
            <a:pPr marL="0" indent="0">
              <a:lnSpc>
                <a:spcPct val="108000"/>
              </a:lnSpc>
              <a:buNone/>
            </a:pPr>
            <a:r>
              <a:rPr lang="en-US" sz="1080" dirty="0">
                <a:solidFill>
                  <a:srgbClr val="E6ECF5"/>
                </a:solidFill>
                <a:latin typeface="Calibri" pitchFamily="34" charset="0"/>
                <a:ea typeface="Calibri" pitchFamily="34" charset="-122"/>
                <a:cs typeface="Calibri" pitchFamily="34" charset="-120"/>
              </a:rPr>
              <a:t>GPT-2 fine-tuneado aprende vocabulario, estilo y formato financiero.</a:t>
            </a:r>
            <a:endParaRPr lang="en-US" sz="1080" dirty="0"/>
          </a:p>
        </p:txBody>
      </p:sp>
      <p:sp>
        <p:nvSpPr>
          <p:cNvPr id="13" name="Shape 9"/>
          <p:cNvSpPr/>
          <p:nvPr/>
        </p:nvSpPr>
        <p:spPr>
          <a:xfrm>
            <a:off x="6016752" y="2441448"/>
            <a:ext cx="5534863" cy="713232"/>
          </a:xfrm>
          <a:prstGeom prst="rect">
            <a:avLst/>
          </a:prstGeom>
          <a:solidFill>
            <a:srgbClr val="243150"/>
          </a:solidFill>
          <a:ln w="12700">
            <a:solidFill>
              <a:srgbClr val="2E3C58"/>
            </a:solidFill>
            <a:prstDash val="solid"/>
          </a:ln>
        </p:spPr>
      </p:sp>
      <p:sp>
        <p:nvSpPr>
          <p:cNvPr id="14" name="Shape 10"/>
          <p:cNvSpPr/>
          <p:nvPr/>
        </p:nvSpPr>
        <p:spPr>
          <a:xfrm>
            <a:off x="6199632" y="2606040"/>
            <a:ext cx="384048" cy="384048"/>
          </a:xfrm>
          <a:prstGeom prst="ellipse">
            <a:avLst/>
          </a:prstGeom>
          <a:solidFill>
            <a:srgbClr val="2A7F8C"/>
          </a:solidFill>
          <a:ln w="12700">
            <a:solidFill>
              <a:srgbClr val="333333"/>
            </a:solidFill>
            <a:prstDash val="solid"/>
          </a:ln>
        </p:spPr>
      </p:sp>
      <p:pic>
        <p:nvPicPr>
          <p:cNvPr id="15" name="Image 2" descr="icon_balance_w.png"/>
          <p:cNvPicPr>
            <a:picLocks noChangeAspect="1"/>
          </p:cNvPicPr>
          <p:nvPr/>
        </p:nvPicPr>
        <p:blipFill>
          <a:blip r:embed="rId5"/>
          <a:stretch>
            <a:fillRect/>
          </a:stretch>
        </p:blipFill>
        <p:spPr>
          <a:xfrm>
            <a:off x="6291072" y="2697480"/>
            <a:ext cx="201168" cy="201168"/>
          </a:xfrm>
          <a:prstGeom prst="rect">
            <a:avLst/>
          </a:prstGeom>
        </p:spPr>
      </p:pic>
      <p:sp>
        <p:nvSpPr>
          <p:cNvPr id="16" name="Text 11"/>
          <p:cNvSpPr/>
          <p:nvPr/>
        </p:nvSpPr>
        <p:spPr>
          <a:xfrm>
            <a:off x="6766560" y="2441448"/>
            <a:ext cx="4602175" cy="713232"/>
          </a:xfrm>
          <a:prstGeom prst="rect">
            <a:avLst/>
          </a:prstGeom>
          <a:noFill/>
          <a:ln/>
        </p:spPr>
        <p:txBody>
          <a:bodyPr wrap="square" lIns="0" tIns="0" rIns="0" bIns="0" rtlCol="0" anchor="ctr"/>
          <a:lstStyle/>
          <a:p>
            <a:pPr marL="0" indent="0">
              <a:lnSpc>
                <a:spcPct val="108000"/>
              </a:lnSpc>
              <a:buNone/>
            </a:pPr>
            <a:r>
              <a:rPr lang="en-US" sz="1080" dirty="0">
                <a:solidFill>
                  <a:srgbClr val="E6ECF5"/>
                </a:solidFill>
                <a:latin typeface="Calibri" pitchFamily="34" charset="0"/>
                <a:ea typeface="Calibri" pitchFamily="34" charset="-122"/>
                <a:cs typeface="Calibri" pitchFamily="34" charset="-120"/>
              </a:rPr>
              <a:t>El fine-tuning mejora la calidad textual y semántica frente al modelo base.</a:t>
            </a:r>
            <a:endParaRPr lang="en-US" sz="1080" dirty="0"/>
          </a:p>
        </p:txBody>
      </p:sp>
      <p:sp>
        <p:nvSpPr>
          <p:cNvPr id="17" name="Shape 12"/>
          <p:cNvSpPr/>
          <p:nvPr/>
        </p:nvSpPr>
        <p:spPr>
          <a:xfrm>
            <a:off x="6016752" y="3282696"/>
            <a:ext cx="5534863" cy="713232"/>
          </a:xfrm>
          <a:prstGeom prst="rect">
            <a:avLst/>
          </a:prstGeom>
          <a:solidFill>
            <a:srgbClr val="243150"/>
          </a:solidFill>
          <a:ln w="12700">
            <a:solidFill>
              <a:srgbClr val="2E3C58"/>
            </a:solidFill>
            <a:prstDash val="solid"/>
          </a:ln>
        </p:spPr>
      </p:sp>
      <p:sp>
        <p:nvSpPr>
          <p:cNvPr id="18" name="Shape 13"/>
          <p:cNvSpPr/>
          <p:nvPr/>
        </p:nvSpPr>
        <p:spPr>
          <a:xfrm>
            <a:off x="6199632" y="3447288"/>
            <a:ext cx="384048" cy="384048"/>
          </a:xfrm>
          <a:prstGeom prst="ellipse">
            <a:avLst/>
          </a:prstGeom>
          <a:solidFill>
            <a:srgbClr val="2A7F8C"/>
          </a:solidFill>
          <a:ln w="12700">
            <a:solidFill>
              <a:srgbClr val="333333"/>
            </a:solidFill>
            <a:prstDash val="solid"/>
          </a:ln>
        </p:spPr>
      </p:sp>
      <p:pic>
        <p:nvPicPr>
          <p:cNvPr id="19" name="Image 3" descr="icon_exchange_w.png"/>
          <p:cNvPicPr>
            <a:picLocks noChangeAspect="1"/>
          </p:cNvPicPr>
          <p:nvPr/>
        </p:nvPicPr>
        <p:blipFill>
          <a:blip r:embed="rId6"/>
          <a:stretch>
            <a:fillRect/>
          </a:stretch>
        </p:blipFill>
        <p:spPr>
          <a:xfrm>
            <a:off x="6291072" y="3538728"/>
            <a:ext cx="201168" cy="201168"/>
          </a:xfrm>
          <a:prstGeom prst="rect">
            <a:avLst/>
          </a:prstGeom>
        </p:spPr>
      </p:pic>
      <p:sp>
        <p:nvSpPr>
          <p:cNvPr id="20" name="Text 14"/>
          <p:cNvSpPr/>
          <p:nvPr/>
        </p:nvSpPr>
        <p:spPr>
          <a:xfrm>
            <a:off x="6766560" y="3282696"/>
            <a:ext cx="4602175" cy="713232"/>
          </a:xfrm>
          <a:prstGeom prst="rect">
            <a:avLst/>
          </a:prstGeom>
          <a:noFill/>
          <a:ln/>
        </p:spPr>
        <p:txBody>
          <a:bodyPr wrap="square" lIns="0" tIns="0" rIns="0" bIns="0" rtlCol="0" anchor="ctr"/>
          <a:lstStyle/>
          <a:p>
            <a:pPr marL="0" indent="0">
              <a:lnSpc>
                <a:spcPct val="108000"/>
              </a:lnSpc>
              <a:buNone/>
            </a:pPr>
            <a:r>
              <a:rPr lang="en-US" sz="1080" dirty="0">
                <a:solidFill>
                  <a:srgbClr val="E6ECF5"/>
                </a:solidFill>
                <a:latin typeface="Calibri" pitchFamily="34" charset="0"/>
                <a:ea typeface="Calibri" pitchFamily="34" charset="-122"/>
                <a:cs typeface="Calibri" pitchFamily="34" charset="-120"/>
              </a:rPr>
              <a:t>Las métricas textual, semántica y financiera no son equivalentes.</a:t>
            </a:r>
            <a:endParaRPr lang="en-US" sz="1080" dirty="0"/>
          </a:p>
        </p:txBody>
      </p:sp>
      <p:sp>
        <p:nvSpPr>
          <p:cNvPr id="21" name="Shape 15"/>
          <p:cNvSpPr/>
          <p:nvPr/>
        </p:nvSpPr>
        <p:spPr>
          <a:xfrm>
            <a:off x="6016752" y="4123944"/>
            <a:ext cx="5534863" cy="713232"/>
          </a:xfrm>
          <a:prstGeom prst="rect">
            <a:avLst/>
          </a:prstGeom>
          <a:solidFill>
            <a:srgbClr val="243150"/>
          </a:solidFill>
          <a:ln w="12700">
            <a:solidFill>
              <a:srgbClr val="2E3C58"/>
            </a:solidFill>
            <a:prstDash val="solid"/>
          </a:ln>
        </p:spPr>
      </p:sp>
      <p:sp>
        <p:nvSpPr>
          <p:cNvPr id="22" name="Shape 16"/>
          <p:cNvSpPr/>
          <p:nvPr/>
        </p:nvSpPr>
        <p:spPr>
          <a:xfrm>
            <a:off x="6199632" y="4288536"/>
            <a:ext cx="384048" cy="384048"/>
          </a:xfrm>
          <a:prstGeom prst="ellipse">
            <a:avLst/>
          </a:prstGeom>
          <a:solidFill>
            <a:srgbClr val="2A7F8C"/>
          </a:solidFill>
          <a:ln w="12700">
            <a:solidFill>
              <a:srgbClr val="333333"/>
            </a:solidFill>
            <a:prstDash val="solid"/>
          </a:ln>
        </p:spPr>
      </p:sp>
      <p:pic>
        <p:nvPicPr>
          <p:cNvPr id="23" name="Image 4" descr="icon_warn_w.png"/>
          <p:cNvPicPr>
            <a:picLocks noChangeAspect="1"/>
          </p:cNvPicPr>
          <p:nvPr/>
        </p:nvPicPr>
        <p:blipFill>
          <a:blip r:embed="rId7"/>
          <a:stretch>
            <a:fillRect/>
          </a:stretch>
        </p:blipFill>
        <p:spPr>
          <a:xfrm>
            <a:off x="6291072" y="4379976"/>
            <a:ext cx="201168" cy="201168"/>
          </a:xfrm>
          <a:prstGeom prst="rect">
            <a:avLst/>
          </a:prstGeom>
        </p:spPr>
      </p:pic>
      <p:sp>
        <p:nvSpPr>
          <p:cNvPr id="24" name="Text 17"/>
          <p:cNvSpPr/>
          <p:nvPr/>
        </p:nvSpPr>
        <p:spPr>
          <a:xfrm>
            <a:off x="6766560" y="4123944"/>
            <a:ext cx="4602175" cy="713232"/>
          </a:xfrm>
          <a:prstGeom prst="rect">
            <a:avLst/>
          </a:prstGeom>
          <a:noFill/>
          <a:ln/>
        </p:spPr>
        <p:txBody>
          <a:bodyPr wrap="square" lIns="0" tIns="0" rIns="0" bIns="0" rtlCol="0" anchor="ctr"/>
          <a:lstStyle/>
          <a:p>
            <a:pPr marL="0" indent="0">
              <a:lnSpc>
                <a:spcPct val="108000"/>
              </a:lnSpc>
              <a:buNone/>
            </a:pPr>
            <a:r>
              <a:rPr lang="en-US" sz="1080" dirty="0">
                <a:solidFill>
                  <a:srgbClr val="E6ECF5"/>
                </a:solidFill>
                <a:latin typeface="Calibri" pitchFamily="34" charset="0"/>
                <a:ea typeface="Calibri" pitchFamily="34" charset="-122"/>
                <a:cs typeface="Calibri" pitchFamily="34" charset="-120"/>
              </a:rPr>
              <a:t>La directional accuracy no es concluyente sin coverage ni significancia.</a:t>
            </a:r>
            <a:endParaRPr lang="en-US" sz="1080" dirty="0"/>
          </a:p>
        </p:txBody>
      </p:sp>
      <p:sp>
        <p:nvSpPr>
          <p:cNvPr id="25" name="Shape 18"/>
          <p:cNvSpPr/>
          <p:nvPr/>
        </p:nvSpPr>
        <p:spPr>
          <a:xfrm>
            <a:off x="6016752" y="5001768"/>
            <a:ext cx="5534863" cy="841248"/>
          </a:xfrm>
          <a:prstGeom prst="rect">
            <a:avLst/>
          </a:prstGeom>
          <a:solidFill>
            <a:srgbClr val="2A7F8C"/>
          </a:solidFill>
          <a:ln w="12700">
            <a:solidFill>
              <a:srgbClr val="333333"/>
            </a:solidFill>
            <a:prstDash val="solid"/>
          </a:ln>
          <a:effectLst>
            <a:outerShdw blurRad="114300" dist="38100" dir="8100000" algn="bl" rotWithShape="0">
              <a:srgbClr val="1E2A4A">
                <a:alpha val="14000"/>
              </a:srgbClr>
            </a:outerShdw>
          </a:effectLst>
        </p:spPr>
      </p:sp>
      <p:pic>
        <p:nvPicPr>
          <p:cNvPr id="26" name="Image 5" descr="icon_bulb.png"/>
          <p:cNvPicPr>
            <a:picLocks noChangeAspect="1"/>
          </p:cNvPicPr>
          <p:nvPr/>
        </p:nvPicPr>
        <p:blipFill>
          <a:blip r:embed="rId8"/>
          <a:stretch>
            <a:fillRect/>
          </a:stretch>
        </p:blipFill>
        <p:spPr>
          <a:xfrm>
            <a:off x="6254496" y="5248656"/>
            <a:ext cx="347472" cy="347472"/>
          </a:xfrm>
          <a:prstGeom prst="rect">
            <a:avLst/>
          </a:prstGeom>
        </p:spPr>
      </p:pic>
      <p:sp>
        <p:nvSpPr>
          <p:cNvPr id="27" name="Text 19"/>
          <p:cNvSpPr/>
          <p:nvPr/>
        </p:nvSpPr>
        <p:spPr>
          <a:xfrm>
            <a:off x="6766560" y="5001768"/>
            <a:ext cx="4602175" cy="841248"/>
          </a:xfrm>
          <a:prstGeom prst="rect">
            <a:avLst/>
          </a:prstGeom>
          <a:noFill/>
          <a:ln/>
        </p:spPr>
        <p:txBody>
          <a:bodyPr wrap="square" lIns="0" tIns="0" rIns="0" bIns="0" rtlCol="0" anchor="ctr"/>
          <a:lstStyle/>
          <a:p>
            <a:pPr marL="0" indent="0">
              <a:lnSpc>
                <a:spcPct val="112000"/>
              </a:lnSpc>
              <a:buNone/>
            </a:pPr>
            <a:r>
              <a:rPr lang="en-US" sz="1100" b="1" dirty="0">
                <a:solidFill>
                  <a:srgbClr val="F7EEDD"/>
                </a:solidFill>
                <a:latin typeface="Calibri" pitchFamily="34" charset="0"/>
                <a:ea typeface="Calibri" pitchFamily="34" charset="-122"/>
                <a:cs typeface="Calibri" pitchFamily="34" charset="-120"/>
              </a:rPr>
              <a:t>Aporte principal:  </a:t>
            </a:r>
            <a:r>
              <a:rPr lang="en-US" sz="1100" dirty="0">
                <a:solidFill>
                  <a:srgbClr val="FFFFFF"/>
                </a:solidFill>
                <a:latin typeface="Calibri" pitchFamily="34" charset="0"/>
                <a:ea typeface="Calibri" pitchFamily="34" charset="-122"/>
                <a:cs typeface="Calibri" pitchFamily="34" charset="-120"/>
              </a:rPr>
              <a:t>un pipeline reproducible de NLP generativo con evaluación crítica multicapa.</a:t>
            </a:r>
            <a:endParaRPr lang="en-US" sz="1100" dirty="0"/>
          </a:p>
        </p:txBody>
      </p:sp>
      <p:sp>
        <p:nvSpPr>
          <p:cNvPr id="28" name="Shape 20"/>
          <p:cNvSpPr/>
          <p:nvPr/>
        </p:nvSpPr>
        <p:spPr>
          <a:xfrm>
            <a:off x="640080" y="6053328"/>
            <a:ext cx="10911535" cy="0"/>
          </a:xfrm>
          <a:prstGeom prst="line">
            <a:avLst/>
          </a:prstGeom>
          <a:noFill/>
          <a:ln w="12700">
            <a:solidFill>
              <a:srgbClr val="2E3C58"/>
            </a:solidFill>
            <a:prstDash val="solid"/>
          </a:ln>
        </p:spPr>
      </p:sp>
      <p:sp>
        <p:nvSpPr>
          <p:cNvPr id="29" name="Text 21"/>
          <p:cNvSpPr/>
          <p:nvPr/>
        </p:nvSpPr>
        <p:spPr>
          <a:xfrm>
            <a:off x="640080" y="6199632"/>
            <a:ext cx="2194560" cy="274320"/>
          </a:xfrm>
          <a:prstGeom prst="rect">
            <a:avLst/>
          </a:prstGeom>
          <a:noFill/>
          <a:ln/>
        </p:spPr>
        <p:txBody>
          <a:bodyPr wrap="square" lIns="0" tIns="0" rIns="0" bIns="0" rtlCol="0" anchor="ctr"/>
          <a:lstStyle/>
          <a:p>
            <a:pPr marL="0" indent="0">
              <a:buNone/>
            </a:pPr>
            <a:r>
              <a:rPr lang="en-US" sz="900" b="1" kern="0" spc="200" dirty="0">
                <a:solidFill>
                  <a:srgbClr val="2A7F8C"/>
                </a:solidFill>
                <a:latin typeface="Calibri" pitchFamily="34" charset="0"/>
                <a:ea typeface="Calibri" pitchFamily="34" charset="-122"/>
                <a:cs typeface="Calibri" pitchFamily="34" charset="-120"/>
              </a:rPr>
              <a:t>PRÓXIMOS PASOS</a:t>
            </a:r>
            <a:endParaRPr lang="en-US" sz="900" dirty="0"/>
          </a:p>
        </p:txBody>
      </p:sp>
      <p:sp>
        <p:nvSpPr>
          <p:cNvPr id="30" name="Text 22"/>
          <p:cNvSpPr/>
          <p:nvPr/>
        </p:nvSpPr>
        <p:spPr>
          <a:xfrm>
            <a:off x="2880360" y="6181344"/>
            <a:ext cx="8762695" cy="310896"/>
          </a:xfrm>
          <a:prstGeom prst="rect">
            <a:avLst/>
          </a:prstGeom>
          <a:noFill/>
          <a:ln/>
        </p:spPr>
        <p:txBody>
          <a:bodyPr wrap="square" lIns="0" tIns="0" rIns="0" bIns="0" rtlCol="0" anchor="ctr"/>
          <a:lstStyle/>
          <a:p>
            <a:pPr marL="0" indent="0">
              <a:buNone/>
            </a:pPr>
            <a:r>
              <a:rPr lang="en-US" sz="900" dirty="0">
                <a:solidFill>
                  <a:srgbClr val="9FB0CC"/>
                </a:solidFill>
                <a:latin typeface="Calibri" pitchFamily="34" charset="0"/>
                <a:ea typeface="Calibri" pitchFamily="34" charset="-122"/>
                <a:cs typeface="Calibri" pitchFamily="34" charset="-120"/>
              </a:rPr>
              <a:t>Baselines estadísticos de dirección  ·  más datos y tickers  ·  GPT-2 medium o modelo financiero  ·  mejor control de la salida  ·  evaluación humana de plausibilidad</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1593</TotalTime>
  <Words>3289</Words>
  <Application>Microsoft Office PowerPoint</Application>
  <PresentationFormat>Panorámica</PresentationFormat>
  <Paragraphs>302</Paragraphs>
  <Slides>12</Slides>
  <Notes>12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12</vt:i4>
      </vt:variant>
    </vt:vector>
  </HeadingPairs>
  <TitlesOfParts>
    <vt:vector size="18" baseType="lpstr">
      <vt:lpstr>-apple-system</vt:lpstr>
      <vt:lpstr>Arial</vt:lpstr>
      <vt:lpstr>Calibri</vt:lpstr>
      <vt:lpstr>Consolas</vt:lpstr>
      <vt:lpstr>Georgia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Fine-tuning de GPT-2 para narrativas financieras</dc:title>
  <dc:subject>PptxGenJS Presentation</dc:subject>
  <dc:creator>Proyecto NLP</dc:creator>
  <cp:lastModifiedBy>Luciano Eduardo Rielo</cp:lastModifiedBy>
  <cp:revision>3</cp:revision>
  <dcterms:created xsi:type="dcterms:W3CDTF">2026-05-23T23:11:04Z</dcterms:created>
  <dcterms:modified xsi:type="dcterms:W3CDTF">2026-05-26T00:00:11Z</dcterms:modified>
</cp:coreProperties>
</file>