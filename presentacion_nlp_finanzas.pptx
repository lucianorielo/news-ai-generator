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proyecto se llama fine-tuning de GPT-2 para generacion de narrativas financieras. Lo planteo como un problema de NLP aplicado: dado un contexto financiero previo, queremos generar una narrativa del dia siguiente y despues evaluar si esa narrativa se parece a noticias reales, si mantiene un tono financiero coherente y si de alguna forma se relaciona con la direccion del activo. El objetivo no es presentar un sistema de trading: no decir 'prediccion bursatil' como promesa, decir 'narrativas financieras' y 'evaluacion downstream'.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pregunta no es una sola. Primero: puede GPT-2 generar texto financiero plausible? Segundo: el fine-tuning mejora frente a GPT-2 base? Tercero: el sentimiento o la direccion que aparece en la narrativa tiene relacion con el comportamiento real del mercado? Esta separacion es importante porque una respuesta puede ser positiva en una capa y negativa en otra. La defensa gira alrededor de evaluacion multicapa: evitar una unica metrica ganadora.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Desde NLP, el proyecto usa transfer learning. Partimos de GPT-2, que ya aprendio patrones generales del lenguaje en preentrenamiento, y hacemos fine-tuning sobre un corpus financiero. GPT-2 es un modelo de lenguaje causal: predice el siguiente token condicionado por los tokens anteriores. Trabaja con tokenizacion subword. Durante el fine-tuning ajusta sus pesos para que, dado un prompt con ticker, fecha, features de mercado y noticias previas, genere una continuacion parecida al target financiero.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pipeline empieza con datos de noticias financieras y datos de mercado. Para cada ticker y fecha se construye una ventana de contexto con noticias previas y features como retorno, volumen relativo o RSI. Despues hacemos un split temporal en train, validation y test. Esto es importante porque en finanzas no queremos entrenar con informacion futura. Luego fine-tuneamos GPT-2, generamos predicciones sobre test y evaluamos. Enfasis: split temporal, pipeline reproducible, misma evaluacion para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formulacion es prompt/completion. El prompt contiene el contexto disponible hasta el dia t: ticker, fecha, features numericas y noticias previas. El target es la narrativa o outlook del dia t+1. En algunos runs el target era mas libre, como titulares o noticias. En otros agregamos estructura explicita, por ejemplo sentimiento y direccion. Eso permite comparar si estructurar la salida ayuda al modelo. Esta decision convierte el problema en una tarea generativa supervisada.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Para evaluar generacion no alcanza una metrica. Usamos tres capas mas una de control. La primera es textual: ROUGE-L mira solapamiento mas literal. La segunda es semantica: BERTScore captura similitud con embeddings y FinBERT clasifica sentimiento de la noticia real y la generada. La tercera es downstream financiera: convertimos la salida en una senal direccional. Pero siempre junto con coverage y test de significancia. Enfasis: directional accuracy sola puede enganar; coverage y p-value son obligatorios.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todos los runs cumplen la misma funcion. SPY/QQQ es el primer baseline experimental completo. GPT-2 no fine-tuneado es el baseline mas importante para medir si el entrenamiento aporta algo. NVDA single sirve para ver comportamiento en un solo activo y tiene el mejor BERTScore. NVDA + AMD es el run mas equilibrado en calidad textual y semantica. NVDA direction features es la variante mas orientada a la metrica financiera. Ninguno alcanza p &lt; 0.05.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tabla resume el punto mas importante del proyecto: las metricas no se mueven juntas. GPT-2 sin fine-tuning tiene ROUGE-L bajo, 0.040, y sentiment match bajo, 0.273. Sin embargo tiene directional accuracy de 0.549 con coverage 1.0. Esto es una alerta: una metrica financiera alta puede aparecer incluso cuando la calidad semantica es pobre. El run NVDA + AMD tiene mejor calidad textual y semantica: ROUGE-L 0.074 y sentiment match 0.442, pero su directional accuracy es 0.530. El run con direction features tiene la mejor directional accuracy, 0.556, pero tampoco alcanza significancia.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curvas de loss muestran que hubo fine-tuning real: el modelo ajusta la tarea de language modeling sobre el corpus financiero. Tambien calculamos perplexity como exponencial de la eval loss. Es una metrica clasica: menor perplexity significa que el modelo asigna mas probabilidad al texto de validacion. Pero hay un hallazgo importante: el mejor valor de perplexity no coincide necesariamente con el mejor resultado financiero. Esto separa aprender a modelar texto de producir una senal util.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Estas matrices comparan sentimiento real contra sentimiento generado, usando FinBERT como evaluador externo. En GPT-2 base el match semantico es bajo: el modelo puede generar texto que parece financiero pero no con el tono correcto. Con fine-tuning, especialmente en NVDA + AMD, mejora la alineacion, pero todavia no supera claramente el baseline neutral. La matriz financiera mira si la direccion generada coincide con la real: el run con features direccionales obtiene la mejor directional accuracy, alrededor de 0.556, con coverage total, pero el p-value contra azar es aproximadamente 0.225. Por eso lo presentamos como senal exploratoria.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ejemplos ayudan a entender por que las metricas agregadas no alcanzan. En un caso, el fine-tuning mejora la alineacion semantica y ROUGE-L frente a GPT-2 base: el entrenamiento si adapta el modelo al dominio. Pero en otro caso, GPT-2 base acierta la direccion mientras genera una narrativa pobre o generica. Ese ejemplo es central: muestra que directional accuracy puede verse bien aunque el texto no sea bueno. La evaluacion cuantitativa necesita lectura cualitativa.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limitaciones son varias: el dataset de test es chico, el target son titulares agregados por dia y no articulos completos, GPT-2 small tiene capacidad limitada, FinBERT es un evaluador imperfecto y la directional accuracy depende de la distribucion de clases. La mas importante: no hay significancia estadistica fuerte. Conclusiones: GPT-2 fine-tuneado aprende vocabulario y formato financiero; el fine-tuning mejora la calidad textual y semantica; las metricas no son equivalentes; la directional accuracy no alcanza para afirmar predictividad. El aporte principal es metodologico: un pipeline reproducible de NLP generativo evaluado criticamente. Como trabajo futuro: baselines estadisticos mas fuertes, mas datos, modelos mas grandes, mejor control de salida y evaluacion humana. Cierre: el proyecto muestra que fine-tunear GPT-2 adapta el modelo al dominio financiero, pero tambien por que evaluar generacion es dificil. La contribucion principal es el pipeline de evaluacion multicapa y la lectura critica.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2.png"/><Relationship Id="rId5" Type="http://schemas.openxmlformats.org/officeDocument/2006/relationships/image" Target="../media/image-4-5.png"/><Relationship Id="rId6" Type="http://schemas.openxmlformats.org/officeDocument/2006/relationships/image" Target="../media/image-4-2.png"/><Relationship Id="rId7" Type="http://schemas.openxmlformats.org/officeDocument/2006/relationships/image" Target="../media/image-4-7.png"/><Relationship Id="rId8" Type="http://schemas.openxmlformats.org/officeDocument/2006/relationships/image" Target="../media/image-4-2.png"/><Relationship Id="rId9" Type="http://schemas.openxmlformats.org/officeDocument/2006/relationships/image" Target="../media/image-4-9.png"/><Relationship Id="rId10" Type="http://schemas.openxmlformats.org/officeDocument/2006/relationships/image" Target="../media/image-4-2.png"/><Relationship Id="rId11" Type="http://schemas.openxmlformats.org/officeDocument/2006/relationships/image" Target="../media/image-4-11.png"/><Relationship Id="rId12" Type="http://schemas.openxmlformats.org/officeDocument/2006/relationships/image" Target="../media/image-4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91295" y="0"/>
            <a:ext cx="3200400" cy="6858000"/>
          </a:xfrm>
          <a:prstGeom prst="rect">
            <a:avLst/>
          </a:prstGeom>
          <a:solidFill>
            <a:srgbClr val="1822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494215" y="1828800"/>
            <a:ext cx="1920240" cy="384048"/>
          </a:xfrm>
          <a:prstGeom prst="roundRect">
            <a:avLst>
              <a:gd name="adj" fmla="val 14286"/>
            </a:avLst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558223" y="2395728"/>
            <a:ext cx="1874520" cy="384048"/>
          </a:xfrm>
          <a:prstGeom prst="roundRect">
            <a:avLst>
              <a:gd name="adj" fmla="val 14286"/>
            </a:avLst>
          </a:prstGeom>
          <a:solidFill>
            <a:srgbClr val="3A4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22231" y="2962656"/>
            <a:ext cx="1828800" cy="384048"/>
          </a:xfrm>
          <a:prstGeom prst="roundRect">
            <a:avLst>
              <a:gd name="adj" fmla="val 14286"/>
            </a:avLst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86239" y="3529584"/>
            <a:ext cx="1783080" cy="384048"/>
          </a:xfrm>
          <a:prstGeom prst="roundRect">
            <a:avLst>
              <a:gd name="adj" fmla="val 14286"/>
            </a:avLst>
          </a:prstGeom>
          <a:solidFill>
            <a:srgbClr val="3A4E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750247" y="4096512"/>
            <a:ext cx="1737360" cy="384048"/>
          </a:xfrm>
          <a:prstGeom prst="roundRect">
            <a:avLst>
              <a:gd name="adj" fmla="val 14286"/>
            </a:avLst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494215" y="123444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8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GPT-2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0080" y="1417320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MATERIA DE PROCESAMIENTO DE LENGUAJE NATURAL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0080" y="1783080"/>
            <a:ext cx="79552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Fine-tuning de GPT-2 para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generación de narrativas</a:t>
            </a:r>
            <a:endParaRPr lang="en-US" sz="42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financieras</a:t>
            </a:r>
            <a:endParaRPr lang="en-US" sz="4200" dirty="0"/>
          </a:p>
        </p:txBody>
      </p:sp>
      <p:sp>
        <p:nvSpPr>
          <p:cNvPr id="11" name="Shape 9"/>
          <p:cNvSpPr/>
          <p:nvPr/>
        </p:nvSpPr>
        <p:spPr>
          <a:xfrm>
            <a:off x="640080" y="4160520"/>
            <a:ext cx="2743200" cy="0"/>
          </a:xfrm>
          <a:prstGeom prst="line">
            <a:avLst/>
          </a:prstGeom>
          <a:noFill/>
          <a:ln w="25400">
            <a:solidFill>
              <a:srgbClr val="2A7F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4343400"/>
            <a:ext cx="7589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de NLP generativo aplicado a finanzas: dado un contexto financiero previo, adaptamos un modelo de lenguaje causal para producir la narrativa del día siguiente y la evaluamos de forma crítica.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5532120"/>
            <a:ext cx="1605686" cy="384048"/>
          </a:xfrm>
          <a:prstGeom prst="roundRect">
            <a:avLst>
              <a:gd name="adj" fmla="val 50000"/>
            </a:avLst>
          </a:prstGeom>
          <a:solidFill>
            <a:srgbClr val="2A3650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5532120"/>
            <a:ext cx="160568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base: GPT-2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428646" y="5532120"/>
            <a:ext cx="2280514" cy="384048"/>
          </a:xfrm>
          <a:prstGeom prst="roundRect">
            <a:avLst>
              <a:gd name="adj" fmla="val 50000"/>
            </a:avLst>
          </a:prstGeom>
          <a:solidFill>
            <a:srgbClr val="2A3650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428646" y="5532120"/>
            <a:ext cx="228051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Dominio: noticias + mercado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92040" y="5532120"/>
            <a:ext cx="2205533" cy="384048"/>
          </a:xfrm>
          <a:prstGeom prst="roundRect">
            <a:avLst>
              <a:gd name="adj" fmla="val 50000"/>
            </a:avLst>
          </a:prstGeom>
          <a:solidFill>
            <a:srgbClr val="2A3650"/>
          </a:solidFill>
          <a:ln w="12700">
            <a:solidFill>
              <a:srgbClr val="3A4E7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892040" y="5532120"/>
            <a:ext cx="2205533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Tarea: prompt → completion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MOTIVACIÓN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Pregunta experimental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pregunta no es una sola. Se descompone en tres capas que no necesariamente coinciden.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456432" cy="233172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3456432" cy="64008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2350008"/>
            <a:ext cx="566928" cy="56692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14400" y="2350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200" dirty="0"/>
          </a:p>
        </p:txBody>
      </p:sp>
      <p:pic>
        <p:nvPicPr>
          <p:cNvPr id="10" name="Image 0" descr="icon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83280" y="2368296"/>
            <a:ext cx="384048" cy="384048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914400" y="308152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Calidad textual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914400" y="3502152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¿Puede GPT-2 generar texto financiero plausible? ¿El fine-tuning mejora frente al modelo base?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343400" y="2057400"/>
            <a:ext cx="3456432" cy="233172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343400" y="2057400"/>
            <a:ext cx="3456432" cy="64008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4617720" y="2350008"/>
            <a:ext cx="566928" cy="56692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617720" y="2350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200" dirty="0"/>
          </a:p>
        </p:txBody>
      </p:sp>
      <p:pic>
        <p:nvPicPr>
          <p:cNvPr id="17" name="Image 1" descr="icon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2368296"/>
            <a:ext cx="384048" cy="384048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4617720" y="308152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Alineación semántica</a:t>
            </a:r>
            <a:endParaRPr lang="en-US" sz="1500" dirty="0"/>
          </a:p>
        </p:txBody>
      </p:sp>
      <p:sp>
        <p:nvSpPr>
          <p:cNvPr id="19" name="Text 15"/>
          <p:cNvSpPr/>
          <p:nvPr/>
        </p:nvSpPr>
        <p:spPr>
          <a:xfrm>
            <a:off x="4617720" y="3502152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narrativa generada mantiene un tono y un sentimiento coherentes con la noticia real?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8046720" y="2057400"/>
            <a:ext cx="3456432" cy="233172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8046720" y="2057400"/>
            <a:ext cx="3456432" cy="64008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321040" y="2350008"/>
            <a:ext cx="566928" cy="566928"/>
          </a:xfrm>
          <a:prstGeom prst="ellipse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321040" y="235000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200" dirty="0"/>
          </a:p>
        </p:txBody>
      </p:sp>
      <p:pic>
        <p:nvPicPr>
          <p:cNvPr id="24" name="Image 2" descr="ic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89920" y="2368296"/>
            <a:ext cx="384048" cy="384048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8321040" y="3081528"/>
            <a:ext cx="29077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Utilidad downstream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8321040" y="3502152"/>
            <a:ext cx="290779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¿La señal que aparece en la narrativa se relaciona con la dirección real del activo?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640080" y="4709160"/>
            <a:ext cx="10908792" cy="960120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28" name="Image 3" descr="icon_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" y="5020056"/>
            <a:ext cx="365760" cy="365760"/>
          </a:xfrm>
          <a:prstGeom prst="rect">
            <a:avLst/>
          </a:prstGeom>
        </p:spPr>
      </p:pic>
      <p:sp>
        <p:nvSpPr>
          <p:cNvPr id="29" name="Text 23"/>
          <p:cNvSpPr/>
          <p:nvPr/>
        </p:nvSpPr>
        <p:spPr>
          <a:xfrm>
            <a:off x="1508760" y="4709160"/>
            <a:ext cx="97840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150" b="1" dirty="0">
                <a:solidFill>
                  <a:srgbClr val="C89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Idea central:  </a:t>
            </a:r>
            <a:pPr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respuesta puede ser positiva en una capa y negativa en otra. Un texto puede sonar financiero sin tener el sentimiento correcto, o acertar una dirección por sesgo de datos generando una narrativa pobre.</a:t>
            </a:r>
            <a:endParaRPr lang="en-US" sz="1150" dirty="0"/>
          </a:p>
        </p:txBody>
      </p:sp>
      <p:sp>
        <p:nvSpPr>
          <p:cNvPr id="30" name="Text 24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Conceptos de NLP utilizados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Partimos de GPT-2 preentrenado y lo adaptamos al dominio financiero. El entrenamiento sigue siendo modelado de lenguaje causal.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0574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574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8" name="Image 0" descr="icon_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258568"/>
            <a:ext cx="310896" cy="310896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43584" y="22128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learning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859536" y="26609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Reutilizamos el conocimiento general del lenguaje aprendido en preentrenamiento.</a:t>
            </a:r>
            <a:endParaRPr lang="en-US" sz="1080" dirty="0"/>
          </a:p>
        </p:txBody>
      </p:sp>
      <p:sp>
        <p:nvSpPr>
          <p:cNvPr id="11" name="Shape 8"/>
          <p:cNvSpPr/>
          <p:nvPr/>
        </p:nvSpPr>
        <p:spPr>
          <a:xfrm>
            <a:off x="4343400" y="20574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343400" y="20574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13" name="Image 1" descr="icon_bra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44568" y="2258568"/>
            <a:ext cx="310896" cy="31089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4946904" y="22128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/ LM causal</a:t>
            </a:r>
            <a:endParaRPr lang="en-US" sz="1350" dirty="0"/>
          </a:p>
        </p:txBody>
      </p:sp>
      <p:sp>
        <p:nvSpPr>
          <p:cNvPr id="15" name="Text 11"/>
          <p:cNvSpPr/>
          <p:nvPr/>
        </p:nvSpPr>
        <p:spPr>
          <a:xfrm>
            <a:off x="4562856" y="26609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autoregresivo: predice el siguiente token condicionado por los anteriores.</a:t>
            </a:r>
            <a:endParaRPr lang="en-US" sz="1080" dirty="0"/>
          </a:p>
        </p:txBody>
      </p:sp>
      <p:sp>
        <p:nvSpPr>
          <p:cNvPr id="16" name="Shape 12"/>
          <p:cNvSpPr/>
          <p:nvPr/>
        </p:nvSpPr>
        <p:spPr>
          <a:xfrm>
            <a:off x="8046720" y="20574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46720" y="20574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18" name="Image 2" descr="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2258568"/>
            <a:ext cx="310896" cy="310896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650224" y="22128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Tokenización subword</a:t>
            </a:r>
            <a:endParaRPr lang="en-US" sz="1350" dirty="0"/>
          </a:p>
        </p:txBody>
      </p:sp>
      <p:sp>
        <p:nvSpPr>
          <p:cNvPr id="20" name="Text 15"/>
          <p:cNvSpPr/>
          <p:nvPr/>
        </p:nvSpPr>
        <p:spPr>
          <a:xfrm>
            <a:off x="8266176" y="26609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divide en unidades subléxicas, no necesariamente palabras completas.</a:t>
            </a:r>
            <a:endParaRPr lang="en-US" sz="1080" dirty="0"/>
          </a:p>
        </p:txBody>
      </p:sp>
      <p:sp>
        <p:nvSpPr>
          <p:cNvPr id="21" name="Shape 16"/>
          <p:cNvSpPr/>
          <p:nvPr/>
        </p:nvSpPr>
        <p:spPr>
          <a:xfrm>
            <a:off x="640080" y="38862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640080" y="38862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23" name="Image 3" descr="icon_layer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8" y="4087368"/>
            <a:ext cx="310896" cy="310896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243584" y="40416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Embeddings contextuales</a:t>
            </a:r>
            <a:endParaRPr lang="en-US" sz="1350" dirty="0"/>
          </a:p>
        </p:txBody>
      </p:sp>
      <p:sp>
        <p:nvSpPr>
          <p:cNvPr id="25" name="Text 19"/>
          <p:cNvSpPr/>
          <p:nvPr/>
        </p:nvSpPr>
        <p:spPr>
          <a:xfrm>
            <a:off x="859536" y="44897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token se representa según su contexto, no de forma fija.</a:t>
            </a:r>
            <a:endParaRPr lang="en-US" sz="1080" dirty="0"/>
          </a:p>
        </p:txBody>
      </p:sp>
      <p:sp>
        <p:nvSpPr>
          <p:cNvPr id="26" name="Shape 20"/>
          <p:cNvSpPr/>
          <p:nvPr/>
        </p:nvSpPr>
        <p:spPr>
          <a:xfrm>
            <a:off x="4343400" y="38862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7" name="Shape 21"/>
          <p:cNvSpPr/>
          <p:nvPr/>
        </p:nvSpPr>
        <p:spPr>
          <a:xfrm>
            <a:off x="4343400" y="38862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28" name="Image 4" descr="icon_sliders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44568" y="4087368"/>
            <a:ext cx="310896" cy="310896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4946904" y="40416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350" dirty="0"/>
          </a:p>
        </p:txBody>
      </p:sp>
      <p:sp>
        <p:nvSpPr>
          <p:cNvPr id="30" name="Text 23"/>
          <p:cNvSpPr/>
          <p:nvPr/>
        </p:nvSpPr>
        <p:spPr>
          <a:xfrm>
            <a:off x="4562856" y="44897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Ajustamos los pesos del modelo sobre un corpus financiero específico.</a:t>
            </a:r>
            <a:endParaRPr lang="en-US" sz="1080" dirty="0"/>
          </a:p>
        </p:txBody>
      </p:sp>
      <p:sp>
        <p:nvSpPr>
          <p:cNvPr id="31" name="Shape 24"/>
          <p:cNvSpPr/>
          <p:nvPr/>
        </p:nvSpPr>
        <p:spPr>
          <a:xfrm>
            <a:off x="8046720" y="3886200"/>
            <a:ext cx="345643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32" name="Shape 25"/>
          <p:cNvSpPr/>
          <p:nvPr/>
        </p:nvSpPr>
        <p:spPr>
          <a:xfrm>
            <a:off x="8046720" y="3886200"/>
            <a:ext cx="64008" cy="1554480"/>
          </a:xfrm>
          <a:prstGeom prst="rect">
            <a:avLst/>
          </a:prstGeom>
          <a:solidFill>
            <a:srgbClr val="2A7F8C"/>
          </a:solidFill>
          <a:ln w="12700">
            <a:solidFill>
              <a:srgbClr val="2A7F8C"/>
            </a:solidFill>
            <a:prstDash val="solid"/>
          </a:ln>
        </p:spPr>
      </p:sp>
      <p:pic>
        <p:nvPicPr>
          <p:cNvPr id="33" name="Image 5" descr="icon_search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247888" y="4087368"/>
            <a:ext cx="310896" cy="310896"/>
          </a:xfrm>
          <a:prstGeom prst="rect">
            <a:avLst/>
          </a:prstGeom>
        </p:spPr>
      </p:pic>
      <p:sp>
        <p:nvSpPr>
          <p:cNvPr id="34" name="Text 26"/>
          <p:cNvSpPr/>
          <p:nvPr/>
        </p:nvSpPr>
        <p:spPr>
          <a:xfrm>
            <a:off x="8650224" y="4041648"/>
            <a:ext cx="267919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generativa</a:t>
            </a:r>
            <a:endParaRPr lang="en-US" sz="1350" dirty="0"/>
          </a:p>
        </p:txBody>
      </p:sp>
      <p:sp>
        <p:nvSpPr>
          <p:cNvPr id="35" name="Text 27"/>
          <p:cNvSpPr/>
          <p:nvPr/>
        </p:nvSpPr>
        <p:spPr>
          <a:xfrm>
            <a:off x="8266176" y="4489704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0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calidad de la generación requiere métricas más allá de la pérdida.</a:t>
            </a:r>
            <a:endParaRPr lang="en-US" sz="1080" dirty="0"/>
          </a:p>
        </p:txBody>
      </p:sp>
      <p:sp>
        <p:nvSpPr>
          <p:cNvPr id="36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Pipeline experimental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05460" y="2148840"/>
            <a:ext cx="159105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71804" y="2386584"/>
            <a:ext cx="658368" cy="658368"/>
          </a:xfrm>
          <a:prstGeom prst="ellipse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7" name="Image 0" descr="icon_tabl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8964" y="2523744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705460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1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96900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824332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FNSPID: noticias + datos de mercado</a:t>
            </a:r>
            <a:endParaRPr lang="en-US" sz="900" dirty="0"/>
          </a:p>
        </p:txBody>
      </p:sp>
      <p:pic>
        <p:nvPicPr>
          <p:cNvPr id="11" name="Image 1" descr="icon_arrow_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19376" y="3122676"/>
            <a:ext cx="201168" cy="20116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2543404" y="2148840"/>
            <a:ext cx="159105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3009748" y="2386584"/>
            <a:ext cx="658368" cy="658368"/>
          </a:xfrm>
          <a:prstGeom prst="ellipse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2" descr="icon_cod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46908" y="2523744"/>
            <a:ext cx="384048" cy="384048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2543404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2</a:t>
            </a:r>
            <a:endParaRPr lang="en-US" sz="850" dirty="0"/>
          </a:p>
        </p:txBody>
      </p:sp>
      <p:sp>
        <p:nvSpPr>
          <p:cNvPr id="16" name="Text 11"/>
          <p:cNvSpPr/>
          <p:nvPr/>
        </p:nvSpPr>
        <p:spPr>
          <a:xfrm>
            <a:off x="2634844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Prompts</a:t>
            </a:r>
            <a:endParaRPr lang="en-US" sz="1300" dirty="0"/>
          </a:p>
        </p:txBody>
      </p:sp>
      <p:sp>
        <p:nvSpPr>
          <p:cNvPr id="17" name="Text 12"/>
          <p:cNvSpPr/>
          <p:nvPr/>
        </p:nvSpPr>
        <p:spPr>
          <a:xfrm>
            <a:off x="2662276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Ventana de contexto por ticker y fecha</a:t>
            </a:r>
            <a:endParaRPr lang="en-US" sz="900" dirty="0"/>
          </a:p>
        </p:txBody>
      </p:sp>
      <p:pic>
        <p:nvPicPr>
          <p:cNvPr id="18" name="Image 3" descr="icon_arrow_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57320" y="3122676"/>
            <a:ext cx="201168" cy="201168"/>
          </a:xfrm>
          <a:prstGeom prst="rect">
            <a:avLst/>
          </a:prstGeom>
        </p:spPr>
      </p:pic>
      <p:sp>
        <p:nvSpPr>
          <p:cNvPr id="19" name="Shape 13"/>
          <p:cNvSpPr/>
          <p:nvPr/>
        </p:nvSpPr>
        <p:spPr>
          <a:xfrm>
            <a:off x="4381348" y="2148840"/>
            <a:ext cx="159105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0" name="Shape 14"/>
          <p:cNvSpPr/>
          <p:nvPr/>
        </p:nvSpPr>
        <p:spPr>
          <a:xfrm>
            <a:off x="4847692" y="2386584"/>
            <a:ext cx="658368" cy="658368"/>
          </a:xfrm>
          <a:prstGeom prst="ellipse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1" name="Image 4" descr="icon_wav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4852" y="2523744"/>
            <a:ext cx="384048" cy="38404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4381348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3</a:t>
            </a:r>
            <a:endParaRPr lang="en-US" sz="850" dirty="0"/>
          </a:p>
        </p:txBody>
      </p:sp>
      <p:sp>
        <p:nvSpPr>
          <p:cNvPr id="23" name="Text 16"/>
          <p:cNvSpPr/>
          <p:nvPr/>
        </p:nvSpPr>
        <p:spPr>
          <a:xfrm>
            <a:off x="4472788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</a:t>
            </a:r>
            <a:endParaRPr lang="en-US" sz="1300" dirty="0"/>
          </a:p>
        </p:txBody>
      </p:sp>
      <p:sp>
        <p:nvSpPr>
          <p:cNvPr id="24" name="Text 17"/>
          <p:cNvSpPr/>
          <p:nvPr/>
        </p:nvSpPr>
        <p:spPr>
          <a:xfrm>
            <a:off x="4500220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 / test sin fugas de futuro</a:t>
            </a:r>
            <a:endParaRPr lang="en-US" sz="900" dirty="0"/>
          </a:p>
        </p:txBody>
      </p:sp>
      <p:pic>
        <p:nvPicPr>
          <p:cNvPr id="25" name="Image 5" descr="icon_arrow_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995264" y="3122676"/>
            <a:ext cx="201168" cy="201168"/>
          </a:xfrm>
          <a:prstGeom prst="rect">
            <a:avLst/>
          </a:prstGeom>
        </p:spPr>
      </p:pic>
      <p:sp>
        <p:nvSpPr>
          <p:cNvPr id="26" name="Shape 18"/>
          <p:cNvSpPr/>
          <p:nvPr/>
        </p:nvSpPr>
        <p:spPr>
          <a:xfrm>
            <a:off x="6219292" y="2148840"/>
            <a:ext cx="159105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7" name="Shape 19"/>
          <p:cNvSpPr/>
          <p:nvPr/>
        </p:nvSpPr>
        <p:spPr>
          <a:xfrm>
            <a:off x="6685636" y="2386584"/>
            <a:ext cx="658368" cy="658368"/>
          </a:xfrm>
          <a:prstGeom prst="ellipse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8" name="Image 6" descr="icon_slider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22796" y="2523744"/>
            <a:ext cx="384048" cy="384048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6219292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4</a:t>
            </a:r>
            <a:endParaRPr lang="en-US" sz="850" dirty="0"/>
          </a:p>
        </p:txBody>
      </p:sp>
      <p:sp>
        <p:nvSpPr>
          <p:cNvPr id="30" name="Text 21"/>
          <p:cNvSpPr/>
          <p:nvPr/>
        </p:nvSpPr>
        <p:spPr>
          <a:xfrm>
            <a:off x="6310732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6338164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Adaptación de GPT-2 al corpus</a:t>
            </a:r>
            <a:endParaRPr lang="en-US" sz="900" dirty="0"/>
          </a:p>
        </p:txBody>
      </p:sp>
      <p:pic>
        <p:nvPicPr>
          <p:cNvPr id="32" name="Image 7" descr="icon_arrow_t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33208" y="3122676"/>
            <a:ext cx="201168" cy="201168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8057236" y="2148840"/>
            <a:ext cx="1591056" cy="2148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34" name="Shape 24"/>
          <p:cNvSpPr/>
          <p:nvPr/>
        </p:nvSpPr>
        <p:spPr>
          <a:xfrm>
            <a:off x="8523580" y="2386584"/>
            <a:ext cx="658368" cy="658368"/>
          </a:xfrm>
          <a:prstGeom prst="ellipse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35" name="Image 8" descr="icon_brain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660740" y="2523744"/>
            <a:ext cx="384048" cy="384048"/>
          </a:xfrm>
          <a:prstGeom prst="rect">
            <a:avLst/>
          </a:prstGeom>
        </p:spPr>
      </p:pic>
      <p:sp>
        <p:nvSpPr>
          <p:cNvPr id="36" name="Text 25"/>
          <p:cNvSpPr/>
          <p:nvPr/>
        </p:nvSpPr>
        <p:spPr>
          <a:xfrm>
            <a:off x="8057236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5</a:t>
            </a:r>
            <a:endParaRPr lang="en-US" sz="850" dirty="0"/>
          </a:p>
        </p:txBody>
      </p:sp>
      <p:sp>
        <p:nvSpPr>
          <p:cNvPr id="37" name="Text 26"/>
          <p:cNvSpPr/>
          <p:nvPr/>
        </p:nvSpPr>
        <p:spPr>
          <a:xfrm>
            <a:off x="8148676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Generación</a:t>
            </a:r>
            <a:endParaRPr lang="en-US" sz="1300" dirty="0"/>
          </a:p>
        </p:txBody>
      </p:sp>
      <p:sp>
        <p:nvSpPr>
          <p:cNvPr id="38" name="Text 27"/>
          <p:cNvSpPr/>
          <p:nvPr/>
        </p:nvSpPr>
        <p:spPr>
          <a:xfrm>
            <a:off x="8176108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Narrativas sobre el conjunto de test</a:t>
            </a:r>
            <a:endParaRPr lang="en-US" sz="900" dirty="0"/>
          </a:p>
        </p:txBody>
      </p:sp>
      <p:pic>
        <p:nvPicPr>
          <p:cNvPr id="39" name="Image 9" descr="icon_arrow_t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671152" y="3122676"/>
            <a:ext cx="201168" cy="201168"/>
          </a:xfrm>
          <a:prstGeom prst="rect">
            <a:avLst/>
          </a:prstGeom>
        </p:spPr>
      </p:pic>
      <p:sp>
        <p:nvSpPr>
          <p:cNvPr id="40" name="Shape 28"/>
          <p:cNvSpPr/>
          <p:nvPr/>
        </p:nvSpPr>
        <p:spPr>
          <a:xfrm>
            <a:off x="9895180" y="2148840"/>
            <a:ext cx="1591056" cy="2148840"/>
          </a:xfrm>
          <a:prstGeom prst="rect">
            <a:avLst/>
          </a:prstGeom>
          <a:solidFill>
            <a:srgbClr val="1E2A4A"/>
          </a:solidFill>
          <a:ln w="12700">
            <a:solidFill>
              <a:srgbClr val="1E2A4A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41" name="Shape 29"/>
          <p:cNvSpPr/>
          <p:nvPr/>
        </p:nvSpPr>
        <p:spPr>
          <a:xfrm>
            <a:off x="10361524" y="2386584"/>
            <a:ext cx="658368" cy="65836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42" name="Image 10" descr="icon_search_w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498684" y="2523744"/>
            <a:ext cx="384048" cy="384048"/>
          </a:xfrm>
          <a:prstGeom prst="rect">
            <a:avLst/>
          </a:prstGeom>
        </p:spPr>
      </p:pic>
      <p:sp>
        <p:nvSpPr>
          <p:cNvPr id="43" name="Text 30"/>
          <p:cNvSpPr/>
          <p:nvPr/>
        </p:nvSpPr>
        <p:spPr>
          <a:xfrm>
            <a:off x="9895180" y="3118104"/>
            <a:ext cx="159105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150" kern="0" dirty="0">
                <a:solidFill>
                  <a:srgbClr val="C89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PASO 6</a:t>
            </a:r>
            <a:endParaRPr lang="en-US" sz="850" dirty="0"/>
          </a:p>
        </p:txBody>
      </p:sp>
      <p:sp>
        <p:nvSpPr>
          <p:cNvPr id="44" name="Text 31"/>
          <p:cNvSpPr/>
          <p:nvPr/>
        </p:nvSpPr>
        <p:spPr>
          <a:xfrm>
            <a:off x="9986620" y="3337560"/>
            <a:ext cx="1408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</a:t>
            </a:r>
            <a:endParaRPr lang="en-US" sz="1300" dirty="0"/>
          </a:p>
        </p:txBody>
      </p:sp>
      <p:sp>
        <p:nvSpPr>
          <p:cNvPr id="45" name="Text 32"/>
          <p:cNvSpPr/>
          <p:nvPr/>
        </p:nvSpPr>
        <p:spPr>
          <a:xfrm>
            <a:off x="10014052" y="3685032"/>
            <a:ext cx="1353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Textual · semántica · financiera</a:t>
            </a:r>
            <a:endParaRPr lang="en-US" sz="900" dirty="0"/>
          </a:p>
        </p:txBody>
      </p:sp>
      <p:sp>
        <p:nvSpPr>
          <p:cNvPr id="46" name="Shape 33"/>
          <p:cNvSpPr/>
          <p:nvPr/>
        </p:nvSpPr>
        <p:spPr>
          <a:xfrm>
            <a:off x="640080" y="4892040"/>
            <a:ext cx="10908792" cy="77724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pic>
        <p:nvPicPr>
          <p:cNvPr id="47" name="Image 11" descr="icon_shiel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96112" y="5120640"/>
            <a:ext cx="329184" cy="329184"/>
          </a:xfrm>
          <a:prstGeom prst="rect">
            <a:avLst/>
          </a:prstGeom>
        </p:spPr>
      </p:pic>
      <p:sp>
        <p:nvSpPr>
          <p:cNvPr id="48" name="Text 34"/>
          <p:cNvSpPr/>
          <p:nvPr/>
        </p:nvSpPr>
        <p:spPr>
          <a:xfrm>
            <a:off x="1389888" y="4892040"/>
            <a:ext cx="9966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 temporal: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contexto del día t nunca incluye información futura; el target es la narrativa del día t+1. La misma evaluación se aplica a todos los runs para que sean comparables.</a:t>
            </a:r>
            <a:endParaRPr lang="en-US" sz="1100" dirty="0"/>
          </a:p>
        </p:txBody>
      </p:sp>
      <p:sp>
        <p:nvSpPr>
          <p:cNvPr id="49" name="Text 3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FORMULACIÓN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Formato prompt / target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tarea se formula como prompt → completion: una tarea generativa supervisada.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5989320" cy="3657600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011680"/>
            <a:ext cx="5989320" cy="384048"/>
          </a:xfrm>
          <a:prstGeom prst="rect">
            <a:avLst/>
          </a:prstGeom>
          <a:solidFill>
            <a:srgbClr val="1822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841248" y="2139696"/>
            <a:ext cx="128016" cy="128016"/>
          </a:xfrm>
          <a:prstGeom prst="ellipse">
            <a:avLst/>
          </a:prstGeom>
          <a:solidFill>
            <a:srgbClr val="B0413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078992" y="2139696"/>
            <a:ext cx="128016" cy="128016"/>
          </a:xfrm>
          <a:prstGeom prst="ellipse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316736" y="2139696"/>
            <a:ext cx="128016" cy="128016"/>
          </a:xfrm>
          <a:prstGeom prst="ellipse">
            <a:avLst/>
          </a:prstGeom>
          <a:solidFill>
            <a:srgbClr val="3F7D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737360" y="2011680"/>
            <a:ext cx="4709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FA6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prompt  ·  ejemplo abreviado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932688" y="2578608"/>
            <a:ext cx="544068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FB8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[TICKER: AMD]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6FB8C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[DATE: 2023-04-18]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D8A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[PRICE_CHANGE: -0.10%]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D8A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[VOLUME_RATIO: 0.80]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D8A2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[RSI: 36.50]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9FB0C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[PREVIOUS NEWS]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E6ECF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- ...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82C49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[NEXT DAY NEWS]   &lt;-- target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6931152" y="2011680"/>
            <a:ext cx="462046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931152" y="2011680"/>
            <a:ext cx="64008" cy="91440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5" name="Image 0" descr="icon_arrow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0" y="2194560"/>
            <a:ext cx="292608" cy="292608"/>
          </a:xfrm>
          <a:prstGeom prst="rect">
            <a:avLst/>
          </a:prstGeom>
        </p:spPr>
      </p:pic>
      <p:sp>
        <p:nvSpPr>
          <p:cNvPr id="16" name="Text 13"/>
          <p:cNvSpPr/>
          <p:nvPr/>
        </p:nvSpPr>
        <p:spPr>
          <a:xfrm>
            <a:off x="7534656" y="2157984"/>
            <a:ext cx="3843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(contexto hasta el día t)</a:t>
            </a:r>
            <a:endParaRPr lang="en-US" sz="1250" dirty="0"/>
          </a:p>
        </p:txBody>
      </p:sp>
      <p:sp>
        <p:nvSpPr>
          <p:cNvPr id="17" name="Text 14"/>
          <p:cNvSpPr/>
          <p:nvPr/>
        </p:nvSpPr>
        <p:spPr>
          <a:xfrm>
            <a:off x="7150608" y="2514600"/>
            <a:ext cx="4199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Ticker, fecha, features numéricas de mercado y noticias previas disponibles.</a:t>
            </a:r>
            <a:endParaRPr lang="en-US" sz="1030" dirty="0"/>
          </a:p>
        </p:txBody>
      </p:sp>
      <p:sp>
        <p:nvSpPr>
          <p:cNvPr id="18" name="Shape 15"/>
          <p:cNvSpPr/>
          <p:nvPr/>
        </p:nvSpPr>
        <p:spPr>
          <a:xfrm>
            <a:off x="6931152" y="3108960"/>
            <a:ext cx="4620463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931152" y="3108960"/>
            <a:ext cx="64008" cy="91440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0" name="Image 1" descr="icon_targ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3291840"/>
            <a:ext cx="292608" cy="292608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7534656" y="3255264"/>
            <a:ext cx="3843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(día t+1)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7150608" y="3611880"/>
            <a:ext cx="4199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narrativa u outlook del día siguiente que el modelo debe generar.</a:t>
            </a:r>
            <a:endParaRPr lang="en-US" sz="1030" dirty="0"/>
          </a:p>
        </p:txBody>
      </p:sp>
      <p:sp>
        <p:nvSpPr>
          <p:cNvPr id="23" name="Shape 19"/>
          <p:cNvSpPr/>
          <p:nvPr/>
        </p:nvSpPr>
        <p:spPr>
          <a:xfrm>
            <a:off x="6931152" y="4206240"/>
            <a:ext cx="4620463" cy="11887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6931152" y="4206240"/>
            <a:ext cx="64008" cy="118872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5" name="Image 2" descr="icon_slider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0" y="4389120"/>
            <a:ext cx="292608" cy="292608"/>
          </a:xfrm>
          <a:prstGeom prst="rect">
            <a:avLst/>
          </a:prstGeom>
        </p:spPr>
      </p:pic>
      <p:sp>
        <p:nvSpPr>
          <p:cNvPr id="26" name="Text 21"/>
          <p:cNvSpPr/>
          <p:nvPr/>
        </p:nvSpPr>
        <p:spPr>
          <a:xfrm>
            <a:off x="7534656" y="4352544"/>
            <a:ext cx="384322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Variantes de target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7150608" y="4709160"/>
            <a:ext cx="4199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0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Algunos runs usan texto libre; otros añaden estructura explícita de sentimiento y dirección, para comparar si estructurar ayuda.</a:t>
            </a:r>
            <a:endParaRPr lang="en-US" sz="1030" dirty="0"/>
          </a:p>
        </p:txBody>
      </p:sp>
      <p:sp>
        <p:nvSpPr>
          <p:cNvPr id="28" name="Text 23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METODOLOGÍA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Evaluación multicapa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81328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generación no alcanza una sola métrica. Evaluamos en cuatro capas complementarias.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03120"/>
            <a:ext cx="2651760" cy="274320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2103120"/>
            <a:ext cx="2651760" cy="45720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1  ·  TEXTUAL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64208" y="274320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</p:spPr>
      </p:sp>
      <p:pic>
        <p:nvPicPr>
          <p:cNvPr id="10" name="Image 0" descr="icon_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92224" y="2871216"/>
            <a:ext cx="347472" cy="347472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758952" y="3456432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822960" y="3931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Solapamiento secuencial con la noticia real. Coincidencia más literal.</a:t>
            </a:r>
            <a:endParaRPr lang="en-US" sz="980" dirty="0"/>
          </a:p>
        </p:txBody>
      </p:sp>
      <p:sp>
        <p:nvSpPr>
          <p:cNvPr id="13" name="Shape 10"/>
          <p:cNvSpPr/>
          <p:nvPr/>
        </p:nvSpPr>
        <p:spPr>
          <a:xfrm>
            <a:off x="3483864" y="2103120"/>
            <a:ext cx="2651760" cy="274320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483864" y="2103120"/>
            <a:ext cx="2651760" cy="45720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75304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2  ·  SEMÁNTICA</a:t>
            </a:r>
            <a:endParaRPr lang="en-US" sz="950" dirty="0"/>
          </a:p>
        </p:txBody>
      </p:sp>
      <p:sp>
        <p:nvSpPr>
          <p:cNvPr id="16" name="Shape 13"/>
          <p:cNvSpPr/>
          <p:nvPr/>
        </p:nvSpPr>
        <p:spPr>
          <a:xfrm>
            <a:off x="4507992" y="274320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</p:spPr>
      </p:sp>
      <p:pic>
        <p:nvPicPr>
          <p:cNvPr id="17" name="Image 1" descr="icon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6008" y="2871216"/>
            <a:ext cx="347472" cy="347472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3602736" y="3456432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BERTScore · FinBERT</a:t>
            </a:r>
            <a:endParaRPr lang="en-US" sz="1250" dirty="0"/>
          </a:p>
        </p:txBody>
      </p:sp>
      <p:sp>
        <p:nvSpPr>
          <p:cNvPr id="19" name="Text 15"/>
          <p:cNvSpPr/>
          <p:nvPr/>
        </p:nvSpPr>
        <p:spPr>
          <a:xfrm>
            <a:off x="3666744" y="3931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Cercanía semántica con embeddings y match de sentimiento financiero.</a:t>
            </a:r>
            <a:endParaRPr lang="en-US" sz="980" dirty="0"/>
          </a:p>
        </p:txBody>
      </p:sp>
      <p:sp>
        <p:nvSpPr>
          <p:cNvPr id="20" name="Shape 16"/>
          <p:cNvSpPr/>
          <p:nvPr/>
        </p:nvSpPr>
        <p:spPr>
          <a:xfrm>
            <a:off x="6327648" y="2103120"/>
            <a:ext cx="2651760" cy="274320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327648" y="2103120"/>
            <a:ext cx="2651760" cy="457200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6419088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3  ·  FINANCIERA</a:t>
            </a:r>
            <a:endParaRPr lang="en-US" sz="950" dirty="0"/>
          </a:p>
        </p:txBody>
      </p:sp>
      <p:sp>
        <p:nvSpPr>
          <p:cNvPr id="23" name="Shape 19"/>
          <p:cNvSpPr/>
          <p:nvPr/>
        </p:nvSpPr>
        <p:spPr>
          <a:xfrm>
            <a:off x="7351776" y="274320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</p:spPr>
      </p:sp>
      <p:pic>
        <p:nvPicPr>
          <p:cNvPr id="24" name="Image 2" descr="icon_char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79792" y="2871216"/>
            <a:ext cx="347472" cy="347472"/>
          </a:xfrm>
          <a:prstGeom prst="rect">
            <a:avLst/>
          </a:prstGeom>
        </p:spPr>
      </p:pic>
      <p:sp>
        <p:nvSpPr>
          <p:cNvPr id="25" name="Text 20"/>
          <p:cNvSpPr/>
          <p:nvPr/>
        </p:nvSpPr>
        <p:spPr>
          <a:xfrm>
            <a:off x="6446520" y="3456432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accuracy + coverage</a:t>
            </a:r>
            <a:endParaRPr lang="en-US" sz="1250" dirty="0"/>
          </a:p>
        </p:txBody>
      </p:sp>
      <p:sp>
        <p:nvSpPr>
          <p:cNvPr id="26" name="Text 21"/>
          <p:cNvSpPr/>
          <p:nvPr/>
        </p:nvSpPr>
        <p:spPr>
          <a:xfrm>
            <a:off x="6510528" y="3931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Convierte la salida en una señal direccional y la compara con el activo.</a:t>
            </a:r>
            <a:endParaRPr lang="en-US" sz="980" dirty="0"/>
          </a:p>
        </p:txBody>
      </p:sp>
      <p:sp>
        <p:nvSpPr>
          <p:cNvPr id="27" name="Shape 22"/>
          <p:cNvSpPr/>
          <p:nvPr/>
        </p:nvSpPr>
        <p:spPr>
          <a:xfrm>
            <a:off x="9171432" y="2103120"/>
            <a:ext cx="2651760" cy="274320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9171432" y="2103120"/>
            <a:ext cx="2651760" cy="457200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9262872" y="210312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 4  ·  ESTADÍSTICA</a:t>
            </a:r>
            <a:endParaRPr lang="en-US" sz="950" dirty="0"/>
          </a:p>
        </p:txBody>
      </p:sp>
      <p:sp>
        <p:nvSpPr>
          <p:cNvPr id="30" name="Shape 25"/>
          <p:cNvSpPr/>
          <p:nvPr/>
        </p:nvSpPr>
        <p:spPr>
          <a:xfrm>
            <a:off x="10195560" y="2743200"/>
            <a:ext cx="603504" cy="603504"/>
          </a:xfrm>
          <a:prstGeom prst="ellipse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</p:spPr>
      </p:sp>
      <p:pic>
        <p:nvPicPr>
          <p:cNvPr id="31" name="Image 3" descr="icon_shie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323576" y="2871216"/>
            <a:ext cx="347472" cy="347472"/>
          </a:xfrm>
          <a:prstGeom prst="rect">
            <a:avLst/>
          </a:prstGeom>
        </p:spPr>
      </p:pic>
      <p:sp>
        <p:nvSpPr>
          <p:cNvPr id="32" name="Text 26"/>
          <p:cNvSpPr/>
          <p:nvPr/>
        </p:nvSpPr>
        <p:spPr>
          <a:xfrm>
            <a:off x="9290304" y="3456432"/>
            <a:ext cx="24140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binomial (p-value)</a:t>
            </a:r>
            <a:endParaRPr lang="en-US" sz="1250" dirty="0"/>
          </a:p>
        </p:txBody>
      </p:sp>
      <p:sp>
        <p:nvSpPr>
          <p:cNvPr id="33" name="Text 27"/>
          <p:cNvSpPr/>
          <p:nvPr/>
        </p:nvSpPr>
        <p:spPr>
          <a:xfrm>
            <a:off x="9354312" y="39319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 si la señal supera el azar con evidencia suficiente.</a:t>
            </a:r>
            <a:endParaRPr lang="en-US" sz="980" dirty="0"/>
          </a:p>
        </p:txBody>
      </p:sp>
      <p:sp>
        <p:nvSpPr>
          <p:cNvPr id="34" name="Shape 28"/>
          <p:cNvSpPr/>
          <p:nvPr/>
        </p:nvSpPr>
        <p:spPr>
          <a:xfrm>
            <a:off x="640080" y="5029200"/>
            <a:ext cx="10908792" cy="713232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35" name="Image 4" descr="icon_warn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5212080"/>
            <a:ext cx="329184" cy="329184"/>
          </a:xfrm>
          <a:prstGeom prst="rect">
            <a:avLst/>
          </a:prstGeom>
        </p:spPr>
      </p:pic>
      <p:sp>
        <p:nvSpPr>
          <p:cNvPr id="36" name="Text 29"/>
          <p:cNvSpPr/>
          <p:nvPr/>
        </p:nvSpPr>
        <p:spPr>
          <a:xfrm>
            <a:off x="1389888" y="5029200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89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 de lectura: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directional accuracy nunca se reporta sola. Siempre acompañada de coverage (cuántas veces se emite señal) y p-value (si supera el azar).</a:t>
            </a:r>
            <a:endParaRPr lang="en-US" sz="1100" dirty="0"/>
          </a:p>
        </p:txBody>
      </p:sp>
      <p:sp>
        <p:nvSpPr>
          <p:cNvPr id="37" name="Text 30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Comparación de runs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todos los runs responden la misma pregunta: cada uno cumple un rol distinto.</a:t>
            </a:r>
            <a:endParaRPr lang="en-US" sz="1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874520"/>
          <a:ext cx="10908792" cy="914400"/>
        </p:xfrm>
        <a:graphic>
          <a:graphicData uri="http://schemas.openxmlformats.org/drawingml/2006/table">
            <a:tbl>
              <a:tblPr/>
              <a:tblGrid>
                <a:gridCol w="2148840"/>
                <a:gridCol w="1874520"/>
                <a:gridCol w="1207008"/>
                <a:gridCol w="1161288"/>
                <a:gridCol w="1078992"/>
                <a:gridCol w="1298448"/>
                <a:gridCol w="950976"/>
                <a:gridCol w="11887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ROUGE-L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BERT F1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Sent.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Dir. acc.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Cov.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 vs 0.5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A4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SPY/QQQ baseline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Primer pipeline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0.386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0.528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0.557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89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GPT-2 no fine-tune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Baseline de modelo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0.040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0.549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NVDA single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BERTScore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0.462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2A7F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NVDA + AMD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3EFF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equilibrio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0.074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0.530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0.579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b="1" dirty="0">
                          <a:solidFill>
                            <a:srgbClr val="C8923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NVDA direction feat.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EEDD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i="1" dirty="0">
                          <a:solidFill>
                            <a:srgbClr val="66708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Mejor dir. acc.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0.063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0.734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0.346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0.556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3304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6DE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640080" y="4434840"/>
            <a:ext cx="3456432" cy="146304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40080" y="4434840"/>
            <a:ext cx="64008" cy="1463040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9" name="Image 0" descr="icon_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4599432"/>
            <a:ext cx="274320" cy="27432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8872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sin fine-tuning</a:t>
            </a:r>
            <a:endParaRPr lang="en-US" sz="1150" dirty="0"/>
          </a:p>
        </p:txBody>
      </p:sp>
      <p:sp>
        <p:nvSpPr>
          <p:cNvPr id="11" name="Text 7"/>
          <p:cNvSpPr/>
          <p:nvPr/>
        </p:nvSpPr>
        <p:spPr>
          <a:xfrm>
            <a:off x="841248" y="491032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 y sentiment bajos, pero dir. acc. alta: una alerta sobre la métrica financiera.</a:t>
            </a:r>
            <a:endParaRPr lang="en-US" sz="970" dirty="0"/>
          </a:p>
        </p:txBody>
      </p:sp>
      <p:sp>
        <p:nvSpPr>
          <p:cNvPr id="12" name="Shape 8"/>
          <p:cNvSpPr/>
          <p:nvPr/>
        </p:nvSpPr>
        <p:spPr>
          <a:xfrm>
            <a:off x="4343400" y="4434840"/>
            <a:ext cx="3456432" cy="146304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343400" y="4434840"/>
            <a:ext cx="64008" cy="1463040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4" name="Image 1" descr="icon_balanc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6280" y="4599432"/>
            <a:ext cx="274320" cy="274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89204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+ AMD</a:t>
            </a:r>
            <a:endParaRPr lang="en-US" sz="1150" dirty="0"/>
          </a:p>
        </p:txBody>
      </p:sp>
      <p:sp>
        <p:nvSpPr>
          <p:cNvPr id="16" name="Text 11"/>
          <p:cNvSpPr/>
          <p:nvPr/>
        </p:nvSpPr>
        <p:spPr>
          <a:xfrm>
            <a:off x="4544568" y="491032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run más equilibrado en calidad textual y semántica. Defendible como modelo general.</a:t>
            </a:r>
            <a:endParaRPr lang="en-US" sz="970" dirty="0"/>
          </a:p>
        </p:txBody>
      </p:sp>
      <p:sp>
        <p:nvSpPr>
          <p:cNvPr id="17" name="Shape 12"/>
          <p:cNvSpPr/>
          <p:nvPr/>
        </p:nvSpPr>
        <p:spPr>
          <a:xfrm>
            <a:off x="8046720" y="4434840"/>
            <a:ext cx="3456432" cy="1463040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8046720" y="4434840"/>
            <a:ext cx="64008" cy="1463040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2" descr="icon_ta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0" y="4599432"/>
            <a:ext cx="274320" cy="274320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8595360" y="4553712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direction features</a:t>
            </a:r>
            <a:endParaRPr lang="en-US" sz="1150" dirty="0"/>
          </a:p>
        </p:txBody>
      </p:sp>
      <p:sp>
        <p:nvSpPr>
          <p:cNvPr id="21" name="Text 15"/>
          <p:cNvSpPr/>
          <p:nvPr/>
        </p:nvSpPr>
        <p:spPr>
          <a:xfrm>
            <a:off x="8247888" y="4910328"/>
            <a:ext cx="30723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mejor directional accuracy (0.556), pero sin significancia estadística fuerte.</a:t>
            </a:r>
            <a:endParaRPr lang="en-US" sz="970" dirty="0"/>
          </a:p>
        </p:txBody>
      </p:sp>
      <p:sp>
        <p:nvSpPr>
          <p:cNvPr id="22" name="Text 1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Las métricas no se mueven juntas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481328"/>
            <a:ext cx="6665976" cy="393860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6" name="Image 0" descr="model_comparis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808" y="1591056"/>
            <a:ext cx="6446520" cy="371914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5474794"/>
            <a:ext cx="66659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Comparación de runs en las cuatro métricas principales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589520" y="1463040"/>
            <a:ext cx="3962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Tres lecturas clave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7589520" y="1920240"/>
            <a:ext cx="3962095" cy="1078992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7589520" y="1920240"/>
            <a:ext cx="64008" cy="1078992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90688" y="2011680"/>
            <a:ext cx="2179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no fine-tune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9832543" y="1993392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C89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0.040 / 0.273</a:t>
            </a:r>
            <a:endParaRPr lang="en-US" sz="1450" dirty="0"/>
          </a:p>
        </p:txBody>
      </p:sp>
      <p:sp>
        <p:nvSpPr>
          <p:cNvPr id="13" name="Text 10"/>
          <p:cNvSpPr/>
          <p:nvPr/>
        </p:nvSpPr>
        <p:spPr>
          <a:xfrm>
            <a:off x="7790688" y="2340864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ROUGE-L y sentiment match bajos…</a:t>
            </a:r>
            <a:endParaRPr lang="en-US" sz="930" dirty="0"/>
          </a:p>
        </p:txBody>
      </p:sp>
      <p:sp>
        <p:nvSpPr>
          <p:cNvPr id="14" name="Text 11"/>
          <p:cNvSpPr/>
          <p:nvPr/>
        </p:nvSpPr>
        <p:spPr>
          <a:xfrm>
            <a:off x="7790688" y="2596896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…pero dir. acc. 0.549</a:t>
            </a:r>
            <a:endParaRPr lang="en-US" sz="930" dirty="0"/>
          </a:p>
        </p:txBody>
      </p:sp>
      <p:sp>
        <p:nvSpPr>
          <p:cNvPr id="15" name="Shape 12"/>
          <p:cNvSpPr/>
          <p:nvPr/>
        </p:nvSpPr>
        <p:spPr>
          <a:xfrm>
            <a:off x="7589520" y="3145536"/>
            <a:ext cx="3962095" cy="1078992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7589520" y="3145536"/>
            <a:ext cx="64008" cy="1078992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7790688" y="3236976"/>
            <a:ext cx="2179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+ AMD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9832543" y="3218688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2A7F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0.074 / 0.442</a:t>
            </a:r>
            <a:endParaRPr lang="en-US" sz="1450" dirty="0"/>
          </a:p>
        </p:txBody>
      </p:sp>
      <p:sp>
        <p:nvSpPr>
          <p:cNvPr id="19" name="Text 16"/>
          <p:cNvSpPr/>
          <p:nvPr/>
        </p:nvSpPr>
        <p:spPr>
          <a:xfrm>
            <a:off x="7790688" y="3566160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Mejor ROUGE-L y sentiment match</a:t>
            </a:r>
            <a:endParaRPr lang="en-US" sz="930" dirty="0"/>
          </a:p>
        </p:txBody>
      </p:sp>
      <p:sp>
        <p:nvSpPr>
          <p:cNvPr id="20" name="Text 17"/>
          <p:cNvSpPr/>
          <p:nvPr/>
        </p:nvSpPr>
        <p:spPr>
          <a:xfrm>
            <a:off x="7790688" y="3822192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acc. 0.530</a:t>
            </a:r>
            <a:endParaRPr lang="en-US" sz="930" dirty="0"/>
          </a:p>
        </p:txBody>
      </p:sp>
      <p:sp>
        <p:nvSpPr>
          <p:cNvPr id="21" name="Shape 18"/>
          <p:cNvSpPr/>
          <p:nvPr/>
        </p:nvSpPr>
        <p:spPr>
          <a:xfrm>
            <a:off x="7589520" y="4370832"/>
            <a:ext cx="3962095" cy="1078992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7589520" y="4370832"/>
            <a:ext cx="64008" cy="1078992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7790688" y="4462272"/>
            <a:ext cx="217901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direction feat.</a:t>
            </a:r>
            <a:endParaRPr lang="en-US" sz="1050" dirty="0"/>
          </a:p>
        </p:txBody>
      </p:sp>
      <p:sp>
        <p:nvSpPr>
          <p:cNvPr id="24" name="Text 21"/>
          <p:cNvSpPr/>
          <p:nvPr/>
        </p:nvSpPr>
        <p:spPr>
          <a:xfrm>
            <a:off x="9832543" y="4443984"/>
            <a:ext cx="16093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50" b="1" dirty="0">
                <a:solidFill>
                  <a:srgbClr val="C8923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0.556</a:t>
            </a:r>
            <a:endParaRPr lang="en-US" sz="1450" dirty="0"/>
          </a:p>
        </p:txBody>
      </p:sp>
      <p:sp>
        <p:nvSpPr>
          <p:cNvPr id="25" name="Text 22"/>
          <p:cNvSpPr/>
          <p:nvPr/>
        </p:nvSpPr>
        <p:spPr>
          <a:xfrm>
            <a:off x="7790688" y="4791456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mejor directional accuracy</a:t>
            </a:r>
            <a:endParaRPr lang="en-US" sz="930" dirty="0"/>
          </a:p>
        </p:txBody>
      </p:sp>
      <p:sp>
        <p:nvSpPr>
          <p:cNvPr id="26" name="Text 23"/>
          <p:cNvSpPr/>
          <p:nvPr/>
        </p:nvSpPr>
        <p:spPr>
          <a:xfrm>
            <a:off x="7790688" y="5047488"/>
            <a:ext cx="357804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3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 ≈ 0.225 · sin significancia</a:t>
            </a:r>
            <a:endParaRPr lang="en-US" sz="930" dirty="0"/>
          </a:p>
        </p:txBody>
      </p:sp>
      <p:sp>
        <p:nvSpPr>
          <p:cNvPr id="27" name="Shape 24"/>
          <p:cNvSpPr/>
          <p:nvPr/>
        </p:nvSpPr>
        <p:spPr>
          <a:xfrm>
            <a:off x="7589520" y="5632704"/>
            <a:ext cx="3962095" cy="960120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790688" y="5632704"/>
            <a:ext cx="3559759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98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fine-tuning mejora la adaptación al dominio, pero una dir. acc. alta puede reflejar sesgos del test o de la regla de etiquetado, no comprensión financiera.</a:t>
            </a:r>
            <a:endParaRPr lang="en-US" sz="980" dirty="0"/>
          </a:p>
        </p:txBody>
      </p:sp>
      <p:sp>
        <p:nvSpPr>
          <p:cNvPr id="29" name="Text 26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Entrenamiento y perplexity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09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curvas confirman fine-tuning real; la perplexity = exp(eval loss) mide el lenguaje, no la utilidad financiera.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5394960" cy="2770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7" name="Image 0" descr="training_loss_curv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13232" y="1947672"/>
            <a:ext cx="5248656" cy="262432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640080" y="466344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</a:t>
            </a:r>
            <a:endParaRPr lang="en-US" sz="850" dirty="0"/>
          </a:p>
        </p:txBody>
      </p:sp>
      <p:sp>
        <p:nvSpPr>
          <p:cNvPr id="9" name="Shape 6"/>
          <p:cNvSpPr/>
          <p:nvPr/>
        </p:nvSpPr>
        <p:spPr>
          <a:xfrm>
            <a:off x="6300216" y="1874520"/>
            <a:ext cx="5394960" cy="2770632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10" name="Image 1" descr="eval_loss_curve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3368" y="1947672"/>
            <a:ext cx="5248656" cy="262432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300216" y="4663440"/>
            <a:ext cx="5394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loss</a:t>
            </a:r>
            <a:endParaRPr lang="en-US" sz="850" dirty="0"/>
          </a:p>
        </p:txBody>
      </p:sp>
      <p:sp>
        <p:nvSpPr>
          <p:cNvPr id="12" name="Text 8"/>
          <p:cNvSpPr/>
          <p:nvPr/>
        </p:nvSpPr>
        <p:spPr>
          <a:xfrm>
            <a:off x="640080" y="491947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 por run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640080" y="5212080"/>
            <a:ext cx="1490472" cy="841248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40080" y="5212080"/>
            <a:ext cx="1490472" cy="54864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40080" y="5285232"/>
            <a:ext cx="1490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F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14.7</a:t>
            </a:r>
            <a:endParaRPr lang="en-US" sz="1900" dirty="0"/>
          </a:p>
        </p:txBody>
      </p:sp>
      <p:sp>
        <p:nvSpPr>
          <p:cNvPr id="16" name="Text 12"/>
          <p:cNvSpPr/>
          <p:nvPr/>
        </p:nvSpPr>
        <p:spPr>
          <a:xfrm>
            <a:off x="640080" y="57241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SPY/QQQ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240280" y="5212080"/>
            <a:ext cx="1490472" cy="841248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2240280" y="5212080"/>
            <a:ext cx="1490472" cy="54864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240280" y="5285232"/>
            <a:ext cx="1490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F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29.6</a:t>
            </a:r>
            <a:endParaRPr lang="en-US" sz="1900" dirty="0"/>
          </a:p>
        </p:txBody>
      </p:sp>
      <p:sp>
        <p:nvSpPr>
          <p:cNvPr id="20" name="Text 16"/>
          <p:cNvSpPr/>
          <p:nvPr/>
        </p:nvSpPr>
        <p:spPr>
          <a:xfrm>
            <a:off x="2240280" y="57241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 single</a:t>
            </a:r>
            <a:endParaRPr lang="en-US" sz="850" dirty="0"/>
          </a:p>
        </p:txBody>
      </p:sp>
      <p:sp>
        <p:nvSpPr>
          <p:cNvPr id="21" name="Shape 17"/>
          <p:cNvSpPr/>
          <p:nvPr/>
        </p:nvSpPr>
        <p:spPr>
          <a:xfrm>
            <a:off x="3840480" y="5212080"/>
            <a:ext cx="1490472" cy="841248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3840480" y="5212080"/>
            <a:ext cx="1490472" cy="54864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3840480" y="5285232"/>
            <a:ext cx="1490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F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19.3</a:t>
            </a:r>
            <a:endParaRPr lang="en-US" sz="1900" dirty="0"/>
          </a:p>
        </p:txBody>
      </p:sp>
      <p:sp>
        <p:nvSpPr>
          <p:cNvPr id="24" name="Text 20"/>
          <p:cNvSpPr/>
          <p:nvPr/>
        </p:nvSpPr>
        <p:spPr>
          <a:xfrm>
            <a:off x="3840480" y="57241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NVDA+AMD</a:t>
            </a:r>
            <a:endParaRPr lang="en-US" sz="850" dirty="0"/>
          </a:p>
        </p:txBody>
      </p:sp>
      <p:sp>
        <p:nvSpPr>
          <p:cNvPr id="25" name="Shape 21"/>
          <p:cNvSpPr/>
          <p:nvPr/>
        </p:nvSpPr>
        <p:spPr>
          <a:xfrm>
            <a:off x="5440680" y="5212080"/>
            <a:ext cx="1490472" cy="841248"/>
          </a:xfrm>
          <a:prstGeom prst="rect">
            <a:avLst/>
          </a:prstGeom>
          <a:solidFill>
            <a:srgbClr val="EAF1F4"/>
          </a:solidFill>
          <a:ln w="12700">
            <a:solidFill>
              <a:srgbClr val="D6DEE4"/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5440680" y="5212080"/>
            <a:ext cx="1490472" cy="54864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440680" y="5285232"/>
            <a:ext cx="1490472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2A7F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16.5</a:t>
            </a:r>
            <a:endParaRPr lang="en-US" sz="1900" dirty="0"/>
          </a:p>
        </p:txBody>
      </p:sp>
      <p:sp>
        <p:nvSpPr>
          <p:cNvPr id="28" name="Text 24"/>
          <p:cNvSpPr/>
          <p:nvPr/>
        </p:nvSpPr>
        <p:spPr>
          <a:xfrm>
            <a:off x="5440680" y="5724144"/>
            <a:ext cx="1490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feat.</a:t>
            </a:r>
            <a:endParaRPr lang="en-US" sz="850" dirty="0"/>
          </a:p>
        </p:txBody>
      </p:sp>
      <p:sp>
        <p:nvSpPr>
          <p:cNvPr id="29" name="Shape 25"/>
          <p:cNvSpPr/>
          <p:nvPr/>
        </p:nvSpPr>
        <p:spPr>
          <a:xfrm>
            <a:off x="7315200" y="4919472"/>
            <a:ext cx="4236415" cy="1627632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30" name="Image 2" descr="icon_war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34656" y="5102352"/>
            <a:ext cx="292608" cy="292608"/>
          </a:xfrm>
          <a:prstGeom prst="rect">
            <a:avLst/>
          </a:prstGeom>
        </p:spPr>
      </p:pic>
      <p:sp>
        <p:nvSpPr>
          <p:cNvPr id="31" name="Text 26"/>
          <p:cNvSpPr/>
          <p:nvPr/>
        </p:nvSpPr>
        <p:spPr>
          <a:xfrm>
            <a:off x="7918704" y="5084064"/>
            <a:ext cx="345917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89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Hallazgo clave</a:t>
            </a:r>
            <a:endParaRPr lang="en-US" sz="1200" dirty="0"/>
          </a:p>
        </p:txBody>
      </p:sp>
      <p:sp>
        <p:nvSpPr>
          <p:cNvPr id="32" name="Text 27"/>
          <p:cNvSpPr/>
          <p:nvPr/>
        </p:nvSpPr>
        <p:spPr>
          <a:xfrm>
            <a:off x="7552944" y="5431536"/>
            <a:ext cx="37792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run con mejor perplexity no es el mejor en directional accuracy. Optimizar la pérdida de lenguaje no garantiza una señal financiera útil: modelar texto y producir una señal son objetivos distintos.</a:t>
            </a:r>
            <a:endParaRPr lang="en-US" sz="1000" dirty="0"/>
          </a:p>
        </p:txBody>
      </p:sp>
      <p:sp>
        <p:nvSpPr>
          <p:cNvPr id="33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Matrices de confusión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Sentimiento real vs. generado (FinBERT) y señal direccional vs. dirección real del activo.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874520"/>
            <a:ext cx="34564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804672" y="1993392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· GPT-2 base</a:t>
            </a:r>
            <a:endParaRPr lang="en-US" sz="1100" dirty="0"/>
          </a:p>
        </p:txBody>
      </p:sp>
      <p:pic>
        <p:nvPicPr>
          <p:cNvPr id="8" name="Image 0" descr="semantic_baseline_gpt2_no_finetun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9690" y="2350008"/>
            <a:ext cx="2637213" cy="2148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04672" y="4553712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de sentimiento bajo: dispersión fuera de la diagonal.</a:t>
            </a:r>
            <a:endParaRPr lang="en-US" sz="870" dirty="0"/>
          </a:p>
        </p:txBody>
      </p:sp>
      <p:sp>
        <p:nvSpPr>
          <p:cNvPr id="10" name="Shape 7"/>
          <p:cNvSpPr/>
          <p:nvPr/>
        </p:nvSpPr>
        <p:spPr>
          <a:xfrm>
            <a:off x="4343400" y="1874520"/>
            <a:ext cx="34564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4507992" y="1993392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Semántica · NVDA + AMD</a:t>
            </a:r>
            <a:endParaRPr lang="en-US" sz="1100" dirty="0"/>
          </a:p>
        </p:txBody>
      </p:sp>
      <p:pic>
        <p:nvPicPr>
          <p:cNvPr id="12" name="Image 1" descr="semantic_finetuned_nvda_am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3010" y="2350008"/>
            <a:ext cx="2637213" cy="214884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507992" y="4553712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fine-tuning mejora, pero no supera el baseline neutral.</a:t>
            </a:r>
            <a:endParaRPr lang="en-US" sz="870" dirty="0"/>
          </a:p>
        </p:txBody>
      </p:sp>
      <p:sp>
        <p:nvSpPr>
          <p:cNvPr id="14" name="Shape 10"/>
          <p:cNvSpPr/>
          <p:nvPr/>
        </p:nvSpPr>
        <p:spPr>
          <a:xfrm>
            <a:off x="8046720" y="1874520"/>
            <a:ext cx="3456432" cy="32461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15" name="Text 11"/>
          <p:cNvSpPr/>
          <p:nvPr/>
        </p:nvSpPr>
        <p:spPr>
          <a:xfrm>
            <a:off x="8211312" y="1993392"/>
            <a:ext cx="312724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Financiera · direction features</a:t>
            </a:r>
            <a:endParaRPr lang="en-US" sz="1100" dirty="0"/>
          </a:p>
        </p:txBody>
      </p:sp>
      <p:pic>
        <p:nvPicPr>
          <p:cNvPr id="16" name="Image 2" descr="financial_direction_feature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00516" y="2350008"/>
            <a:ext cx="2148840" cy="21488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211312" y="4553712"/>
            <a:ext cx="31272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7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Dir. acc. 0.556 y coverage total, pero p ≈ 0.225.</a:t>
            </a:r>
            <a:endParaRPr lang="en-US" sz="870" dirty="0"/>
          </a:p>
        </p:txBody>
      </p:sp>
      <p:sp>
        <p:nvSpPr>
          <p:cNvPr id="18" name="Shape 13"/>
          <p:cNvSpPr/>
          <p:nvPr/>
        </p:nvSpPr>
        <p:spPr>
          <a:xfrm>
            <a:off x="640080" y="5285232"/>
            <a:ext cx="10908792" cy="713232"/>
          </a:xfrm>
          <a:prstGeom prst="rect">
            <a:avLst/>
          </a:prstGeom>
          <a:solidFill>
            <a:srgbClr val="1E2A4A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19" name="Image 3" descr="icon_searc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468112"/>
            <a:ext cx="329184" cy="329184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1389888" y="5285232"/>
            <a:ext cx="99669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b="1" dirty="0">
                <a:solidFill>
                  <a:srgbClr val="C892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Lectura:  </a:t>
            </a:r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DCE4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genera lenguaje financiero pero controla mal el tono; y la matriz financiera, aun con coverage total, no aporta evidencia estadística fuerte.</a:t>
            </a:r>
            <a:endParaRPr lang="en-US" sz="1100" dirty="0"/>
          </a:p>
        </p:txBody>
      </p:sp>
      <p:sp>
        <p:nvSpPr>
          <p:cNvPr id="21" name="Text 15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330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Ejemplos cualitativos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D6DEE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881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Mirar ejemplos cambia la lectura: las métricas agregadas necesitan inspección cualitativa.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" y="1920240"/>
            <a:ext cx="533095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640080" y="1920240"/>
            <a:ext cx="5330952" cy="64008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8" name="Image 0" descr="icon_che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1248" y="2121408"/>
            <a:ext cx="292608" cy="29260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225296" y="2084832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fine-tuning mejora la alineación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4553712" y="210312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· 2023-06-21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841248" y="2523744"/>
            <a:ext cx="4928616" cy="329184"/>
          </a:xfrm>
          <a:prstGeom prst="roundRect">
            <a:avLst>
              <a:gd name="adj" fmla="val 16667"/>
            </a:avLst>
          </a:prstGeom>
          <a:solidFill>
            <a:srgbClr val="E3EFF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50976" y="2523744"/>
            <a:ext cx="4782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7F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ROUGE-L: 0.031 → 0.179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841248" y="2962656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BASE</a:t>
            </a:r>
            <a:endParaRPr lang="en-US" sz="850" dirty="0"/>
          </a:p>
        </p:txBody>
      </p:sp>
      <p:sp>
        <p:nvSpPr>
          <p:cNvPr id="14" name="Text 11"/>
          <p:cNvSpPr/>
          <p:nvPr/>
        </p:nvSpPr>
        <p:spPr>
          <a:xfrm>
            <a:off x="841248" y="3182112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Texto genérico, divagante y fuera de dominio; describe CPUs de 2017 sin foco financiero.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841248" y="3913632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/ VARIANTE</a:t>
            </a:r>
            <a:endParaRPr lang="en-US" sz="850" dirty="0"/>
          </a:p>
        </p:txBody>
      </p:sp>
      <p:sp>
        <p:nvSpPr>
          <p:cNvPr id="16" name="Text 13"/>
          <p:cNvSpPr/>
          <p:nvPr/>
        </p:nvSpPr>
        <p:spPr>
          <a:xfrm>
            <a:off x="841248" y="4133088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 formato de titular financiero real: "Earnings Conference Call Transcripts… Micron Technology".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841248" y="4864608"/>
            <a:ext cx="4928616" cy="530352"/>
          </a:xfrm>
          <a:prstGeom prst="rect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9264" y="4864608"/>
            <a:ext cx="4727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entrenamiento sí adapta el modelo al vocabulario y formato del dominio.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6217920" y="1920240"/>
            <a:ext cx="5330952" cy="3611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6DEE4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6217920" y="1920240"/>
            <a:ext cx="5330952" cy="64008"/>
          </a:xfrm>
          <a:prstGeom prst="rect">
            <a:avLst/>
          </a:prstGeom>
          <a:solidFill>
            <a:srgbClr val="C8923B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1" name="Image 1" descr="icon_war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9088" y="2121408"/>
            <a:ext cx="292608" cy="292608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6803136" y="2084832"/>
            <a:ext cx="3502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métrica financiera puede engañar</a:t>
            </a:r>
            <a:endParaRPr lang="en-US" sz="1250" dirty="0"/>
          </a:p>
        </p:txBody>
      </p:sp>
      <p:sp>
        <p:nvSpPr>
          <p:cNvPr id="23" name="Text 19"/>
          <p:cNvSpPr/>
          <p:nvPr/>
        </p:nvSpPr>
        <p:spPr>
          <a:xfrm>
            <a:off x="10131552" y="2103120"/>
            <a:ext cx="1280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AMD · 2023-05-04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19088" y="2523744"/>
            <a:ext cx="4928616" cy="329184"/>
          </a:xfrm>
          <a:prstGeom prst="roundRect">
            <a:avLst>
              <a:gd name="adj" fmla="val 16667"/>
            </a:avLst>
          </a:prstGeom>
          <a:solidFill>
            <a:srgbClr val="F7EED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528816" y="2523744"/>
            <a:ext cx="478231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8923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Dirección correcta: GPT-2 base SÍ</a:t>
            </a:r>
            <a:endParaRPr lang="en-US" sz="950" dirty="0"/>
          </a:p>
        </p:txBody>
      </p:sp>
      <p:sp>
        <p:nvSpPr>
          <p:cNvPr id="26" name="Text 22"/>
          <p:cNvSpPr/>
          <p:nvPr/>
        </p:nvSpPr>
        <p:spPr>
          <a:xfrm>
            <a:off x="6419088" y="2962656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BASE</a:t>
            </a:r>
            <a:endParaRPr lang="en-US" sz="850" dirty="0"/>
          </a:p>
        </p:txBody>
      </p:sp>
      <p:sp>
        <p:nvSpPr>
          <p:cNvPr id="27" name="Text 23"/>
          <p:cNvSpPr/>
          <p:nvPr/>
        </p:nvSpPr>
        <p:spPr>
          <a:xfrm>
            <a:off x="6419088" y="3182112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Acierta la dirección, pero la narrativa es pobre: una nota suelta de la CNBC sin relación clara.</a:t>
            </a:r>
            <a:endParaRPr lang="en-US" sz="950" dirty="0"/>
          </a:p>
        </p:txBody>
      </p:sp>
      <p:sp>
        <p:nvSpPr>
          <p:cNvPr id="28" name="Text 24"/>
          <p:cNvSpPr/>
          <p:nvPr/>
        </p:nvSpPr>
        <p:spPr>
          <a:xfrm>
            <a:off x="6419088" y="3913632"/>
            <a:ext cx="49286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FINE-TUNED / VARIANTE</a:t>
            </a:r>
            <a:endParaRPr lang="en-US" sz="850" dirty="0"/>
          </a:p>
        </p:txBody>
      </p:sp>
      <p:sp>
        <p:nvSpPr>
          <p:cNvPr id="29" name="Text 25"/>
          <p:cNvSpPr/>
          <p:nvPr/>
        </p:nvSpPr>
        <p:spPr>
          <a:xfrm>
            <a:off x="6419088" y="4133088"/>
            <a:ext cx="492861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i="1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fine-tuned falla la dirección pese a producir un texto más cercano al dominio.</a:t>
            </a:r>
            <a:endParaRPr lang="en-US" sz="950" dirty="0"/>
          </a:p>
        </p:txBody>
      </p:sp>
      <p:sp>
        <p:nvSpPr>
          <p:cNvPr id="30" name="Shape 26"/>
          <p:cNvSpPr/>
          <p:nvPr/>
        </p:nvSpPr>
        <p:spPr>
          <a:xfrm>
            <a:off x="6419088" y="4864608"/>
            <a:ext cx="4928616" cy="530352"/>
          </a:xfrm>
          <a:prstGeom prst="rect">
            <a:avLst/>
          </a:prstGeom>
          <a:solidFill>
            <a:srgbClr val="EAF1F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6547104" y="4864608"/>
            <a:ext cx="472744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900" dirty="0">
                <a:solidFill>
                  <a:srgbClr val="2330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Acertar la dirección no implica una buena narrativa: dir. acc. sola no alcanza.</a:t>
            </a:r>
            <a:endParaRPr lang="en-US" sz="900" dirty="0"/>
          </a:p>
        </p:txBody>
      </p:sp>
      <p:sp>
        <p:nvSpPr>
          <p:cNvPr id="32" name="Text 28"/>
          <p:cNvSpPr/>
          <p:nvPr/>
        </p:nvSpPr>
        <p:spPr>
          <a:xfrm>
            <a:off x="640080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670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de GPT-2  ·  Narrativas financieras  ·  NLP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8229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3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150" dirty="0"/>
          </a:p>
        </p:txBody>
      </p:sp>
      <p:sp>
        <p:nvSpPr>
          <p:cNvPr id="3" name="Text 1"/>
          <p:cNvSpPr/>
          <p:nvPr/>
        </p:nvSpPr>
        <p:spPr>
          <a:xfrm>
            <a:off x="640080" y="640080"/>
            <a:ext cx="103327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Limitaciones y conclusiones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10820095" y="365760"/>
            <a:ext cx="731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3A4E72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1600200"/>
            <a:ext cx="5074920" cy="4334256"/>
          </a:xfrm>
          <a:prstGeom prst="rect">
            <a:avLst/>
          </a:prstGeom>
          <a:solidFill>
            <a:srgbClr val="182238"/>
          </a:solidFill>
          <a:ln w="12700">
            <a:solidFill>
              <a:srgbClr val="2E3C58"/>
            </a:solidFill>
            <a:prstDash val="solid"/>
          </a:ln>
        </p:spPr>
      </p:sp>
      <p:pic>
        <p:nvPicPr>
          <p:cNvPr id="6" name="Image 0" descr="icon_war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1856232"/>
            <a:ext cx="329184" cy="32918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53312" y="1837944"/>
            <a:ext cx="4160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Limitaciones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950976" y="2331720"/>
            <a:ext cx="4526280" cy="33741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de test pequeño para concluir robustez.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Titulares agregados por día, no artículos completos.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small: capacidad limitada, salidas genéricas.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FinBERT es un evaluador automático imperfecto.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dir. accuracy depende de la distribución de clases.</a:t>
            </a:r>
            <a:endParaRPr lang="en-US" sz="1100" dirty="0"/>
          </a:p>
          <a:p>
            <a:pPr marL="342900" indent="-342900">
              <a:spcAft>
                <a:spcPts val="900"/>
              </a:spcAft>
              <a:buSzPct val="100000"/>
              <a:buChar char="–"/>
            </a:pPr>
            <a:r>
              <a:rPr lang="en-US" sz="1100" dirty="0">
                <a:solidFill>
                  <a:srgbClr val="C2CE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significancia estadística fuerte (p &lt; 0.05).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6016752" y="1600200"/>
            <a:ext cx="5534863" cy="713232"/>
          </a:xfrm>
          <a:prstGeom prst="rect">
            <a:avLst/>
          </a:prstGeom>
          <a:solidFill>
            <a:srgbClr val="243150"/>
          </a:solidFill>
          <a:ln w="12700">
            <a:solidFill>
              <a:srgbClr val="2E3C58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6199632" y="1764792"/>
            <a:ext cx="384048" cy="38404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1" name="Image 1" descr="icon_check_w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1072" y="1856232"/>
            <a:ext cx="201168" cy="20116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766560" y="1600200"/>
            <a:ext cx="46021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GPT-2 fine-tuneado aprende vocabulario, estilo y formato financiero.</a:t>
            </a:r>
            <a:endParaRPr lang="en-US" sz="1080" dirty="0"/>
          </a:p>
        </p:txBody>
      </p:sp>
      <p:sp>
        <p:nvSpPr>
          <p:cNvPr id="13" name="Shape 9"/>
          <p:cNvSpPr/>
          <p:nvPr/>
        </p:nvSpPr>
        <p:spPr>
          <a:xfrm>
            <a:off x="6016752" y="2441448"/>
            <a:ext cx="5534863" cy="713232"/>
          </a:xfrm>
          <a:prstGeom prst="rect">
            <a:avLst/>
          </a:prstGeom>
          <a:solidFill>
            <a:srgbClr val="243150"/>
          </a:solidFill>
          <a:ln w="12700">
            <a:solidFill>
              <a:srgbClr val="2E3C58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6199632" y="2606040"/>
            <a:ext cx="384048" cy="38404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5" name="Image 2" descr="icon_balance_w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1072" y="2697480"/>
            <a:ext cx="201168" cy="201168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766560" y="2441448"/>
            <a:ext cx="46021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fine-tuning mejora la calidad textual y semántica frente al modelo base.</a:t>
            </a:r>
            <a:endParaRPr lang="en-US" sz="1080" dirty="0"/>
          </a:p>
        </p:txBody>
      </p:sp>
      <p:sp>
        <p:nvSpPr>
          <p:cNvPr id="17" name="Shape 12"/>
          <p:cNvSpPr/>
          <p:nvPr/>
        </p:nvSpPr>
        <p:spPr>
          <a:xfrm>
            <a:off x="6016752" y="3282696"/>
            <a:ext cx="5534863" cy="713232"/>
          </a:xfrm>
          <a:prstGeom prst="rect">
            <a:avLst/>
          </a:prstGeom>
          <a:solidFill>
            <a:srgbClr val="243150"/>
          </a:solidFill>
          <a:ln w="12700">
            <a:solidFill>
              <a:srgbClr val="2E3C58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199632" y="3447288"/>
            <a:ext cx="384048" cy="38404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19" name="Image 3" descr="icon_exchange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3538728"/>
            <a:ext cx="201168" cy="201168"/>
          </a:xfrm>
          <a:prstGeom prst="rect">
            <a:avLst/>
          </a:prstGeom>
        </p:spPr>
      </p:pic>
      <p:sp>
        <p:nvSpPr>
          <p:cNvPr id="20" name="Text 14"/>
          <p:cNvSpPr/>
          <p:nvPr/>
        </p:nvSpPr>
        <p:spPr>
          <a:xfrm>
            <a:off x="6766560" y="3282696"/>
            <a:ext cx="46021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métricas textual, semántica y financiera no son equivalentes.</a:t>
            </a:r>
            <a:endParaRPr lang="en-US" sz="1080" dirty="0"/>
          </a:p>
        </p:txBody>
      </p:sp>
      <p:sp>
        <p:nvSpPr>
          <p:cNvPr id="21" name="Shape 15"/>
          <p:cNvSpPr/>
          <p:nvPr/>
        </p:nvSpPr>
        <p:spPr>
          <a:xfrm>
            <a:off x="6016752" y="4123944"/>
            <a:ext cx="5534863" cy="713232"/>
          </a:xfrm>
          <a:prstGeom prst="rect">
            <a:avLst/>
          </a:prstGeom>
          <a:solidFill>
            <a:srgbClr val="243150"/>
          </a:solidFill>
          <a:ln w="12700">
            <a:solidFill>
              <a:srgbClr val="2E3C58"/>
            </a:solidFill>
            <a:prstDash val="solid"/>
          </a:ln>
        </p:spPr>
      </p:sp>
      <p:sp>
        <p:nvSpPr>
          <p:cNvPr id="22" name="Shape 16"/>
          <p:cNvSpPr/>
          <p:nvPr/>
        </p:nvSpPr>
        <p:spPr>
          <a:xfrm>
            <a:off x="6199632" y="4288536"/>
            <a:ext cx="384048" cy="384048"/>
          </a:xfrm>
          <a:prstGeom prst="ellipse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</p:spPr>
      </p:sp>
      <p:pic>
        <p:nvPicPr>
          <p:cNvPr id="23" name="Image 4" descr="icon_warn_w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4379976"/>
            <a:ext cx="201168" cy="201168"/>
          </a:xfrm>
          <a:prstGeom prst="rect">
            <a:avLst/>
          </a:prstGeom>
        </p:spPr>
      </p:pic>
      <p:sp>
        <p:nvSpPr>
          <p:cNvPr id="24" name="Text 17"/>
          <p:cNvSpPr/>
          <p:nvPr/>
        </p:nvSpPr>
        <p:spPr>
          <a:xfrm>
            <a:off x="6766560" y="4123944"/>
            <a:ext cx="460217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080" dirty="0">
                <a:solidFill>
                  <a:srgbClr val="E6EC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directional accuracy no es concluyente sin coverage ni significancia.</a:t>
            </a:r>
            <a:endParaRPr lang="en-US" sz="1080" dirty="0"/>
          </a:p>
        </p:txBody>
      </p:sp>
      <p:sp>
        <p:nvSpPr>
          <p:cNvPr id="25" name="Shape 18"/>
          <p:cNvSpPr/>
          <p:nvPr/>
        </p:nvSpPr>
        <p:spPr>
          <a:xfrm>
            <a:off x="6016752" y="5001768"/>
            <a:ext cx="5534863" cy="841248"/>
          </a:xfrm>
          <a:prstGeom prst="rect">
            <a:avLst/>
          </a:prstGeom>
          <a:solidFill>
            <a:srgbClr val="2A7F8C"/>
          </a:solidFill>
          <a:ln w="12700">
            <a:solidFill>
              <a:srgbClr val="333333"/>
            </a:solidFill>
            <a:prstDash val="solid"/>
          </a:ln>
          <a:effectLst>
            <a:outerShdw sx="100000" sy="100000" kx="0" ky="0" algn="bl" rotWithShape="0" blurRad="114300" dist="38100" dir="8100000">
              <a:srgbClr val="1E2A4A">
                <a:alpha val="14000"/>
              </a:srgbClr>
            </a:outerShdw>
          </a:effectLst>
        </p:spPr>
      </p:sp>
      <p:pic>
        <p:nvPicPr>
          <p:cNvPr id="26" name="Image 5" descr="icon_bul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54496" y="5248656"/>
            <a:ext cx="347472" cy="347472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6766560" y="5001768"/>
            <a:ext cx="4602175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00" b="1" dirty="0">
                <a:solidFill>
                  <a:srgbClr val="F7EE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Aporte principal:  </a:t>
            </a:r>
            <a:pPr indent="0" marL="0">
              <a:lnSpc>
                <a:spcPct val="112000"/>
              </a:lnSpc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pipeline reproducible de NLP generativo con evaluación crítica multicapa.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0080" y="6053328"/>
            <a:ext cx="10911535" cy="0"/>
          </a:xfrm>
          <a:prstGeom prst="line">
            <a:avLst/>
          </a:prstGeom>
          <a:noFill/>
          <a:ln w="12700">
            <a:solidFill>
              <a:srgbClr val="2E3C58"/>
            </a:solidFill>
            <a:prstDash val="solid"/>
          </a:ln>
        </p:spPr>
      </p:sp>
      <p:sp>
        <p:nvSpPr>
          <p:cNvPr id="29" name="Text 21"/>
          <p:cNvSpPr/>
          <p:nvPr/>
        </p:nvSpPr>
        <p:spPr>
          <a:xfrm>
            <a:off x="640080" y="6199632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rgbClr val="2A7F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</a:t>
            </a:r>
            <a:endParaRPr lang="en-US" sz="900" dirty="0"/>
          </a:p>
        </p:txBody>
      </p:sp>
      <p:sp>
        <p:nvSpPr>
          <p:cNvPr id="30" name="Text 22"/>
          <p:cNvSpPr/>
          <p:nvPr/>
        </p:nvSpPr>
        <p:spPr>
          <a:xfrm>
            <a:off x="2880360" y="6181344"/>
            <a:ext cx="876269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0C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Baselines estadísticos de dirección  ·  más datos y tickers  ·  GPT-2 medium o modelo financiero  ·  mejor control de la salida  ·  evaluación humana de plausibilidad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Fine-tuning de GPT-2 para narrativas financieras</dc:title>
  <dc:subject>PptxGenJS Presentation</dc:subject>
  <dc:creator>Proyecto NLP</dc:creator>
  <cp:lastModifiedBy>Proyecto NLP</cp:lastModifiedBy>
  <cp:revision>1</cp:revision>
  <dcterms:created xsi:type="dcterms:W3CDTF">2026-05-23T23:11:04Z</dcterms:created>
  <dcterms:modified xsi:type="dcterms:W3CDTF">2026-05-23T23:11:04Z</dcterms:modified>
</cp:coreProperties>
</file>