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Master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1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1" Type="http://schemas.openxmlformats.org/officeDocument/2006/relationships/image" Target="../media/image2.png"/><Relationship Id="rIdImg2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1" Type="http://schemas.openxmlformats.org/officeDocument/2006/relationships/image" Target="../media/image4.png"/><Relationship Id="rIdImg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g1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Fine-tuning de GPT-2 para narrativas financieras</a:t>
            </a:r>
            <a:endParaRPr lang="es-AR"/>
          </a:p>
        </p:txBody>
      </p:sp>
      <p:sp>
        <p:nvSpPr>
          <p:cNvPr id="12" name="TextBox"/>
          <p:cNvSpPr txBox="1"/>
          <p:nvPr/>
        </p:nvSpPr>
        <p:spPr>
          <a:xfrm>
            <a:off x="594360" y="960120"/>
            <a:ext cx="10515600" cy="41148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1700">
                <a:solidFill>
                  <a:srgbClr val="4B5F73"/>
                </a:solidFill>
                <a:latin typeface="Aptos"/>
              </a:rPr>
              <a:t>Proyecto NLP aplicado: generacion, evaluacion semantica y senales exploratorias</a:t>
            </a:r>
            <a:endParaRPr lang="es-AR"/>
          </a:p>
        </p:txBody>
      </p:sp>
      <p:sp>
        <p:nvSpPr>
          <p:cNvPr id="13" name="Bullets"/>
          <p:cNvSpPr txBox="1"/>
          <p:nvPr/>
        </p:nvSpPr>
        <p:spPr>
          <a:xfrm>
            <a:off x="777240" y="146304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Modelo base: GPT-2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Dominio: noticias financieras + datos de mercado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Tesis: el fine-tuning mejora adaptacion al dominio, no demuestra prediccion robusta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Pregunta experimental</a:t>
            </a:r>
            <a:endParaRPr lang="es-AR"/>
          </a:p>
        </p:txBody>
      </p:sp>
      <p:sp>
        <p:nvSpPr>
          <p:cNvPr id="15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Puede GPT-2 generar narrativas financieras plausibles?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El fine-tuning mejora frente a GPT-2 base?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El tono generado coincide con el de noticias reales?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La senal generada se relaciona con la direccion real del activo?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La clave: calidad textual, semantica y utilidad financiera no son lo mismo.</a:t>
            </a:r>
            <a:endParaRPr lang="es-A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Conceptos de NLP usados</a:t>
            </a:r>
            <a:endParaRPr lang="es-AR"/>
          </a:p>
        </p:txBody>
      </p:sp>
      <p:sp>
        <p:nvSpPr>
          <p:cNvPr id="18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Transfer learning: partir de GPT-2 preentrenado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Language modeling causal: predecir el siguiente token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Tokenizacion subword y embeddings contextuales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Fine-tuning con prompts financieros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Evaluacion generativa: ROUGE, BERTScore y FinBERT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Pipeline experimental</a:t>
            </a:r>
            <a:endParaRPr lang="es-AR"/>
          </a:p>
        </p:txBody>
      </p:sp>
      <p:sp>
        <p:nvSpPr>
          <p:cNvPr id="20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1. Dataset FNSPID + datos de mercado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2. Construccion de prompts con ventana de noticias previas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3. Split temporal train / validation / test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4. Fine-tuning de GPT-2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5. Generacion sobre test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6. Evaluacion textual, semantica y financiera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El split temporal evita entrenar con informacion futura.</a:t>
            </a:r>
            <a:endParaRPr lang="es-A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Formato prompt / target</a:t>
            </a:r>
            <a:endParaRPr lang="es-AR"/>
          </a:p>
        </p:txBody>
      </p:sp>
      <p:sp>
        <p:nvSpPr>
          <p:cNvPr id="23" name="TextBox"/>
          <p:cNvSpPr txBox="1"/>
          <p:nvPr/>
        </p:nvSpPr>
        <p:spPr>
          <a:xfrm>
            <a:off x="685800" y="1143000"/>
            <a:ext cx="5623560" cy="3154680"/>
          </a:xfrm>
          <a:prstGeom prst="rect">
            <a:avLst/>
          </a:prstGeom>
          <a:solidFill>
            <a:srgbClr val="EEF3F8"/>
          </a:solidFill>
        </p:spPr>
        <p:txBody>
          <a:bodyPr wrap="square" lIns="100000" tIns="60000" rIns="100000" bIns="60000"/>
          <a:lstStyle/>
          <a:p>
            <a:r>
              <a:rPr lang="es-AR" sz="1400">
                <a:solidFill>
                  <a:srgbClr val="1F2933"/>
                </a:solidFill>
                <a:latin typeface="Consolas"/>
              </a:rPr>
              <a:t>[TICKER: AMD]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[DATE: 2023-04-18]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[PRICE_CHANGE: -0.10%]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[VOLUME_RATIO: 0.80]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[RSI: 36.50]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/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[PREVIOUS NEWS]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- Interesting AMD Put And Call Options...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- AMD Stock Sinks As Market Gains...</a:t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/>
            </a:r>
            <a:endParaRPr lang="es-AR"/>
          </a:p>
          <a:p>
            <a:r>
              <a:rPr lang="es-AR" sz="1400">
                <a:solidFill>
                  <a:srgbClr val="1F2933"/>
                </a:solidFill>
                <a:latin typeface="Consolas"/>
              </a:rPr>
              <a:t>[NEXT DAY NEWS]</a:t>
            </a:r>
            <a:endParaRPr lang="es-AR"/>
          </a:p>
        </p:txBody>
      </p:sp>
      <p:sp>
        <p:nvSpPr>
          <p:cNvPr id="24" name="Bullets"/>
          <p:cNvSpPr txBox="1"/>
          <p:nvPr/>
        </p:nvSpPr>
        <p:spPr>
          <a:xfrm>
            <a:off x="6629400" y="1234440"/>
            <a:ext cx="4754880" cy="25603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800">
                <a:solidFill>
                  <a:srgbClr val="1F2933"/>
                </a:solidFill>
              </a:rPr>
              <a:t>Tarea formulada como prompt/completion</a:t>
            </a:r>
          </a:p>
          <a:p>
            <a:pPr marL="342900" indent="-171450">
              <a:buChar char="•"/>
            </a:pPr>
            <a:r>
              <a:rPr lang="es-AR" sz="1800">
                <a:solidFill>
                  <a:srgbClr val="1F2933"/>
                </a:solidFill>
              </a:rPr>
              <a:t>Algunos runs agregan sentimiento y direccion estructurada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Evaluacion multicapa</a:t>
            </a:r>
            <a:endParaRPr lang="es-AR"/>
          </a:p>
        </p:txBody>
      </p:sp>
      <p:sp>
        <p:nvSpPr>
          <p:cNvPr id="26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Textual: ROUGE-L y BERTScore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Semantica: FinBERT sobre noticia real vs generada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Financiera: directional accuracy + coverage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Estadistica: test binomial contra azar p = 0.5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Directional accuracy sola puede enganar: siempre se lee con coverage y p-value.</a:t>
            </a:r>
            <a:endParaRPr lang="es-A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Resultados principales</a:t>
            </a:r>
            <a:endParaRPr lang="es-AR"/>
          </a:p>
        </p:txBody>
      </p:sp>
      <p:sp>
        <p:nvSpPr>
          <p:cNvPr id="29" name="TextBox"/>
          <p:cNvSpPr txBox="1"/>
          <p:nvPr/>
        </p:nvSpPr>
        <p:spPr>
          <a:xfrm>
            <a:off x="320040" y="1005840"/>
            <a:ext cx="11567160" cy="3611880"/>
          </a:xfrm>
          <a:prstGeom prst="rect">
            <a:avLst/>
          </a:prstGeom>
          <a:solidFill>
            <a:srgbClr val="F6F8FA"/>
          </a:solidFill>
        </p:spPr>
        <p:txBody>
          <a:bodyPr wrap="square" lIns="100000" tIns="60000" rIns="100000" bIns="60000"/>
          <a:lstStyle/>
          <a:p>
            <a:r>
              <a:rPr lang="es-AR" sz="1000">
                <a:solidFill>
                  <a:srgbClr val="1F2933"/>
                </a:solidFill>
                <a:latin typeface="Consolas"/>
              </a:rPr>
              <a:t>Run | Rol | ROUGE-L | BERTScore F1 | Sent. match | Dir. acc. | Coverage | p vs 0.5</a:t>
            </a:r>
            <a:endParaRPr lang="es-AR"/>
          </a:p>
          <a:p>
            <a:r>
              <a:rPr lang="es-AR" sz="1000">
                <a:solidFill>
                  <a:srgbClr val="1F2933"/>
                </a:solidFill>
                <a:latin typeface="Consolas"/>
              </a:rPr>
              <a:t>SPY/QQQ baseline | Primer pipeline completo | 0.062 | 0.732 | 0.386 | 0.528 | 0.472 | 0.557</a:t>
            </a:r>
            <a:endParaRPr lang="es-AR"/>
          </a:p>
          <a:p>
            <a:r>
              <a:rPr lang="es-AR" sz="1000">
                <a:solidFill>
                  <a:srgbClr val="1F2933"/>
                </a:solidFill>
                <a:latin typeface="Consolas"/>
              </a:rPr>
              <a:t>GPT-2 no fine-tune | Baseline de modelo | 0.040 |  | 0.273 | 0.549 | 1.000 | 0.085</a:t>
            </a:r>
            <a:endParaRPr lang="es-AR"/>
          </a:p>
          <a:p>
            <a:r>
              <a:rPr lang="es-AR" sz="1000">
                <a:solidFill>
                  <a:srgbClr val="1F2933"/>
                </a:solidFill>
                <a:latin typeface="Consolas"/>
              </a:rPr>
              <a:t>NVDA single | Mejor BERTScore | 0.070 | 0.744 | 0.346 | 0.462 | 0.591 | 0.572</a:t>
            </a:r>
            <a:endParaRPr lang="es-AR"/>
          </a:p>
          <a:p>
            <a:r>
              <a:rPr lang="es-AR" sz="1000">
                <a:solidFill>
                  <a:srgbClr val="1F2933"/>
                </a:solidFill>
                <a:latin typeface="Consolas"/>
              </a:rPr>
              <a:t>NVDA + AMD | Mejor equilibrio | 0.074 | 0.738 | 0.442 | 0.530 | 0.361 | 0.579</a:t>
            </a:r>
            <a:endParaRPr lang="es-AR"/>
          </a:p>
          <a:p>
            <a:r>
              <a:rPr lang="es-AR" sz="1000">
                <a:solidFill>
                  <a:srgbClr val="1F2933"/>
                </a:solidFill>
                <a:latin typeface="Consolas"/>
              </a:rPr>
              <a:t>NVDA direction features | Mejor metrica financiera | 0.063 | 0.734 | 0.346 | 0.556 | 1.000 | 0.225</a:t>
            </a:r>
            <a:endParaRPr lang="es-AR"/>
          </a:p>
        </p:txBody>
      </p:sp>
      <p:sp>
        <p:nvSpPr>
          <p:cNvPr id="30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El fine-tuning mejora calidad textual/semantica; la metrica financiera sigue siendo exploratoria.</a:t>
            </a:r>
            <a:endParaRPr lang="es-A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Comparacion entre runs</a:t>
            </a:r>
            <a:endParaRPr lang="es-AR"/>
          </a:p>
        </p:txBody>
      </p:sp>
      <p:pic>
        <p:nvPicPr>
          <p:cNvPr id="32" name="image1.png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94360" y="1051560"/>
            <a:ext cx="7040880" cy="4297680"/>
          </a:xfrm>
          <a:prstGeom prst="rect">
            <a:avLst/>
          </a:prstGeom>
        </p:spPr>
      </p:pic>
      <p:sp>
        <p:nvSpPr>
          <p:cNvPr id="33" name="Bullets"/>
          <p:cNvSpPr txBox="1"/>
          <p:nvPr/>
        </p:nvSpPr>
        <p:spPr>
          <a:xfrm>
            <a:off x="7955279" y="1188720"/>
            <a:ext cx="3566160" cy="338328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NVDA + AMD: mejor balance textual/semantico</a:t>
            </a:r>
          </a:p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Direction features: mayor directional accuracy</a:t>
            </a:r>
          </a:p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GPT-2 base: alerta sobre sesgos de la metrica financiera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Loss y perplexity</a:t>
            </a:r>
            <a:endParaRPr lang="es-AR"/>
          </a:p>
        </p:txBody>
      </p:sp>
      <p:pic>
        <p:nvPicPr>
          <p:cNvPr id="35" name="image2.png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02920" y="1051560"/>
            <a:ext cx="5623560" cy="4114800"/>
          </a:xfrm>
          <a:prstGeom prst="rect">
            <a:avLst/>
          </a:prstGeom>
        </p:spPr>
      </p:pic>
      <p:pic>
        <p:nvPicPr>
          <p:cNvPr id="36" name="image3.png"/>
          <p:cNvPicPr/>
          <p:nvPr/>
        </p:nvPicPr>
        <p:blipFill>
          <a:blip r:embed="rIdImg2"/>
          <a:stretch>
            <a:fillRect/>
          </a:stretch>
        </p:blipFill>
        <p:spPr>
          <a:xfrm>
            <a:off x="6263640" y="1051560"/>
            <a:ext cx="5623560" cy="4114800"/>
          </a:xfrm>
          <a:prstGeom prst="rect">
            <a:avLst/>
          </a:prstGeom>
        </p:spPr>
      </p:pic>
      <p:sp>
        <p:nvSpPr>
          <p:cNvPr id="37" name="TextBox"/>
          <p:cNvSpPr txBox="1"/>
          <p:nvPr/>
        </p:nvSpPr>
        <p:spPr>
          <a:xfrm>
            <a:off x="685800" y="525780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Menor loss/perplexity no garantiza mejor metrica downstream financiera.</a:t>
            </a:r>
            <a:endParaRPr lang="es-A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Matrices semanticas</a:t>
            </a:r>
            <a:endParaRPr lang="es-AR"/>
          </a:p>
        </p:txBody>
      </p:sp>
      <p:pic>
        <p:nvPicPr>
          <p:cNvPr id="39" name="image4.png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02920" y="1051560"/>
            <a:ext cx="5623560" cy="4114800"/>
          </a:xfrm>
          <a:prstGeom prst="rect">
            <a:avLst/>
          </a:prstGeom>
        </p:spPr>
      </p:pic>
      <p:pic>
        <p:nvPicPr>
          <p:cNvPr id="40" name="image5.png"/>
          <p:cNvPicPr/>
          <p:nvPr/>
        </p:nvPicPr>
        <p:blipFill>
          <a:blip r:embed="rIdImg2"/>
          <a:stretch>
            <a:fillRect/>
          </a:stretch>
        </p:blipFill>
        <p:spPr>
          <a:xfrm>
            <a:off x="6263640" y="1051560"/>
            <a:ext cx="56235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Metrica financiera</a:t>
            </a:r>
            <a:endParaRPr lang="es-AR"/>
          </a:p>
        </p:txBody>
      </p:sp>
      <p:pic>
        <p:nvPicPr>
          <p:cNvPr id="42" name="image6.png"/>
          <p:cNvPicPr/>
          <p:nvPr/>
        </p:nvPicPr>
        <p:blipFill>
          <a:blip r:embed="rIdImg1"/>
          <a:stretch>
            <a:fillRect/>
          </a:stretch>
        </p:blipFill>
        <p:spPr>
          <a:xfrm>
            <a:off x="594360" y="1051560"/>
            <a:ext cx="7040880" cy="4297680"/>
          </a:xfrm>
          <a:prstGeom prst="rect">
            <a:avLst/>
          </a:prstGeom>
        </p:spPr>
      </p:pic>
      <p:sp>
        <p:nvSpPr>
          <p:cNvPr id="43" name="Bullets"/>
          <p:cNvSpPr txBox="1"/>
          <p:nvPr/>
        </p:nvSpPr>
        <p:spPr>
          <a:xfrm>
            <a:off x="7955279" y="1188720"/>
            <a:ext cx="3566160" cy="338328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Direction features: directional accuracy 0.556 con coverage 1.0</a:t>
            </a:r>
          </a:p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p-value aproximado: 0.225</a:t>
            </a:r>
          </a:p>
          <a:p>
            <a:pPr marL="342900" indent="-171450">
              <a:buChar char="•"/>
            </a:pPr>
            <a:r>
              <a:rPr lang="es-AR" sz="1700">
                <a:solidFill>
                  <a:srgbClr val="1F2933"/>
                </a:solidFill>
              </a:rPr>
              <a:t>Lectura correcta: senal exploratoria, no predictividad demostrada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Ejemplos cualitativos</a:t>
            </a:r>
            <a:endParaRPr lang="es-AR"/>
          </a:p>
        </p:txBody>
      </p:sp>
      <p:sp>
        <p:nvSpPr>
          <p:cNvPr id="45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Fine-tuning mejora un caso de alineacion semantica: ROUGE-L 0.1786 vs 0.0305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GPT-2 base puede acertar direccion con narrativa pobre</a:t>
            </a:r>
          </a:p>
          <a:p>
            <a:pPr marL="342900" indent="-171450">
              <a:buChar char="•"/>
            </a:pPr>
            <a:r>
              <a:rPr lang="es-AR" sz="2200">
                <a:solidFill>
                  <a:srgbClr val="1F2933"/>
                </a:solidFill>
              </a:rPr>
              <a:t>Los ejemplos justifican la evaluacion multicapa</a:t>
            </a:r>
          </a:p>
        </p:txBody>
      </p:sp>
      <p:sp>
        <p:nvSpPr>
          <p:cNvPr id="46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Una narrativa puede sonar financiera sin ser semanticamente correcta.</a:t>
            </a:r>
            <a:endParaRPr lang="es-A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Limitaciones</a:t>
            </a:r>
            <a:endParaRPr lang="es-AR"/>
          </a:p>
        </p:txBody>
      </p:sp>
      <p:sp>
        <p:nvSpPr>
          <p:cNvPr id="48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Dataset de test chico para conclusiones financieras robustas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Targets basados en titulares agregados, no articulos completos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GPT-2 small tiende a generar texto generico/clickbait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FinBERT es un evaluador automatico, no verdad absoluta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No hay significancia estadistica fuerte en directional accuracy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Conclusiones</a:t>
            </a:r>
            <a:endParaRPr lang="es-AR"/>
          </a:p>
        </p:txBody>
      </p:sp>
      <p:sp>
        <p:nvSpPr>
          <p:cNvPr id="50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GPT-2 fine-tuneado aprende vocabulario y formato financiero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El fine-tuning mejora adaptacion textual/semantica frente a GPT-2 base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Las metricas textuales, semanticas y financieras no son equivalentes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La directional accuracy requiere coverage, p-value y baselines fuertes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Aporte principal: pipeline reproducible y evaluacion critica multicapa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100000" tIns="60000" rIns="100000" bIns="60000"/>
          <a:lstStyle/>
          <a:p>
            <a:r>
              <a:rPr lang="es-AR" sz="3000" b="1">
                <a:solidFill>
                  <a:srgbClr val="17324D"/>
                </a:solidFill>
                <a:latin typeface="Aptos"/>
              </a:rPr>
              <a:t>Proximos pasos</a:t>
            </a:r>
            <a:endParaRPr lang="es-AR"/>
          </a:p>
        </p:txBody>
      </p:sp>
      <p:sp>
        <p:nvSpPr>
          <p:cNvPr id="52" name="Bullets"/>
          <p:cNvSpPr txBox="1"/>
          <p:nvPr/>
        </p:nvSpPr>
        <p:spPr>
          <a:xfrm>
            <a:off x="777240" y="960120"/>
            <a:ext cx="10698480" cy="420624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Agregar baselines estadisticos financieros mas fuertes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Probar modelos mas grandes o especializados en finanzas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Mejorar control estructural de sentimiento/direccion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Sumar evaluacion humana de plausibilidad</a:t>
            </a:r>
          </a:p>
          <a:p>
            <a:pPr marL="342900" indent="-171450">
              <a:buChar char="•"/>
            </a:pPr>
            <a:r>
              <a:rPr lang="es-AR" sz="1900">
                <a:solidFill>
                  <a:srgbClr val="1F2933"/>
                </a:solidFill>
              </a:rPr>
              <a:t>Explorar atencion como interpretabilidad, con cautela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685800" y="5166360"/>
            <a:ext cx="10881360" cy="777240"/>
          </a:xfrm>
          <a:prstGeom prst="rect">
            <a:avLst/>
          </a:prstGeom>
          <a:solidFill>
            <a:srgbClr val="DDEAF3"/>
          </a:solidFill>
        </p:spPr>
        <p:txBody>
          <a:bodyPr wrap="square" lIns="100000" tIns="60000" rIns="100000" bIns="60000"/>
          <a:lstStyle/>
          <a:p>
            <a:r>
              <a:rPr lang="es-AR" sz="2000" b="1">
                <a:solidFill>
                  <a:srgbClr val="17324D"/>
                </a:solidFill>
                <a:latin typeface="Aptos"/>
              </a:rPr>
              <a:t>Cierre: no vendemos prediccion; defendemos metodologia NLP aplicada.</a:t>
            </a:r>
            <a:endParaRPr lang="es-A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">
  <a:themeElements>
    <a:clrScheme name="Simple">
      <a:dk1>
        <a:srgbClr val="111111"/>
      </a:dk1>
      <a:lt1>
        <a:srgbClr val="FFFFFF"/>
      </a:lt1>
      <a:dk2>
        <a:srgbClr val="17324D"/>
      </a:dk2>
      <a:lt2>
        <a:srgbClr val="EEF3F8"/>
      </a:lt2>
      <a:accent1>
        <a:srgbClr val="2F6F7E"/>
      </a:accent1>
      <a:accent2>
        <a:srgbClr val="C05746"/>
      </a:accent2>
      <a:accent3>
        <a:srgbClr val="6B8E23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imple">
      <a:majorFont>
        <a:latin typeface="Aptos Display"/>
      </a:majorFont>
      <a:minorFont>
        <a:latin typeface="Aptos"/>
      </a:minorFont>
    </a:fontScheme>
    <a:fmtScheme name="Simpl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15</Slides>
</Properties>
</file>

<file path=docProps/core.xml><?xml version="1.0" encoding="utf-8"?>
<cp:coreProperties xmlns:cp="http://schemas.openxmlformats.org/package/2006/metadata/core-properties" xmlns:dc="http://purl.org/dc/elements/1.1/">
  <dc:title>Presentacion NLP Finanzas</dc:title>
  <dc:creator>Codex</dc:creator>
</cp:coreProperties>
</file>