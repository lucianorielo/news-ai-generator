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76" r:id="rId2"/>
    <p:sldId id="257" r:id="rId3"/>
    <p:sldId id="258" r:id="rId4"/>
    <p:sldId id="259" r:id="rId5"/>
    <p:sldId id="268" r:id="rId6"/>
    <p:sldId id="269" r:id="rId7"/>
    <p:sldId id="261" r:id="rId8"/>
    <p:sldId id="270" r:id="rId9"/>
    <p:sldId id="271" r:id="rId10"/>
    <p:sldId id="272" r:id="rId11"/>
    <p:sldId id="275" r:id="rId12"/>
    <p:sldId id="274"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9562" autoAdjust="0"/>
  </p:normalViewPr>
  <p:slideViewPr>
    <p:cSldViewPr snapToGrid="0" snapToObjects="1">
      <p:cViewPr varScale="1">
        <p:scale>
          <a:sx n="126" d="100"/>
          <a:sy n="126" d="100"/>
        </p:scale>
        <p:origin x="161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4298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se llama fine-tuning de GPT-2 para generacion de narrativas financieras. Lo planteo como un problema de NLP aplicado: dado un contexto financiero previo, queremos generar una narrativa del dia siguiente y despues evaluar si esa narrativa se parece a noticias reales, si mantiene un tono financiero coherente y si de alguna forma se relaciona con la direccion del activo. El objetivo no es presentar un sistema de trading.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11145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b="0" i="0" dirty="0">
                <a:solidFill>
                  <a:srgbClr val="BFBFBF"/>
                </a:solidFill>
                <a:effectLst/>
                <a:latin typeface="-apple-system"/>
              </a:rPr>
              <a:t>Nos vamos a hacer tres preguntas concretas</a:t>
            </a:r>
            <a:r>
              <a:rPr lang="en-US" dirty="0"/>
              <a:t>. Primero: puede GPT-2 generar texto </a:t>
            </a:r>
            <a:r>
              <a:rPr lang="en-US" dirty="0" err="1"/>
              <a:t>financiero</a:t>
            </a:r>
            <a:r>
              <a:rPr lang="en-US" dirty="0"/>
              <a:t> </a:t>
            </a:r>
            <a:r>
              <a:rPr lang="en-US" dirty="0" err="1"/>
              <a:t>creíble</a:t>
            </a:r>
            <a:r>
              <a:rPr lang="en-US" dirty="0"/>
              <a:t>? Y </a:t>
            </a:r>
            <a:r>
              <a:rPr lang="en-US" dirty="0" err="1"/>
              <a:t>el</a:t>
            </a:r>
            <a:r>
              <a:rPr lang="en-US" dirty="0"/>
              <a:t> fine-tuning mejora frente a GPT-2 base? Segundo: La narrative </a:t>
            </a:r>
            <a:r>
              <a:rPr lang="en-US" dirty="0" err="1"/>
              <a:t>generada</a:t>
            </a:r>
            <a:r>
              <a:rPr lang="en-US" dirty="0"/>
              <a:t> </a:t>
            </a:r>
            <a:r>
              <a:rPr lang="en-US" dirty="0" err="1"/>
              <a:t>mantiene</a:t>
            </a:r>
            <a:r>
              <a:rPr lang="en-US" dirty="0"/>
              <a:t> un </a:t>
            </a:r>
            <a:r>
              <a:rPr lang="en-US" dirty="0" err="1"/>
              <a:t>tono</a:t>
            </a:r>
            <a:r>
              <a:rPr lang="en-US" dirty="0"/>
              <a:t> y un </a:t>
            </a:r>
            <a:r>
              <a:rPr lang="en-US" dirty="0" err="1"/>
              <a:t>sentimiento</a:t>
            </a:r>
            <a:r>
              <a:rPr lang="en-US" dirty="0"/>
              <a:t> </a:t>
            </a:r>
            <a:r>
              <a:rPr lang="en-US" dirty="0" err="1"/>
              <a:t>coherente</a:t>
            </a:r>
            <a:r>
              <a:rPr lang="en-US" dirty="0"/>
              <a:t> </a:t>
            </a:r>
            <a:r>
              <a:rPr lang="en-US" dirty="0" err="1"/>
              <a:t>respecto</a:t>
            </a:r>
            <a:r>
              <a:rPr lang="en-US" dirty="0"/>
              <a:t> a la </a:t>
            </a:r>
            <a:r>
              <a:rPr lang="en-US" dirty="0" err="1"/>
              <a:t>noticia</a:t>
            </a:r>
            <a:r>
              <a:rPr lang="en-US" dirty="0"/>
              <a:t> real ? </a:t>
            </a:r>
            <a:r>
              <a:rPr lang="en-US" dirty="0" err="1"/>
              <a:t>Tercero</a:t>
            </a:r>
            <a:r>
              <a:rPr lang="en-US" dirty="0"/>
              <a:t>: el sentimiento o la direccion que aparece en la narrativa tiene relacion con el comportamiento real del mercado? Esta separacion es importante porque una respuesta puede ser positiva en una capa y negativa en otra. La </a:t>
            </a:r>
            <a:r>
              <a:rPr lang="en-US" dirty="0" err="1"/>
              <a:t>defensa</a:t>
            </a:r>
            <a:r>
              <a:rPr lang="en-US" dirty="0"/>
              <a:t> de </a:t>
            </a:r>
            <a:r>
              <a:rPr lang="en-US" dirty="0" err="1"/>
              <a:t>este</a:t>
            </a:r>
            <a:r>
              <a:rPr lang="en-US" dirty="0"/>
              <a:t> </a:t>
            </a:r>
            <a:r>
              <a:rPr lang="en-US" dirty="0" err="1"/>
              <a:t>proyecto</a:t>
            </a:r>
            <a:r>
              <a:rPr lang="en-US" dirty="0"/>
              <a:t> </a:t>
            </a:r>
            <a:r>
              <a:rPr lang="en-US" dirty="0" err="1"/>
              <a:t>gira</a:t>
            </a:r>
            <a:r>
              <a:rPr lang="en-US" dirty="0"/>
              <a:t> alrededor de evaluacion multicapa: evitar una unica metrica ganadora.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s-ES" b="0" i="0" dirty="0">
                <a:solidFill>
                  <a:srgbClr val="BFBFBF"/>
                </a:solidFill>
                <a:effectLst/>
                <a:latin typeface="-apple-system"/>
              </a:rPr>
              <a:t>Esta </a:t>
            </a:r>
            <a:r>
              <a:rPr lang="es-ES" b="0" i="0" dirty="0" err="1">
                <a:solidFill>
                  <a:srgbClr val="BFBFBF"/>
                </a:solidFill>
                <a:effectLst/>
                <a:latin typeface="-apple-system"/>
              </a:rPr>
              <a:t>slide</a:t>
            </a:r>
            <a:r>
              <a:rPr lang="es-ES" b="0" i="0" dirty="0">
                <a:solidFill>
                  <a:srgbClr val="BFBFBF"/>
                </a:solidFill>
                <a:effectLst/>
                <a:latin typeface="-apple-system"/>
              </a:rPr>
              <a:t> resume los conceptos de NLP que uso. </a:t>
            </a:r>
          </a:p>
          <a:p>
            <a:pPr algn="l"/>
            <a:r>
              <a:rPr lang="es-ES" b="0" i="0" dirty="0">
                <a:solidFill>
                  <a:srgbClr val="BFBFBF"/>
                </a:solidFill>
                <a:effectLst/>
                <a:latin typeface="-apple-system"/>
              </a:rPr>
              <a:t>- Partimos del </a:t>
            </a:r>
            <a:r>
              <a:rPr lang="es-ES" b="1" i="0" dirty="0">
                <a:solidFill>
                  <a:srgbClr val="BFBFBF"/>
                </a:solidFill>
                <a:effectLst/>
                <a:latin typeface="-apple-system"/>
              </a:rPr>
              <a:t>transfer </a:t>
            </a:r>
            <a:r>
              <a:rPr lang="es-ES" b="1" i="0" dirty="0" err="1">
                <a:solidFill>
                  <a:srgbClr val="BFBFBF"/>
                </a:solidFill>
                <a:effectLst/>
                <a:latin typeface="-apple-system"/>
              </a:rPr>
              <a:t>learning</a:t>
            </a:r>
            <a:r>
              <a:rPr lang="es-ES" b="0" i="0" dirty="0">
                <a:solidFill>
                  <a:srgbClr val="BFBFBF"/>
                </a:solidFill>
                <a:effectLst/>
                <a:latin typeface="-apple-system"/>
              </a:rPr>
              <a:t>: utilizo GPT-2 ya </a:t>
            </a:r>
            <a:r>
              <a:rPr lang="es-ES" b="0" i="0" dirty="0" err="1">
                <a:solidFill>
                  <a:srgbClr val="BFBFBF"/>
                </a:solidFill>
                <a:effectLst/>
                <a:latin typeface="-apple-system"/>
              </a:rPr>
              <a:t>preentrenado</a:t>
            </a:r>
            <a:r>
              <a:rPr lang="es-ES" b="0" i="0" dirty="0">
                <a:solidFill>
                  <a:srgbClr val="BFBFBF"/>
                </a:solidFill>
                <a:effectLst/>
                <a:latin typeface="-apple-system"/>
              </a:rPr>
              <a:t> en lenguaje general y lo adapto a financiero. Esto me ahorra entrenar desde cero y aprovecha el conocimiento sintáctico y léxico que el modelo ya trae.</a:t>
            </a:r>
          </a:p>
          <a:p>
            <a:pPr algn="l"/>
            <a:r>
              <a:rPr lang="es-ES" b="0" i="0" dirty="0">
                <a:solidFill>
                  <a:srgbClr val="BFBFBF"/>
                </a:solidFill>
                <a:effectLst/>
                <a:latin typeface="-apple-system"/>
              </a:rPr>
              <a:t>- Como sabemos GPT-2 es un </a:t>
            </a:r>
            <a:r>
              <a:rPr lang="es-ES" b="1" i="0" dirty="0">
                <a:solidFill>
                  <a:srgbClr val="BFBFBF"/>
                </a:solidFill>
                <a:effectLst/>
                <a:latin typeface="-apple-system"/>
              </a:rPr>
              <a:t>modelo de lenguaje causal</a:t>
            </a:r>
            <a:r>
              <a:rPr lang="es-ES" b="0" i="0" dirty="0">
                <a:solidFill>
                  <a:srgbClr val="BFBFBF"/>
                </a:solidFill>
                <a:effectLst/>
                <a:latin typeface="-apple-system"/>
              </a:rPr>
              <a:t>: </a:t>
            </a:r>
            <a:r>
              <a:rPr lang="es-ES" b="0" i="0" dirty="0" err="1">
                <a:solidFill>
                  <a:srgbClr val="BFBFBF"/>
                </a:solidFill>
                <a:effectLst/>
                <a:latin typeface="-apple-system"/>
              </a:rPr>
              <a:t>autoregresivo</a:t>
            </a:r>
            <a:r>
              <a:rPr lang="es-ES" b="0" i="0" dirty="0">
                <a:solidFill>
                  <a:srgbClr val="BFBFBF"/>
                </a:solidFill>
                <a:effectLst/>
                <a:latin typeface="-apple-system"/>
              </a:rPr>
              <a:t>, predice el siguiente token condicionado por los anteriores. Por eso es apto para generar texto.</a:t>
            </a:r>
          </a:p>
          <a:p>
            <a:pPr algn="l"/>
            <a:r>
              <a:rPr lang="es-ES" b="0" i="0" dirty="0">
                <a:solidFill>
                  <a:srgbClr val="BFBFBF"/>
                </a:solidFill>
                <a:effectLst/>
                <a:latin typeface="-apple-system"/>
              </a:rPr>
              <a:t>- Trabaja con </a:t>
            </a:r>
            <a:r>
              <a:rPr lang="es-ES" b="1" i="0" dirty="0" err="1">
                <a:solidFill>
                  <a:srgbClr val="BFBFBF"/>
                </a:solidFill>
                <a:effectLst/>
                <a:latin typeface="-apple-system"/>
              </a:rPr>
              <a:t>tokenización</a:t>
            </a:r>
            <a:r>
              <a:rPr lang="es-ES" b="1" i="0" dirty="0">
                <a:solidFill>
                  <a:srgbClr val="BFBFBF"/>
                </a:solidFill>
                <a:effectLst/>
                <a:latin typeface="-apple-system"/>
              </a:rPr>
              <a:t> </a:t>
            </a:r>
            <a:r>
              <a:rPr lang="es-ES" b="1" i="0" dirty="0" err="1">
                <a:solidFill>
                  <a:srgbClr val="BFBFBF"/>
                </a:solidFill>
                <a:effectLst/>
                <a:latin typeface="-apple-system"/>
              </a:rPr>
              <a:t>subword</a:t>
            </a:r>
            <a:r>
              <a:rPr lang="es-ES" b="0" i="0" dirty="0">
                <a:solidFill>
                  <a:srgbClr val="BFBFBF"/>
                </a:solidFill>
                <a:effectLst/>
                <a:latin typeface="-apple-system"/>
              </a:rPr>
              <a:t>: el texto se divide en unidades menores a la palabra. Esto le permite descomponer vocabulario técnico financiero como </a:t>
            </a:r>
            <a:r>
              <a:rPr lang="es-ES" b="0" i="0" dirty="0" err="1">
                <a:solidFill>
                  <a:srgbClr val="BFBFBF"/>
                </a:solidFill>
                <a:effectLst/>
                <a:latin typeface="-apple-system"/>
              </a:rPr>
              <a:t>semiconductors</a:t>
            </a:r>
            <a:r>
              <a:rPr lang="es-ES" b="0" i="0" dirty="0">
                <a:solidFill>
                  <a:srgbClr val="BFBFBF"/>
                </a:solidFill>
                <a:effectLst/>
                <a:latin typeface="-apple-system"/>
              </a:rPr>
              <a:t> o </a:t>
            </a:r>
            <a:r>
              <a:rPr lang="es-ES" b="0" i="0" dirty="0" err="1">
                <a:solidFill>
                  <a:srgbClr val="BFBFBF"/>
                </a:solidFill>
                <a:effectLst/>
                <a:latin typeface="-apple-system"/>
              </a:rPr>
              <a:t>earnings</a:t>
            </a:r>
            <a:r>
              <a:rPr lang="es-ES" b="0" i="0" dirty="0">
                <a:solidFill>
                  <a:srgbClr val="BFBFBF"/>
                </a:solidFill>
                <a:effectLst/>
                <a:latin typeface="-apple-system"/>
              </a:rPr>
              <a:t> en piezas que ya conoce, sin tratar cada término raro como un símbolo nuevo.</a:t>
            </a:r>
          </a:p>
          <a:p>
            <a:pPr algn="l"/>
            <a:r>
              <a:rPr lang="es-ES" b="0" i="0" dirty="0">
                <a:solidFill>
                  <a:srgbClr val="BFBFBF"/>
                </a:solidFill>
                <a:effectLst/>
                <a:latin typeface="-apple-system"/>
              </a:rPr>
              <a:t>- Cada token se mapea a un </a:t>
            </a:r>
            <a:r>
              <a:rPr lang="es-ES" b="1" i="0" dirty="0" err="1">
                <a:solidFill>
                  <a:srgbClr val="BFBFBF"/>
                </a:solidFill>
                <a:effectLst/>
                <a:latin typeface="-apple-system"/>
              </a:rPr>
              <a:t>embedding</a:t>
            </a:r>
            <a:r>
              <a:rPr lang="es-ES" b="1" i="0" dirty="0">
                <a:solidFill>
                  <a:srgbClr val="BFBFBF"/>
                </a:solidFill>
                <a:effectLst/>
                <a:latin typeface="-apple-system"/>
              </a:rPr>
              <a:t> contextual</a:t>
            </a:r>
            <a:r>
              <a:rPr lang="es-ES" b="0" i="0" dirty="0">
                <a:solidFill>
                  <a:srgbClr val="BFBFBF"/>
                </a:solidFill>
                <a:effectLst/>
                <a:latin typeface="-apple-system"/>
              </a:rPr>
              <a:t>: una misma palabra tiene representación distinta según el contexto. La palabra </a:t>
            </a:r>
            <a:r>
              <a:rPr lang="es-ES" b="0" i="0" dirty="0" err="1">
                <a:solidFill>
                  <a:srgbClr val="BFBFBF"/>
                </a:solidFill>
                <a:effectLst/>
                <a:latin typeface="-apple-system"/>
              </a:rPr>
              <a:t>earnings</a:t>
            </a:r>
            <a:r>
              <a:rPr lang="es-ES" b="0" i="0" dirty="0">
                <a:solidFill>
                  <a:srgbClr val="BFBFBF"/>
                </a:solidFill>
                <a:effectLst/>
                <a:latin typeface="-apple-system"/>
              </a:rPr>
              <a:t> en una noticia positiva y en una negativa son vectores diferentes, y eso es lo que el modelo usa para condicionar la generación.</a:t>
            </a:r>
          </a:p>
          <a:p>
            <a:pPr marL="171450" indent="-171450" algn="l">
              <a:buFontTx/>
              <a:buChar char="-"/>
            </a:pPr>
            <a:r>
              <a:rPr lang="es-ES" b="0" i="0" dirty="0">
                <a:solidFill>
                  <a:srgbClr val="BFBFBF"/>
                </a:solidFill>
                <a:effectLst/>
                <a:latin typeface="-apple-system"/>
              </a:rPr>
              <a:t>El </a:t>
            </a:r>
            <a:r>
              <a:rPr lang="es-ES" b="1" i="0" dirty="0">
                <a:solidFill>
                  <a:srgbClr val="BFBFBF"/>
                </a:solidFill>
                <a:effectLst/>
                <a:latin typeface="-apple-system"/>
              </a:rPr>
              <a:t>fine-</a:t>
            </a:r>
            <a:r>
              <a:rPr lang="es-ES" b="1" i="0" dirty="0" err="1">
                <a:solidFill>
                  <a:srgbClr val="BFBFBF"/>
                </a:solidFill>
                <a:effectLst/>
                <a:latin typeface="-apple-system"/>
              </a:rPr>
              <a:t>tuning</a:t>
            </a:r>
            <a:r>
              <a:rPr lang="es-ES" b="0" i="0" dirty="0">
                <a:solidFill>
                  <a:srgbClr val="BFBFBF"/>
                </a:solidFill>
                <a:effectLst/>
                <a:latin typeface="-apple-system"/>
              </a:rPr>
              <a:t> ajusta los pesos de GPT-2 sobre el corpus financiero. El </a:t>
            </a:r>
            <a:r>
              <a:rPr lang="es-ES" b="0" i="0" dirty="0" err="1">
                <a:solidFill>
                  <a:srgbClr val="BFBFBF"/>
                </a:solidFill>
                <a:effectLst/>
                <a:latin typeface="-apple-system"/>
              </a:rPr>
              <a:t>prompt</a:t>
            </a:r>
            <a:r>
              <a:rPr lang="es-ES" b="0" i="0" dirty="0">
                <a:solidFill>
                  <a:srgbClr val="BFBFBF"/>
                </a:solidFill>
                <a:effectLst/>
                <a:latin typeface="-apple-system"/>
              </a:rPr>
              <a:t> incluye </a:t>
            </a:r>
            <a:r>
              <a:rPr lang="es-ES" b="0" i="0" dirty="0" err="1">
                <a:solidFill>
                  <a:srgbClr val="BFBFBF"/>
                </a:solidFill>
                <a:effectLst/>
                <a:latin typeface="-apple-system"/>
              </a:rPr>
              <a:t>ticker</a:t>
            </a:r>
            <a:r>
              <a:rPr lang="es-ES" b="0" i="0" dirty="0">
                <a:solidFill>
                  <a:srgbClr val="BFBFBF"/>
                </a:solidFill>
                <a:effectLst/>
                <a:latin typeface="-apple-system"/>
              </a:rPr>
              <a:t>, fecha, </a:t>
            </a:r>
            <a:r>
              <a:rPr lang="es-ES" b="0" i="0" dirty="0" err="1">
                <a:solidFill>
                  <a:srgbClr val="BFBFBF"/>
                </a:solidFill>
                <a:effectLst/>
                <a:latin typeface="-apple-system"/>
              </a:rPr>
              <a:t>features</a:t>
            </a:r>
            <a:r>
              <a:rPr lang="es-ES" b="0" i="0" dirty="0">
                <a:solidFill>
                  <a:srgbClr val="BFBFBF"/>
                </a:solidFill>
                <a:effectLst/>
                <a:latin typeface="-apple-system"/>
              </a:rPr>
              <a:t> de mercado y noticias previas; la pérdida está enmascarada sobre el </a:t>
            </a:r>
            <a:r>
              <a:rPr lang="es-ES" b="0" i="0" dirty="0" err="1">
                <a:solidFill>
                  <a:srgbClr val="BFBFBF"/>
                </a:solidFill>
                <a:effectLst/>
                <a:latin typeface="-apple-system"/>
              </a:rPr>
              <a:t>prompt</a:t>
            </a:r>
            <a:r>
              <a:rPr lang="es-ES" b="0" i="0" dirty="0">
                <a:solidFill>
                  <a:srgbClr val="BFBFBF"/>
                </a:solidFill>
                <a:effectLst/>
                <a:latin typeface="-apple-system"/>
              </a:rPr>
              <a:t>, así el modelo aprende a generar el target, no a copiar el contexto.</a:t>
            </a:r>
          </a:p>
          <a:p>
            <a:pPr marL="171450" indent="-171450" algn="l">
              <a:buFontTx/>
              <a:buChar char="-"/>
            </a:pPr>
            <a:r>
              <a:rPr lang="es-ES" b="0" i="0" dirty="0">
                <a:solidFill>
                  <a:srgbClr val="BFBFBF"/>
                </a:solidFill>
                <a:effectLst/>
                <a:latin typeface="-apple-system"/>
              </a:rPr>
              <a:t>La última pieza es </a:t>
            </a:r>
            <a:r>
              <a:rPr lang="es-ES" b="1" i="0" dirty="0">
                <a:solidFill>
                  <a:srgbClr val="BFBFBF"/>
                </a:solidFill>
                <a:effectLst/>
                <a:latin typeface="-apple-system"/>
              </a:rPr>
              <a:t>evaluación generativa</a:t>
            </a:r>
            <a:r>
              <a:rPr lang="es-ES" b="0" i="0" dirty="0">
                <a:solidFill>
                  <a:srgbClr val="BFBFBF"/>
                </a:solidFill>
                <a:effectLst/>
                <a:latin typeface="-apple-system"/>
              </a:rPr>
              <a:t>: cuando el output es texto libre no alcanza con </a:t>
            </a:r>
            <a:r>
              <a:rPr lang="es-ES" b="0" i="0" dirty="0" err="1">
                <a:solidFill>
                  <a:srgbClr val="BFBFBF"/>
                </a:solidFill>
                <a:effectLst/>
                <a:latin typeface="-apple-system"/>
              </a:rPr>
              <a:t>loss</a:t>
            </a:r>
            <a:r>
              <a:rPr lang="es-ES" b="0" i="0" dirty="0">
                <a:solidFill>
                  <a:srgbClr val="BFBFBF"/>
                </a:solidFill>
                <a:effectLst/>
                <a:latin typeface="-apple-system"/>
              </a:rPr>
              <a:t> o </a:t>
            </a:r>
            <a:r>
              <a:rPr lang="es-ES" b="0" i="0" dirty="0" err="1">
                <a:solidFill>
                  <a:srgbClr val="BFBFBF"/>
                </a:solidFill>
                <a:effectLst/>
                <a:latin typeface="-apple-system"/>
              </a:rPr>
              <a:t>perplexity</a:t>
            </a:r>
            <a:r>
              <a:rPr lang="es-ES" b="0" i="0" dirty="0">
                <a:solidFill>
                  <a:srgbClr val="BFBFBF"/>
                </a:solidFill>
                <a:effectLst/>
                <a:latin typeface="-apple-system"/>
              </a:rPr>
              <a:t>, porque hay muchas formas válidas de decir lo mismo. Por eso uso métricas externas en tres capas.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El pipeline </a:t>
            </a:r>
            <a:r>
              <a:rPr lang="en-US" dirty="0" err="1"/>
              <a:t>empieza</a:t>
            </a:r>
            <a:r>
              <a:rPr lang="en-US" dirty="0"/>
              <a:t> </a:t>
            </a:r>
            <a:r>
              <a:rPr lang="en-US" dirty="0" err="1"/>
              <a:t>por</a:t>
            </a:r>
            <a:r>
              <a:rPr lang="en-US" dirty="0"/>
              <a:t> </a:t>
            </a:r>
            <a:r>
              <a:rPr lang="en-US" dirty="0" err="1"/>
              <a:t>obtener</a:t>
            </a:r>
            <a:r>
              <a:rPr lang="en-US" dirty="0"/>
              <a:t> datos de </a:t>
            </a:r>
            <a:r>
              <a:rPr lang="en-US" dirty="0" err="1"/>
              <a:t>noticias</a:t>
            </a:r>
            <a:r>
              <a:rPr lang="en-US" dirty="0"/>
              <a:t> </a:t>
            </a:r>
            <a:r>
              <a:rPr lang="en-US" dirty="0" err="1"/>
              <a:t>financieras</a:t>
            </a:r>
            <a:r>
              <a:rPr lang="en-US" dirty="0"/>
              <a:t> (con la </a:t>
            </a:r>
            <a:r>
              <a:rPr lang="en-US" dirty="0" err="1"/>
              <a:t>bilbioteca</a:t>
            </a:r>
            <a:r>
              <a:rPr lang="en-US" dirty="0"/>
              <a:t> FNSPID) y datos de mercado (a traves de API de yahoo finance). </a:t>
            </a:r>
          </a:p>
          <a:p>
            <a:pPr marL="171450" indent="-171450">
              <a:buFontTx/>
              <a:buChar char="-"/>
            </a:pPr>
            <a:r>
              <a:rPr lang="en-US" dirty="0"/>
              <a:t>Para cada ticker y fecha se construye una ventana de contexto con noticias previas y features como retorno, volumen relativo o RSI. </a:t>
            </a:r>
          </a:p>
          <a:p>
            <a:pPr marL="171450" indent="-171450">
              <a:buFontTx/>
              <a:buChar char="-"/>
            </a:pPr>
            <a:r>
              <a:rPr lang="en-US" dirty="0" err="1"/>
              <a:t>Despues</a:t>
            </a:r>
            <a:r>
              <a:rPr lang="en-US" dirty="0"/>
              <a:t> hacemos un split temporal en train, validation y test. Esto es importante porque en finanzas no queremos entrenar con informacion futura. </a:t>
            </a:r>
          </a:p>
          <a:p>
            <a:pPr marL="171450" indent="-171450">
              <a:buFontTx/>
              <a:buChar char="-"/>
            </a:pPr>
            <a:r>
              <a:rPr lang="en-US" dirty="0"/>
              <a:t>Luego fine-tuneamos GPT-2, </a:t>
            </a:r>
          </a:p>
          <a:p>
            <a:pPr marL="171450" indent="-171450">
              <a:buFontTx/>
              <a:buChar char="-"/>
            </a:pPr>
            <a:r>
              <a:rPr lang="en-US" dirty="0" err="1"/>
              <a:t>generamos</a:t>
            </a:r>
            <a:r>
              <a:rPr lang="en-US" dirty="0"/>
              <a:t> predicciones sobre test y evaluamos.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Cómo</a:t>
            </a:r>
            <a:r>
              <a:rPr lang="en-US" dirty="0"/>
              <a:t> </a:t>
            </a:r>
            <a:r>
              <a:rPr lang="en-US" dirty="0" err="1"/>
              <a:t>construi</a:t>
            </a:r>
            <a:r>
              <a:rPr lang="en-US" dirty="0"/>
              <a:t> </a:t>
            </a:r>
            <a:r>
              <a:rPr lang="en-US" dirty="0" err="1"/>
              <a:t>el</a:t>
            </a:r>
            <a:r>
              <a:rPr lang="en-US" dirty="0"/>
              <a:t> dataset. </a:t>
            </a:r>
          </a:p>
          <a:p>
            <a:endParaRPr lang="en-US" dirty="0"/>
          </a:p>
          <a:p>
            <a:r>
              <a:rPr lang="en-US" dirty="0"/>
              <a:t>- Para </a:t>
            </a:r>
            <a:r>
              <a:rPr lang="en-US" dirty="0" err="1"/>
              <a:t>realizar</a:t>
            </a:r>
            <a:r>
              <a:rPr lang="en-US" dirty="0"/>
              <a:t> </a:t>
            </a:r>
            <a:r>
              <a:rPr lang="en-US" dirty="0" err="1"/>
              <a:t>el</a:t>
            </a:r>
            <a:r>
              <a:rPr lang="en-US" dirty="0"/>
              <a:t> fine-tuning de GPT2, </a:t>
            </a:r>
            <a:r>
              <a:rPr lang="en-US" dirty="0" err="1"/>
              <a:t>realice</a:t>
            </a:r>
            <a:r>
              <a:rPr lang="en-US" dirty="0"/>
              <a:t> prompt/completion (que </a:t>
            </a:r>
            <a:r>
              <a:rPr lang="en-US" dirty="0" err="1"/>
              <a:t>explcare</a:t>
            </a:r>
            <a:r>
              <a:rPr lang="en-US" dirty="0"/>
              <a:t> </a:t>
            </a:r>
            <a:r>
              <a:rPr lang="en-US" dirty="0" err="1"/>
              <a:t>en</a:t>
            </a:r>
            <a:r>
              <a:rPr lang="en-US" dirty="0"/>
              <a:t> la </a:t>
            </a:r>
            <a:r>
              <a:rPr lang="en-US" dirty="0" err="1"/>
              <a:t>proxima</a:t>
            </a:r>
            <a:r>
              <a:rPr lang="en-US" dirty="0"/>
              <a:t> slide) </a:t>
            </a:r>
            <a:r>
              <a:rPr lang="en-US" dirty="0" err="1"/>
              <a:t>utilizando</a:t>
            </a:r>
            <a:r>
              <a:rPr lang="en-US" dirty="0"/>
              <a:t> </a:t>
            </a:r>
            <a:r>
              <a:rPr lang="en-US" dirty="0" err="1"/>
              <a:t>información</a:t>
            </a:r>
            <a:r>
              <a:rPr lang="en-US" dirty="0"/>
              <a:t> de </a:t>
            </a:r>
            <a:r>
              <a:rPr lang="en-US" dirty="0" err="1"/>
              <a:t>los</a:t>
            </a:r>
            <a:r>
              <a:rPr lang="en-US" dirty="0"/>
              <a:t> k días </a:t>
            </a:r>
            <a:r>
              <a:rPr lang="en-US" dirty="0" err="1"/>
              <a:t>previos</a:t>
            </a:r>
            <a:r>
              <a:rPr lang="en-US" dirty="0"/>
              <a:t> a un día t+1.
- Las labels del target vienen del dato real. La direccion se infiere del retorno de t+1. El sentimiento se infiere con un lexicon simple de palabras positivas y negativas sobre los titulares reales de t+1, </a:t>
            </a:r>
            <a:r>
              <a:rPr lang="en-US" dirty="0" err="1"/>
              <a:t>aproposito</a:t>
            </a:r>
            <a:r>
              <a:rPr lang="en-US" dirty="0"/>
              <a:t> </a:t>
            </a:r>
            <a:r>
              <a:rPr lang="en-US" dirty="0" err="1"/>
              <a:t>porque</a:t>
            </a:r>
            <a:r>
              <a:rPr lang="en-US" dirty="0"/>
              <a:t> para </a:t>
            </a:r>
            <a:r>
              <a:rPr lang="en-US" dirty="0" err="1"/>
              <a:t>evaluar</a:t>
            </a:r>
            <a:r>
              <a:rPr lang="en-US" dirty="0"/>
              <a:t> se </a:t>
            </a:r>
            <a:r>
              <a:rPr lang="en-US" dirty="0" err="1"/>
              <a:t>usa</a:t>
            </a:r>
            <a:r>
              <a:rPr lang="en-US" dirty="0"/>
              <a:t> </a:t>
            </a:r>
            <a:r>
              <a:rPr lang="en-US" dirty="0" err="1"/>
              <a:t>FinBERT</a:t>
            </a:r>
            <a:r>
              <a:rPr lang="en-US" dirty="0"/>
              <a:t>.
- El split es estrictamente temporal: 70/15/15 ordenado por fecha, sin shuffle, para </a:t>
            </a:r>
            <a:r>
              <a:rPr lang="en-US" dirty="0" err="1"/>
              <a:t>evitar</a:t>
            </a:r>
            <a:r>
              <a:rPr lang="en-US" dirty="0"/>
              <a:t> data leakage.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 para </a:t>
            </a:r>
            <a:r>
              <a:rPr lang="en-US" dirty="0" err="1"/>
              <a:t>el</a:t>
            </a:r>
            <a:r>
              <a:rPr lang="en-US" dirty="0"/>
              <a:t> finetuning, </a:t>
            </a:r>
            <a:r>
              <a:rPr lang="en-US" dirty="0" err="1"/>
              <a:t>el</a:t>
            </a:r>
            <a:r>
              <a:rPr lang="en-US" dirty="0"/>
              <a:t> dataset lo </a:t>
            </a:r>
            <a:r>
              <a:rPr lang="en-US" dirty="0" err="1"/>
              <a:t>preprocese</a:t>
            </a:r>
            <a:r>
              <a:rPr lang="en-US" dirty="0"/>
              <a:t> </a:t>
            </a:r>
            <a:r>
              <a:rPr lang="en-US" dirty="0" err="1"/>
              <a:t>como</a:t>
            </a:r>
            <a:r>
              <a:rPr lang="en-US" dirty="0"/>
              <a:t> prompt/completion. </a:t>
            </a:r>
          </a:p>
          <a:p>
            <a:endParaRPr lang="en-US" dirty="0"/>
          </a:p>
          <a:p>
            <a:r>
              <a:rPr lang="en-US" dirty="0" err="1"/>
              <a:t>Yo</a:t>
            </a:r>
            <a:r>
              <a:rPr lang="en-US" dirty="0"/>
              <a:t> </a:t>
            </a:r>
            <a:r>
              <a:rPr lang="en-US" dirty="0" err="1"/>
              <a:t>quiero</a:t>
            </a:r>
            <a:r>
              <a:rPr lang="en-US" dirty="0"/>
              <a:t> </a:t>
            </a:r>
            <a:r>
              <a:rPr lang="en-US" dirty="0" err="1"/>
              <a:t>generar</a:t>
            </a:r>
            <a:r>
              <a:rPr lang="en-US" dirty="0"/>
              <a:t> la </a:t>
            </a:r>
            <a:r>
              <a:rPr lang="en-US"/>
              <a:t>narrativa </a:t>
            </a:r>
            <a:r>
              <a:rPr lang="en-US" dirty="0"/>
              <a:t>de un día t+1. </a:t>
            </a:r>
          </a:p>
          <a:p>
            <a:endParaRPr lang="en-US" dirty="0"/>
          </a:p>
          <a:p>
            <a:r>
              <a:rPr lang="en-US" dirty="0" err="1"/>
              <a:t>Entonces</a:t>
            </a:r>
            <a:r>
              <a:rPr lang="en-US" dirty="0"/>
              <a:t>, que </a:t>
            </a:r>
            <a:r>
              <a:rPr lang="en-US" dirty="0" err="1"/>
              <a:t>hago</a:t>
            </a:r>
            <a:r>
              <a:rPr lang="en-US" dirty="0"/>
              <a:t> ? Genero para </a:t>
            </a:r>
            <a:r>
              <a:rPr lang="en-US" dirty="0" err="1"/>
              <a:t>el</a:t>
            </a:r>
            <a:r>
              <a:rPr lang="en-US" dirty="0"/>
              <a:t> input un prompt que </a:t>
            </a:r>
            <a:r>
              <a:rPr lang="en-US" dirty="0" err="1"/>
              <a:t>contiene</a:t>
            </a:r>
            <a:r>
              <a:rPr lang="en-US" dirty="0"/>
              <a:t> el contexto disponible hasta el dia t: ticker, fecha, features numericas de mercado y la ventana de noticias previas de los </a:t>
            </a:r>
            <a:r>
              <a:rPr lang="en-US" dirty="0" err="1"/>
              <a:t>ultimos</a:t>
            </a:r>
            <a:r>
              <a:rPr lang="en-US" dirty="0"/>
              <a:t> k dias, es decir t-2, t-1 y t. </a:t>
            </a:r>
          </a:p>
          <a:p>
            <a:r>
              <a:rPr lang="en-US" dirty="0" err="1"/>
              <a:t>Entonces</a:t>
            </a:r>
            <a:r>
              <a:rPr lang="en-US" dirty="0"/>
              <a:t>, </a:t>
            </a:r>
            <a:r>
              <a:rPr lang="en-US" dirty="0" err="1"/>
              <a:t>el</a:t>
            </a:r>
            <a:r>
              <a:rPr lang="en-US" dirty="0"/>
              <a:t> target es la </a:t>
            </a:r>
            <a:r>
              <a:rPr lang="en-US" dirty="0" err="1"/>
              <a:t>narrativa</a:t>
            </a:r>
            <a:r>
              <a:rPr lang="en-US" dirty="0"/>
              <a:t> del dia t+1. 
Sobre las variantes: algunos runs usan target libre, solo titulares; otros usan la version estructurada con sentimiento y direccion, para comparar si estructurar la salida ayuda al </a:t>
            </a:r>
            <a:r>
              <a:rPr lang="en-US" dirty="0" err="1"/>
              <a:t>modelo</a:t>
            </a:r>
            <a:r>
              <a:rPr lang="en-US" dirty="0"/>
              <a:t>.</a:t>
            </a:r>
          </a:p>
          <a:p>
            <a:endParaRPr lang="en-US" dirty="0"/>
          </a:p>
          <a:p>
            <a:r>
              <a:rPr lang="en-US" dirty="0"/>
              <a:t>-</a:t>
            </a:r>
            <a:r>
              <a:rPr lang="es-ES" b="0" i="0" dirty="0">
                <a:solidFill>
                  <a:srgbClr val="BFBFBF"/>
                </a:solidFill>
                <a:effectLst/>
                <a:latin typeface="-apple-system"/>
              </a:rPr>
              <a:t>Durante el entrenamiento la pérdida está enmascarada sobre el </a:t>
            </a:r>
            <a:r>
              <a:rPr lang="es-ES" b="0" i="0" dirty="0" err="1">
                <a:solidFill>
                  <a:srgbClr val="BFBFBF"/>
                </a:solidFill>
                <a:effectLst/>
                <a:latin typeface="-apple-system"/>
              </a:rPr>
              <a:t>prompt</a:t>
            </a:r>
            <a:r>
              <a:rPr lang="es-ES" b="0" i="0" dirty="0">
                <a:solidFill>
                  <a:srgbClr val="BFBFBF"/>
                </a:solidFill>
                <a:effectLst/>
                <a:latin typeface="-apple-system"/>
              </a:rPr>
              <a:t>: las posiciones del </a:t>
            </a:r>
            <a:r>
              <a:rPr lang="es-ES" b="0" i="0" dirty="0" err="1">
                <a:solidFill>
                  <a:srgbClr val="BFBFBF"/>
                </a:solidFill>
                <a:effectLst/>
                <a:latin typeface="-apple-system"/>
              </a:rPr>
              <a:t>prompt</a:t>
            </a:r>
            <a:r>
              <a:rPr lang="es-ES" b="0" i="0" dirty="0">
                <a:solidFill>
                  <a:srgbClr val="BFBFBF"/>
                </a:solidFill>
                <a:effectLst/>
                <a:latin typeface="-apple-system"/>
              </a:rPr>
              <a:t> llevan </a:t>
            </a:r>
            <a:r>
              <a:rPr lang="es-ES" dirty="0"/>
              <a:t>-100</a:t>
            </a:r>
            <a:r>
              <a:rPr lang="es-ES" b="0" i="0" dirty="0">
                <a:solidFill>
                  <a:srgbClr val="BFBFBF"/>
                </a:solidFill>
                <a:effectLst/>
                <a:latin typeface="-apple-system"/>
              </a:rPr>
              <a:t> como </a:t>
            </a:r>
            <a:r>
              <a:rPr lang="es-ES" b="0" i="0" dirty="0" err="1">
                <a:solidFill>
                  <a:srgbClr val="BFBFBF"/>
                </a:solidFill>
                <a:effectLst/>
                <a:latin typeface="-apple-system"/>
              </a:rPr>
              <a:t>label</a:t>
            </a:r>
            <a:r>
              <a:rPr lang="es-ES" b="0" i="0" dirty="0">
                <a:solidFill>
                  <a:srgbClr val="BFBFBF"/>
                </a:solidFill>
                <a:effectLst/>
                <a:latin typeface="-apple-system"/>
              </a:rPr>
              <a:t>, que es la convención de </a:t>
            </a:r>
            <a:r>
              <a:rPr lang="es-ES" b="0" i="0" dirty="0" err="1">
                <a:solidFill>
                  <a:srgbClr val="BFBFBF"/>
                </a:solidFill>
                <a:effectLst/>
                <a:latin typeface="-apple-system"/>
              </a:rPr>
              <a:t>PyTorch</a:t>
            </a:r>
            <a:r>
              <a:rPr lang="es-ES" b="0" i="0" dirty="0">
                <a:solidFill>
                  <a:srgbClr val="BFBFBF"/>
                </a:solidFill>
                <a:effectLst/>
                <a:latin typeface="-apple-system"/>
              </a:rPr>
              <a:t> para 'ignorar'. Así el gradiente viene solo del </a:t>
            </a:r>
            <a:r>
              <a:rPr lang="es-ES" b="0" i="0" dirty="0" err="1">
                <a:solidFill>
                  <a:srgbClr val="BFBFBF"/>
                </a:solidFill>
                <a:effectLst/>
                <a:latin typeface="-apple-system"/>
              </a:rPr>
              <a:t>completion</a:t>
            </a:r>
            <a:r>
              <a:rPr lang="es-ES" b="0" i="0" dirty="0">
                <a:solidFill>
                  <a:srgbClr val="BFBFBF"/>
                </a:solidFill>
                <a:effectLst/>
                <a:latin typeface="-apple-system"/>
              </a:rPr>
              <a:t>. El modelo igual ve el </a:t>
            </a:r>
            <a:r>
              <a:rPr lang="es-ES" b="0" i="0" dirty="0" err="1">
                <a:solidFill>
                  <a:srgbClr val="BFBFBF"/>
                </a:solidFill>
                <a:effectLst/>
                <a:latin typeface="-apple-system"/>
              </a:rPr>
              <a:t>prompt</a:t>
            </a:r>
            <a:r>
              <a:rPr lang="es-ES" b="0" i="0" dirty="0">
                <a:solidFill>
                  <a:srgbClr val="BFBFBF"/>
                </a:solidFill>
                <a:effectLst/>
                <a:latin typeface="-apple-system"/>
              </a:rPr>
              <a:t> para condicionar, pero solo aprende a generar el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s-ES" b="0" i="0" dirty="0">
                <a:solidFill>
                  <a:srgbClr val="BFBFBF"/>
                </a:solidFill>
                <a:effectLst/>
                <a:latin typeface="-apple-system"/>
              </a:rPr>
              <a:t>Evalúo en tres capas: cada una cubre algo que las otras no ven.</a:t>
            </a:r>
          </a:p>
          <a:p>
            <a:pPr algn="l"/>
            <a:r>
              <a:rPr lang="es-ES" b="0" i="0" dirty="0">
                <a:solidFill>
                  <a:srgbClr val="BFBFBF"/>
                </a:solidFill>
                <a:effectLst/>
                <a:latin typeface="-apple-system"/>
              </a:rPr>
              <a:t>- La capa </a:t>
            </a:r>
            <a:r>
              <a:rPr lang="es-ES" b="1" i="0" dirty="0">
                <a:solidFill>
                  <a:srgbClr val="BFBFBF"/>
                </a:solidFill>
                <a:effectLst/>
                <a:latin typeface="-apple-system"/>
              </a:rPr>
              <a:t>textual</a:t>
            </a:r>
            <a:r>
              <a:rPr lang="es-ES" b="0" i="0" dirty="0">
                <a:solidFill>
                  <a:srgbClr val="BFBFBF"/>
                </a:solidFill>
                <a:effectLst/>
                <a:latin typeface="-apple-system"/>
              </a:rPr>
              <a:t>, con ROUGE-L, mide solapamiento de la </a:t>
            </a:r>
            <a:r>
              <a:rPr lang="es-ES" b="0" i="0" dirty="0" err="1">
                <a:solidFill>
                  <a:srgbClr val="BFBFBF"/>
                </a:solidFill>
                <a:effectLst/>
                <a:latin typeface="-apple-system"/>
              </a:rPr>
              <a:t>narritiva</a:t>
            </a:r>
            <a:r>
              <a:rPr lang="es-ES" b="0" i="0" dirty="0">
                <a:solidFill>
                  <a:srgbClr val="BFBFBF"/>
                </a:solidFill>
                <a:effectLst/>
                <a:latin typeface="-apple-system"/>
              </a:rPr>
              <a:t> generada, con la noticia real de ese día. Es la más conservadora, si el modelo dice lo mismo con otras palabras, ROUGE baja. Por eso lo trato como piso, no como criterio principal.</a:t>
            </a:r>
          </a:p>
          <a:p>
            <a:pPr algn="l"/>
            <a:r>
              <a:rPr lang="es-ES" b="0" i="0" dirty="0">
                <a:solidFill>
                  <a:srgbClr val="BFBFBF"/>
                </a:solidFill>
                <a:effectLst/>
                <a:latin typeface="-apple-system"/>
              </a:rPr>
              <a:t>- La capa </a:t>
            </a:r>
            <a:r>
              <a:rPr lang="es-ES" b="1" i="0" dirty="0">
                <a:solidFill>
                  <a:srgbClr val="BFBFBF"/>
                </a:solidFill>
                <a:effectLst/>
                <a:latin typeface="-apple-system"/>
              </a:rPr>
              <a:t>semántica</a:t>
            </a:r>
            <a:r>
              <a:rPr lang="es-ES" b="0" i="0" dirty="0">
                <a:solidFill>
                  <a:srgbClr val="BFBFBF"/>
                </a:solidFill>
                <a:effectLst/>
                <a:latin typeface="-apple-system"/>
              </a:rPr>
              <a:t> cubre esa limitación. </a:t>
            </a:r>
            <a:r>
              <a:rPr lang="es-ES" b="0" i="0" dirty="0" err="1">
                <a:solidFill>
                  <a:srgbClr val="BFBFBF"/>
                </a:solidFill>
                <a:effectLst/>
                <a:latin typeface="-apple-system"/>
              </a:rPr>
              <a:t>BERTScore</a:t>
            </a:r>
            <a:r>
              <a:rPr lang="es-ES" b="0" i="0" dirty="0">
                <a:solidFill>
                  <a:srgbClr val="BFBFBF"/>
                </a:solidFill>
                <a:effectLst/>
                <a:latin typeface="-apple-system"/>
              </a:rPr>
              <a:t> compara por </a:t>
            </a:r>
            <a:r>
              <a:rPr lang="es-ES" b="0" i="0" dirty="0" err="1">
                <a:solidFill>
                  <a:srgbClr val="BFBFBF"/>
                </a:solidFill>
                <a:effectLst/>
                <a:latin typeface="-apple-system"/>
              </a:rPr>
              <a:t>embeddings</a:t>
            </a:r>
            <a:r>
              <a:rPr lang="es-ES" b="0" i="0" dirty="0">
                <a:solidFill>
                  <a:srgbClr val="BFBFBF"/>
                </a:solidFill>
                <a:effectLst/>
                <a:latin typeface="-apple-system"/>
              </a:rPr>
              <a:t> y capta similitud cuando cambian las palabras pero el sentido se mantiene. Y </a:t>
            </a:r>
            <a:r>
              <a:rPr lang="es-ES" b="0" i="0" dirty="0" err="1">
                <a:solidFill>
                  <a:srgbClr val="BFBFBF"/>
                </a:solidFill>
                <a:effectLst/>
                <a:latin typeface="-apple-system"/>
              </a:rPr>
              <a:t>FinBERT</a:t>
            </a:r>
            <a:r>
              <a:rPr lang="es-ES" b="0" i="0" dirty="0">
                <a:solidFill>
                  <a:srgbClr val="BFBFBF"/>
                </a:solidFill>
                <a:effectLst/>
                <a:latin typeface="-apple-system"/>
              </a:rPr>
              <a:t> clasifica el sentimiento financiero, positivo, neutral o negativo, y me dice si el tono generado coincide con el tono real.</a:t>
            </a:r>
          </a:p>
          <a:p>
            <a:pPr algn="l"/>
            <a:r>
              <a:rPr lang="es-ES" b="0" i="0" dirty="0">
                <a:solidFill>
                  <a:srgbClr val="BFBFBF"/>
                </a:solidFill>
                <a:effectLst/>
                <a:latin typeface="-apple-system"/>
              </a:rPr>
              <a:t>- La capa </a:t>
            </a:r>
            <a:r>
              <a:rPr lang="es-ES" b="1" i="0" dirty="0">
                <a:solidFill>
                  <a:srgbClr val="BFBFBF"/>
                </a:solidFill>
                <a:effectLst/>
                <a:latin typeface="-apple-system"/>
              </a:rPr>
              <a:t>financiera</a:t>
            </a:r>
            <a:r>
              <a:rPr lang="es-ES" b="0" i="0" dirty="0">
                <a:solidFill>
                  <a:srgbClr val="BFBFBF"/>
                </a:solidFill>
                <a:effectLst/>
                <a:latin typeface="-apple-system"/>
              </a:rPr>
              <a:t> es la pregunta </a:t>
            </a:r>
            <a:r>
              <a:rPr lang="es-ES" b="0" i="0" dirty="0" err="1">
                <a:solidFill>
                  <a:srgbClr val="BFBFBF"/>
                </a:solidFill>
                <a:effectLst/>
                <a:latin typeface="-apple-system"/>
              </a:rPr>
              <a:t>downstream</a:t>
            </a:r>
            <a:r>
              <a:rPr lang="es-ES" b="0" i="0" dirty="0">
                <a:solidFill>
                  <a:srgbClr val="BFBFBF"/>
                </a:solidFill>
                <a:effectLst/>
                <a:latin typeface="-apple-system"/>
              </a:rPr>
              <a:t>: convierto el sentimiento o la dirección generada en una señal +1, -1 o 0 y la comparo con la dirección real del activo en t+1. Mide si la generación sirve para algo, más allá de parecerse al texto real.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b="0" i="0" kern="1200" dirty="0">
                <a:solidFill>
                  <a:schemeClr val="tx1"/>
                </a:solidFill>
                <a:effectLst/>
                <a:latin typeface="+mn-lt"/>
                <a:ea typeface="+mn-ea"/>
                <a:cs typeface="+mn-cs"/>
              </a:rPr>
              <a:t>Cada fila responde una pregunta distinta.</a:t>
            </a:r>
          </a:p>
          <a:p>
            <a:r>
              <a:rPr lang="es-ES" sz="1200" b="0" i="0" kern="1200" dirty="0">
                <a:solidFill>
                  <a:schemeClr val="tx1"/>
                </a:solidFill>
                <a:effectLst/>
                <a:latin typeface="+mn-lt"/>
                <a:ea typeface="+mn-ea"/>
                <a:cs typeface="+mn-cs"/>
              </a:rPr>
              <a:t>- Primero, GPT-2 sin fine-</a:t>
            </a:r>
            <a:r>
              <a:rPr lang="es-ES" sz="1200" b="0" i="0" kern="1200" dirty="0" err="1">
                <a:solidFill>
                  <a:schemeClr val="tx1"/>
                </a:solidFill>
                <a:effectLst/>
                <a:latin typeface="+mn-lt"/>
                <a:ea typeface="+mn-ea"/>
                <a:cs typeface="+mn-cs"/>
              </a:rPr>
              <a:t>tuning</a:t>
            </a:r>
            <a:r>
              <a:rPr lang="es-ES" sz="1200" b="0" i="0" kern="1200" dirty="0">
                <a:solidFill>
                  <a:schemeClr val="tx1"/>
                </a:solidFill>
                <a:effectLst/>
                <a:latin typeface="+mn-lt"/>
                <a:ea typeface="+mn-ea"/>
                <a:cs typeface="+mn-cs"/>
              </a:rPr>
              <a:t> funciona como </a:t>
            </a:r>
            <a:r>
              <a:rPr lang="es-ES" sz="1200" b="0" i="0" kern="1200" dirty="0" err="1">
                <a:solidFill>
                  <a:schemeClr val="tx1"/>
                </a:solidFill>
                <a:effectLst/>
                <a:latin typeface="+mn-lt"/>
                <a:ea typeface="+mn-ea"/>
                <a:cs typeface="+mn-cs"/>
              </a:rPr>
              <a:t>baseline</a:t>
            </a:r>
            <a:r>
              <a:rPr lang="es-ES" sz="1200" b="0" i="0" kern="1200" dirty="0">
                <a:solidFill>
                  <a:schemeClr val="tx1"/>
                </a:solidFill>
                <a:effectLst/>
                <a:latin typeface="+mn-lt"/>
                <a:ea typeface="+mn-ea"/>
                <a:cs typeface="+mn-cs"/>
              </a:rPr>
              <a:t>: tiene baja calidad textual y semántica, con ROUGE-L de 0.040 y </a:t>
            </a:r>
            <a:r>
              <a:rPr lang="es-ES" sz="1200" b="0" i="0" kern="1200" dirty="0" err="1">
                <a:solidFill>
                  <a:schemeClr val="tx1"/>
                </a:solidFill>
                <a:effectLst/>
                <a:latin typeface="+mn-lt"/>
                <a:ea typeface="+mn-ea"/>
                <a:cs typeface="+mn-cs"/>
              </a:rPr>
              <a:t>sentiment</a:t>
            </a:r>
            <a:r>
              <a:rPr lang="es-ES" sz="1200" b="0" i="0" kern="1200" dirty="0">
                <a:solidFill>
                  <a:schemeClr val="tx1"/>
                </a:solidFill>
                <a:effectLst/>
                <a:latin typeface="+mn-lt"/>
                <a:ea typeface="+mn-ea"/>
                <a:cs typeface="+mn-cs"/>
              </a:rPr>
              <a:t> match de 0.273. Eso nos muestra el punto de partida.</a:t>
            </a:r>
          </a:p>
          <a:p>
            <a:r>
              <a:rPr lang="es-ES" sz="1200" b="0" i="0" kern="1200" dirty="0">
                <a:solidFill>
                  <a:schemeClr val="tx1"/>
                </a:solidFill>
                <a:effectLst/>
                <a:latin typeface="+mn-lt"/>
                <a:ea typeface="+mn-ea"/>
                <a:cs typeface="+mn-cs"/>
              </a:rPr>
              <a:t>- Al hacer fine-</a:t>
            </a:r>
            <a:r>
              <a:rPr lang="es-ES" sz="1200" b="0" i="0" kern="1200" dirty="0" err="1">
                <a:solidFill>
                  <a:schemeClr val="tx1"/>
                </a:solidFill>
                <a:effectLst/>
                <a:latin typeface="+mn-lt"/>
                <a:ea typeface="+mn-ea"/>
                <a:cs typeface="+mn-cs"/>
              </a:rPr>
              <a:t>tuning</a:t>
            </a:r>
            <a:r>
              <a:rPr lang="es-ES" sz="1200" b="0" i="0" kern="1200" dirty="0">
                <a:solidFill>
                  <a:schemeClr val="tx1"/>
                </a:solidFill>
                <a:effectLst/>
                <a:latin typeface="+mn-lt"/>
                <a:ea typeface="+mn-ea"/>
                <a:cs typeface="+mn-cs"/>
              </a:rPr>
              <a:t>, las métricas de NLP mejoran: por ejemplo, NVDA + AMD llega al mejor ROUGE-L de la tabla, 0.074, y al mejor </a:t>
            </a:r>
            <a:r>
              <a:rPr lang="es-ES" sz="1200" b="0" i="0" kern="1200" dirty="0" err="1">
                <a:solidFill>
                  <a:schemeClr val="tx1"/>
                </a:solidFill>
                <a:effectLst/>
                <a:latin typeface="+mn-lt"/>
                <a:ea typeface="+mn-ea"/>
                <a:cs typeface="+mn-cs"/>
              </a:rPr>
              <a:t>sentiment</a:t>
            </a:r>
            <a:r>
              <a:rPr lang="es-ES" sz="1200" b="0" i="0" kern="1200" dirty="0">
                <a:solidFill>
                  <a:schemeClr val="tx1"/>
                </a:solidFill>
                <a:effectLst/>
                <a:latin typeface="+mn-lt"/>
                <a:ea typeface="+mn-ea"/>
                <a:cs typeface="+mn-cs"/>
              </a:rPr>
              <a:t> match, 0.442. Por eso lo tomo como el mejor balance textual y semántico.</a:t>
            </a:r>
          </a:p>
          <a:p>
            <a:r>
              <a:rPr lang="es-ES" sz="1200" b="0" i="0" kern="1200" dirty="0">
                <a:solidFill>
                  <a:schemeClr val="tx1"/>
                </a:solidFill>
                <a:effectLst/>
                <a:latin typeface="+mn-lt"/>
                <a:ea typeface="+mn-ea"/>
                <a:cs typeface="+mn-cs"/>
              </a:rPr>
              <a:t>Pero lo importante es que la </a:t>
            </a:r>
            <a:r>
              <a:rPr lang="es-ES" sz="1200" b="0" i="0" kern="1200" dirty="0" err="1">
                <a:solidFill>
                  <a:schemeClr val="tx1"/>
                </a:solidFill>
                <a:effectLst/>
                <a:latin typeface="+mn-lt"/>
                <a:ea typeface="+mn-ea"/>
                <a:cs typeface="+mn-cs"/>
              </a:rPr>
              <a:t>directional</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accuracy</a:t>
            </a:r>
            <a:r>
              <a:rPr lang="es-ES" sz="1200" b="0" i="0" kern="1200" dirty="0">
                <a:solidFill>
                  <a:schemeClr val="tx1"/>
                </a:solidFill>
                <a:effectLst/>
                <a:latin typeface="+mn-lt"/>
                <a:ea typeface="+mn-ea"/>
                <a:cs typeface="+mn-cs"/>
              </a:rPr>
              <a:t> no sigue necesariamente esa mejora. GPT-2 base tiene 0.549, incluso con peor calidad semántica. Entonces esta métrica financiera hay que tomarla con cuidado: puede capturar sesgos del </a:t>
            </a:r>
            <a:r>
              <a:rPr lang="es-ES" sz="1200" b="0" i="0" kern="1200" dirty="0" err="1">
                <a:solidFill>
                  <a:schemeClr val="tx1"/>
                </a:solidFill>
                <a:effectLst/>
                <a:latin typeface="+mn-lt"/>
                <a:ea typeface="+mn-ea"/>
                <a:cs typeface="+mn-cs"/>
              </a:rPr>
              <a:t>dataset</a:t>
            </a:r>
            <a:r>
              <a:rPr lang="es-ES" sz="1200" b="0" i="0" kern="1200" dirty="0">
                <a:solidFill>
                  <a:schemeClr val="tx1"/>
                </a:solidFill>
                <a:effectLst/>
                <a:latin typeface="+mn-lt"/>
                <a:ea typeface="+mn-ea"/>
                <a:cs typeface="+mn-cs"/>
              </a:rPr>
              <a:t> o de la regla de etiquetado, no necesariamente comprensión financiera.</a:t>
            </a:r>
          </a:p>
          <a:p>
            <a:r>
              <a:rPr lang="es-ES" sz="1200" b="0" i="0" kern="1200" dirty="0">
                <a:solidFill>
                  <a:schemeClr val="tx1"/>
                </a:solidFill>
                <a:effectLst/>
                <a:latin typeface="+mn-lt"/>
                <a:ea typeface="+mn-ea"/>
                <a:cs typeface="+mn-cs"/>
              </a:rPr>
              <a:t>La conclusión de esta </a:t>
            </a:r>
            <a:r>
              <a:rPr lang="es-ES" sz="1200" b="0" i="0" kern="1200" dirty="0" err="1">
                <a:solidFill>
                  <a:schemeClr val="tx1"/>
                </a:solidFill>
                <a:effectLst/>
                <a:latin typeface="+mn-lt"/>
                <a:ea typeface="+mn-ea"/>
                <a:cs typeface="+mn-cs"/>
              </a:rPr>
              <a:t>slide</a:t>
            </a:r>
            <a:r>
              <a:rPr lang="es-ES" sz="1200" b="0" i="0" kern="1200" dirty="0">
                <a:solidFill>
                  <a:schemeClr val="tx1"/>
                </a:solidFill>
                <a:effectLst/>
                <a:latin typeface="+mn-lt"/>
                <a:ea typeface="+mn-ea"/>
                <a:cs typeface="+mn-cs"/>
              </a:rPr>
              <a:t> es: el fine-</a:t>
            </a:r>
            <a:r>
              <a:rPr lang="es-ES" sz="1200" b="0" i="0" kern="1200" dirty="0" err="1">
                <a:solidFill>
                  <a:schemeClr val="tx1"/>
                </a:solidFill>
                <a:effectLst/>
                <a:latin typeface="+mn-lt"/>
                <a:ea typeface="+mn-ea"/>
                <a:cs typeface="+mn-cs"/>
              </a:rPr>
              <a:t>tuning</a:t>
            </a:r>
            <a:r>
              <a:rPr lang="es-ES" sz="1200" b="0" i="0" kern="1200" dirty="0">
                <a:solidFill>
                  <a:schemeClr val="tx1"/>
                </a:solidFill>
                <a:effectLst/>
                <a:latin typeface="+mn-lt"/>
                <a:ea typeface="+mn-ea"/>
                <a:cs typeface="+mn-cs"/>
              </a:rPr>
              <a:t> mejora la adaptación al dominio, pero no alcanza para afirmar capacidad predictiva.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b="0" i="1" kern="1200" dirty="0">
                <a:solidFill>
                  <a:schemeClr val="tx1"/>
                </a:solidFill>
                <a:effectLst/>
                <a:latin typeface="+mn-lt"/>
                <a:ea typeface="+mn-ea"/>
                <a:cs typeface="+mn-cs"/>
              </a:rPr>
              <a:t>Esta </a:t>
            </a:r>
            <a:r>
              <a:rPr lang="es-ES" sz="1200" b="0" i="1" kern="1200" dirty="0" err="1">
                <a:solidFill>
                  <a:schemeClr val="tx1"/>
                </a:solidFill>
                <a:effectLst/>
                <a:latin typeface="+mn-lt"/>
                <a:ea typeface="+mn-ea"/>
                <a:cs typeface="+mn-cs"/>
              </a:rPr>
              <a:t>slide</a:t>
            </a:r>
            <a:r>
              <a:rPr lang="es-ES" sz="1200" b="0" i="1" kern="1200" dirty="0">
                <a:solidFill>
                  <a:schemeClr val="tx1"/>
                </a:solidFill>
                <a:effectLst/>
                <a:latin typeface="+mn-lt"/>
                <a:ea typeface="+mn-ea"/>
                <a:cs typeface="+mn-cs"/>
              </a:rPr>
              <a:t> separa dos ideas que suelen confundirse. La </a:t>
            </a:r>
            <a:r>
              <a:rPr lang="es-ES" sz="1200" b="0" i="1" kern="1200" dirty="0" err="1">
                <a:solidFill>
                  <a:schemeClr val="tx1"/>
                </a:solidFill>
                <a:effectLst/>
                <a:latin typeface="+mn-lt"/>
                <a:ea typeface="+mn-ea"/>
                <a:cs typeface="+mn-cs"/>
              </a:rPr>
              <a:t>loss</a:t>
            </a:r>
            <a:r>
              <a:rPr lang="es-ES" sz="1200" b="0" i="1" kern="1200" dirty="0">
                <a:solidFill>
                  <a:schemeClr val="tx1"/>
                </a:solidFill>
                <a:effectLst/>
                <a:latin typeface="+mn-lt"/>
                <a:ea typeface="+mn-ea"/>
                <a:cs typeface="+mn-cs"/>
              </a:rPr>
              <a:t> y la </a:t>
            </a:r>
            <a:r>
              <a:rPr lang="es-ES" sz="1200" b="0" i="1" kern="1200" dirty="0" err="1">
                <a:solidFill>
                  <a:schemeClr val="tx1"/>
                </a:solidFill>
                <a:effectLst/>
                <a:latin typeface="+mn-lt"/>
                <a:ea typeface="+mn-ea"/>
                <a:cs typeface="+mn-cs"/>
              </a:rPr>
              <a:t>perplexity</a:t>
            </a:r>
            <a:r>
              <a:rPr lang="es-ES" sz="1200" b="0" i="1" kern="1200" dirty="0">
                <a:solidFill>
                  <a:schemeClr val="tx1"/>
                </a:solidFill>
                <a:effectLst/>
                <a:latin typeface="+mn-lt"/>
                <a:ea typeface="+mn-ea"/>
                <a:cs typeface="+mn-cs"/>
              </a:rPr>
              <a:t> sirven para ver si el modelo aprendió el objetivo de entrenamiento.</a:t>
            </a:r>
          </a:p>
          <a:p>
            <a:r>
              <a:rPr lang="es-ES" sz="1200" b="0" i="1" kern="1200" dirty="0">
                <a:solidFill>
                  <a:schemeClr val="tx1"/>
                </a:solidFill>
                <a:effectLst/>
                <a:latin typeface="+mn-lt"/>
                <a:ea typeface="+mn-ea"/>
                <a:cs typeface="+mn-cs"/>
              </a:rPr>
              <a:t>En las curvas se ve que, dentro de cada experimento, tanto la training </a:t>
            </a:r>
            <a:r>
              <a:rPr lang="es-ES" sz="1200" b="0" i="1" kern="1200" dirty="0" err="1">
                <a:solidFill>
                  <a:schemeClr val="tx1"/>
                </a:solidFill>
                <a:effectLst/>
                <a:latin typeface="+mn-lt"/>
                <a:ea typeface="+mn-ea"/>
                <a:cs typeface="+mn-cs"/>
              </a:rPr>
              <a:t>loss</a:t>
            </a:r>
            <a:r>
              <a:rPr lang="es-ES" sz="1200" b="0" i="1" kern="1200" dirty="0">
                <a:solidFill>
                  <a:schemeClr val="tx1"/>
                </a:solidFill>
                <a:effectLst/>
                <a:latin typeface="+mn-lt"/>
                <a:ea typeface="+mn-ea"/>
                <a:cs typeface="+mn-cs"/>
              </a:rPr>
              <a:t> como la </a:t>
            </a:r>
            <a:r>
              <a:rPr lang="es-ES" sz="1200" b="0" i="1" kern="1200" dirty="0" err="1">
                <a:solidFill>
                  <a:schemeClr val="tx1"/>
                </a:solidFill>
                <a:effectLst/>
                <a:latin typeface="+mn-lt"/>
                <a:ea typeface="+mn-ea"/>
                <a:cs typeface="+mn-cs"/>
              </a:rPr>
              <a:t>validation</a:t>
            </a:r>
            <a:r>
              <a:rPr lang="es-ES" sz="1200" b="0" i="1" kern="1200" dirty="0">
                <a:solidFill>
                  <a:schemeClr val="tx1"/>
                </a:solidFill>
                <a:effectLst/>
                <a:latin typeface="+mn-lt"/>
                <a:ea typeface="+mn-ea"/>
                <a:cs typeface="+mn-cs"/>
              </a:rPr>
              <a:t> </a:t>
            </a:r>
            <a:r>
              <a:rPr lang="es-ES" sz="1200" b="0" i="1" kern="1200" dirty="0" err="1">
                <a:solidFill>
                  <a:schemeClr val="tx1"/>
                </a:solidFill>
                <a:effectLst/>
                <a:latin typeface="+mn-lt"/>
                <a:ea typeface="+mn-ea"/>
                <a:cs typeface="+mn-cs"/>
              </a:rPr>
              <a:t>loss</a:t>
            </a:r>
            <a:r>
              <a:rPr lang="es-ES" sz="1200" b="0" i="1" kern="1200" dirty="0">
                <a:solidFill>
                  <a:schemeClr val="tx1"/>
                </a:solidFill>
                <a:effectLst/>
                <a:latin typeface="+mn-lt"/>
                <a:ea typeface="+mn-ea"/>
                <a:cs typeface="+mn-cs"/>
              </a:rPr>
              <a:t> bajan. Eso indica que el fine-</a:t>
            </a:r>
            <a:r>
              <a:rPr lang="es-ES" sz="1200" b="0" i="1" kern="1200" dirty="0" err="1">
                <a:solidFill>
                  <a:schemeClr val="tx1"/>
                </a:solidFill>
                <a:effectLst/>
                <a:latin typeface="+mn-lt"/>
                <a:ea typeface="+mn-ea"/>
                <a:cs typeface="+mn-cs"/>
              </a:rPr>
              <a:t>tuning</a:t>
            </a:r>
            <a:r>
              <a:rPr lang="es-ES" sz="1200" b="0" i="1" kern="1200" dirty="0">
                <a:solidFill>
                  <a:schemeClr val="tx1"/>
                </a:solidFill>
                <a:effectLst/>
                <a:latin typeface="+mn-lt"/>
                <a:ea typeface="+mn-ea"/>
                <a:cs typeface="+mn-cs"/>
              </a:rPr>
              <a:t> efectivamente está ajustando GPT-2 al corpus y al formato del target.</a:t>
            </a:r>
          </a:p>
          <a:p>
            <a:r>
              <a:rPr lang="es-ES" sz="1200" b="0" i="1" kern="1200" dirty="0">
                <a:solidFill>
                  <a:schemeClr val="tx1"/>
                </a:solidFill>
                <a:effectLst/>
                <a:latin typeface="+mn-lt"/>
                <a:ea typeface="+mn-ea"/>
                <a:cs typeface="+mn-cs"/>
              </a:rPr>
              <a:t>Pero entre </a:t>
            </a:r>
            <a:r>
              <a:rPr lang="es-ES" sz="1200" b="0" i="1" kern="1200" dirty="0" err="1">
                <a:solidFill>
                  <a:schemeClr val="tx1"/>
                </a:solidFill>
                <a:effectLst/>
                <a:latin typeface="+mn-lt"/>
                <a:ea typeface="+mn-ea"/>
                <a:cs typeface="+mn-cs"/>
              </a:rPr>
              <a:t>runs</a:t>
            </a:r>
            <a:r>
              <a:rPr lang="es-ES" sz="1200" b="0" i="1" kern="1200" dirty="0">
                <a:solidFill>
                  <a:schemeClr val="tx1"/>
                </a:solidFill>
                <a:effectLst/>
                <a:latin typeface="+mn-lt"/>
                <a:ea typeface="+mn-ea"/>
                <a:cs typeface="+mn-cs"/>
              </a:rPr>
              <a:t> hay que tener cuidado: no todos tienen exactamente el mismo target. Algunos targets son más estructurados o más regulares, y por eso pueden ser más fáciles de predecir.</a:t>
            </a:r>
          </a:p>
          <a:p>
            <a:r>
              <a:rPr lang="es-ES" sz="1200" b="0" i="1" kern="1200" dirty="0">
                <a:solidFill>
                  <a:schemeClr val="tx1"/>
                </a:solidFill>
                <a:effectLst/>
                <a:latin typeface="+mn-lt"/>
                <a:ea typeface="+mn-ea"/>
                <a:cs typeface="+mn-cs"/>
              </a:rPr>
              <a:t>Por ejemplo, una variante estructurada tenía una </a:t>
            </a:r>
            <a:r>
              <a:rPr lang="es-ES" sz="1200" b="0" i="1" kern="1200" dirty="0" err="1">
                <a:solidFill>
                  <a:schemeClr val="tx1"/>
                </a:solidFill>
                <a:effectLst/>
                <a:latin typeface="+mn-lt"/>
                <a:ea typeface="+mn-ea"/>
                <a:cs typeface="+mn-cs"/>
              </a:rPr>
              <a:t>perplexity</a:t>
            </a:r>
            <a:r>
              <a:rPr lang="es-ES" sz="1200" b="0" i="1" kern="1200" dirty="0">
                <a:solidFill>
                  <a:schemeClr val="tx1"/>
                </a:solidFill>
                <a:effectLst/>
                <a:latin typeface="+mn-lt"/>
                <a:ea typeface="+mn-ea"/>
                <a:cs typeface="+mn-cs"/>
              </a:rPr>
              <a:t> más baja, alrededor de 9.7, pero no fue la mejor en ROUGE-L ni en </a:t>
            </a:r>
            <a:r>
              <a:rPr lang="es-ES" sz="1200" b="0" i="1" kern="1200" dirty="0" err="1">
                <a:solidFill>
                  <a:schemeClr val="tx1"/>
                </a:solidFill>
                <a:effectLst/>
                <a:latin typeface="+mn-lt"/>
                <a:ea typeface="+mn-ea"/>
                <a:cs typeface="+mn-cs"/>
              </a:rPr>
              <a:t>BERTScore</a:t>
            </a:r>
            <a:r>
              <a:rPr lang="es-ES" sz="1200" b="0" i="1" kern="1200" dirty="0">
                <a:solidFill>
                  <a:schemeClr val="tx1"/>
                </a:solidFill>
                <a:effectLst/>
                <a:latin typeface="+mn-lt"/>
                <a:ea typeface="+mn-ea"/>
                <a:cs typeface="+mn-cs"/>
              </a:rPr>
              <a:t>. Entonces menor </a:t>
            </a:r>
            <a:r>
              <a:rPr lang="es-ES" sz="1200" b="0" i="1" kern="1200" dirty="0" err="1">
                <a:solidFill>
                  <a:schemeClr val="tx1"/>
                </a:solidFill>
                <a:effectLst/>
                <a:latin typeface="+mn-lt"/>
                <a:ea typeface="+mn-ea"/>
                <a:cs typeface="+mn-cs"/>
              </a:rPr>
              <a:t>perplexity</a:t>
            </a:r>
            <a:r>
              <a:rPr lang="es-ES" sz="1200" b="0" i="1" kern="1200" dirty="0">
                <a:solidFill>
                  <a:schemeClr val="tx1"/>
                </a:solidFill>
                <a:effectLst/>
                <a:latin typeface="+mn-lt"/>
                <a:ea typeface="+mn-ea"/>
                <a:cs typeface="+mn-cs"/>
              </a:rPr>
              <a:t> no significa automáticamente mejor narrativa ni mejor señal financiera.</a:t>
            </a:r>
          </a:p>
          <a:p>
            <a:r>
              <a:rPr lang="es-ES" sz="1200" b="0" i="1" kern="1200" dirty="0">
                <a:solidFill>
                  <a:schemeClr val="tx1"/>
                </a:solidFill>
                <a:effectLst/>
                <a:latin typeface="+mn-lt"/>
                <a:ea typeface="+mn-ea"/>
                <a:cs typeface="+mn-cs"/>
              </a:rPr>
              <a:t>La conclusión es: la </a:t>
            </a:r>
            <a:r>
              <a:rPr lang="es-ES" sz="1200" b="0" i="1" kern="1200" dirty="0" err="1">
                <a:solidFill>
                  <a:schemeClr val="tx1"/>
                </a:solidFill>
                <a:effectLst/>
                <a:latin typeface="+mn-lt"/>
                <a:ea typeface="+mn-ea"/>
                <a:cs typeface="+mn-cs"/>
              </a:rPr>
              <a:t>loss</a:t>
            </a:r>
            <a:r>
              <a:rPr lang="es-ES" sz="1200" b="0" i="1" kern="1200" dirty="0">
                <a:solidFill>
                  <a:schemeClr val="tx1"/>
                </a:solidFill>
                <a:effectLst/>
                <a:latin typeface="+mn-lt"/>
                <a:ea typeface="+mn-ea"/>
                <a:cs typeface="+mn-cs"/>
              </a:rPr>
              <a:t> confirma aprendizaje, pero la calidad final hay que evaluarla con métricas externas: ROUGE, </a:t>
            </a:r>
            <a:r>
              <a:rPr lang="es-ES" sz="1200" b="0" i="1" kern="1200" dirty="0" err="1">
                <a:solidFill>
                  <a:schemeClr val="tx1"/>
                </a:solidFill>
                <a:effectLst/>
                <a:latin typeface="+mn-lt"/>
                <a:ea typeface="+mn-ea"/>
                <a:cs typeface="+mn-cs"/>
              </a:rPr>
              <a:t>BERTScore</a:t>
            </a:r>
            <a:r>
              <a:rPr lang="es-ES" sz="1200" b="0" i="1" kern="1200" dirty="0">
                <a:solidFill>
                  <a:schemeClr val="tx1"/>
                </a:solidFill>
                <a:effectLst/>
                <a:latin typeface="+mn-lt"/>
                <a:ea typeface="+mn-ea"/>
                <a:cs typeface="+mn-cs"/>
              </a:rPr>
              <a:t>, sentimiento y </a:t>
            </a:r>
            <a:r>
              <a:rPr lang="es-ES" sz="1200" b="0" i="1" kern="1200" dirty="0" err="1">
                <a:solidFill>
                  <a:schemeClr val="tx1"/>
                </a:solidFill>
                <a:effectLst/>
                <a:latin typeface="+mn-lt"/>
                <a:ea typeface="+mn-ea"/>
                <a:cs typeface="+mn-cs"/>
              </a:rPr>
              <a:t>directional</a:t>
            </a:r>
            <a:r>
              <a:rPr lang="es-ES" sz="1200" b="0" i="1" kern="1200" dirty="0">
                <a:solidFill>
                  <a:schemeClr val="tx1"/>
                </a:solidFill>
                <a:effectLst/>
                <a:latin typeface="+mn-lt"/>
                <a:ea typeface="+mn-ea"/>
                <a:cs typeface="+mn-cs"/>
              </a:rPr>
              <a:t> </a:t>
            </a:r>
            <a:r>
              <a:rPr lang="es-ES" sz="1200" b="0" i="1" kern="1200" dirty="0" err="1">
                <a:solidFill>
                  <a:schemeClr val="tx1"/>
                </a:solidFill>
                <a:effectLst/>
                <a:latin typeface="+mn-lt"/>
                <a:ea typeface="+mn-ea"/>
                <a:cs typeface="+mn-cs"/>
              </a:rPr>
              <a:t>accuracy</a:t>
            </a:r>
            <a:r>
              <a:rPr lang="es-ES" sz="1200" b="0" i="1"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b="0" i="1" kern="1200" dirty="0">
                <a:solidFill>
                  <a:schemeClr val="tx1"/>
                </a:solidFill>
                <a:effectLst/>
                <a:latin typeface="+mn-lt"/>
                <a:ea typeface="+mn-ea"/>
                <a:cs typeface="+mn-cs"/>
              </a:rPr>
              <a:t>Esta </a:t>
            </a:r>
            <a:r>
              <a:rPr lang="es-ES" sz="1200" b="0" i="1" kern="1200" dirty="0" err="1">
                <a:solidFill>
                  <a:schemeClr val="tx1"/>
                </a:solidFill>
                <a:effectLst/>
                <a:latin typeface="+mn-lt"/>
                <a:ea typeface="+mn-ea"/>
                <a:cs typeface="+mn-cs"/>
              </a:rPr>
              <a:t>slide</a:t>
            </a:r>
            <a:r>
              <a:rPr lang="es-ES" sz="1200" b="0" i="1" kern="1200" dirty="0">
                <a:solidFill>
                  <a:schemeClr val="tx1"/>
                </a:solidFill>
                <a:effectLst/>
                <a:latin typeface="+mn-lt"/>
                <a:ea typeface="+mn-ea"/>
                <a:cs typeface="+mn-cs"/>
              </a:rPr>
              <a:t> muestra dos evaluaciones distintas.</a:t>
            </a:r>
          </a:p>
          <a:p>
            <a:r>
              <a:rPr lang="es-ES" sz="1200" b="0" i="1" kern="1200" dirty="0">
                <a:solidFill>
                  <a:schemeClr val="tx1"/>
                </a:solidFill>
                <a:effectLst/>
                <a:latin typeface="+mn-lt"/>
                <a:ea typeface="+mn-ea"/>
                <a:cs typeface="+mn-cs"/>
              </a:rPr>
              <a:t>En semántica, GPT-2 base tiene baja alineación con el sentimiento real: 0.273. </a:t>
            </a:r>
          </a:p>
          <a:p>
            <a:r>
              <a:rPr lang="es-ES" sz="1200" b="0" i="1" kern="1200" dirty="0">
                <a:solidFill>
                  <a:schemeClr val="tx1"/>
                </a:solidFill>
                <a:effectLst/>
                <a:latin typeface="+mn-lt"/>
                <a:ea typeface="+mn-ea"/>
                <a:cs typeface="+mn-cs"/>
              </a:rPr>
              <a:t>Con fine-</a:t>
            </a:r>
            <a:r>
              <a:rPr lang="es-ES" sz="1200" b="0" i="1" kern="1200" dirty="0" err="1">
                <a:solidFill>
                  <a:schemeClr val="tx1"/>
                </a:solidFill>
                <a:effectLst/>
                <a:latin typeface="+mn-lt"/>
                <a:ea typeface="+mn-ea"/>
                <a:cs typeface="+mn-cs"/>
              </a:rPr>
              <a:t>tuning</a:t>
            </a:r>
            <a:r>
              <a:rPr lang="es-ES" sz="1200" b="0" i="1" kern="1200" dirty="0">
                <a:solidFill>
                  <a:schemeClr val="tx1"/>
                </a:solidFill>
                <a:effectLst/>
                <a:latin typeface="+mn-lt"/>
                <a:ea typeface="+mn-ea"/>
                <a:cs typeface="+mn-cs"/>
              </a:rPr>
              <a:t> en NVDA + AMD mejora a 0.442, así que el modelo aprende algo del tono financiero, sin embargo vemos que la mayoría de las noticias se mantiene en un tono neutral. </a:t>
            </a:r>
          </a:p>
          <a:p>
            <a:endParaRPr lang="es-ES" sz="1200" b="0" i="1" kern="1200" dirty="0">
              <a:solidFill>
                <a:schemeClr val="tx1"/>
              </a:solidFill>
              <a:effectLst/>
              <a:latin typeface="+mn-lt"/>
              <a:ea typeface="+mn-ea"/>
              <a:cs typeface="+mn-cs"/>
            </a:endParaRPr>
          </a:p>
          <a:p>
            <a:r>
              <a:rPr lang="es-ES" sz="1200" b="0" i="1" kern="1200" dirty="0">
                <a:solidFill>
                  <a:schemeClr val="tx1"/>
                </a:solidFill>
                <a:effectLst/>
                <a:latin typeface="+mn-lt"/>
                <a:ea typeface="+mn-ea"/>
                <a:cs typeface="+mn-cs"/>
              </a:rPr>
              <a:t>Pero en la parte financiera, la </a:t>
            </a:r>
            <a:r>
              <a:rPr lang="es-ES" sz="1200" b="0" i="1" kern="1200" dirty="0" err="1">
                <a:solidFill>
                  <a:schemeClr val="tx1"/>
                </a:solidFill>
                <a:effectLst/>
                <a:latin typeface="+mn-lt"/>
                <a:ea typeface="+mn-ea"/>
                <a:cs typeface="+mn-cs"/>
              </a:rPr>
              <a:t>directional</a:t>
            </a:r>
            <a:r>
              <a:rPr lang="es-ES" sz="1200" b="0" i="1" kern="1200" dirty="0">
                <a:solidFill>
                  <a:schemeClr val="tx1"/>
                </a:solidFill>
                <a:effectLst/>
                <a:latin typeface="+mn-lt"/>
                <a:ea typeface="+mn-ea"/>
                <a:cs typeface="+mn-cs"/>
              </a:rPr>
              <a:t> </a:t>
            </a:r>
            <a:r>
              <a:rPr lang="es-ES" sz="1200" b="0" i="1" kern="1200" dirty="0" err="1">
                <a:solidFill>
                  <a:schemeClr val="tx1"/>
                </a:solidFill>
                <a:effectLst/>
                <a:latin typeface="+mn-lt"/>
                <a:ea typeface="+mn-ea"/>
                <a:cs typeface="+mn-cs"/>
              </a:rPr>
              <a:t>accuracy</a:t>
            </a:r>
            <a:r>
              <a:rPr lang="es-ES" sz="1200" b="0" i="1" kern="1200" dirty="0">
                <a:solidFill>
                  <a:schemeClr val="tx1"/>
                </a:solidFill>
                <a:effectLst/>
                <a:latin typeface="+mn-lt"/>
                <a:ea typeface="+mn-ea"/>
                <a:cs typeface="+mn-cs"/>
              </a:rPr>
              <a:t> es 0.530 con p-</a:t>
            </a:r>
            <a:r>
              <a:rPr lang="es-ES" sz="1200" b="0" i="1" kern="1200" dirty="0" err="1">
                <a:solidFill>
                  <a:schemeClr val="tx1"/>
                </a:solidFill>
                <a:effectLst/>
                <a:latin typeface="+mn-lt"/>
                <a:ea typeface="+mn-ea"/>
                <a:cs typeface="+mn-cs"/>
              </a:rPr>
              <a:t>value</a:t>
            </a:r>
            <a:r>
              <a:rPr lang="es-ES" sz="1200" b="0" i="1" kern="1200" dirty="0">
                <a:solidFill>
                  <a:schemeClr val="tx1"/>
                </a:solidFill>
                <a:effectLst/>
                <a:latin typeface="+mn-lt"/>
                <a:ea typeface="+mn-ea"/>
                <a:cs typeface="+mn-cs"/>
              </a:rPr>
              <a:t> 0.579, por lo que no hay evidencia robusta de predicción. Mejora la semántica, no necesariamente la señal financiera.</a:t>
            </a:r>
            <a:endParaRPr lang="es-E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aterriza las métricas en ejemplos concretos. </a:t>
            </a:r>
            <a:r>
              <a:rPr lang="en-US" dirty="0" err="1"/>
              <a:t>Vemos</a:t>
            </a:r>
            <a:r>
              <a:rPr lang="en-US" dirty="0"/>
              <a:t> 2 </a:t>
            </a:r>
            <a:r>
              <a:rPr lang="en-US" dirty="0" err="1"/>
              <a:t>casos</a:t>
            </a:r>
            <a:r>
              <a:rPr lang="en-US" dirty="0"/>
              <a:t> </a:t>
            </a:r>
            <a:r>
              <a:rPr lang="en-US" dirty="0" err="1"/>
              <a:t>donde</a:t>
            </a:r>
            <a:r>
              <a:rPr lang="en-US" dirty="0"/>
              <a:t> </a:t>
            </a:r>
            <a:r>
              <a:rPr lang="en-US" dirty="0" err="1"/>
              <a:t>comparo</a:t>
            </a:r>
            <a:r>
              <a:rPr lang="en-US" dirty="0"/>
              <a:t> gpt2-base con </a:t>
            </a:r>
            <a:r>
              <a:rPr lang="en-US" dirty="0" err="1"/>
              <a:t>el</a:t>
            </a:r>
            <a:r>
              <a:rPr lang="en-US" dirty="0"/>
              <a:t> </a:t>
            </a:r>
            <a:r>
              <a:rPr lang="en-US" dirty="0" err="1"/>
              <a:t>modelo</a:t>
            </a:r>
            <a:r>
              <a:rPr lang="en-US" dirty="0"/>
              <a:t> </a:t>
            </a:r>
            <a:r>
              <a:rPr lang="en-US" dirty="0" err="1"/>
              <a:t>finetuneado</a:t>
            </a:r>
            <a:r>
              <a:rPr lang="en-US" dirty="0"/>
              <a:t>.</a:t>
            </a:r>
          </a:p>
          <a:p>
            <a:endParaRPr lang="en-US" dirty="0"/>
          </a:p>
          <a:p>
            <a:r>
              <a:rPr lang="en-US" dirty="0"/>
              <a:t>- En el primer caso, GPT-2 base genera una explicación genérica sobre CPUs, mientras que el modelo fine-tuneado produce algo más parecido a un titular financiero del dominio AMD. No es perfecto, pero mejora el formato y la alineación semántica.
- En el segundo caso pasa algo importante: GPT-2 base acierta la dirección, pero el texto generado es una nota genérica de CNBC sobre el Dow Jones, poco relacionada con AMD. Entonces una directional accuracy correcta no significa que el modelo haya entendido el contexto financiero.
La conclusión es que necesitamos mirar métricas y ejemplos juntos.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b="0" i="1" kern="1200" dirty="0">
                <a:solidFill>
                  <a:schemeClr val="tx1"/>
                </a:solidFill>
                <a:effectLst/>
                <a:latin typeface="+mn-lt"/>
                <a:ea typeface="+mn-ea"/>
                <a:cs typeface="+mn-cs"/>
              </a:rPr>
              <a:t>Para cerrar, resumo el trabajo en dos partes: qué limitaciones tiene y qué podemos concluir.</a:t>
            </a:r>
          </a:p>
          <a:p>
            <a:endParaRPr lang="es-ES" sz="1200" b="0" i="1" kern="1200" dirty="0">
              <a:solidFill>
                <a:schemeClr val="tx1"/>
              </a:solidFill>
              <a:effectLst/>
              <a:latin typeface="+mn-lt"/>
              <a:ea typeface="+mn-ea"/>
              <a:cs typeface="+mn-cs"/>
            </a:endParaRPr>
          </a:p>
          <a:p>
            <a:r>
              <a:rPr lang="es-ES" sz="1200" b="0" i="1" kern="1200" dirty="0">
                <a:solidFill>
                  <a:schemeClr val="tx1"/>
                </a:solidFill>
                <a:effectLst/>
                <a:latin typeface="+mn-lt"/>
                <a:ea typeface="+mn-ea"/>
                <a:cs typeface="+mn-cs"/>
              </a:rPr>
              <a:t>Primero, las limitaciones. </a:t>
            </a:r>
          </a:p>
          <a:p>
            <a:pPr marL="171450" indent="-171450">
              <a:buFontTx/>
              <a:buChar char="-"/>
            </a:pPr>
            <a:r>
              <a:rPr lang="es-ES" sz="1200" b="0" i="1" kern="1200" dirty="0">
                <a:solidFill>
                  <a:schemeClr val="tx1"/>
                </a:solidFill>
                <a:effectLst/>
                <a:latin typeface="+mn-lt"/>
                <a:ea typeface="+mn-ea"/>
                <a:cs typeface="+mn-cs"/>
              </a:rPr>
              <a:t>El test set es chico para sacar conclusiones financieras robustas. Esto se debe principalmente a los datos que provee FNSPID</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1" kern="1200" dirty="0">
                <a:solidFill>
                  <a:schemeClr val="tx1"/>
                </a:solidFill>
                <a:effectLst/>
                <a:latin typeface="+mn-lt"/>
                <a:ea typeface="+mn-ea"/>
                <a:cs typeface="+mn-cs"/>
              </a:rPr>
              <a:t>- GPT-2 </a:t>
            </a:r>
            <a:r>
              <a:rPr lang="es-ES" sz="1200" b="0" i="1" kern="1200" dirty="0" err="1">
                <a:solidFill>
                  <a:schemeClr val="tx1"/>
                </a:solidFill>
                <a:effectLst/>
                <a:latin typeface="+mn-lt"/>
                <a:ea typeface="+mn-ea"/>
                <a:cs typeface="+mn-cs"/>
              </a:rPr>
              <a:t>small</a:t>
            </a:r>
            <a:r>
              <a:rPr lang="es-ES" sz="1200" b="0" i="1" kern="1200" dirty="0">
                <a:solidFill>
                  <a:schemeClr val="tx1"/>
                </a:solidFill>
                <a:effectLst/>
                <a:latin typeface="+mn-lt"/>
                <a:ea typeface="+mn-ea"/>
                <a:cs typeface="+mn-cs"/>
              </a:rPr>
              <a:t> tiene capacidad limitada, por eso a veces genera texto genérico. Además, trabajamos con titulares agregados por día, no con artículos completos</a:t>
            </a:r>
          </a:p>
          <a:p>
            <a:pPr marL="171450" indent="-171450">
              <a:buFontTx/>
              <a:buChar char="-"/>
            </a:pPr>
            <a:r>
              <a:rPr lang="es-ES" sz="1200" b="0" i="1" kern="1200" dirty="0">
                <a:solidFill>
                  <a:schemeClr val="tx1"/>
                </a:solidFill>
                <a:effectLst/>
                <a:latin typeface="+mn-lt"/>
                <a:ea typeface="+mn-ea"/>
                <a:cs typeface="+mn-cs"/>
              </a:rPr>
              <a:t>También usamos </a:t>
            </a:r>
            <a:r>
              <a:rPr lang="es-ES" sz="1200" b="0" i="1" kern="1200" dirty="0" err="1">
                <a:solidFill>
                  <a:schemeClr val="tx1"/>
                </a:solidFill>
                <a:effectLst/>
                <a:latin typeface="+mn-lt"/>
                <a:ea typeface="+mn-ea"/>
                <a:cs typeface="+mn-cs"/>
              </a:rPr>
              <a:t>FinBERT</a:t>
            </a:r>
            <a:r>
              <a:rPr lang="es-ES" sz="1200" b="0" i="1" kern="1200" dirty="0">
                <a:solidFill>
                  <a:schemeClr val="tx1"/>
                </a:solidFill>
                <a:effectLst/>
                <a:latin typeface="+mn-lt"/>
                <a:ea typeface="+mn-ea"/>
                <a:cs typeface="+mn-cs"/>
              </a:rPr>
              <a:t> como evaluador automático, que es útil, pero no es una verdad absoluta.</a:t>
            </a:r>
          </a:p>
          <a:p>
            <a:pPr marL="0" indent="0">
              <a:buFontTx/>
              <a:buNone/>
            </a:pPr>
            <a:endParaRPr lang="es-ES" sz="1200" b="0" i="1" kern="1200" dirty="0">
              <a:solidFill>
                <a:schemeClr val="tx1"/>
              </a:solidFill>
              <a:effectLst/>
              <a:latin typeface="+mn-lt"/>
              <a:ea typeface="+mn-ea"/>
              <a:cs typeface="+mn-cs"/>
            </a:endParaRPr>
          </a:p>
          <a:p>
            <a:r>
              <a:rPr lang="es-ES" sz="1200" b="0" i="1" kern="1200" dirty="0">
                <a:solidFill>
                  <a:schemeClr val="tx1"/>
                </a:solidFill>
                <a:effectLst/>
                <a:latin typeface="+mn-lt"/>
                <a:ea typeface="+mn-ea"/>
                <a:cs typeface="+mn-cs"/>
              </a:rPr>
              <a:t>Con esas limitaciones en mente, la conclusión principal es que GPT-2 base puede generar texto financiero genérico, pero con baja calidad semántica. </a:t>
            </a:r>
          </a:p>
          <a:p>
            <a:r>
              <a:rPr lang="es-ES" sz="1200" b="0" i="1" kern="1200" dirty="0">
                <a:solidFill>
                  <a:schemeClr val="tx1"/>
                </a:solidFill>
                <a:effectLst/>
                <a:latin typeface="+mn-lt"/>
                <a:ea typeface="+mn-ea"/>
                <a:cs typeface="+mn-cs"/>
              </a:rPr>
              <a:t>El fine-</a:t>
            </a:r>
            <a:r>
              <a:rPr lang="es-ES" sz="1200" b="0" i="1" kern="1200" dirty="0" err="1">
                <a:solidFill>
                  <a:schemeClr val="tx1"/>
                </a:solidFill>
                <a:effectLst/>
                <a:latin typeface="+mn-lt"/>
                <a:ea typeface="+mn-ea"/>
                <a:cs typeface="+mn-cs"/>
              </a:rPr>
              <a:t>tuning</a:t>
            </a:r>
            <a:r>
              <a:rPr lang="es-ES" sz="1200" b="0" i="1" kern="1200" dirty="0">
                <a:solidFill>
                  <a:schemeClr val="tx1"/>
                </a:solidFill>
                <a:effectLst/>
                <a:latin typeface="+mn-lt"/>
                <a:ea typeface="+mn-ea"/>
                <a:cs typeface="+mn-cs"/>
              </a:rPr>
              <a:t> mejora métricas de NLP como ROUGE-L y </a:t>
            </a:r>
            <a:r>
              <a:rPr lang="es-ES" sz="1200" b="0" i="1" kern="1200" dirty="0" err="1">
                <a:solidFill>
                  <a:schemeClr val="tx1"/>
                </a:solidFill>
                <a:effectLst/>
                <a:latin typeface="+mn-lt"/>
                <a:ea typeface="+mn-ea"/>
                <a:cs typeface="+mn-cs"/>
              </a:rPr>
              <a:t>sentiment</a:t>
            </a:r>
            <a:r>
              <a:rPr lang="es-ES" sz="1200" b="0" i="1" kern="1200" dirty="0">
                <a:solidFill>
                  <a:schemeClr val="tx1"/>
                </a:solidFill>
                <a:effectLst/>
                <a:latin typeface="+mn-lt"/>
                <a:ea typeface="+mn-ea"/>
                <a:cs typeface="+mn-cs"/>
              </a:rPr>
              <a:t> match, especialmente en el run NVDA + AMD.</a:t>
            </a:r>
          </a:p>
          <a:p>
            <a:r>
              <a:rPr lang="es-ES" sz="1200" b="0" i="1" kern="1200" dirty="0">
                <a:solidFill>
                  <a:schemeClr val="tx1"/>
                </a:solidFill>
                <a:effectLst/>
                <a:latin typeface="+mn-lt"/>
                <a:ea typeface="+mn-ea"/>
                <a:cs typeface="+mn-cs"/>
              </a:rPr>
              <a:t>También vimos que estructurar la salida con </a:t>
            </a:r>
            <a:r>
              <a:rPr lang="es-ES" sz="1200" b="0" i="1" kern="1200" dirty="0" err="1">
                <a:solidFill>
                  <a:schemeClr val="tx1"/>
                </a:solidFill>
                <a:effectLst/>
                <a:latin typeface="+mn-lt"/>
                <a:ea typeface="+mn-ea"/>
                <a:cs typeface="+mn-cs"/>
              </a:rPr>
              <a:t>label</a:t>
            </a:r>
            <a:r>
              <a:rPr lang="es-ES" sz="1200" b="0" i="1" kern="1200" dirty="0">
                <a:solidFill>
                  <a:schemeClr val="tx1"/>
                </a:solidFill>
                <a:effectLst/>
                <a:latin typeface="+mn-lt"/>
                <a:ea typeface="+mn-ea"/>
                <a:cs typeface="+mn-cs"/>
              </a:rPr>
              <a:t> </a:t>
            </a:r>
            <a:r>
              <a:rPr lang="es-ES" sz="1200" b="0" i="1" kern="1200" dirty="0" err="1">
                <a:solidFill>
                  <a:schemeClr val="tx1"/>
                </a:solidFill>
                <a:effectLst/>
                <a:latin typeface="+mn-lt"/>
                <a:ea typeface="+mn-ea"/>
                <a:cs typeface="+mn-cs"/>
              </a:rPr>
              <a:t>scoring</a:t>
            </a:r>
            <a:r>
              <a:rPr lang="es-ES" sz="1200" b="0" i="1" kern="1200" dirty="0">
                <a:solidFill>
                  <a:schemeClr val="tx1"/>
                </a:solidFill>
                <a:effectLst/>
                <a:latin typeface="+mn-lt"/>
                <a:ea typeface="+mn-ea"/>
                <a:cs typeface="+mn-cs"/>
              </a:rPr>
              <a:t> ayuda a ordenar el problema, pero no convierte automáticamente al modelo en predictor financiero.</a:t>
            </a:r>
          </a:p>
          <a:p>
            <a:r>
              <a:rPr lang="es-ES" sz="1200" b="0" i="1" kern="1200" dirty="0">
                <a:solidFill>
                  <a:schemeClr val="tx1"/>
                </a:solidFill>
                <a:effectLst/>
                <a:latin typeface="+mn-lt"/>
                <a:ea typeface="+mn-ea"/>
                <a:cs typeface="+mn-cs"/>
              </a:rPr>
              <a:t>Finalmente, la </a:t>
            </a:r>
            <a:r>
              <a:rPr lang="es-ES" sz="1200" b="0" i="1" kern="1200" dirty="0" err="1">
                <a:solidFill>
                  <a:schemeClr val="tx1"/>
                </a:solidFill>
                <a:effectLst/>
                <a:latin typeface="+mn-lt"/>
                <a:ea typeface="+mn-ea"/>
                <a:cs typeface="+mn-cs"/>
              </a:rPr>
              <a:t>directional</a:t>
            </a:r>
            <a:r>
              <a:rPr lang="es-ES" sz="1200" b="0" i="1" kern="1200" dirty="0">
                <a:solidFill>
                  <a:schemeClr val="tx1"/>
                </a:solidFill>
                <a:effectLst/>
                <a:latin typeface="+mn-lt"/>
                <a:ea typeface="+mn-ea"/>
                <a:cs typeface="+mn-cs"/>
              </a:rPr>
              <a:t> </a:t>
            </a:r>
            <a:r>
              <a:rPr lang="es-ES" sz="1200" b="0" i="1" kern="1200" dirty="0" err="1">
                <a:solidFill>
                  <a:schemeClr val="tx1"/>
                </a:solidFill>
                <a:effectLst/>
                <a:latin typeface="+mn-lt"/>
                <a:ea typeface="+mn-ea"/>
                <a:cs typeface="+mn-cs"/>
              </a:rPr>
              <a:t>accuracy</a:t>
            </a:r>
            <a:r>
              <a:rPr lang="es-ES" sz="1200" b="0" i="1" kern="1200" dirty="0">
                <a:solidFill>
                  <a:schemeClr val="tx1"/>
                </a:solidFill>
                <a:effectLst/>
                <a:latin typeface="+mn-lt"/>
                <a:ea typeface="+mn-ea"/>
                <a:cs typeface="+mn-cs"/>
              </a:rPr>
              <a:t> queda como una señal exploratoria: no hay significancia estadística fuerte, y además vimos que puede ser engañosa si se mira aislada.</a:t>
            </a:r>
          </a:p>
          <a:p>
            <a:r>
              <a:rPr lang="es-ES" sz="1200" b="0" i="1" kern="1200" dirty="0">
                <a:solidFill>
                  <a:schemeClr val="tx1"/>
                </a:solidFill>
                <a:effectLst/>
                <a:latin typeface="+mn-lt"/>
                <a:ea typeface="+mn-ea"/>
                <a:cs typeface="+mn-cs"/>
              </a:rPr>
              <a:t>Entonces, el aporte principal del proyecto no es una estrategia de trading, sino un pipeline reproducible de NLP generativo con evaluación multicapa: textual, semántica y financiera.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hape 2"/>
          <p:cNvSpPr/>
          <p:nvPr/>
        </p:nvSpPr>
        <p:spPr>
          <a:xfrm>
            <a:off x="640080" y="1792224"/>
            <a:ext cx="3657600" cy="0"/>
          </a:xfrm>
          <a:prstGeom prst="line">
            <a:avLst/>
          </a:prstGeom>
          <a:noFill/>
          <a:ln w="9525">
            <a:solidFill>
              <a:srgbClr val="BFBFBF"/>
            </a:solidFill>
            <a:prstDash val="solid"/>
          </a:ln>
        </p:spPr>
        <p:txBody>
          <a:bodyPr/>
          <a:lstStyle/>
          <a:p>
            <a:endParaRPr lang="es-AR"/>
          </a:p>
        </p:txBody>
      </p:sp>
      <p:sp>
        <p:nvSpPr>
          <p:cNvPr id="6" name="Text 3"/>
          <p:cNvSpPr/>
          <p:nvPr/>
        </p:nvSpPr>
        <p:spPr>
          <a:xfrm>
            <a:off x="640080" y="2514600"/>
            <a:ext cx="10908792" cy="2377440"/>
          </a:xfrm>
          <a:prstGeom prst="rect">
            <a:avLst/>
          </a:prstGeom>
          <a:noFill/>
          <a:ln/>
        </p:spPr>
        <p:txBody>
          <a:bodyPr wrap="square" lIns="0" tIns="0" rIns="0" bIns="0" rtlCol="0" anchor="t"/>
          <a:lstStyle/>
          <a:p>
            <a:pPr marL="0" indent="0" algn="l">
              <a:spcAft>
                <a:spcPts val="200"/>
              </a:spcAft>
              <a:buNone/>
            </a:pPr>
            <a:r>
              <a:rPr lang="en-US" sz="4400" dirty="0">
                <a:solidFill>
                  <a:srgbClr val="FFFFFF"/>
                </a:solidFill>
                <a:latin typeface="Georgia" pitchFamily="34" charset="0"/>
                <a:ea typeface="Georgia" pitchFamily="34" charset="-122"/>
                <a:cs typeface="Georgia" pitchFamily="34" charset="-120"/>
              </a:rPr>
              <a:t>Fine-tuning de GPT-2</a:t>
            </a:r>
            <a:endParaRPr lang="en-US" sz="4400" dirty="0"/>
          </a:p>
          <a:p>
            <a:pPr marL="0" indent="0" algn="l">
              <a:spcAft>
                <a:spcPts val="200"/>
              </a:spcAft>
              <a:buNone/>
            </a:pPr>
            <a:r>
              <a:rPr lang="en-US" sz="4400" dirty="0">
                <a:solidFill>
                  <a:srgbClr val="FFFFFF"/>
                </a:solidFill>
                <a:latin typeface="Georgia" pitchFamily="34" charset="0"/>
                <a:ea typeface="Georgia" pitchFamily="34" charset="-122"/>
                <a:cs typeface="Georgia" pitchFamily="34" charset="-120"/>
              </a:rPr>
              <a:t>para generación de narrativas</a:t>
            </a:r>
            <a:endParaRPr lang="en-US" sz="4400" dirty="0"/>
          </a:p>
          <a:p>
            <a:pPr marL="0" indent="0" algn="l">
              <a:spcAft>
                <a:spcPts val="200"/>
              </a:spcAft>
              <a:buNone/>
            </a:pPr>
            <a:r>
              <a:rPr lang="en-US" sz="4400" dirty="0">
                <a:solidFill>
                  <a:srgbClr val="FFFFFF"/>
                </a:solidFill>
                <a:latin typeface="Georgia" pitchFamily="34" charset="0"/>
                <a:ea typeface="Georgia" pitchFamily="34" charset="-122"/>
                <a:cs typeface="Georgia" pitchFamily="34" charset="-120"/>
              </a:rPr>
              <a:t>financieras</a:t>
            </a:r>
            <a:endParaRPr lang="en-US" sz="4400" dirty="0"/>
          </a:p>
        </p:txBody>
      </p:sp>
      <p:sp>
        <p:nvSpPr>
          <p:cNvPr id="7" name="Text 4"/>
          <p:cNvSpPr/>
          <p:nvPr/>
        </p:nvSpPr>
        <p:spPr>
          <a:xfrm>
            <a:off x="640080" y="5212080"/>
            <a:ext cx="8229600" cy="1097280"/>
          </a:xfrm>
          <a:prstGeom prst="rect">
            <a:avLst/>
          </a:prstGeom>
          <a:noFill/>
          <a:ln/>
        </p:spPr>
        <p:txBody>
          <a:bodyPr wrap="square" lIns="0" tIns="0" rIns="0" bIns="0" rtlCol="0" anchor="t"/>
          <a:lstStyle/>
          <a:p>
            <a:pPr marL="0" indent="0" algn="l">
              <a:buNone/>
            </a:pPr>
            <a:r>
              <a:rPr lang="en-US" sz="1300" dirty="0">
                <a:solidFill>
                  <a:srgbClr val="BFBFBF"/>
                </a:solidFill>
                <a:latin typeface="Calibri" pitchFamily="34" charset="0"/>
                <a:ea typeface="Calibri" pitchFamily="34" charset="-122"/>
                <a:cs typeface="Calibri" pitchFamily="34" charset="-120"/>
              </a:rPr>
              <a:t>Un pipeline de NLP generativo aplicado a finanzas: dado un contexto financiero previo, adaptamos un modelo de lenguaje causal para producir la narrativa del día siguiente y la evaluamos de forma crítica.</a:t>
            </a:r>
            <a:endParaRPr lang="en-US" sz="1300" dirty="0"/>
          </a:p>
        </p:txBody>
      </p:sp>
      <p:sp>
        <p:nvSpPr>
          <p:cNvPr id="8" name="Text 7">
            <a:extLst>
              <a:ext uri="{FF2B5EF4-FFF2-40B4-BE49-F238E27FC236}">
                <a16:creationId xmlns:a16="http://schemas.microsoft.com/office/drawing/2014/main" id="{D5F1878D-66BF-D41B-2432-D7943F80AF58}"/>
              </a:ext>
            </a:extLst>
          </p:cNvPr>
          <p:cNvSpPr/>
          <p:nvPr/>
        </p:nvSpPr>
        <p:spPr>
          <a:xfrm>
            <a:off x="640080" y="624380"/>
            <a:ext cx="7772400" cy="795528"/>
          </a:xfrm>
          <a:prstGeom prst="rect">
            <a:avLst/>
          </a:prstGeom>
          <a:noFill/>
          <a:ln/>
        </p:spPr>
        <p:txBody>
          <a:bodyPr wrap="square" lIns="0" tIns="0" rIns="0" bIns="0" rtlCol="0" anchor="ctr"/>
          <a:lstStyle/>
          <a:p>
            <a:pPr marL="0" indent="0">
              <a:buNone/>
            </a:pPr>
            <a:r>
              <a:rPr lang="en-US" sz="1050" b="1" kern="0" spc="200" dirty="0">
                <a:solidFill>
                  <a:schemeClr val="bg1">
                    <a:lumMod val="75000"/>
                  </a:schemeClr>
                </a:solidFill>
                <a:latin typeface="Calibri" pitchFamily="34" charset="0"/>
                <a:ea typeface="Calibri" pitchFamily="34" charset="-122"/>
                <a:cs typeface="Calibri" pitchFamily="34" charset="-120"/>
              </a:rPr>
              <a:t>PROCESAMIENTO DE LENGUAJE NATURAL</a:t>
            </a:r>
          </a:p>
          <a:p>
            <a:pPr marL="0" indent="0">
              <a:buNone/>
            </a:pPr>
            <a:endParaRPr lang="en-US" sz="1050" b="1" kern="0" spc="200" dirty="0">
              <a:solidFill>
                <a:schemeClr val="bg1">
                  <a:lumMod val="75000"/>
                </a:schemeClr>
              </a:solidFill>
              <a:latin typeface="Calibri" pitchFamily="34" charset="0"/>
              <a:ea typeface="Calibri" pitchFamily="34" charset="-122"/>
              <a:cs typeface="Calibri" pitchFamily="34" charset="-120"/>
            </a:endParaRPr>
          </a:p>
          <a:p>
            <a:pPr marL="0" indent="0">
              <a:buNone/>
            </a:pPr>
            <a:r>
              <a:rPr lang="en-US" sz="1050" b="1" kern="0" spc="200" dirty="0">
                <a:solidFill>
                  <a:schemeClr val="bg1">
                    <a:lumMod val="75000"/>
                  </a:schemeClr>
                </a:solidFill>
                <a:latin typeface="Calibri" pitchFamily="34" charset="0"/>
                <a:ea typeface="Calibri" pitchFamily="34" charset="-122"/>
                <a:cs typeface="Calibri" pitchFamily="34" charset="-120"/>
              </a:rPr>
              <a:t>Universidad de San Andres - Luciano Rielo</a:t>
            </a:r>
            <a:endParaRPr lang="en-US" sz="1050" dirty="0">
              <a:solidFill>
                <a:schemeClr val="bg1">
                  <a:lumMod val="75000"/>
                </a:schemeClr>
              </a:solidFill>
            </a:endParaRPr>
          </a:p>
        </p:txBody>
      </p:sp>
    </p:spTree>
    <p:extLst>
      <p:ext uri="{BB962C8B-B14F-4D97-AF65-F5344CB8AC3E}">
        <p14:creationId xmlns:p14="http://schemas.microsoft.com/office/powerpoint/2010/main" val="696192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854964"/>
            <a:ext cx="10332720" cy="749808"/>
          </a:xfrm>
          <a:prstGeom prst="rect">
            <a:avLst/>
          </a:prstGeom>
          <a:noFill/>
          <a:ln/>
        </p:spPr>
        <p:txBody>
          <a:bodyPr wrap="square" lIns="0" tIns="0" rIns="0" bIns="0" rtlCol="0" anchor="ctr"/>
          <a:lstStyle/>
          <a:p>
            <a:pPr marL="0" indent="0">
              <a:buNone/>
            </a:pPr>
            <a:r>
              <a:rPr lang="en-US" sz="2800" b="1" dirty="0" err="1">
                <a:solidFill>
                  <a:srgbClr val="23304A"/>
                </a:solidFill>
                <a:latin typeface="Arial" panose="020B0604020202020204" pitchFamily="34" charset="0"/>
                <a:ea typeface="Georgia" pitchFamily="34" charset="-122"/>
                <a:cs typeface="Arial" panose="020B0604020202020204" pitchFamily="34" charset="0"/>
              </a:rPr>
              <a:t>Capas</a:t>
            </a:r>
            <a:r>
              <a:rPr lang="en-US" sz="2800" b="1" dirty="0">
                <a:solidFill>
                  <a:srgbClr val="23304A"/>
                </a:solidFill>
                <a:latin typeface="Arial" panose="020B0604020202020204" pitchFamily="34" charset="0"/>
                <a:ea typeface="Georgia" pitchFamily="34" charset="-122"/>
                <a:cs typeface="Arial" panose="020B0604020202020204" pitchFamily="34" charset="0"/>
              </a:rPr>
              <a:t> de </a:t>
            </a:r>
            <a:r>
              <a:rPr lang="en-US" sz="2800" b="1" dirty="0" err="1">
                <a:solidFill>
                  <a:srgbClr val="23304A"/>
                </a:solidFill>
                <a:latin typeface="Arial" panose="020B0604020202020204" pitchFamily="34" charset="0"/>
                <a:ea typeface="Georgia" pitchFamily="34" charset="-122"/>
                <a:cs typeface="Arial" panose="020B0604020202020204" pitchFamily="34" charset="0"/>
              </a:rPr>
              <a:t>análisis</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Arial" panose="020B0604020202020204" pitchFamily="34" charset="0"/>
                <a:ea typeface="Georgia" pitchFamily="34" charset="-122"/>
                <a:cs typeface="Arial" panose="020B0604020202020204" pitchFamily="34" charset="0"/>
              </a:rPr>
              <a:t>02</a:t>
            </a:r>
            <a:endParaRPr lang="en-US" sz="1500" dirty="0">
              <a:latin typeface="Arial" panose="020B0604020202020204" pitchFamily="34" charset="0"/>
              <a:cs typeface="Arial" panose="020B0604020202020204" pitchFamily="34" charset="0"/>
            </a:endParaRPr>
          </a:p>
        </p:txBody>
      </p:sp>
      <p:sp>
        <p:nvSpPr>
          <p:cNvPr id="6" name="Shape 4"/>
          <p:cNvSpPr/>
          <p:nvPr/>
        </p:nvSpPr>
        <p:spPr>
          <a:xfrm>
            <a:off x="640080" y="2057400"/>
            <a:ext cx="3456432" cy="2331720"/>
          </a:xfrm>
          <a:prstGeom prst="rect">
            <a:avLst/>
          </a:prstGeom>
          <a:solidFill>
            <a:srgbClr val="EAF1F4"/>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sp>
        <p:nvSpPr>
          <p:cNvPr id="8" name="Shape 6"/>
          <p:cNvSpPr/>
          <p:nvPr/>
        </p:nvSpPr>
        <p:spPr>
          <a:xfrm>
            <a:off x="914400" y="2350008"/>
            <a:ext cx="566928" cy="566928"/>
          </a:xfrm>
          <a:prstGeom prst="ellipse">
            <a:avLst/>
          </a:prstGeom>
          <a:solidFill>
            <a:schemeClr val="tx2">
              <a:lumMod val="75000"/>
            </a:schemeClr>
          </a:solidFill>
          <a:ln w="12700">
            <a:solidFill>
              <a:srgbClr val="333333"/>
            </a:solidFill>
            <a:prstDash val="solid"/>
          </a:ln>
        </p:spPr>
        <p:txBody>
          <a:bodyPr/>
          <a:lstStyle/>
          <a:p>
            <a:endParaRPr lang="es-AR"/>
          </a:p>
        </p:txBody>
      </p:sp>
      <p:sp>
        <p:nvSpPr>
          <p:cNvPr id="9" name="Text 7"/>
          <p:cNvSpPr/>
          <p:nvPr/>
        </p:nvSpPr>
        <p:spPr>
          <a:xfrm>
            <a:off x="914400" y="235000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Georgia" pitchFamily="34" charset="-122"/>
                <a:cs typeface="Arial" panose="020B0604020202020204" pitchFamily="34" charset="0"/>
              </a:rPr>
              <a:t>1</a:t>
            </a:r>
            <a:endParaRPr lang="en-US" sz="2200" dirty="0">
              <a:latin typeface="Arial" panose="020B0604020202020204" pitchFamily="34" charset="0"/>
              <a:cs typeface="Arial" panose="020B0604020202020204" pitchFamily="34" charset="0"/>
            </a:endParaRPr>
          </a:p>
        </p:txBody>
      </p:sp>
      <p:pic>
        <p:nvPicPr>
          <p:cNvPr id="10" name="Image 0" descr="icon_text.png"/>
          <p:cNvPicPr>
            <a:picLocks noChangeAspect="1"/>
          </p:cNvPicPr>
          <p:nvPr/>
        </p:nvPicPr>
        <p:blipFill>
          <a:blip r:embed="rId3"/>
          <a:stretch>
            <a:fillRect/>
          </a:stretch>
        </p:blipFill>
        <p:spPr>
          <a:xfrm>
            <a:off x="3383280" y="2368296"/>
            <a:ext cx="384048" cy="384048"/>
          </a:xfrm>
          <a:prstGeom prst="rect">
            <a:avLst/>
          </a:prstGeom>
        </p:spPr>
      </p:pic>
      <p:sp>
        <p:nvSpPr>
          <p:cNvPr id="11" name="Text 8"/>
          <p:cNvSpPr/>
          <p:nvPr/>
        </p:nvSpPr>
        <p:spPr>
          <a:xfrm>
            <a:off x="914400" y="3081528"/>
            <a:ext cx="2907792" cy="457200"/>
          </a:xfrm>
          <a:prstGeom prst="rect">
            <a:avLst/>
          </a:prstGeom>
          <a:noFill/>
          <a:ln/>
        </p:spPr>
        <p:txBody>
          <a:bodyPr wrap="square" lIns="0" tIns="0" rIns="0" bIns="0" rtlCol="0" anchor="ctr"/>
          <a:lstStyle/>
          <a:p>
            <a:pPr marL="0" indent="0">
              <a:buNone/>
            </a:pPr>
            <a:r>
              <a:rPr lang="en-US" sz="1500" b="1" dirty="0">
                <a:solidFill>
                  <a:srgbClr val="23304A"/>
                </a:solidFill>
                <a:latin typeface="Arial" panose="020B0604020202020204" pitchFamily="34" charset="0"/>
                <a:ea typeface="Calibri" pitchFamily="34" charset="-122"/>
                <a:cs typeface="Arial" panose="020B0604020202020204" pitchFamily="34" charset="0"/>
              </a:rPr>
              <a:t>Calidad textual</a:t>
            </a:r>
            <a:endParaRPr lang="en-US" sz="1500" dirty="0">
              <a:latin typeface="Arial" panose="020B0604020202020204" pitchFamily="34" charset="0"/>
              <a:cs typeface="Arial" panose="020B0604020202020204" pitchFamily="34" charset="0"/>
            </a:endParaRPr>
          </a:p>
        </p:txBody>
      </p:sp>
      <p:sp>
        <p:nvSpPr>
          <p:cNvPr id="12" name="Text 9"/>
          <p:cNvSpPr/>
          <p:nvPr/>
        </p:nvSpPr>
        <p:spPr>
          <a:xfrm>
            <a:off x="914400" y="3502152"/>
            <a:ext cx="2907792" cy="822960"/>
          </a:xfrm>
          <a:prstGeom prst="rect">
            <a:avLst/>
          </a:prstGeom>
          <a:noFill/>
          <a:ln/>
        </p:spPr>
        <p:txBody>
          <a:bodyPr wrap="square" lIns="0" tIns="0" rIns="0" bIns="0" rtlCol="0" anchor="ctr"/>
          <a:lstStyle/>
          <a:p>
            <a:pPr marL="0" indent="0">
              <a:lnSpc>
                <a:spcPct val="115000"/>
              </a:lnSpc>
              <a:buNone/>
            </a:pPr>
            <a:r>
              <a:rPr lang="en-US" sz="1100" dirty="0">
                <a:solidFill>
                  <a:srgbClr val="667085"/>
                </a:solidFill>
                <a:latin typeface="Arial" panose="020B0604020202020204" pitchFamily="34" charset="0"/>
                <a:ea typeface="Calibri" pitchFamily="34" charset="-122"/>
                <a:cs typeface="Arial" panose="020B0604020202020204" pitchFamily="34" charset="0"/>
              </a:rPr>
              <a:t>¿Puede GPT-2 generar texto financiero plausible? ¿El fine-tuning mejora frente al modelo base?</a:t>
            </a:r>
            <a:endParaRPr lang="en-US" sz="1100" dirty="0">
              <a:latin typeface="Arial" panose="020B0604020202020204" pitchFamily="34" charset="0"/>
              <a:cs typeface="Arial" panose="020B0604020202020204" pitchFamily="34" charset="0"/>
            </a:endParaRPr>
          </a:p>
        </p:txBody>
      </p:sp>
      <p:sp>
        <p:nvSpPr>
          <p:cNvPr id="13" name="Shape 10"/>
          <p:cNvSpPr/>
          <p:nvPr/>
        </p:nvSpPr>
        <p:spPr>
          <a:xfrm>
            <a:off x="4343400" y="2057400"/>
            <a:ext cx="3456432" cy="2331720"/>
          </a:xfrm>
          <a:prstGeom prst="rect">
            <a:avLst/>
          </a:prstGeom>
          <a:solidFill>
            <a:srgbClr val="EAF1F4"/>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sp>
        <p:nvSpPr>
          <p:cNvPr id="15" name="Shape 12"/>
          <p:cNvSpPr/>
          <p:nvPr/>
        </p:nvSpPr>
        <p:spPr>
          <a:xfrm>
            <a:off x="4617720" y="2350008"/>
            <a:ext cx="566928" cy="566928"/>
          </a:xfrm>
          <a:prstGeom prst="ellipse">
            <a:avLst/>
          </a:prstGeom>
          <a:solidFill>
            <a:srgbClr val="2A7F8C"/>
          </a:solidFill>
          <a:ln w="12700">
            <a:solidFill>
              <a:srgbClr val="333333"/>
            </a:solidFill>
            <a:prstDash val="solid"/>
          </a:ln>
        </p:spPr>
        <p:txBody>
          <a:bodyPr/>
          <a:lstStyle/>
          <a:p>
            <a:endParaRPr lang="es-AR"/>
          </a:p>
        </p:txBody>
      </p:sp>
      <p:sp>
        <p:nvSpPr>
          <p:cNvPr id="16" name="Text 13"/>
          <p:cNvSpPr/>
          <p:nvPr/>
        </p:nvSpPr>
        <p:spPr>
          <a:xfrm>
            <a:off x="4617720" y="235000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Georgia" pitchFamily="34" charset="-122"/>
                <a:cs typeface="Arial" panose="020B0604020202020204" pitchFamily="34" charset="0"/>
              </a:rPr>
              <a:t>2</a:t>
            </a:r>
            <a:endParaRPr lang="en-US" sz="2200" dirty="0">
              <a:latin typeface="Arial" panose="020B0604020202020204" pitchFamily="34" charset="0"/>
              <a:cs typeface="Arial" panose="020B0604020202020204" pitchFamily="34" charset="0"/>
            </a:endParaRPr>
          </a:p>
        </p:txBody>
      </p:sp>
      <p:pic>
        <p:nvPicPr>
          <p:cNvPr id="17" name="Image 1" descr="icon_balance.png"/>
          <p:cNvPicPr>
            <a:picLocks noChangeAspect="1"/>
          </p:cNvPicPr>
          <p:nvPr/>
        </p:nvPicPr>
        <p:blipFill>
          <a:blip r:embed="rId4"/>
          <a:stretch>
            <a:fillRect/>
          </a:stretch>
        </p:blipFill>
        <p:spPr>
          <a:xfrm>
            <a:off x="7086600" y="2368296"/>
            <a:ext cx="384048" cy="384048"/>
          </a:xfrm>
          <a:prstGeom prst="rect">
            <a:avLst/>
          </a:prstGeom>
        </p:spPr>
      </p:pic>
      <p:sp>
        <p:nvSpPr>
          <p:cNvPr id="18" name="Text 14"/>
          <p:cNvSpPr/>
          <p:nvPr/>
        </p:nvSpPr>
        <p:spPr>
          <a:xfrm>
            <a:off x="4617720" y="3081528"/>
            <a:ext cx="2907792" cy="457200"/>
          </a:xfrm>
          <a:prstGeom prst="rect">
            <a:avLst/>
          </a:prstGeom>
          <a:noFill/>
          <a:ln/>
        </p:spPr>
        <p:txBody>
          <a:bodyPr wrap="square" lIns="0" tIns="0" rIns="0" bIns="0" rtlCol="0" anchor="ctr"/>
          <a:lstStyle/>
          <a:p>
            <a:pPr marL="0" indent="0">
              <a:buNone/>
            </a:pPr>
            <a:r>
              <a:rPr lang="en-US" sz="1500" b="1" dirty="0">
                <a:solidFill>
                  <a:srgbClr val="23304A"/>
                </a:solidFill>
                <a:latin typeface="Arial" panose="020B0604020202020204" pitchFamily="34" charset="0"/>
                <a:ea typeface="Calibri" pitchFamily="34" charset="-122"/>
                <a:cs typeface="Arial" panose="020B0604020202020204" pitchFamily="34" charset="0"/>
              </a:rPr>
              <a:t>Alineación semántica</a:t>
            </a:r>
            <a:endParaRPr lang="en-US" sz="1500" dirty="0">
              <a:latin typeface="Arial" panose="020B0604020202020204" pitchFamily="34" charset="0"/>
              <a:cs typeface="Arial" panose="020B0604020202020204" pitchFamily="34" charset="0"/>
            </a:endParaRPr>
          </a:p>
        </p:txBody>
      </p:sp>
      <p:sp>
        <p:nvSpPr>
          <p:cNvPr id="19" name="Text 15"/>
          <p:cNvSpPr/>
          <p:nvPr/>
        </p:nvSpPr>
        <p:spPr>
          <a:xfrm>
            <a:off x="4617720" y="3502152"/>
            <a:ext cx="2907792" cy="822960"/>
          </a:xfrm>
          <a:prstGeom prst="rect">
            <a:avLst/>
          </a:prstGeom>
          <a:noFill/>
          <a:ln/>
        </p:spPr>
        <p:txBody>
          <a:bodyPr wrap="square" lIns="0" tIns="0" rIns="0" bIns="0" rtlCol="0" anchor="ctr"/>
          <a:lstStyle/>
          <a:p>
            <a:pPr marL="0" indent="0">
              <a:lnSpc>
                <a:spcPct val="115000"/>
              </a:lnSpc>
              <a:buNone/>
            </a:pPr>
            <a:r>
              <a:rPr lang="en-US" sz="1100" dirty="0">
                <a:solidFill>
                  <a:srgbClr val="667085"/>
                </a:solidFill>
                <a:latin typeface="Arial" panose="020B0604020202020204" pitchFamily="34" charset="0"/>
                <a:ea typeface="Calibri" pitchFamily="34" charset="-122"/>
                <a:cs typeface="Arial" panose="020B0604020202020204" pitchFamily="34" charset="0"/>
              </a:rPr>
              <a:t>¿La narrativa generada mantiene un tono y un sentimiento coherentes con la noticia real?</a:t>
            </a:r>
            <a:endParaRPr lang="en-US" sz="1100" dirty="0">
              <a:latin typeface="Arial" panose="020B0604020202020204" pitchFamily="34" charset="0"/>
              <a:cs typeface="Arial" panose="020B0604020202020204" pitchFamily="34" charset="0"/>
            </a:endParaRPr>
          </a:p>
        </p:txBody>
      </p:sp>
      <p:sp>
        <p:nvSpPr>
          <p:cNvPr id="20" name="Shape 16"/>
          <p:cNvSpPr/>
          <p:nvPr/>
        </p:nvSpPr>
        <p:spPr>
          <a:xfrm>
            <a:off x="8046720" y="2057400"/>
            <a:ext cx="3456432" cy="2331720"/>
          </a:xfrm>
          <a:prstGeom prst="rect">
            <a:avLst/>
          </a:prstGeom>
          <a:solidFill>
            <a:srgbClr val="EAF1F4"/>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sp>
        <p:nvSpPr>
          <p:cNvPr id="22" name="Shape 18"/>
          <p:cNvSpPr/>
          <p:nvPr/>
        </p:nvSpPr>
        <p:spPr>
          <a:xfrm>
            <a:off x="8321040" y="2350008"/>
            <a:ext cx="566928" cy="566928"/>
          </a:xfrm>
          <a:prstGeom prst="ellipse">
            <a:avLst/>
          </a:prstGeom>
          <a:solidFill>
            <a:schemeClr val="tx2">
              <a:lumMod val="40000"/>
              <a:lumOff val="60000"/>
            </a:schemeClr>
          </a:solidFill>
          <a:ln w="12700">
            <a:solidFill>
              <a:srgbClr val="333333"/>
            </a:solidFill>
            <a:prstDash val="solid"/>
          </a:ln>
        </p:spPr>
        <p:txBody>
          <a:bodyPr/>
          <a:lstStyle/>
          <a:p>
            <a:endParaRPr lang="es-AR"/>
          </a:p>
        </p:txBody>
      </p:sp>
      <p:sp>
        <p:nvSpPr>
          <p:cNvPr id="23" name="Text 19"/>
          <p:cNvSpPr/>
          <p:nvPr/>
        </p:nvSpPr>
        <p:spPr>
          <a:xfrm>
            <a:off x="8323823" y="234742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Georgia" pitchFamily="34" charset="-122"/>
                <a:cs typeface="Arial" panose="020B0604020202020204" pitchFamily="34" charset="0"/>
              </a:rPr>
              <a:t>3</a:t>
            </a:r>
            <a:endParaRPr lang="en-US" sz="2200" dirty="0">
              <a:latin typeface="Arial" panose="020B0604020202020204" pitchFamily="34" charset="0"/>
              <a:cs typeface="Arial" panose="020B0604020202020204" pitchFamily="34" charset="0"/>
            </a:endParaRPr>
          </a:p>
        </p:txBody>
      </p:sp>
      <p:pic>
        <p:nvPicPr>
          <p:cNvPr id="24" name="Image 2" descr="icon_chart.png"/>
          <p:cNvPicPr>
            <a:picLocks noChangeAspect="1"/>
          </p:cNvPicPr>
          <p:nvPr/>
        </p:nvPicPr>
        <p:blipFill>
          <a:blip r:embed="rId5"/>
          <a:stretch>
            <a:fillRect/>
          </a:stretch>
        </p:blipFill>
        <p:spPr>
          <a:xfrm>
            <a:off x="10789920" y="2368296"/>
            <a:ext cx="384048" cy="384048"/>
          </a:xfrm>
          <a:prstGeom prst="rect">
            <a:avLst/>
          </a:prstGeom>
        </p:spPr>
      </p:pic>
      <p:sp>
        <p:nvSpPr>
          <p:cNvPr id="25" name="Text 20"/>
          <p:cNvSpPr/>
          <p:nvPr/>
        </p:nvSpPr>
        <p:spPr>
          <a:xfrm>
            <a:off x="8321040" y="3081528"/>
            <a:ext cx="2907792" cy="457200"/>
          </a:xfrm>
          <a:prstGeom prst="rect">
            <a:avLst/>
          </a:prstGeom>
          <a:noFill/>
          <a:ln/>
        </p:spPr>
        <p:txBody>
          <a:bodyPr wrap="square" lIns="0" tIns="0" rIns="0" bIns="0" rtlCol="0" anchor="ctr"/>
          <a:lstStyle/>
          <a:p>
            <a:pPr marL="0" indent="0">
              <a:buNone/>
            </a:pPr>
            <a:r>
              <a:rPr lang="en-US" sz="1500" b="1" dirty="0">
                <a:solidFill>
                  <a:srgbClr val="23304A"/>
                </a:solidFill>
                <a:latin typeface="Arial" panose="020B0604020202020204" pitchFamily="34" charset="0"/>
                <a:ea typeface="Calibri" pitchFamily="34" charset="-122"/>
                <a:cs typeface="Arial" panose="020B0604020202020204" pitchFamily="34" charset="0"/>
              </a:rPr>
              <a:t>Utilidad downstream</a:t>
            </a:r>
            <a:endParaRPr lang="en-US" sz="1500" dirty="0">
              <a:latin typeface="Arial" panose="020B0604020202020204" pitchFamily="34" charset="0"/>
              <a:cs typeface="Arial" panose="020B0604020202020204" pitchFamily="34" charset="0"/>
            </a:endParaRPr>
          </a:p>
        </p:txBody>
      </p:sp>
      <p:sp>
        <p:nvSpPr>
          <p:cNvPr id="26" name="Text 21"/>
          <p:cNvSpPr/>
          <p:nvPr/>
        </p:nvSpPr>
        <p:spPr>
          <a:xfrm>
            <a:off x="8321040" y="3502152"/>
            <a:ext cx="2907792" cy="822960"/>
          </a:xfrm>
          <a:prstGeom prst="rect">
            <a:avLst/>
          </a:prstGeom>
          <a:noFill/>
          <a:ln/>
        </p:spPr>
        <p:txBody>
          <a:bodyPr wrap="square" lIns="0" tIns="0" rIns="0" bIns="0" rtlCol="0" anchor="ctr"/>
          <a:lstStyle/>
          <a:p>
            <a:pPr marL="0" indent="0">
              <a:lnSpc>
                <a:spcPct val="115000"/>
              </a:lnSpc>
              <a:buNone/>
            </a:pPr>
            <a:r>
              <a:rPr lang="en-US" sz="1100" dirty="0">
                <a:solidFill>
                  <a:srgbClr val="667085"/>
                </a:solidFill>
                <a:latin typeface="Arial" panose="020B0604020202020204" pitchFamily="34" charset="0"/>
                <a:ea typeface="Calibri" pitchFamily="34" charset="-122"/>
                <a:cs typeface="Arial" panose="020B0604020202020204" pitchFamily="34" charset="0"/>
              </a:rPr>
              <a:t>¿La señal que aparece en la narrativa se relaciona con la dirección real del activo?</a:t>
            </a:r>
            <a:endParaRPr lang="en-US" sz="1100" dirty="0">
              <a:latin typeface="Arial" panose="020B0604020202020204" pitchFamily="34" charset="0"/>
              <a:cs typeface="Arial" panose="020B0604020202020204" pitchFamily="34" charset="0"/>
            </a:endParaRPr>
          </a:p>
        </p:txBody>
      </p:sp>
      <p:sp>
        <p:nvSpPr>
          <p:cNvPr id="32" name="Text 7">
            <a:extLst>
              <a:ext uri="{FF2B5EF4-FFF2-40B4-BE49-F238E27FC236}">
                <a16:creationId xmlns:a16="http://schemas.microsoft.com/office/drawing/2014/main" id="{D8980A2B-3426-6159-48E5-1951E46DF5AE}"/>
              </a:ext>
            </a:extLst>
          </p:cNvPr>
          <p:cNvSpPr/>
          <p:nvPr/>
        </p:nvSpPr>
        <p:spPr>
          <a:xfrm>
            <a:off x="6947452" y="5943202"/>
            <a:ext cx="4573988" cy="795528"/>
          </a:xfrm>
          <a:prstGeom prst="rect">
            <a:avLst/>
          </a:prstGeom>
          <a:noFill/>
          <a:ln/>
        </p:spPr>
        <p:txBody>
          <a:bodyPr wrap="square" lIns="0" tIns="0" rIns="0" bIns="0" rtlCol="0" anchor="ctr"/>
          <a:lstStyle/>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200" dirty="0">
              <a:solidFill>
                <a:schemeClr val="bg2">
                  <a:lumMod val="75000"/>
                </a:schemeClr>
              </a:solidFill>
              <a:latin typeface="Arial" panose="020B0604020202020204" pitchFamily="34" charset="0"/>
              <a:cs typeface="Arial" panose="020B0604020202020204" pitchFamily="34" charset="0"/>
            </a:endParaRPr>
          </a:p>
        </p:txBody>
      </p:sp>
      <p:sp>
        <p:nvSpPr>
          <p:cNvPr id="2" name="Shape 19">
            <a:extLst>
              <a:ext uri="{FF2B5EF4-FFF2-40B4-BE49-F238E27FC236}">
                <a16:creationId xmlns:a16="http://schemas.microsoft.com/office/drawing/2014/main" id="{2F6BC30A-B1BB-606A-1986-97447C031CAF}"/>
              </a:ext>
            </a:extLst>
          </p:cNvPr>
          <p:cNvSpPr/>
          <p:nvPr/>
        </p:nvSpPr>
        <p:spPr>
          <a:xfrm>
            <a:off x="642823" y="4786884"/>
            <a:ext cx="10908792" cy="868680"/>
          </a:xfrm>
          <a:prstGeom prst="rect">
            <a:avLst/>
          </a:prstGeom>
          <a:solidFill>
            <a:srgbClr val="EDEDED"/>
          </a:solidFill>
          <a:ln w="6350">
            <a:solidFill>
              <a:srgbClr val="E0E0E0"/>
            </a:solidFill>
            <a:prstDash val="solid"/>
          </a:ln>
        </p:spPr>
        <p:txBody>
          <a:bodyPr/>
          <a:lstStyle/>
          <a:p>
            <a:endParaRPr lang="es-AR"/>
          </a:p>
        </p:txBody>
      </p:sp>
      <p:sp>
        <p:nvSpPr>
          <p:cNvPr id="7" name="Text 20">
            <a:extLst>
              <a:ext uri="{FF2B5EF4-FFF2-40B4-BE49-F238E27FC236}">
                <a16:creationId xmlns:a16="http://schemas.microsoft.com/office/drawing/2014/main" id="{E6274983-B488-E2DC-D85A-A3A46EC42BA6}"/>
              </a:ext>
            </a:extLst>
          </p:cNvPr>
          <p:cNvSpPr/>
          <p:nvPr/>
        </p:nvSpPr>
        <p:spPr>
          <a:xfrm>
            <a:off x="917143" y="4878324"/>
            <a:ext cx="10360152" cy="685800"/>
          </a:xfrm>
          <a:prstGeom prst="rect">
            <a:avLst/>
          </a:prstGeom>
          <a:noFill/>
          <a:ln/>
        </p:spPr>
        <p:txBody>
          <a:bodyPr wrap="square" lIns="0" tIns="0" rIns="0" bIns="0" rtlCol="0" anchor="ctr"/>
          <a:lstStyle/>
          <a:p>
            <a:pPr marL="0" indent="0" algn="l">
              <a:buNone/>
            </a:pPr>
            <a:r>
              <a:rPr lang="en-US" sz="1100" b="1" i="1" dirty="0">
                <a:solidFill>
                  <a:srgbClr val="111111"/>
                </a:solidFill>
                <a:latin typeface="Georgia" pitchFamily="34" charset="0"/>
                <a:ea typeface="Georgia" pitchFamily="34" charset="-122"/>
                <a:cs typeface="Georgia" pitchFamily="34" charset="-120"/>
              </a:rPr>
              <a:t>Idea central.   </a:t>
            </a:r>
            <a:r>
              <a:rPr lang="en-US" sz="1100" dirty="0">
                <a:solidFill>
                  <a:srgbClr val="333333"/>
                </a:solidFill>
                <a:latin typeface="Calibri" pitchFamily="34" charset="0"/>
                <a:ea typeface="Calibri" pitchFamily="34" charset="-122"/>
                <a:cs typeface="Calibri" pitchFamily="34" charset="-120"/>
              </a:rPr>
              <a:t>Una respuesta puede ser positiva en una capa y negativa en otra. Un texto puede sonar financiero sin tener el sentimiento correcto, o acertar una dirección por sesgo de datos generando una narrativa pobre.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488608"/>
            <a:ext cx="10863072" cy="749808"/>
          </a:xfrm>
          <a:prstGeom prst="rect">
            <a:avLst/>
          </a:prstGeom>
          <a:noFill/>
          <a:ln/>
        </p:spPr>
        <p:txBody>
          <a:bodyPr wrap="square" lIns="0" tIns="0" rIns="0" bIns="0" rtlCol="0" anchor="ctr"/>
          <a:lstStyle/>
          <a:p>
            <a:pPr marL="0" indent="0">
              <a:buNone/>
            </a:pPr>
            <a:r>
              <a:rPr lang="en-US" sz="2800" b="1" dirty="0">
                <a:solidFill>
                  <a:srgbClr val="23304A"/>
                </a:solidFill>
                <a:latin typeface="Arial" panose="020B0604020202020204" pitchFamily="34" charset="0"/>
                <a:ea typeface="Georgia" pitchFamily="34" charset="-122"/>
                <a:cs typeface="Arial" panose="020B0604020202020204" pitchFamily="34" charset="0"/>
              </a:rPr>
              <a:t>Conceptos de NLP utilizados</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Arial" panose="020B0604020202020204" pitchFamily="34" charset="0"/>
                <a:ea typeface="Georgia" pitchFamily="34" charset="-122"/>
                <a:cs typeface="Arial" panose="020B0604020202020204" pitchFamily="34" charset="0"/>
              </a:rPr>
              <a:t>03</a:t>
            </a:r>
            <a:endParaRPr lang="en-US" sz="1500" dirty="0">
              <a:latin typeface="Arial" panose="020B0604020202020204" pitchFamily="34" charset="0"/>
              <a:cs typeface="Arial" panose="020B0604020202020204" pitchFamily="34" charset="0"/>
            </a:endParaRPr>
          </a:p>
        </p:txBody>
      </p:sp>
      <p:sp>
        <p:nvSpPr>
          <p:cNvPr id="5" name="Text 3"/>
          <p:cNvSpPr/>
          <p:nvPr/>
        </p:nvSpPr>
        <p:spPr>
          <a:xfrm>
            <a:off x="640080" y="1350927"/>
            <a:ext cx="10881360" cy="365760"/>
          </a:xfrm>
          <a:prstGeom prst="rect">
            <a:avLst/>
          </a:prstGeom>
          <a:noFill/>
          <a:ln/>
        </p:spPr>
        <p:txBody>
          <a:bodyPr wrap="square" lIns="0" tIns="0" rIns="0" bIns="0" rtlCol="0" anchor="ctr"/>
          <a:lstStyle/>
          <a:p>
            <a:pPr marL="0" indent="0">
              <a:buNone/>
            </a:pPr>
            <a:r>
              <a:rPr lang="en-US" sz="1250" dirty="0">
                <a:solidFill>
                  <a:srgbClr val="667085"/>
                </a:solidFill>
                <a:latin typeface="Arial" panose="020B0604020202020204" pitchFamily="34" charset="0"/>
                <a:ea typeface="Calibri" pitchFamily="34" charset="-122"/>
                <a:cs typeface="Arial" panose="020B0604020202020204" pitchFamily="34" charset="0"/>
              </a:rPr>
              <a:t>Partimos de GPT-2 preentrenado y lo adaptamos al dominio financiero. El entrenamiento sigue siendo modelado de lenguaje causal.</a:t>
            </a:r>
            <a:endParaRPr lang="en-US" sz="1250" dirty="0">
              <a:latin typeface="Arial" panose="020B0604020202020204" pitchFamily="34" charset="0"/>
              <a:cs typeface="Arial" panose="020B0604020202020204" pitchFamily="34" charset="0"/>
            </a:endParaRPr>
          </a:p>
        </p:txBody>
      </p:sp>
      <p:sp>
        <p:nvSpPr>
          <p:cNvPr id="6" name="Shape 4"/>
          <p:cNvSpPr/>
          <p:nvPr/>
        </p:nvSpPr>
        <p:spPr>
          <a:xfrm>
            <a:off x="640080" y="2057400"/>
            <a:ext cx="3456432" cy="155448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8" name="Image 0" descr="icon_exchange.png"/>
          <p:cNvPicPr>
            <a:picLocks noChangeAspect="1"/>
          </p:cNvPicPr>
          <p:nvPr/>
        </p:nvPicPr>
        <p:blipFill>
          <a:blip r:embed="rId3"/>
          <a:stretch>
            <a:fillRect/>
          </a:stretch>
        </p:blipFill>
        <p:spPr>
          <a:xfrm>
            <a:off x="841248" y="2258568"/>
            <a:ext cx="310896" cy="310896"/>
          </a:xfrm>
          <a:prstGeom prst="rect">
            <a:avLst/>
          </a:prstGeom>
        </p:spPr>
      </p:pic>
      <p:sp>
        <p:nvSpPr>
          <p:cNvPr id="9" name="Text 6"/>
          <p:cNvSpPr/>
          <p:nvPr/>
        </p:nvSpPr>
        <p:spPr>
          <a:xfrm>
            <a:off x="1243584" y="2212848"/>
            <a:ext cx="2679192" cy="402336"/>
          </a:xfrm>
          <a:prstGeom prst="rect">
            <a:avLst/>
          </a:prstGeom>
          <a:noFill/>
          <a:ln/>
        </p:spPr>
        <p:txBody>
          <a:bodyPr wrap="square" lIns="0" tIns="0" rIns="0" bIns="0" rtlCol="0" anchor="ctr"/>
          <a:lstStyle/>
          <a:p>
            <a:pPr marL="0" indent="0">
              <a:buNone/>
            </a:pPr>
            <a:r>
              <a:rPr lang="en-US" sz="1350" b="1" dirty="0">
                <a:solidFill>
                  <a:srgbClr val="23304A"/>
                </a:solidFill>
                <a:latin typeface="Arial" panose="020B0604020202020204" pitchFamily="34" charset="0"/>
                <a:ea typeface="Calibri" pitchFamily="34" charset="-122"/>
                <a:cs typeface="Arial" panose="020B0604020202020204" pitchFamily="34" charset="0"/>
              </a:rPr>
              <a:t>Transfer learning</a:t>
            </a:r>
            <a:endParaRPr lang="en-US" sz="1350" dirty="0">
              <a:latin typeface="Arial" panose="020B0604020202020204" pitchFamily="34" charset="0"/>
              <a:cs typeface="Arial" panose="020B0604020202020204" pitchFamily="34" charset="0"/>
            </a:endParaRPr>
          </a:p>
        </p:txBody>
      </p:sp>
      <p:sp>
        <p:nvSpPr>
          <p:cNvPr id="10" name="Text 7"/>
          <p:cNvSpPr/>
          <p:nvPr/>
        </p:nvSpPr>
        <p:spPr>
          <a:xfrm>
            <a:off x="859536" y="2660904"/>
            <a:ext cx="3035808" cy="777240"/>
          </a:xfrm>
          <a:prstGeom prst="rect">
            <a:avLst/>
          </a:prstGeom>
          <a:noFill/>
          <a:ln/>
        </p:spPr>
        <p:txBody>
          <a:bodyPr wrap="square" lIns="0" tIns="0" rIns="0" bIns="0" rtlCol="0" anchor="ctr"/>
          <a:lstStyle/>
          <a:p>
            <a:pPr marL="0" indent="0">
              <a:lnSpc>
                <a:spcPct val="105000"/>
              </a:lnSpc>
              <a:buNone/>
            </a:pPr>
            <a:r>
              <a:rPr lang="en-US" sz="1080" dirty="0">
                <a:solidFill>
                  <a:srgbClr val="667085"/>
                </a:solidFill>
                <a:latin typeface="Arial" panose="020B0604020202020204" pitchFamily="34" charset="0"/>
                <a:ea typeface="Calibri" pitchFamily="34" charset="-122"/>
                <a:cs typeface="Arial" panose="020B0604020202020204" pitchFamily="34" charset="0"/>
              </a:rPr>
              <a:t>Reutilizamos el conocimiento general del lenguaje aprendido en preentrenamiento.</a:t>
            </a:r>
            <a:endParaRPr lang="en-US" sz="1080" dirty="0">
              <a:latin typeface="Arial" panose="020B0604020202020204" pitchFamily="34" charset="0"/>
              <a:cs typeface="Arial" panose="020B0604020202020204" pitchFamily="34" charset="0"/>
            </a:endParaRPr>
          </a:p>
        </p:txBody>
      </p:sp>
      <p:sp>
        <p:nvSpPr>
          <p:cNvPr id="11" name="Shape 8"/>
          <p:cNvSpPr/>
          <p:nvPr/>
        </p:nvSpPr>
        <p:spPr>
          <a:xfrm>
            <a:off x="4343400" y="2057400"/>
            <a:ext cx="3456432" cy="155448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13" name="Image 1" descr="icon_brain.png"/>
          <p:cNvPicPr>
            <a:picLocks noChangeAspect="1"/>
          </p:cNvPicPr>
          <p:nvPr/>
        </p:nvPicPr>
        <p:blipFill>
          <a:blip r:embed="rId4"/>
          <a:stretch>
            <a:fillRect/>
          </a:stretch>
        </p:blipFill>
        <p:spPr>
          <a:xfrm>
            <a:off x="4544568" y="2258568"/>
            <a:ext cx="310896" cy="310896"/>
          </a:xfrm>
          <a:prstGeom prst="rect">
            <a:avLst/>
          </a:prstGeom>
        </p:spPr>
      </p:pic>
      <p:sp>
        <p:nvSpPr>
          <p:cNvPr id="14" name="Text 10"/>
          <p:cNvSpPr/>
          <p:nvPr/>
        </p:nvSpPr>
        <p:spPr>
          <a:xfrm>
            <a:off x="4946904" y="2212848"/>
            <a:ext cx="2679192" cy="402336"/>
          </a:xfrm>
          <a:prstGeom prst="rect">
            <a:avLst/>
          </a:prstGeom>
          <a:noFill/>
          <a:ln/>
        </p:spPr>
        <p:txBody>
          <a:bodyPr wrap="square" lIns="0" tIns="0" rIns="0" bIns="0" rtlCol="0" anchor="ctr"/>
          <a:lstStyle/>
          <a:p>
            <a:pPr marL="0" indent="0">
              <a:buNone/>
            </a:pPr>
            <a:r>
              <a:rPr lang="en-US" sz="1350" b="1" dirty="0">
                <a:solidFill>
                  <a:srgbClr val="23304A"/>
                </a:solidFill>
                <a:latin typeface="Arial" panose="020B0604020202020204" pitchFamily="34" charset="0"/>
                <a:ea typeface="Calibri" pitchFamily="34" charset="-122"/>
                <a:cs typeface="Arial" panose="020B0604020202020204" pitchFamily="34" charset="0"/>
              </a:rPr>
              <a:t>GPT-2 / LM causal</a:t>
            </a:r>
            <a:endParaRPr lang="en-US" sz="1350" dirty="0">
              <a:latin typeface="Arial" panose="020B0604020202020204" pitchFamily="34" charset="0"/>
              <a:cs typeface="Arial" panose="020B0604020202020204" pitchFamily="34" charset="0"/>
            </a:endParaRPr>
          </a:p>
        </p:txBody>
      </p:sp>
      <p:sp>
        <p:nvSpPr>
          <p:cNvPr id="15" name="Text 11"/>
          <p:cNvSpPr/>
          <p:nvPr/>
        </p:nvSpPr>
        <p:spPr>
          <a:xfrm>
            <a:off x="4562856" y="2660904"/>
            <a:ext cx="3035808" cy="777240"/>
          </a:xfrm>
          <a:prstGeom prst="rect">
            <a:avLst/>
          </a:prstGeom>
          <a:noFill/>
          <a:ln/>
        </p:spPr>
        <p:txBody>
          <a:bodyPr wrap="square" lIns="0" tIns="0" rIns="0" bIns="0" rtlCol="0" anchor="ctr"/>
          <a:lstStyle/>
          <a:p>
            <a:pPr marL="0" indent="0">
              <a:lnSpc>
                <a:spcPct val="105000"/>
              </a:lnSpc>
              <a:buNone/>
            </a:pPr>
            <a:r>
              <a:rPr lang="en-US" sz="1080" dirty="0">
                <a:solidFill>
                  <a:srgbClr val="667085"/>
                </a:solidFill>
                <a:latin typeface="Arial" panose="020B0604020202020204" pitchFamily="34" charset="0"/>
                <a:ea typeface="Calibri" pitchFamily="34" charset="-122"/>
                <a:cs typeface="Arial" panose="020B0604020202020204" pitchFamily="34" charset="0"/>
              </a:rPr>
              <a:t>Modelo autoregresivo: predice el siguiente token condicionado por los anteriores.</a:t>
            </a:r>
            <a:endParaRPr lang="en-US" sz="1080" dirty="0">
              <a:latin typeface="Arial" panose="020B0604020202020204" pitchFamily="34" charset="0"/>
              <a:cs typeface="Arial" panose="020B0604020202020204" pitchFamily="34" charset="0"/>
            </a:endParaRPr>
          </a:p>
        </p:txBody>
      </p:sp>
      <p:sp>
        <p:nvSpPr>
          <p:cNvPr id="16" name="Shape 12"/>
          <p:cNvSpPr/>
          <p:nvPr/>
        </p:nvSpPr>
        <p:spPr>
          <a:xfrm>
            <a:off x="8046720" y="2057400"/>
            <a:ext cx="3456432" cy="155448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18" name="Image 2" descr="icon_code.png"/>
          <p:cNvPicPr>
            <a:picLocks noChangeAspect="1"/>
          </p:cNvPicPr>
          <p:nvPr/>
        </p:nvPicPr>
        <p:blipFill>
          <a:blip r:embed="rId5"/>
          <a:stretch>
            <a:fillRect/>
          </a:stretch>
        </p:blipFill>
        <p:spPr>
          <a:xfrm>
            <a:off x="8247888" y="2258568"/>
            <a:ext cx="310896" cy="310896"/>
          </a:xfrm>
          <a:prstGeom prst="rect">
            <a:avLst/>
          </a:prstGeom>
        </p:spPr>
      </p:pic>
      <p:sp>
        <p:nvSpPr>
          <p:cNvPr id="19" name="Text 14"/>
          <p:cNvSpPr/>
          <p:nvPr/>
        </p:nvSpPr>
        <p:spPr>
          <a:xfrm>
            <a:off x="8650224" y="2212848"/>
            <a:ext cx="2679192" cy="402336"/>
          </a:xfrm>
          <a:prstGeom prst="rect">
            <a:avLst/>
          </a:prstGeom>
          <a:noFill/>
          <a:ln/>
        </p:spPr>
        <p:txBody>
          <a:bodyPr wrap="square" lIns="0" tIns="0" rIns="0" bIns="0" rtlCol="0" anchor="ctr"/>
          <a:lstStyle/>
          <a:p>
            <a:pPr marL="0" indent="0">
              <a:buNone/>
            </a:pPr>
            <a:r>
              <a:rPr lang="en-US" sz="1350" b="1" dirty="0">
                <a:solidFill>
                  <a:srgbClr val="23304A"/>
                </a:solidFill>
                <a:latin typeface="Arial" panose="020B0604020202020204" pitchFamily="34" charset="0"/>
                <a:ea typeface="Calibri" pitchFamily="34" charset="-122"/>
                <a:cs typeface="Arial" panose="020B0604020202020204" pitchFamily="34" charset="0"/>
              </a:rPr>
              <a:t>Tokenización subword</a:t>
            </a:r>
            <a:endParaRPr lang="en-US" sz="1350" dirty="0">
              <a:latin typeface="Arial" panose="020B0604020202020204" pitchFamily="34" charset="0"/>
              <a:cs typeface="Arial" panose="020B0604020202020204" pitchFamily="34" charset="0"/>
            </a:endParaRPr>
          </a:p>
        </p:txBody>
      </p:sp>
      <p:sp>
        <p:nvSpPr>
          <p:cNvPr id="20" name="Text 15"/>
          <p:cNvSpPr/>
          <p:nvPr/>
        </p:nvSpPr>
        <p:spPr>
          <a:xfrm>
            <a:off x="8266176" y="2660904"/>
            <a:ext cx="3035808" cy="777240"/>
          </a:xfrm>
          <a:prstGeom prst="rect">
            <a:avLst/>
          </a:prstGeom>
          <a:noFill/>
          <a:ln/>
        </p:spPr>
        <p:txBody>
          <a:bodyPr wrap="square" lIns="0" tIns="0" rIns="0" bIns="0" rtlCol="0" anchor="ctr"/>
          <a:lstStyle/>
          <a:p>
            <a:pPr marL="0" indent="0">
              <a:lnSpc>
                <a:spcPct val="105000"/>
              </a:lnSpc>
              <a:buNone/>
            </a:pPr>
            <a:r>
              <a:rPr lang="en-US" sz="1080" dirty="0">
                <a:solidFill>
                  <a:srgbClr val="667085"/>
                </a:solidFill>
                <a:latin typeface="Arial" panose="020B0604020202020204" pitchFamily="34" charset="0"/>
                <a:ea typeface="Calibri" pitchFamily="34" charset="-122"/>
                <a:cs typeface="Arial" panose="020B0604020202020204" pitchFamily="34" charset="0"/>
              </a:rPr>
              <a:t>El texto se divide en unidades subléxicas, no necesariamente palabras completas.</a:t>
            </a:r>
            <a:endParaRPr lang="en-US" sz="1080" dirty="0">
              <a:latin typeface="Arial" panose="020B0604020202020204" pitchFamily="34" charset="0"/>
              <a:cs typeface="Arial" panose="020B0604020202020204" pitchFamily="34" charset="0"/>
            </a:endParaRPr>
          </a:p>
        </p:txBody>
      </p:sp>
      <p:sp>
        <p:nvSpPr>
          <p:cNvPr id="21" name="Shape 16"/>
          <p:cNvSpPr/>
          <p:nvPr/>
        </p:nvSpPr>
        <p:spPr>
          <a:xfrm>
            <a:off x="640080" y="3886200"/>
            <a:ext cx="3456432" cy="155448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23" name="Image 3" descr="icon_layers.png"/>
          <p:cNvPicPr>
            <a:picLocks noChangeAspect="1"/>
          </p:cNvPicPr>
          <p:nvPr/>
        </p:nvPicPr>
        <p:blipFill>
          <a:blip r:embed="rId6"/>
          <a:stretch>
            <a:fillRect/>
          </a:stretch>
        </p:blipFill>
        <p:spPr>
          <a:xfrm>
            <a:off x="841248" y="4087368"/>
            <a:ext cx="310896" cy="310896"/>
          </a:xfrm>
          <a:prstGeom prst="rect">
            <a:avLst/>
          </a:prstGeom>
        </p:spPr>
      </p:pic>
      <p:sp>
        <p:nvSpPr>
          <p:cNvPr id="24" name="Text 18"/>
          <p:cNvSpPr/>
          <p:nvPr/>
        </p:nvSpPr>
        <p:spPr>
          <a:xfrm>
            <a:off x="1243584" y="4041648"/>
            <a:ext cx="2679192" cy="402336"/>
          </a:xfrm>
          <a:prstGeom prst="rect">
            <a:avLst/>
          </a:prstGeom>
          <a:noFill/>
          <a:ln/>
        </p:spPr>
        <p:txBody>
          <a:bodyPr wrap="square" lIns="0" tIns="0" rIns="0" bIns="0" rtlCol="0" anchor="ctr"/>
          <a:lstStyle/>
          <a:p>
            <a:pPr marL="0" indent="0">
              <a:buNone/>
            </a:pPr>
            <a:r>
              <a:rPr lang="en-US" sz="1350" b="1" dirty="0">
                <a:solidFill>
                  <a:srgbClr val="23304A"/>
                </a:solidFill>
                <a:latin typeface="Arial" panose="020B0604020202020204" pitchFamily="34" charset="0"/>
                <a:ea typeface="Calibri" pitchFamily="34" charset="-122"/>
                <a:cs typeface="Arial" panose="020B0604020202020204" pitchFamily="34" charset="0"/>
              </a:rPr>
              <a:t>Embeddings contextuales</a:t>
            </a:r>
            <a:endParaRPr lang="en-US" sz="1350" dirty="0">
              <a:latin typeface="Arial" panose="020B0604020202020204" pitchFamily="34" charset="0"/>
              <a:cs typeface="Arial" panose="020B0604020202020204" pitchFamily="34" charset="0"/>
            </a:endParaRPr>
          </a:p>
        </p:txBody>
      </p:sp>
      <p:sp>
        <p:nvSpPr>
          <p:cNvPr id="25" name="Text 19"/>
          <p:cNvSpPr/>
          <p:nvPr/>
        </p:nvSpPr>
        <p:spPr>
          <a:xfrm>
            <a:off x="859536" y="4489704"/>
            <a:ext cx="3035808" cy="777240"/>
          </a:xfrm>
          <a:prstGeom prst="rect">
            <a:avLst/>
          </a:prstGeom>
          <a:noFill/>
          <a:ln/>
        </p:spPr>
        <p:txBody>
          <a:bodyPr wrap="square" lIns="0" tIns="0" rIns="0" bIns="0" rtlCol="0" anchor="ctr"/>
          <a:lstStyle/>
          <a:p>
            <a:pPr marL="0" indent="0">
              <a:lnSpc>
                <a:spcPct val="105000"/>
              </a:lnSpc>
              <a:buNone/>
            </a:pPr>
            <a:r>
              <a:rPr lang="en-US" sz="1080" dirty="0">
                <a:solidFill>
                  <a:srgbClr val="667085"/>
                </a:solidFill>
                <a:latin typeface="Arial" panose="020B0604020202020204" pitchFamily="34" charset="0"/>
                <a:ea typeface="Calibri" pitchFamily="34" charset="-122"/>
                <a:cs typeface="Arial" panose="020B0604020202020204" pitchFamily="34" charset="0"/>
              </a:rPr>
              <a:t>Cada token se representa según su contexto, no de forma fija.</a:t>
            </a:r>
            <a:endParaRPr lang="en-US" sz="1080" dirty="0">
              <a:latin typeface="Arial" panose="020B0604020202020204" pitchFamily="34" charset="0"/>
              <a:cs typeface="Arial" panose="020B0604020202020204" pitchFamily="34" charset="0"/>
            </a:endParaRPr>
          </a:p>
        </p:txBody>
      </p:sp>
      <p:sp>
        <p:nvSpPr>
          <p:cNvPr id="26" name="Shape 20"/>
          <p:cNvSpPr/>
          <p:nvPr/>
        </p:nvSpPr>
        <p:spPr>
          <a:xfrm>
            <a:off x="4343400" y="3886200"/>
            <a:ext cx="3456432" cy="155448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28" name="Image 4" descr="icon_sliders.png"/>
          <p:cNvPicPr>
            <a:picLocks noChangeAspect="1"/>
          </p:cNvPicPr>
          <p:nvPr/>
        </p:nvPicPr>
        <p:blipFill>
          <a:blip r:embed="rId7"/>
          <a:stretch>
            <a:fillRect/>
          </a:stretch>
        </p:blipFill>
        <p:spPr>
          <a:xfrm>
            <a:off x="4544568" y="4087368"/>
            <a:ext cx="310896" cy="310896"/>
          </a:xfrm>
          <a:prstGeom prst="rect">
            <a:avLst/>
          </a:prstGeom>
        </p:spPr>
      </p:pic>
      <p:sp>
        <p:nvSpPr>
          <p:cNvPr id="29" name="Text 22"/>
          <p:cNvSpPr/>
          <p:nvPr/>
        </p:nvSpPr>
        <p:spPr>
          <a:xfrm>
            <a:off x="4946904" y="4041648"/>
            <a:ext cx="2679192" cy="402336"/>
          </a:xfrm>
          <a:prstGeom prst="rect">
            <a:avLst/>
          </a:prstGeom>
          <a:noFill/>
          <a:ln/>
        </p:spPr>
        <p:txBody>
          <a:bodyPr wrap="square" lIns="0" tIns="0" rIns="0" bIns="0" rtlCol="0" anchor="ctr"/>
          <a:lstStyle/>
          <a:p>
            <a:pPr marL="0" indent="0">
              <a:buNone/>
            </a:pPr>
            <a:r>
              <a:rPr lang="en-US" sz="1350" b="1" dirty="0">
                <a:solidFill>
                  <a:srgbClr val="23304A"/>
                </a:solidFill>
                <a:latin typeface="Arial" panose="020B0604020202020204" pitchFamily="34" charset="0"/>
                <a:ea typeface="Calibri" pitchFamily="34" charset="-122"/>
                <a:cs typeface="Arial" panose="020B0604020202020204" pitchFamily="34" charset="0"/>
              </a:rPr>
              <a:t>Fine-tuning</a:t>
            </a:r>
            <a:endParaRPr lang="en-US" sz="1350" dirty="0">
              <a:latin typeface="Arial" panose="020B0604020202020204" pitchFamily="34" charset="0"/>
              <a:cs typeface="Arial" panose="020B0604020202020204" pitchFamily="34" charset="0"/>
            </a:endParaRPr>
          </a:p>
        </p:txBody>
      </p:sp>
      <p:sp>
        <p:nvSpPr>
          <p:cNvPr id="30" name="Text 23"/>
          <p:cNvSpPr/>
          <p:nvPr/>
        </p:nvSpPr>
        <p:spPr>
          <a:xfrm>
            <a:off x="4562856" y="4489704"/>
            <a:ext cx="3035808" cy="777240"/>
          </a:xfrm>
          <a:prstGeom prst="rect">
            <a:avLst/>
          </a:prstGeom>
          <a:noFill/>
          <a:ln/>
        </p:spPr>
        <p:txBody>
          <a:bodyPr wrap="square" lIns="0" tIns="0" rIns="0" bIns="0" rtlCol="0" anchor="ctr"/>
          <a:lstStyle/>
          <a:p>
            <a:pPr marL="0" indent="0">
              <a:lnSpc>
                <a:spcPct val="105000"/>
              </a:lnSpc>
              <a:buNone/>
            </a:pPr>
            <a:r>
              <a:rPr lang="en-US" sz="1080" dirty="0">
                <a:solidFill>
                  <a:srgbClr val="667085"/>
                </a:solidFill>
                <a:latin typeface="Arial" panose="020B0604020202020204" pitchFamily="34" charset="0"/>
                <a:ea typeface="Calibri" pitchFamily="34" charset="-122"/>
                <a:cs typeface="Arial" panose="020B0604020202020204" pitchFamily="34" charset="0"/>
              </a:rPr>
              <a:t>Ajustamos los pesos del modelo sobre un corpus financiero específico.</a:t>
            </a:r>
            <a:endParaRPr lang="en-US" sz="1080" dirty="0">
              <a:latin typeface="Arial" panose="020B0604020202020204" pitchFamily="34" charset="0"/>
              <a:cs typeface="Arial" panose="020B0604020202020204" pitchFamily="34" charset="0"/>
            </a:endParaRPr>
          </a:p>
        </p:txBody>
      </p:sp>
      <p:sp>
        <p:nvSpPr>
          <p:cNvPr id="31" name="Shape 24"/>
          <p:cNvSpPr/>
          <p:nvPr/>
        </p:nvSpPr>
        <p:spPr>
          <a:xfrm>
            <a:off x="8046720" y="3886200"/>
            <a:ext cx="3456432" cy="155448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33" name="Image 5" descr="icon_search.png"/>
          <p:cNvPicPr>
            <a:picLocks noChangeAspect="1"/>
          </p:cNvPicPr>
          <p:nvPr/>
        </p:nvPicPr>
        <p:blipFill>
          <a:blip r:embed="rId8"/>
          <a:stretch>
            <a:fillRect/>
          </a:stretch>
        </p:blipFill>
        <p:spPr>
          <a:xfrm>
            <a:off x="8247888" y="4087368"/>
            <a:ext cx="310896" cy="310896"/>
          </a:xfrm>
          <a:prstGeom prst="rect">
            <a:avLst/>
          </a:prstGeom>
        </p:spPr>
      </p:pic>
      <p:sp>
        <p:nvSpPr>
          <p:cNvPr id="34" name="Text 26"/>
          <p:cNvSpPr/>
          <p:nvPr/>
        </p:nvSpPr>
        <p:spPr>
          <a:xfrm>
            <a:off x="8650224" y="4041648"/>
            <a:ext cx="2679192" cy="402336"/>
          </a:xfrm>
          <a:prstGeom prst="rect">
            <a:avLst/>
          </a:prstGeom>
          <a:noFill/>
          <a:ln/>
        </p:spPr>
        <p:txBody>
          <a:bodyPr wrap="square" lIns="0" tIns="0" rIns="0" bIns="0" rtlCol="0" anchor="ctr"/>
          <a:lstStyle/>
          <a:p>
            <a:pPr marL="0" indent="0">
              <a:buNone/>
            </a:pPr>
            <a:r>
              <a:rPr lang="en-US" sz="1350" b="1" dirty="0">
                <a:solidFill>
                  <a:srgbClr val="23304A"/>
                </a:solidFill>
                <a:latin typeface="Arial" panose="020B0604020202020204" pitchFamily="34" charset="0"/>
                <a:ea typeface="Calibri" pitchFamily="34" charset="-122"/>
                <a:cs typeface="Arial" panose="020B0604020202020204" pitchFamily="34" charset="0"/>
              </a:rPr>
              <a:t>Evaluación generativa</a:t>
            </a:r>
            <a:endParaRPr lang="en-US" sz="1350" dirty="0">
              <a:latin typeface="Arial" panose="020B0604020202020204" pitchFamily="34" charset="0"/>
              <a:cs typeface="Arial" panose="020B0604020202020204" pitchFamily="34" charset="0"/>
            </a:endParaRPr>
          </a:p>
        </p:txBody>
      </p:sp>
      <p:sp>
        <p:nvSpPr>
          <p:cNvPr id="35" name="Text 27"/>
          <p:cNvSpPr/>
          <p:nvPr/>
        </p:nvSpPr>
        <p:spPr>
          <a:xfrm>
            <a:off x="8266176" y="4489704"/>
            <a:ext cx="3035808" cy="777240"/>
          </a:xfrm>
          <a:prstGeom prst="rect">
            <a:avLst/>
          </a:prstGeom>
          <a:noFill/>
          <a:ln/>
        </p:spPr>
        <p:txBody>
          <a:bodyPr wrap="square" lIns="0" tIns="0" rIns="0" bIns="0" rtlCol="0" anchor="ctr"/>
          <a:lstStyle/>
          <a:p>
            <a:pPr marL="0" indent="0">
              <a:lnSpc>
                <a:spcPct val="105000"/>
              </a:lnSpc>
              <a:buNone/>
            </a:pPr>
            <a:r>
              <a:rPr lang="en-US" sz="1080" dirty="0">
                <a:solidFill>
                  <a:srgbClr val="667085"/>
                </a:solidFill>
                <a:latin typeface="Arial" panose="020B0604020202020204" pitchFamily="34" charset="0"/>
                <a:ea typeface="Calibri" pitchFamily="34" charset="-122"/>
                <a:cs typeface="Arial" panose="020B0604020202020204" pitchFamily="34" charset="0"/>
              </a:rPr>
              <a:t>La calidad de la generación requiere métricas más allá de la pérdida.</a:t>
            </a:r>
            <a:endParaRPr lang="en-US" sz="1080" dirty="0">
              <a:latin typeface="Arial" panose="020B0604020202020204" pitchFamily="34" charset="0"/>
              <a:cs typeface="Arial" panose="020B0604020202020204" pitchFamily="34" charset="0"/>
            </a:endParaRPr>
          </a:p>
        </p:txBody>
      </p:sp>
      <p:sp>
        <p:nvSpPr>
          <p:cNvPr id="37" name="Text 7">
            <a:extLst>
              <a:ext uri="{FF2B5EF4-FFF2-40B4-BE49-F238E27FC236}">
                <a16:creationId xmlns:a16="http://schemas.microsoft.com/office/drawing/2014/main" id="{7111F171-549B-0BDF-D63E-27AB2E910371}"/>
              </a:ext>
            </a:extLst>
          </p:cNvPr>
          <p:cNvSpPr/>
          <p:nvPr/>
        </p:nvSpPr>
        <p:spPr>
          <a:xfrm>
            <a:off x="3749040" y="5943202"/>
            <a:ext cx="7772400" cy="795528"/>
          </a:xfrm>
          <a:prstGeom prst="rect">
            <a:avLst/>
          </a:prstGeom>
          <a:noFill/>
          <a:ln/>
        </p:spPr>
        <p:txBody>
          <a:bodyPr wrap="square" lIns="0" tIns="0" rIns="0" bIns="0" rtlCol="0" anchor="ctr"/>
          <a:lstStyle/>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200" dirty="0">
              <a:solidFill>
                <a:schemeClr val="bg2">
                  <a:lumMod val="7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640080"/>
            <a:ext cx="10332720" cy="749808"/>
          </a:xfrm>
          <a:prstGeom prst="rect">
            <a:avLst/>
          </a:prstGeom>
          <a:noFill/>
          <a:ln/>
        </p:spPr>
        <p:txBody>
          <a:bodyPr wrap="square" lIns="0" tIns="0" rIns="0" bIns="0" rtlCol="0" anchor="ctr"/>
          <a:lstStyle/>
          <a:p>
            <a:pPr marL="0" indent="0">
              <a:buNone/>
            </a:pPr>
            <a:r>
              <a:rPr lang="en-US" sz="2800" b="1" dirty="0">
                <a:solidFill>
                  <a:srgbClr val="23304A"/>
                </a:solidFill>
                <a:latin typeface="Arial" panose="020B0604020202020204" pitchFamily="34" charset="0"/>
                <a:ea typeface="Georgia" pitchFamily="34" charset="-122"/>
                <a:cs typeface="Arial" panose="020B0604020202020204" pitchFamily="34" charset="0"/>
              </a:rPr>
              <a:t>Pipeline</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Arial" panose="020B0604020202020204" pitchFamily="34" charset="0"/>
                <a:ea typeface="Georgia" pitchFamily="34" charset="-122"/>
                <a:cs typeface="Arial" panose="020B0604020202020204" pitchFamily="34" charset="0"/>
              </a:rPr>
              <a:t>04</a:t>
            </a:r>
            <a:endParaRPr lang="en-US" sz="1500" dirty="0">
              <a:latin typeface="Arial" panose="020B0604020202020204" pitchFamily="34" charset="0"/>
              <a:cs typeface="Arial" panose="020B0604020202020204" pitchFamily="34" charset="0"/>
            </a:endParaRPr>
          </a:p>
        </p:txBody>
      </p:sp>
      <p:sp>
        <p:nvSpPr>
          <p:cNvPr id="46" name="Shape 33"/>
          <p:cNvSpPr/>
          <p:nvPr/>
        </p:nvSpPr>
        <p:spPr>
          <a:xfrm>
            <a:off x="640080" y="4709160"/>
            <a:ext cx="10846156" cy="777240"/>
          </a:xfrm>
          <a:prstGeom prst="rect">
            <a:avLst/>
          </a:prstGeom>
          <a:solidFill>
            <a:srgbClr val="EAF1F4"/>
          </a:solidFill>
          <a:ln w="12700">
            <a:solidFill>
              <a:srgbClr val="D6DEE4"/>
            </a:solidFill>
            <a:prstDash val="solid"/>
          </a:ln>
        </p:spPr>
        <p:txBody>
          <a:bodyPr/>
          <a:lstStyle/>
          <a:p>
            <a:endParaRPr lang="es-AR"/>
          </a:p>
        </p:txBody>
      </p:sp>
      <p:sp>
        <p:nvSpPr>
          <p:cNvPr id="48" name="Text 34"/>
          <p:cNvSpPr/>
          <p:nvPr/>
        </p:nvSpPr>
        <p:spPr>
          <a:xfrm>
            <a:off x="824332" y="4709160"/>
            <a:ext cx="10661904" cy="777240"/>
          </a:xfrm>
          <a:prstGeom prst="rect">
            <a:avLst/>
          </a:prstGeom>
          <a:noFill/>
          <a:ln/>
        </p:spPr>
        <p:txBody>
          <a:bodyPr wrap="square" lIns="0" tIns="0" rIns="0" bIns="0" rtlCol="0" anchor="ctr"/>
          <a:lstStyle/>
          <a:p>
            <a:pPr marL="0" indent="0">
              <a:lnSpc>
                <a:spcPct val="112000"/>
              </a:lnSpc>
              <a:buNone/>
            </a:pPr>
            <a:r>
              <a:rPr lang="en-US" sz="1100" b="1" dirty="0">
                <a:solidFill>
                  <a:srgbClr val="2A7F8C"/>
                </a:solidFill>
                <a:latin typeface="Arial" panose="020B0604020202020204" pitchFamily="34" charset="0"/>
                <a:ea typeface="Calibri" pitchFamily="34" charset="-122"/>
                <a:cs typeface="Arial" panose="020B0604020202020204" pitchFamily="34" charset="0"/>
              </a:rPr>
              <a:t>Split temporal:  </a:t>
            </a:r>
            <a:r>
              <a:rPr lang="en-US" sz="1100" dirty="0">
                <a:solidFill>
                  <a:srgbClr val="23304A"/>
                </a:solidFill>
                <a:latin typeface="Arial" panose="020B0604020202020204" pitchFamily="34" charset="0"/>
                <a:ea typeface="Calibri" pitchFamily="34" charset="-122"/>
                <a:cs typeface="Arial" panose="020B0604020202020204" pitchFamily="34" charset="0"/>
              </a:rPr>
              <a:t>el contexto del día t nunca incluye información futura; el target es la narrativa del día t+1. La misma evaluación se aplica a todos los runs para que sean comparables.</a:t>
            </a:r>
            <a:endParaRPr lang="en-US" sz="1100" dirty="0">
              <a:latin typeface="Arial" panose="020B0604020202020204" pitchFamily="34" charset="0"/>
              <a:cs typeface="Arial" panose="020B0604020202020204" pitchFamily="34" charset="0"/>
            </a:endParaRPr>
          </a:p>
        </p:txBody>
      </p:sp>
      <p:sp>
        <p:nvSpPr>
          <p:cNvPr id="50" name="Text 7">
            <a:extLst>
              <a:ext uri="{FF2B5EF4-FFF2-40B4-BE49-F238E27FC236}">
                <a16:creationId xmlns:a16="http://schemas.microsoft.com/office/drawing/2014/main" id="{F182E096-EAE7-4076-96E0-AAE033DB3696}"/>
              </a:ext>
            </a:extLst>
          </p:cNvPr>
          <p:cNvSpPr/>
          <p:nvPr/>
        </p:nvSpPr>
        <p:spPr>
          <a:xfrm>
            <a:off x="3749040" y="5943202"/>
            <a:ext cx="7772400" cy="795528"/>
          </a:xfrm>
          <a:prstGeom prst="rect">
            <a:avLst/>
          </a:prstGeom>
          <a:noFill/>
          <a:ln/>
        </p:spPr>
        <p:txBody>
          <a:bodyPr wrap="square" lIns="0" tIns="0" rIns="0" bIns="0" rtlCol="0" anchor="ctr"/>
          <a:lstStyle/>
          <a:p>
            <a:pPr marL="0" indent="0" algn="r">
              <a:buNone/>
            </a:pPr>
            <a:r>
              <a:rPr lang="en-US" sz="11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lgn="r">
              <a:buNone/>
            </a:pPr>
            <a:r>
              <a:rPr lang="en-US" sz="11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lgn="r">
              <a:buNone/>
            </a:pPr>
            <a:r>
              <a:rPr lang="en-US" sz="11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100" dirty="0">
              <a:solidFill>
                <a:schemeClr val="bg2">
                  <a:lumMod val="75000"/>
                </a:schemeClr>
              </a:solidFill>
              <a:latin typeface="Arial" panose="020B0604020202020204" pitchFamily="34" charset="0"/>
              <a:cs typeface="Arial" panose="020B0604020202020204" pitchFamily="34" charset="0"/>
            </a:endParaRPr>
          </a:p>
        </p:txBody>
      </p:sp>
      <p:sp>
        <p:nvSpPr>
          <p:cNvPr id="2" name="Shape 6">
            <a:extLst>
              <a:ext uri="{FF2B5EF4-FFF2-40B4-BE49-F238E27FC236}">
                <a16:creationId xmlns:a16="http://schemas.microsoft.com/office/drawing/2014/main" id="{44E6B359-4619-5CC3-D0B7-B9DBCA18C273}"/>
              </a:ext>
            </a:extLst>
          </p:cNvPr>
          <p:cNvSpPr/>
          <p:nvPr/>
        </p:nvSpPr>
        <p:spPr>
          <a:xfrm>
            <a:off x="822960" y="2788920"/>
            <a:ext cx="10543032" cy="0"/>
          </a:xfrm>
          <a:prstGeom prst="line">
            <a:avLst/>
          </a:prstGeom>
          <a:noFill/>
          <a:ln w="6350">
            <a:solidFill>
              <a:srgbClr val="BFBFBF"/>
            </a:solidFill>
            <a:prstDash val="solid"/>
          </a:ln>
        </p:spPr>
        <p:txBody>
          <a:bodyPr/>
          <a:lstStyle/>
          <a:p>
            <a:endParaRPr lang="es-AR"/>
          </a:p>
        </p:txBody>
      </p:sp>
      <p:sp>
        <p:nvSpPr>
          <p:cNvPr id="47" name="Shape 7">
            <a:extLst>
              <a:ext uri="{FF2B5EF4-FFF2-40B4-BE49-F238E27FC236}">
                <a16:creationId xmlns:a16="http://schemas.microsoft.com/office/drawing/2014/main" id="{481A209E-5FA8-B1FF-69A4-0BEFF7E0993E}"/>
              </a:ext>
            </a:extLst>
          </p:cNvPr>
          <p:cNvSpPr/>
          <p:nvPr/>
        </p:nvSpPr>
        <p:spPr>
          <a:xfrm>
            <a:off x="1549146" y="2743200"/>
            <a:ext cx="0" cy="91440"/>
          </a:xfrm>
          <a:prstGeom prst="line">
            <a:avLst/>
          </a:prstGeom>
          <a:noFill/>
          <a:ln w="12700">
            <a:solidFill>
              <a:srgbClr val="555555"/>
            </a:solidFill>
            <a:prstDash val="solid"/>
          </a:ln>
        </p:spPr>
        <p:txBody>
          <a:bodyPr/>
          <a:lstStyle/>
          <a:p>
            <a:endParaRPr lang="es-AR"/>
          </a:p>
        </p:txBody>
      </p:sp>
      <p:sp>
        <p:nvSpPr>
          <p:cNvPr id="49" name="Text 8">
            <a:extLst>
              <a:ext uri="{FF2B5EF4-FFF2-40B4-BE49-F238E27FC236}">
                <a16:creationId xmlns:a16="http://schemas.microsoft.com/office/drawing/2014/main" id="{005D101D-B863-8002-FD6B-EF24EB866320}"/>
              </a:ext>
            </a:extLst>
          </p:cNvPr>
          <p:cNvSpPr/>
          <p:nvPr/>
        </p:nvSpPr>
        <p:spPr>
          <a:xfrm>
            <a:off x="640080" y="2286000"/>
            <a:ext cx="1818132" cy="457200"/>
          </a:xfrm>
          <a:prstGeom prst="rect">
            <a:avLst/>
          </a:prstGeom>
          <a:noFill/>
          <a:ln/>
        </p:spPr>
        <p:txBody>
          <a:bodyPr wrap="square" lIns="0" tIns="0" rIns="0" bIns="0" rtlCol="0" anchor="ctr"/>
          <a:lstStyle/>
          <a:p>
            <a:pPr marL="0" indent="0" algn="ctr">
              <a:buNone/>
            </a:pPr>
            <a:r>
              <a:rPr lang="en-US" sz="1100" i="1" kern="0" spc="200" dirty="0">
                <a:solidFill>
                  <a:srgbClr val="777777"/>
                </a:solidFill>
                <a:latin typeface="Georgia" pitchFamily="34" charset="0"/>
                <a:ea typeface="Georgia" pitchFamily="34" charset="-122"/>
                <a:cs typeface="Arial" panose="020B0604020202020204" pitchFamily="34" charset="0"/>
              </a:rPr>
              <a:t>01</a:t>
            </a:r>
            <a:endParaRPr lang="en-US" sz="1100" dirty="0"/>
          </a:p>
        </p:txBody>
      </p:sp>
      <p:sp>
        <p:nvSpPr>
          <p:cNvPr id="51" name="Text 9">
            <a:extLst>
              <a:ext uri="{FF2B5EF4-FFF2-40B4-BE49-F238E27FC236}">
                <a16:creationId xmlns:a16="http://schemas.microsoft.com/office/drawing/2014/main" id="{BF1224E5-B705-5CA5-3AE4-AE666CF5F91D}"/>
              </a:ext>
            </a:extLst>
          </p:cNvPr>
          <p:cNvSpPr/>
          <p:nvPr/>
        </p:nvSpPr>
        <p:spPr>
          <a:xfrm>
            <a:off x="640080" y="2971800"/>
            <a:ext cx="1818132" cy="411480"/>
          </a:xfrm>
          <a:prstGeom prst="rect">
            <a:avLst/>
          </a:prstGeom>
          <a:noFill/>
          <a:ln/>
        </p:spPr>
        <p:txBody>
          <a:bodyPr wrap="square" lIns="0" tIns="0" rIns="0" bIns="0" rtlCol="0" anchor="t"/>
          <a:lstStyle/>
          <a:p>
            <a:pPr marL="0" indent="0" algn="ctr">
              <a:buNone/>
            </a:pPr>
            <a:r>
              <a:rPr lang="en-US" sz="1600" b="1" dirty="0">
                <a:solidFill>
                  <a:srgbClr val="111111"/>
                </a:solidFill>
                <a:latin typeface="Georgia" pitchFamily="34" charset="0"/>
                <a:ea typeface="Georgia" pitchFamily="34" charset="-122"/>
                <a:cs typeface="Arial" panose="020B0604020202020204" pitchFamily="34" charset="0"/>
              </a:rPr>
              <a:t>Datos</a:t>
            </a:r>
            <a:endParaRPr lang="en-US" sz="1600" dirty="0"/>
          </a:p>
        </p:txBody>
      </p:sp>
      <p:sp>
        <p:nvSpPr>
          <p:cNvPr id="52" name="Text 10">
            <a:extLst>
              <a:ext uri="{FF2B5EF4-FFF2-40B4-BE49-F238E27FC236}">
                <a16:creationId xmlns:a16="http://schemas.microsoft.com/office/drawing/2014/main" id="{8EBF7787-9E04-538C-2B81-E99732031068}"/>
              </a:ext>
            </a:extLst>
          </p:cNvPr>
          <p:cNvSpPr/>
          <p:nvPr/>
        </p:nvSpPr>
        <p:spPr>
          <a:xfrm>
            <a:off x="731520" y="3429000"/>
            <a:ext cx="1635252" cy="1097280"/>
          </a:xfrm>
          <a:prstGeom prst="rect">
            <a:avLst/>
          </a:prstGeom>
          <a:noFill/>
          <a:ln/>
        </p:spPr>
        <p:txBody>
          <a:bodyPr wrap="square" lIns="0" tIns="0" rIns="0" bIns="0" rtlCol="0" anchor="t"/>
          <a:lstStyle/>
          <a:p>
            <a:pPr marL="0" indent="0" algn="ctr">
              <a:buNone/>
            </a:pPr>
            <a:r>
              <a:rPr lang="en-US" sz="1000" dirty="0">
                <a:solidFill>
                  <a:srgbClr val="555555"/>
                </a:solidFill>
                <a:latin typeface="Calibri" pitchFamily="34" charset="0"/>
                <a:ea typeface="Calibri" pitchFamily="34" charset="-122"/>
                <a:cs typeface="Calibri" pitchFamily="34" charset="-120"/>
              </a:rPr>
              <a:t>FNSPID:</a:t>
            </a:r>
            <a:endParaRPr lang="en-US" sz="1000" dirty="0"/>
          </a:p>
          <a:p>
            <a:pPr marL="0" indent="0" algn="ctr">
              <a:buNone/>
            </a:pPr>
            <a:r>
              <a:rPr lang="en-US" sz="1000" dirty="0">
                <a:solidFill>
                  <a:srgbClr val="555555"/>
                </a:solidFill>
                <a:latin typeface="Calibri" pitchFamily="34" charset="0"/>
                <a:ea typeface="Calibri" pitchFamily="34" charset="-122"/>
                <a:cs typeface="Calibri" pitchFamily="34" charset="-120"/>
              </a:rPr>
              <a:t>noticias + datos de mercado</a:t>
            </a:r>
            <a:endParaRPr lang="en-US" sz="1000" dirty="0"/>
          </a:p>
        </p:txBody>
      </p:sp>
      <p:sp>
        <p:nvSpPr>
          <p:cNvPr id="53" name="Shape 11">
            <a:extLst>
              <a:ext uri="{FF2B5EF4-FFF2-40B4-BE49-F238E27FC236}">
                <a16:creationId xmlns:a16="http://schemas.microsoft.com/office/drawing/2014/main" id="{279316DC-F7BC-7C98-49CB-EAD012091650}"/>
              </a:ext>
            </a:extLst>
          </p:cNvPr>
          <p:cNvSpPr/>
          <p:nvPr/>
        </p:nvSpPr>
        <p:spPr>
          <a:xfrm>
            <a:off x="3367278" y="2743200"/>
            <a:ext cx="0" cy="91440"/>
          </a:xfrm>
          <a:prstGeom prst="line">
            <a:avLst/>
          </a:prstGeom>
          <a:noFill/>
          <a:ln w="12700">
            <a:solidFill>
              <a:srgbClr val="555555"/>
            </a:solidFill>
            <a:prstDash val="solid"/>
          </a:ln>
        </p:spPr>
        <p:txBody>
          <a:bodyPr/>
          <a:lstStyle/>
          <a:p>
            <a:endParaRPr lang="es-AR"/>
          </a:p>
        </p:txBody>
      </p:sp>
      <p:sp>
        <p:nvSpPr>
          <p:cNvPr id="54" name="Text 12">
            <a:extLst>
              <a:ext uri="{FF2B5EF4-FFF2-40B4-BE49-F238E27FC236}">
                <a16:creationId xmlns:a16="http://schemas.microsoft.com/office/drawing/2014/main" id="{D887DE54-1A86-E6B1-16A6-8F0B9FB66118}"/>
              </a:ext>
            </a:extLst>
          </p:cNvPr>
          <p:cNvSpPr/>
          <p:nvPr/>
        </p:nvSpPr>
        <p:spPr>
          <a:xfrm>
            <a:off x="2458212" y="2286000"/>
            <a:ext cx="1818132" cy="457200"/>
          </a:xfrm>
          <a:prstGeom prst="rect">
            <a:avLst/>
          </a:prstGeom>
          <a:noFill/>
          <a:ln/>
        </p:spPr>
        <p:txBody>
          <a:bodyPr wrap="square" lIns="0" tIns="0" rIns="0" bIns="0" rtlCol="0" anchor="ctr"/>
          <a:lstStyle/>
          <a:p>
            <a:pPr marL="0" indent="0" algn="ctr">
              <a:buNone/>
            </a:pPr>
            <a:r>
              <a:rPr lang="en-US" sz="1100" i="1" kern="0" spc="200" dirty="0">
                <a:solidFill>
                  <a:srgbClr val="777777"/>
                </a:solidFill>
                <a:latin typeface="Georgia" pitchFamily="34" charset="0"/>
                <a:ea typeface="Georgia" pitchFamily="34" charset="-122"/>
                <a:cs typeface="Arial" panose="020B0604020202020204" pitchFamily="34" charset="0"/>
              </a:rPr>
              <a:t>02</a:t>
            </a:r>
            <a:endParaRPr lang="en-US" sz="1100" dirty="0"/>
          </a:p>
        </p:txBody>
      </p:sp>
      <p:sp>
        <p:nvSpPr>
          <p:cNvPr id="55" name="Text 13">
            <a:extLst>
              <a:ext uri="{FF2B5EF4-FFF2-40B4-BE49-F238E27FC236}">
                <a16:creationId xmlns:a16="http://schemas.microsoft.com/office/drawing/2014/main" id="{86009E85-A738-AF92-15C6-CE4495034408}"/>
              </a:ext>
            </a:extLst>
          </p:cNvPr>
          <p:cNvSpPr/>
          <p:nvPr/>
        </p:nvSpPr>
        <p:spPr>
          <a:xfrm>
            <a:off x="2458212" y="2971800"/>
            <a:ext cx="1818132" cy="411480"/>
          </a:xfrm>
          <a:prstGeom prst="rect">
            <a:avLst/>
          </a:prstGeom>
          <a:noFill/>
          <a:ln/>
        </p:spPr>
        <p:txBody>
          <a:bodyPr wrap="square" lIns="0" tIns="0" rIns="0" bIns="0" rtlCol="0" anchor="t"/>
          <a:lstStyle/>
          <a:p>
            <a:pPr marL="0" indent="0" algn="ctr">
              <a:buNone/>
            </a:pPr>
            <a:r>
              <a:rPr lang="en-US" sz="1600" b="1" dirty="0">
                <a:solidFill>
                  <a:srgbClr val="111111"/>
                </a:solidFill>
                <a:latin typeface="Georgia" pitchFamily="34" charset="0"/>
                <a:ea typeface="Georgia" pitchFamily="34" charset="-122"/>
                <a:cs typeface="Arial" panose="020B0604020202020204" pitchFamily="34" charset="0"/>
              </a:rPr>
              <a:t>Prompts</a:t>
            </a:r>
            <a:endParaRPr lang="en-US" sz="1600" dirty="0"/>
          </a:p>
        </p:txBody>
      </p:sp>
      <p:sp>
        <p:nvSpPr>
          <p:cNvPr id="56" name="Text 14">
            <a:extLst>
              <a:ext uri="{FF2B5EF4-FFF2-40B4-BE49-F238E27FC236}">
                <a16:creationId xmlns:a16="http://schemas.microsoft.com/office/drawing/2014/main" id="{10508C87-8566-A87B-15AC-1F38D79CA4C2}"/>
              </a:ext>
            </a:extLst>
          </p:cNvPr>
          <p:cNvSpPr/>
          <p:nvPr/>
        </p:nvSpPr>
        <p:spPr>
          <a:xfrm>
            <a:off x="2549652" y="3429000"/>
            <a:ext cx="1635252" cy="1097280"/>
          </a:xfrm>
          <a:prstGeom prst="rect">
            <a:avLst/>
          </a:prstGeom>
          <a:noFill/>
          <a:ln/>
        </p:spPr>
        <p:txBody>
          <a:bodyPr wrap="square" lIns="0" tIns="0" rIns="0" bIns="0" rtlCol="0" anchor="t"/>
          <a:lstStyle/>
          <a:p>
            <a:pPr marL="0" indent="0" algn="ctr">
              <a:buNone/>
            </a:pPr>
            <a:r>
              <a:rPr lang="en-US" sz="1000" dirty="0">
                <a:solidFill>
                  <a:srgbClr val="555555"/>
                </a:solidFill>
                <a:latin typeface="Calibri" pitchFamily="34" charset="0"/>
                <a:ea typeface="Calibri" pitchFamily="34" charset="-122"/>
                <a:cs typeface="Calibri" pitchFamily="34" charset="-120"/>
              </a:rPr>
              <a:t>Ventana de contexto</a:t>
            </a:r>
            <a:endParaRPr lang="en-US" sz="1000" dirty="0"/>
          </a:p>
          <a:p>
            <a:pPr marL="0" indent="0" algn="ctr">
              <a:buNone/>
            </a:pPr>
            <a:r>
              <a:rPr lang="en-US" sz="1000" dirty="0">
                <a:solidFill>
                  <a:srgbClr val="555555"/>
                </a:solidFill>
                <a:latin typeface="Calibri" pitchFamily="34" charset="0"/>
                <a:ea typeface="Calibri" pitchFamily="34" charset="-122"/>
                <a:cs typeface="Calibri" pitchFamily="34" charset="-120"/>
              </a:rPr>
              <a:t>por ticker y fecha</a:t>
            </a:r>
            <a:endParaRPr lang="en-US" sz="1000" dirty="0"/>
          </a:p>
        </p:txBody>
      </p:sp>
      <p:sp>
        <p:nvSpPr>
          <p:cNvPr id="57" name="Shape 15">
            <a:extLst>
              <a:ext uri="{FF2B5EF4-FFF2-40B4-BE49-F238E27FC236}">
                <a16:creationId xmlns:a16="http://schemas.microsoft.com/office/drawing/2014/main" id="{E60B6514-19E1-4683-E500-DB0F9083879F}"/>
              </a:ext>
            </a:extLst>
          </p:cNvPr>
          <p:cNvSpPr/>
          <p:nvPr/>
        </p:nvSpPr>
        <p:spPr>
          <a:xfrm>
            <a:off x="5185410" y="2743200"/>
            <a:ext cx="0" cy="91440"/>
          </a:xfrm>
          <a:prstGeom prst="line">
            <a:avLst/>
          </a:prstGeom>
          <a:noFill/>
          <a:ln w="12700">
            <a:solidFill>
              <a:srgbClr val="555555"/>
            </a:solidFill>
            <a:prstDash val="solid"/>
          </a:ln>
        </p:spPr>
        <p:txBody>
          <a:bodyPr/>
          <a:lstStyle/>
          <a:p>
            <a:endParaRPr lang="es-AR"/>
          </a:p>
        </p:txBody>
      </p:sp>
      <p:sp>
        <p:nvSpPr>
          <p:cNvPr id="58" name="Text 16">
            <a:extLst>
              <a:ext uri="{FF2B5EF4-FFF2-40B4-BE49-F238E27FC236}">
                <a16:creationId xmlns:a16="http://schemas.microsoft.com/office/drawing/2014/main" id="{C7B96785-0EF3-027A-82C9-8D921AE3771B}"/>
              </a:ext>
            </a:extLst>
          </p:cNvPr>
          <p:cNvSpPr/>
          <p:nvPr/>
        </p:nvSpPr>
        <p:spPr>
          <a:xfrm>
            <a:off x="4276344" y="2286000"/>
            <a:ext cx="1818132" cy="457200"/>
          </a:xfrm>
          <a:prstGeom prst="rect">
            <a:avLst/>
          </a:prstGeom>
          <a:noFill/>
          <a:ln/>
        </p:spPr>
        <p:txBody>
          <a:bodyPr wrap="square" lIns="0" tIns="0" rIns="0" bIns="0" rtlCol="0" anchor="ctr"/>
          <a:lstStyle/>
          <a:p>
            <a:pPr marL="0" indent="0" algn="ctr">
              <a:buNone/>
            </a:pPr>
            <a:r>
              <a:rPr lang="en-US" sz="1100" i="1" kern="0" spc="200" dirty="0">
                <a:solidFill>
                  <a:srgbClr val="777777"/>
                </a:solidFill>
                <a:latin typeface="Georgia" pitchFamily="34" charset="0"/>
                <a:ea typeface="Georgia" pitchFamily="34" charset="-122"/>
                <a:cs typeface="Arial" panose="020B0604020202020204" pitchFamily="34" charset="0"/>
              </a:rPr>
              <a:t>03</a:t>
            </a:r>
            <a:endParaRPr lang="en-US" sz="1100" dirty="0"/>
          </a:p>
        </p:txBody>
      </p:sp>
      <p:sp>
        <p:nvSpPr>
          <p:cNvPr id="59" name="Text 17">
            <a:extLst>
              <a:ext uri="{FF2B5EF4-FFF2-40B4-BE49-F238E27FC236}">
                <a16:creationId xmlns:a16="http://schemas.microsoft.com/office/drawing/2014/main" id="{EE67FB0D-15A9-D38C-C351-E92384F8C16B}"/>
              </a:ext>
            </a:extLst>
          </p:cNvPr>
          <p:cNvSpPr/>
          <p:nvPr/>
        </p:nvSpPr>
        <p:spPr>
          <a:xfrm>
            <a:off x="4276344" y="2971800"/>
            <a:ext cx="1818132" cy="411480"/>
          </a:xfrm>
          <a:prstGeom prst="rect">
            <a:avLst/>
          </a:prstGeom>
          <a:noFill/>
          <a:ln/>
        </p:spPr>
        <p:txBody>
          <a:bodyPr wrap="square" lIns="0" tIns="0" rIns="0" bIns="0" rtlCol="0" anchor="t"/>
          <a:lstStyle/>
          <a:p>
            <a:pPr marL="0" indent="0" algn="ctr">
              <a:buNone/>
            </a:pPr>
            <a:r>
              <a:rPr lang="en-US" sz="1600" b="1" dirty="0">
                <a:solidFill>
                  <a:srgbClr val="111111"/>
                </a:solidFill>
                <a:latin typeface="Georgia" pitchFamily="34" charset="0"/>
                <a:ea typeface="Georgia" pitchFamily="34" charset="-122"/>
                <a:cs typeface="Arial" panose="020B0604020202020204" pitchFamily="34" charset="0"/>
              </a:rPr>
              <a:t>Split temporal</a:t>
            </a:r>
            <a:endParaRPr lang="en-US" sz="1600" dirty="0"/>
          </a:p>
        </p:txBody>
      </p:sp>
      <p:sp>
        <p:nvSpPr>
          <p:cNvPr id="60" name="Text 18">
            <a:extLst>
              <a:ext uri="{FF2B5EF4-FFF2-40B4-BE49-F238E27FC236}">
                <a16:creationId xmlns:a16="http://schemas.microsoft.com/office/drawing/2014/main" id="{9077BCFD-5D49-6B88-406B-2EDF36BE02AA}"/>
              </a:ext>
            </a:extLst>
          </p:cNvPr>
          <p:cNvSpPr/>
          <p:nvPr/>
        </p:nvSpPr>
        <p:spPr>
          <a:xfrm>
            <a:off x="4367784" y="3429000"/>
            <a:ext cx="1635252" cy="1097280"/>
          </a:xfrm>
          <a:prstGeom prst="rect">
            <a:avLst/>
          </a:prstGeom>
          <a:noFill/>
          <a:ln/>
        </p:spPr>
        <p:txBody>
          <a:bodyPr wrap="square" lIns="0" tIns="0" rIns="0" bIns="0" rtlCol="0" anchor="t"/>
          <a:lstStyle/>
          <a:p>
            <a:pPr marL="0" indent="0" algn="ctr">
              <a:buNone/>
            </a:pPr>
            <a:r>
              <a:rPr lang="en-US" sz="1000" dirty="0">
                <a:solidFill>
                  <a:srgbClr val="555555"/>
                </a:solidFill>
                <a:latin typeface="Calibri" pitchFamily="34" charset="0"/>
                <a:ea typeface="Calibri" pitchFamily="34" charset="-122"/>
                <a:cs typeface="Calibri" pitchFamily="34" charset="-120"/>
              </a:rPr>
              <a:t>Train / val / test</a:t>
            </a:r>
            <a:endParaRPr lang="en-US" sz="1000" dirty="0"/>
          </a:p>
          <a:p>
            <a:pPr marL="0" indent="0" algn="ctr">
              <a:buNone/>
            </a:pPr>
            <a:r>
              <a:rPr lang="en-US" sz="1000" dirty="0">
                <a:solidFill>
                  <a:srgbClr val="555555"/>
                </a:solidFill>
                <a:latin typeface="Calibri" pitchFamily="34" charset="0"/>
                <a:ea typeface="Calibri" pitchFamily="34" charset="-122"/>
                <a:cs typeface="Calibri" pitchFamily="34" charset="-120"/>
              </a:rPr>
              <a:t>sin fugas de futuro</a:t>
            </a:r>
            <a:endParaRPr lang="en-US" sz="1000" dirty="0"/>
          </a:p>
        </p:txBody>
      </p:sp>
      <p:sp>
        <p:nvSpPr>
          <p:cNvPr id="61" name="Shape 19">
            <a:extLst>
              <a:ext uri="{FF2B5EF4-FFF2-40B4-BE49-F238E27FC236}">
                <a16:creationId xmlns:a16="http://schemas.microsoft.com/office/drawing/2014/main" id="{5F861EAF-784A-CE54-BBDD-985BE89F24C2}"/>
              </a:ext>
            </a:extLst>
          </p:cNvPr>
          <p:cNvSpPr/>
          <p:nvPr/>
        </p:nvSpPr>
        <p:spPr>
          <a:xfrm>
            <a:off x="7003542" y="2743200"/>
            <a:ext cx="0" cy="91440"/>
          </a:xfrm>
          <a:prstGeom prst="line">
            <a:avLst/>
          </a:prstGeom>
          <a:noFill/>
          <a:ln w="12700">
            <a:solidFill>
              <a:srgbClr val="555555"/>
            </a:solidFill>
            <a:prstDash val="solid"/>
          </a:ln>
        </p:spPr>
        <p:txBody>
          <a:bodyPr/>
          <a:lstStyle/>
          <a:p>
            <a:endParaRPr lang="es-AR"/>
          </a:p>
        </p:txBody>
      </p:sp>
      <p:sp>
        <p:nvSpPr>
          <p:cNvPr id="62" name="Text 20">
            <a:extLst>
              <a:ext uri="{FF2B5EF4-FFF2-40B4-BE49-F238E27FC236}">
                <a16:creationId xmlns:a16="http://schemas.microsoft.com/office/drawing/2014/main" id="{E94DC1BB-BA5F-2B7F-D248-5D8F7CF74B59}"/>
              </a:ext>
            </a:extLst>
          </p:cNvPr>
          <p:cNvSpPr/>
          <p:nvPr/>
        </p:nvSpPr>
        <p:spPr>
          <a:xfrm>
            <a:off x="6094476" y="2286000"/>
            <a:ext cx="1818132" cy="457200"/>
          </a:xfrm>
          <a:prstGeom prst="rect">
            <a:avLst/>
          </a:prstGeom>
          <a:noFill/>
          <a:ln/>
        </p:spPr>
        <p:txBody>
          <a:bodyPr wrap="square" lIns="0" tIns="0" rIns="0" bIns="0" rtlCol="0" anchor="ctr"/>
          <a:lstStyle/>
          <a:p>
            <a:pPr marL="0" indent="0" algn="ctr">
              <a:buNone/>
            </a:pPr>
            <a:r>
              <a:rPr lang="en-US" sz="1100" i="1" kern="0" spc="200" dirty="0">
                <a:solidFill>
                  <a:srgbClr val="777777"/>
                </a:solidFill>
                <a:latin typeface="Georgia" pitchFamily="34" charset="0"/>
                <a:ea typeface="Georgia" pitchFamily="34" charset="-122"/>
                <a:cs typeface="Arial" panose="020B0604020202020204" pitchFamily="34" charset="0"/>
              </a:rPr>
              <a:t>04</a:t>
            </a:r>
            <a:endParaRPr lang="en-US" sz="1100" dirty="0"/>
          </a:p>
        </p:txBody>
      </p:sp>
      <p:sp>
        <p:nvSpPr>
          <p:cNvPr id="63" name="Text 21">
            <a:extLst>
              <a:ext uri="{FF2B5EF4-FFF2-40B4-BE49-F238E27FC236}">
                <a16:creationId xmlns:a16="http://schemas.microsoft.com/office/drawing/2014/main" id="{473FDBDE-E976-098F-6414-DBA555006D18}"/>
              </a:ext>
            </a:extLst>
          </p:cNvPr>
          <p:cNvSpPr/>
          <p:nvPr/>
        </p:nvSpPr>
        <p:spPr>
          <a:xfrm>
            <a:off x="6094476" y="2971800"/>
            <a:ext cx="1818132" cy="411480"/>
          </a:xfrm>
          <a:prstGeom prst="rect">
            <a:avLst/>
          </a:prstGeom>
          <a:noFill/>
          <a:ln/>
        </p:spPr>
        <p:txBody>
          <a:bodyPr wrap="square" lIns="0" tIns="0" rIns="0" bIns="0" rtlCol="0" anchor="t"/>
          <a:lstStyle/>
          <a:p>
            <a:pPr marL="0" indent="0" algn="ctr">
              <a:buNone/>
            </a:pPr>
            <a:r>
              <a:rPr lang="en-US" sz="1600" b="1" dirty="0">
                <a:solidFill>
                  <a:srgbClr val="111111"/>
                </a:solidFill>
                <a:latin typeface="Georgia" pitchFamily="34" charset="0"/>
                <a:ea typeface="Georgia" pitchFamily="34" charset="-122"/>
                <a:cs typeface="Arial" panose="020B0604020202020204" pitchFamily="34" charset="0"/>
              </a:rPr>
              <a:t>Fine-tuning</a:t>
            </a:r>
            <a:endParaRPr lang="en-US" sz="1600" dirty="0"/>
          </a:p>
        </p:txBody>
      </p:sp>
      <p:sp>
        <p:nvSpPr>
          <p:cNvPr id="64" name="Text 22">
            <a:extLst>
              <a:ext uri="{FF2B5EF4-FFF2-40B4-BE49-F238E27FC236}">
                <a16:creationId xmlns:a16="http://schemas.microsoft.com/office/drawing/2014/main" id="{2A3FA88F-943D-0069-1F4A-1A9E9AA6A6A0}"/>
              </a:ext>
            </a:extLst>
          </p:cNvPr>
          <p:cNvSpPr/>
          <p:nvPr/>
        </p:nvSpPr>
        <p:spPr>
          <a:xfrm>
            <a:off x="6185916" y="3429000"/>
            <a:ext cx="1635252" cy="1097280"/>
          </a:xfrm>
          <a:prstGeom prst="rect">
            <a:avLst/>
          </a:prstGeom>
          <a:noFill/>
          <a:ln/>
        </p:spPr>
        <p:txBody>
          <a:bodyPr wrap="square" lIns="0" tIns="0" rIns="0" bIns="0" rtlCol="0" anchor="t"/>
          <a:lstStyle/>
          <a:p>
            <a:pPr marL="0" indent="0" algn="ctr">
              <a:buNone/>
            </a:pPr>
            <a:r>
              <a:rPr lang="en-US" sz="1000" dirty="0">
                <a:solidFill>
                  <a:srgbClr val="555555"/>
                </a:solidFill>
                <a:latin typeface="Calibri" pitchFamily="34" charset="0"/>
                <a:ea typeface="Calibri" pitchFamily="34" charset="-122"/>
                <a:cs typeface="Calibri" pitchFamily="34" charset="-120"/>
              </a:rPr>
              <a:t>Adaptación de GPT-2</a:t>
            </a:r>
            <a:endParaRPr lang="en-US" sz="1000" dirty="0"/>
          </a:p>
          <a:p>
            <a:pPr marL="0" indent="0" algn="ctr">
              <a:buNone/>
            </a:pPr>
            <a:r>
              <a:rPr lang="en-US" sz="1000" dirty="0">
                <a:solidFill>
                  <a:srgbClr val="555555"/>
                </a:solidFill>
                <a:latin typeface="Calibri" pitchFamily="34" charset="0"/>
                <a:ea typeface="Calibri" pitchFamily="34" charset="-122"/>
                <a:cs typeface="Calibri" pitchFamily="34" charset="-120"/>
              </a:rPr>
              <a:t>al corpus</a:t>
            </a:r>
            <a:endParaRPr lang="en-US" sz="1000" dirty="0"/>
          </a:p>
        </p:txBody>
      </p:sp>
      <p:sp>
        <p:nvSpPr>
          <p:cNvPr id="65" name="Shape 23">
            <a:extLst>
              <a:ext uri="{FF2B5EF4-FFF2-40B4-BE49-F238E27FC236}">
                <a16:creationId xmlns:a16="http://schemas.microsoft.com/office/drawing/2014/main" id="{52609A05-DB8C-AA6F-1672-10108F7CBF4C}"/>
              </a:ext>
            </a:extLst>
          </p:cNvPr>
          <p:cNvSpPr/>
          <p:nvPr/>
        </p:nvSpPr>
        <p:spPr>
          <a:xfrm>
            <a:off x="8821674" y="2743200"/>
            <a:ext cx="0" cy="91440"/>
          </a:xfrm>
          <a:prstGeom prst="line">
            <a:avLst/>
          </a:prstGeom>
          <a:noFill/>
          <a:ln w="12700">
            <a:solidFill>
              <a:srgbClr val="555555"/>
            </a:solidFill>
            <a:prstDash val="solid"/>
          </a:ln>
        </p:spPr>
        <p:txBody>
          <a:bodyPr/>
          <a:lstStyle/>
          <a:p>
            <a:endParaRPr lang="es-AR"/>
          </a:p>
        </p:txBody>
      </p:sp>
      <p:sp>
        <p:nvSpPr>
          <p:cNvPr id="66" name="Text 24">
            <a:extLst>
              <a:ext uri="{FF2B5EF4-FFF2-40B4-BE49-F238E27FC236}">
                <a16:creationId xmlns:a16="http://schemas.microsoft.com/office/drawing/2014/main" id="{66E9C794-1F2D-0EF2-F502-D20B41FC0AC4}"/>
              </a:ext>
            </a:extLst>
          </p:cNvPr>
          <p:cNvSpPr/>
          <p:nvPr/>
        </p:nvSpPr>
        <p:spPr>
          <a:xfrm>
            <a:off x="7912608" y="2286000"/>
            <a:ext cx="1818132" cy="457200"/>
          </a:xfrm>
          <a:prstGeom prst="rect">
            <a:avLst/>
          </a:prstGeom>
          <a:noFill/>
          <a:ln/>
        </p:spPr>
        <p:txBody>
          <a:bodyPr wrap="square" lIns="0" tIns="0" rIns="0" bIns="0" rtlCol="0" anchor="ctr"/>
          <a:lstStyle/>
          <a:p>
            <a:pPr marL="0" indent="0" algn="ctr">
              <a:buNone/>
            </a:pPr>
            <a:r>
              <a:rPr lang="en-US" sz="1100" i="1" kern="0" spc="200" dirty="0">
                <a:solidFill>
                  <a:srgbClr val="777777"/>
                </a:solidFill>
                <a:latin typeface="Georgia" pitchFamily="34" charset="0"/>
                <a:ea typeface="Georgia" pitchFamily="34" charset="-122"/>
                <a:cs typeface="Arial" panose="020B0604020202020204" pitchFamily="34" charset="0"/>
              </a:rPr>
              <a:t>05</a:t>
            </a:r>
            <a:endParaRPr lang="en-US" sz="1100" dirty="0"/>
          </a:p>
        </p:txBody>
      </p:sp>
      <p:sp>
        <p:nvSpPr>
          <p:cNvPr id="67" name="Text 25">
            <a:extLst>
              <a:ext uri="{FF2B5EF4-FFF2-40B4-BE49-F238E27FC236}">
                <a16:creationId xmlns:a16="http://schemas.microsoft.com/office/drawing/2014/main" id="{01A9857E-BE04-1304-4E13-5B4371074073}"/>
              </a:ext>
            </a:extLst>
          </p:cNvPr>
          <p:cNvSpPr/>
          <p:nvPr/>
        </p:nvSpPr>
        <p:spPr>
          <a:xfrm>
            <a:off x="7912608" y="2971800"/>
            <a:ext cx="1818132" cy="411480"/>
          </a:xfrm>
          <a:prstGeom prst="rect">
            <a:avLst/>
          </a:prstGeom>
          <a:noFill/>
          <a:ln/>
        </p:spPr>
        <p:txBody>
          <a:bodyPr wrap="square" lIns="0" tIns="0" rIns="0" bIns="0" rtlCol="0" anchor="t"/>
          <a:lstStyle/>
          <a:p>
            <a:pPr marL="0" indent="0" algn="ctr">
              <a:buNone/>
            </a:pPr>
            <a:r>
              <a:rPr lang="en-US" sz="1600" b="1" dirty="0">
                <a:solidFill>
                  <a:srgbClr val="111111"/>
                </a:solidFill>
                <a:latin typeface="Georgia" pitchFamily="34" charset="0"/>
                <a:ea typeface="Georgia" pitchFamily="34" charset="-122"/>
                <a:cs typeface="Arial" panose="020B0604020202020204" pitchFamily="34" charset="0"/>
              </a:rPr>
              <a:t>Generación</a:t>
            </a:r>
            <a:endParaRPr lang="en-US" sz="1600" dirty="0"/>
          </a:p>
        </p:txBody>
      </p:sp>
      <p:sp>
        <p:nvSpPr>
          <p:cNvPr id="68" name="Text 26">
            <a:extLst>
              <a:ext uri="{FF2B5EF4-FFF2-40B4-BE49-F238E27FC236}">
                <a16:creationId xmlns:a16="http://schemas.microsoft.com/office/drawing/2014/main" id="{CF662453-3907-CC05-5F4D-07EECF9C0C56}"/>
              </a:ext>
            </a:extLst>
          </p:cNvPr>
          <p:cNvSpPr/>
          <p:nvPr/>
        </p:nvSpPr>
        <p:spPr>
          <a:xfrm>
            <a:off x="8004048" y="3429000"/>
            <a:ext cx="1635252" cy="1097280"/>
          </a:xfrm>
          <a:prstGeom prst="rect">
            <a:avLst/>
          </a:prstGeom>
          <a:noFill/>
          <a:ln/>
        </p:spPr>
        <p:txBody>
          <a:bodyPr wrap="square" lIns="0" tIns="0" rIns="0" bIns="0" rtlCol="0" anchor="t"/>
          <a:lstStyle/>
          <a:p>
            <a:pPr marL="0" indent="0" algn="ctr">
              <a:buNone/>
            </a:pPr>
            <a:r>
              <a:rPr lang="en-US" sz="1000" dirty="0">
                <a:solidFill>
                  <a:srgbClr val="555555"/>
                </a:solidFill>
                <a:latin typeface="Calibri" pitchFamily="34" charset="0"/>
                <a:ea typeface="Calibri" pitchFamily="34" charset="-122"/>
                <a:cs typeface="Calibri" pitchFamily="34" charset="-120"/>
              </a:rPr>
              <a:t>Narrativas</a:t>
            </a:r>
            <a:endParaRPr lang="en-US" sz="1000" dirty="0"/>
          </a:p>
          <a:p>
            <a:pPr marL="0" indent="0" algn="ctr">
              <a:buNone/>
            </a:pPr>
            <a:r>
              <a:rPr lang="en-US" sz="1000" dirty="0">
                <a:solidFill>
                  <a:srgbClr val="555555"/>
                </a:solidFill>
                <a:latin typeface="Calibri" pitchFamily="34" charset="0"/>
                <a:ea typeface="Calibri" pitchFamily="34" charset="-122"/>
                <a:cs typeface="Calibri" pitchFamily="34" charset="-120"/>
              </a:rPr>
              <a:t>sobre el conjunto de test</a:t>
            </a:r>
            <a:endParaRPr lang="en-US" sz="1000" dirty="0"/>
          </a:p>
        </p:txBody>
      </p:sp>
      <p:sp>
        <p:nvSpPr>
          <p:cNvPr id="69" name="Shape 27">
            <a:extLst>
              <a:ext uri="{FF2B5EF4-FFF2-40B4-BE49-F238E27FC236}">
                <a16:creationId xmlns:a16="http://schemas.microsoft.com/office/drawing/2014/main" id="{AD7B2DF9-14DA-CA1A-ECEA-D09BF13408AF}"/>
              </a:ext>
            </a:extLst>
          </p:cNvPr>
          <p:cNvSpPr/>
          <p:nvPr/>
        </p:nvSpPr>
        <p:spPr>
          <a:xfrm>
            <a:off x="10639806" y="2743200"/>
            <a:ext cx="0" cy="91440"/>
          </a:xfrm>
          <a:prstGeom prst="line">
            <a:avLst/>
          </a:prstGeom>
          <a:noFill/>
          <a:ln w="12700">
            <a:solidFill>
              <a:srgbClr val="555555"/>
            </a:solidFill>
            <a:prstDash val="solid"/>
          </a:ln>
        </p:spPr>
        <p:txBody>
          <a:bodyPr/>
          <a:lstStyle/>
          <a:p>
            <a:endParaRPr lang="es-AR"/>
          </a:p>
        </p:txBody>
      </p:sp>
      <p:sp>
        <p:nvSpPr>
          <p:cNvPr id="70" name="Text 28">
            <a:extLst>
              <a:ext uri="{FF2B5EF4-FFF2-40B4-BE49-F238E27FC236}">
                <a16:creationId xmlns:a16="http://schemas.microsoft.com/office/drawing/2014/main" id="{24FDE16B-500E-21EA-5479-DFC20B4C5482}"/>
              </a:ext>
            </a:extLst>
          </p:cNvPr>
          <p:cNvSpPr/>
          <p:nvPr/>
        </p:nvSpPr>
        <p:spPr>
          <a:xfrm>
            <a:off x="9730740" y="2286000"/>
            <a:ext cx="1818132" cy="457200"/>
          </a:xfrm>
          <a:prstGeom prst="rect">
            <a:avLst/>
          </a:prstGeom>
          <a:noFill/>
          <a:ln/>
        </p:spPr>
        <p:txBody>
          <a:bodyPr wrap="square" lIns="0" tIns="0" rIns="0" bIns="0" rtlCol="0" anchor="ctr"/>
          <a:lstStyle/>
          <a:p>
            <a:pPr marL="0" indent="0" algn="ctr">
              <a:buNone/>
            </a:pPr>
            <a:r>
              <a:rPr lang="en-US" sz="1100" i="1" kern="0" spc="200" dirty="0">
                <a:solidFill>
                  <a:srgbClr val="777777"/>
                </a:solidFill>
                <a:latin typeface="Georgia" pitchFamily="34" charset="0"/>
                <a:ea typeface="Georgia" pitchFamily="34" charset="-122"/>
                <a:cs typeface="Arial" panose="020B0604020202020204" pitchFamily="34" charset="0"/>
              </a:rPr>
              <a:t>06</a:t>
            </a:r>
            <a:endParaRPr lang="en-US" sz="1100" dirty="0"/>
          </a:p>
        </p:txBody>
      </p:sp>
      <p:sp>
        <p:nvSpPr>
          <p:cNvPr id="71" name="Text 29">
            <a:extLst>
              <a:ext uri="{FF2B5EF4-FFF2-40B4-BE49-F238E27FC236}">
                <a16:creationId xmlns:a16="http://schemas.microsoft.com/office/drawing/2014/main" id="{0B62C875-36E6-662A-AC7E-DF7A5078E5A5}"/>
              </a:ext>
            </a:extLst>
          </p:cNvPr>
          <p:cNvSpPr/>
          <p:nvPr/>
        </p:nvSpPr>
        <p:spPr>
          <a:xfrm>
            <a:off x="9730740" y="2971800"/>
            <a:ext cx="1818132" cy="411480"/>
          </a:xfrm>
          <a:prstGeom prst="rect">
            <a:avLst/>
          </a:prstGeom>
          <a:noFill/>
          <a:ln/>
        </p:spPr>
        <p:txBody>
          <a:bodyPr wrap="square" lIns="0" tIns="0" rIns="0" bIns="0" rtlCol="0" anchor="t"/>
          <a:lstStyle/>
          <a:p>
            <a:pPr marL="0" indent="0" algn="ctr">
              <a:buNone/>
            </a:pPr>
            <a:r>
              <a:rPr lang="en-US" sz="1600" b="1" dirty="0">
                <a:solidFill>
                  <a:srgbClr val="111111"/>
                </a:solidFill>
                <a:latin typeface="Georgia" pitchFamily="34" charset="0"/>
                <a:ea typeface="Georgia" pitchFamily="34" charset="-122"/>
                <a:cs typeface="Arial" panose="020B0604020202020204" pitchFamily="34" charset="0"/>
              </a:rPr>
              <a:t>Evaluación</a:t>
            </a:r>
            <a:endParaRPr lang="en-US" sz="1600" dirty="0"/>
          </a:p>
        </p:txBody>
      </p:sp>
      <p:sp>
        <p:nvSpPr>
          <p:cNvPr id="72" name="Text 30">
            <a:extLst>
              <a:ext uri="{FF2B5EF4-FFF2-40B4-BE49-F238E27FC236}">
                <a16:creationId xmlns:a16="http://schemas.microsoft.com/office/drawing/2014/main" id="{D7D9CE94-409E-0FE2-D1E1-9181172850EB}"/>
              </a:ext>
            </a:extLst>
          </p:cNvPr>
          <p:cNvSpPr/>
          <p:nvPr/>
        </p:nvSpPr>
        <p:spPr>
          <a:xfrm>
            <a:off x="9822180" y="3429000"/>
            <a:ext cx="1635252" cy="1097280"/>
          </a:xfrm>
          <a:prstGeom prst="rect">
            <a:avLst/>
          </a:prstGeom>
          <a:noFill/>
          <a:ln/>
        </p:spPr>
        <p:txBody>
          <a:bodyPr wrap="square" lIns="0" tIns="0" rIns="0" bIns="0" rtlCol="0" anchor="t"/>
          <a:lstStyle/>
          <a:p>
            <a:pPr marL="0" indent="0" algn="ctr">
              <a:buNone/>
            </a:pPr>
            <a:r>
              <a:rPr lang="en-US" sz="1000" dirty="0">
                <a:solidFill>
                  <a:srgbClr val="555555"/>
                </a:solidFill>
                <a:latin typeface="Calibri" pitchFamily="34" charset="0"/>
                <a:ea typeface="Calibri" pitchFamily="34" charset="-122"/>
                <a:cs typeface="Calibri" pitchFamily="34" charset="-120"/>
              </a:rPr>
              <a:t>Textual · semántica</a:t>
            </a:r>
            <a:endParaRPr lang="en-US" sz="1000" dirty="0"/>
          </a:p>
          <a:p>
            <a:pPr marL="0" indent="0" algn="ctr">
              <a:buNone/>
            </a:pPr>
            <a:r>
              <a:rPr lang="en-US" sz="1000" dirty="0">
                <a:solidFill>
                  <a:srgbClr val="555555"/>
                </a:solidFill>
                <a:latin typeface="Calibri" pitchFamily="34" charset="0"/>
                <a:ea typeface="Calibri" pitchFamily="34" charset="-122"/>
                <a:cs typeface="Calibri" pitchFamily="34" charset="-120"/>
              </a:rPr>
              <a:t>· financiera</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0080" y="640080"/>
            <a:ext cx="10332720" cy="749808"/>
          </a:xfrm>
          <a:prstGeom prst="rect">
            <a:avLst/>
          </a:prstGeom>
          <a:noFill/>
          <a:ln/>
        </p:spPr>
        <p:txBody>
          <a:bodyPr wrap="square" lIns="0" tIns="0" rIns="0" bIns="0" rtlCol="0" anchor="ctr"/>
          <a:lstStyle/>
          <a:p>
            <a:pPr marL="0" indent="0">
              <a:buNone/>
            </a:pPr>
            <a:r>
              <a:rPr lang="en-US" sz="2800" b="1" dirty="0">
                <a:solidFill>
                  <a:srgbClr val="23304A"/>
                </a:solidFill>
                <a:latin typeface="Arial" panose="020B0604020202020204" pitchFamily="34" charset="0"/>
                <a:ea typeface="Georgia" pitchFamily="34" charset="-122"/>
                <a:cs typeface="Arial" panose="020B0604020202020204" pitchFamily="34" charset="0"/>
              </a:rPr>
              <a:t>Construcción del dataset</a:t>
            </a:r>
            <a:endParaRPr lang="en-US" sz="2800" dirty="0">
              <a:latin typeface="Arial" panose="020B0604020202020204" pitchFamily="34" charset="0"/>
              <a:cs typeface="Arial" panose="020B0604020202020204" pitchFamily="34" charset="0"/>
            </a:endParaRPr>
          </a:p>
        </p:txBody>
      </p:sp>
      <p:sp>
        <p:nvSpPr>
          <p:cNvPr id="5" name="Text 3"/>
          <p:cNvSpPr/>
          <p:nvPr/>
        </p:nvSpPr>
        <p:spPr>
          <a:xfrm>
            <a:off x="640080" y="1481328"/>
            <a:ext cx="10881360" cy="365760"/>
          </a:xfrm>
          <a:prstGeom prst="rect">
            <a:avLst/>
          </a:prstGeom>
          <a:noFill/>
          <a:ln/>
        </p:spPr>
        <p:txBody>
          <a:bodyPr wrap="square" lIns="0" tIns="0" rIns="0" bIns="0" rtlCol="0" anchor="ctr"/>
          <a:lstStyle/>
          <a:p>
            <a:pPr marL="0" indent="0">
              <a:buNone/>
            </a:pPr>
            <a:r>
              <a:rPr lang="en-US" sz="1250" dirty="0">
                <a:solidFill>
                  <a:srgbClr val="667085"/>
                </a:solidFill>
                <a:latin typeface="Arial" panose="020B0604020202020204" pitchFamily="34" charset="0"/>
                <a:ea typeface="Calibri" pitchFamily="34" charset="-122"/>
                <a:cs typeface="Arial" panose="020B0604020202020204" pitchFamily="34" charset="0"/>
              </a:rPr>
              <a:t>La data cruda se transforma en pares prompt/target con labels derivadas del dato real.</a:t>
            </a:r>
            <a:endParaRPr lang="en-US" sz="1250" dirty="0">
              <a:latin typeface="Arial" panose="020B0604020202020204" pitchFamily="34" charset="0"/>
              <a:cs typeface="Arial" panose="020B0604020202020204" pitchFamily="34" charset="0"/>
            </a:endParaRPr>
          </a:p>
        </p:txBody>
      </p:sp>
      <p:sp>
        <p:nvSpPr>
          <p:cNvPr id="24" name="Shape 18"/>
          <p:cNvSpPr/>
          <p:nvPr/>
        </p:nvSpPr>
        <p:spPr>
          <a:xfrm>
            <a:off x="5971032" y="2057400"/>
            <a:ext cx="5580583" cy="2377440"/>
          </a:xfrm>
          <a:prstGeom prst="rect">
            <a:avLst/>
          </a:prstGeom>
          <a:solidFill>
            <a:srgbClr val="EAF1F4"/>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26" name="Image 4" descr="icon_tags.png"/>
          <p:cNvPicPr>
            <a:picLocks noChangeAspect="1"/>
          </p:cNvPicPr>
          <p:nvPr/>
        </p:nvPicPr>
        <p:blipFill>
          <a:blip r:embed="rId3"/>
          <a:stretch>
            <a:fillRect/>
          </a:stretch>
        </p:blipFill>
        <p:spPr>
          <a:xfrm>
            <a:off x="6190488" y="2258568"/>
            <a:ext cx="292608" cy="292608"/>
          </a:xfrm>
          <a:prstGeom prst="rect">
            <a:avLst/>
          </a:prstGeom>
        </p:spPr>
      </p:pic>
      <p:sp>
        <p:nvSpPr>
          <p:cNvPr id="27" name="Text 20"/>
          <p:cNvSpPr/>
          <p:nvPr/>
        </p:nvSpPr>
        <p:spPr>
          <a:xfrm>
            <a:off x="6574536" y="2221992"/>
            <a:ext cx="4757623" cy="365760"/>
          </a:xfrm>
          <a:prstGeom prst="rect">
            <a:avLst/>
          </a:prstGeom>
          <a:noFill/>
          <a:ln/>
        </p:spPr>
        <p:txBody>
          <a:bodyPr wrap="square" lIns="0" tIns="0" rIns="0" bIns="0" rtlCol="0" anchor="ctr"/>
          <a:lstStyle/>
          <a:p>
            <a:pPr marL="0" indent="0">
              <a:buNone/>
            </a:pPr>
            <a:r>
              <a:rPr lang="en-US" sz="1250" b="1" dirty="0">
                <a:solidFill>
                  <a:srgbClr val="23304A"/>
                </a:solidFill>
                <a:latin typeface="Arial" panose="020B0604020202020204" pitchFamily="34" charset="0"/>
                <a:ea typeface="Calibri" pitchFamily="34" charset="-122"/>
                <a:cs typeface="Arial" panose="020B0604020202020204" pitchFamily="34" charset="0"/>
              </a:rPr>
              <a:t>Supervisión: cómo se etiqueta el target</a:t>
            </a:r>
            <a:endParaRPr lang="en-US" sz="1250" dirty="0">
              <a:latin typeface="Arial" panose="020B0604020202020204" pitchFamily="34" charset="0"/>
              <a:cs typeface="Arial" panose="020B0604020202020204" pitchFamily="34" charset="0"/>
            </a:endParaRPr>
          </a:p>
        </p:txBody>
      </p:sp>
      <p:pic>
        <p:nvPicPr>
          <p:cNvPr id="28" name="Image 5" descr="icon_up.png"/>
          <p:cNvPicPr>
            <a:picLocks noChangeAspect="1"/>
          </p:cNvPicPr>
          <p:nvPr/>
        </p:nvPicPr>
        <p:blipFill>
          <a:blip r:embed="rId4"/>
          <a:stretch>
            <a:fillRect/>
          </a:stretch>
        </p:blipFill>
        <p:spPr>
          <a:xfrm>
            <a:off x="6217920" y="2952037"/>
            <a:ext cx="219456" cy="219456"/>
          </a:xfrm>
          <a:prstGeom prst="rect">
            <a:avLst/>
          </a:prstGeom>
        </p:spPr>
      </p:pic>
      <p:sp>
        <p:nvSpPr>
          <p:cNvPr id="29" name="Text 21"/>
          <p:cNvSpPr/>
          <p:nvPr/>
        </p:nvSpPr>
        <p:spPr>
          <a:xfrm>
            <a:off x="6547104" y="2869741"/>
            <a:ext cx="4775911" cy="566928"/>
          </a:xfrm>
          <a:prstGeom prst="rect">
            <a:avLst/>
          </a:prstGeom>
          <a:noFill/>
          <a:ln/>
        </p:spPr>
        <p:txBody>
          <a:bodyPr wrap="square" lIns="0" tIns="0" rIns="0" bIns="0" rtlCol="0" anchor="ctr"/>
          <a:lstStyle/>
          <a:p>
            <a:pPr marL="0" indent="0">
              <a:lnSpc>
                <a:spcPct val="113000"/>
              </a:lnSpc>
              <a:buNone/>
            </a:pPr>
            <a:r>
              <a:rPr lang="en-US" sz="980" b="1" dirty="0">
                <a:solidFill>
                  <a:srgbClr val="23304A"/>
                </a:solidFill>
                <a:latin typeface="Arial" panose="020B0604020202020204" pitchFamily="34" charset="0"/>
                <a:ea typeface="Calibri" pitchFamily="34" charset="-122"/>
                <a:cs typeface="Arial" panose="020B0604020202020204" pitchFamily="34" charset="0"/>
              </a:rPr>
              <a:t>Dirección.  </a:t>
            </a:r>
            <a:r>
              <a:rPr lang="en-US" sz="980" dirty="0">
                <a:solidFill>
                  <a:srgbClr val="667085"/>
                </a:solidFill>
                <a:latin typeface="Arial" panose="020B0604020202020204" pitchFamily="34" charset="0"/>
                <a:ea typeface="Calibri" pitchFamily="34" charset="-122"/>
                <a:cs typeface="Arial" panose="020B0604020202020204" pitchFamily="34" charset="0"/>
              </a:rPr>
              <a:t>del retorno real de t+1, con umbral de ±0.1 % para separar up · flat · down.</a:t>
            </a:r>
            <a:endParaRPr lang="en-US" sz="980" dirty="0">
              <a:latin typeface="Arial" panose="020B0604020202020204" pitchFamily="34" charset="0"/>
              <a:cs typeface="Arial" panose="020B0604020202020204" pitchFamily="34" charset="0"/>
            </a:endParaRPr>
          </a:p>
        </p:txBody>
      </p:sp>
      <p:pic>
        <p:nvPicPr>
          <p:cNvPr id="30" name="Image 6" descr="icon_book.png"/>
          <p:cNvPicPr>
            <a:picLocks noChangeAspect="1"/>
          </p:cNvPicPr>
          <p:nvPr/>
        </p:nvPicPr>
        <p:blipFill>
          <a:blip r:embed="rId5"/>
          <a:stretch>
            <a:fillRect/>
          </a:stretch>
        </p:blipFill>
        <p:spPr>
          <a:xfrm>
            <a:off x="6217920" y="3555541"/>
            <a:ext cx="219456" cy="219456"/>
          </a:xfrm>
          <a:prstGeom prst="rect">
            <a:avLst/>
          </a:prstGeom>
        </p:spPr>
      </p:pic>
      <p:sp>
        <p:nvSpPr>
          <p:cNvPr id="31" name="Text 22"/>
          <p:cNvSpPr/>
          <p:nvPr/>
        </p:nvSpPr>
        <p:spPr>
          <a:xfrm>
            <a:off x="6547104" y="3473245"/>
            <a:ext cx="4775911" cy="566928"/>
          </a:xfrm>
          <a:prstGeom prst="rect">
            <a:avLst/>
          </a:prstGeom>
          <a:noFill/>
          <a:ln/>
        </p:spPr>
        <p:txBody>
          <a:bodyPr wrap="square" lIns="0" tIns="0" rIns="0" bIns="0" rtlCol="0" anchor="ctr"/>
          <a:lstStyle/>
          <a:p>
            <a:pPr marL="0" indent="0">
              <a:lnSpc>
                <a:spcPct val="113000"/>
              </a:lnSpc>
              <a:buNone/>
            </a:pPr>
            <a:r>
              <a:rPr lang="en-US" sz="980" b="1" dirty="0">
                <a:solidFill>
                  <a:srgbClr val="23304A"/>
                </a:solidFill>
                <a:latin typeface="Arial" panose="020B0604020202020204" pitchFamily="34" charset="0"/>
                <a:ea typeface="Calibri" pitchFamily="34" charset="-122"/>
                <a:cs typeface="Arial" panose="020B0604020202020204" pitchFamily="34" charset="0"/>
              </a:rPr>
              <a:t>Sentimiento.  </a:t>
            </a:r>
            <a:r>
              <a:rPr lang="en-US" sz="980" dirty="0">
                <a:solidFill>
                  <a:srgbClr val="667085"/>
                </a:solidFill>
                <a:latin typeface="Arial" panose="020B0604020202020204" pitchFamily="34" charset="0"/>
                <a:ea typeface="Calibri" pitchFamily="34" charset="-122"/>
                <a:cs typeface="Arial" panose="020B0604020202020204" pitchFamily="34" charset="0"/>
              </a:rPr>
              <a:t>lexicón de palabras positivas y negativas sobre los titulares reales de t+1, no FinBERT.</a:t>
            </a:r>
            <a:endParaRPr lang="en-US" sz="980" dirty="0">
              <a:latin typeface="Arial" panose="020B0604020202020204" pitchFamily="34" charset="0"/>
              <a:cs typeface="Arial" panose="020B0604020202020204" pitchFamily="34" charset="0"/>
            </a:endParaRPr>
          </a:p>
        </p:txBody>
      </p:sp>
      <p:sp>
        <p:nvSpPr>
          <p:cNvPr id="34" name="Shape 25"/>
          <p:cNvSpPr/>
          <p:nvPr/>
        </p:nvSpPr>
        <p:spPr>
          <a:xfrm>
            <a:off x="6382512" y="4648200"/>
            <a:ext cx="5111496" cy="128016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36" name="Image 7" descr="icon_cut.png"/>
          <p:cNvPicPr>
            <a:picLocks noChangeAspect="1"/>
          </p:cNvPicPr>
          <p:nvPr/>
        </p:nvPicPr>
        <p:blipFill>
          <a:blip r:embed="rId6"/>
          <a:stretch>
            <a:fillRect/>
          </a:stretch>
        </p:blipFill>
        <p:spPr>
          <a:xfrm>
            <a:off x="6601968" y="4849368"/>
            <a:ext cx="274320" cy="274320"/>
          </a:xfrm>
          <a:prstGeom prst="rect">
            <a:avLst/>
          </a:prstGeom>
        </p:spPr>
      </p:pic>
      <p:sp>
        <p:nvSpPr>
          <p:cNvPr id="37" name="Text 27"/>
          <p:cNvSpPr/>
          <p:nvPr/>
        </p:nvSpPr>
        <p:spPr>
          <a:xfrm>
            <a:off x="6967728" y="4794504"/>
            <a:ext cx="4553712" cy="384048"/>
          </a:xfrm>
          <a:prstGeom prst="rect">
            <a:avLst/>
          </a:prstGeom>
          <a:noFill/>
          <a:ln/>
        </p:spPr>
        <p:txBody>
          <a:bodyPr wrap="square" lIns="0" tIns="0" rIns="0" bIns="0" rtlCol="0" anchor="ctr"/>
          <a:lstStyle/>
          <a:p>
            <a:pPr marL="0" indent="0">
              <a:buNone/>
            </a:pPr>
            <a:r>
              <a:rPr lang="en-US" sz="1200" b="1" dirty="0">
                <a:solidFill>
                  <a:srgbClr val="23304A"/>
                </a:solidFill>
                <a:latin typeface="Arial" panose="020B0604020202020204" pitchFamily="34" charset="0"/>
                <a:ea typeface="Calibri" pitchFamily="34" charset="-122"/>
                <a:cs typeface="Arial" panose="020B0604020202020204" pitchFamily="34" charset="0"/>
              </a:rPr>
              <a:t>Split estrictamente temporal</a:t>
            </a:r>
            <a:endParaRPr lang="en-US" sz="1200" dirty="0">
              <a:latin typeface="Arial" panose="020B0604020202020204" pitchFamily="34" charset="0"/>
              <a:cs typeface="Arial" panose="020B0604020202020204" pitchFamily="34" charset="0"/>
            </a:endParaRPr>
          </a:p>
        </p:txBody>
      </p:sp>
      <p:sp>
        <p:nvSpPr>
          <p:cNvPr id="38" name="Text 28"/>
          <p:cNvSpPr/>
          <p:nvPr/>
        </p:nvSpPr>
        <p:spPr>
          <a:xfrm>
            <a:off x="6620256" y="5178552"/>
            <a:ext cx="4873752" cy="685800"/>
          </a:xfrm>
          <a:prstGeom prst="rect">
            <a:avLst/>
          </a:prstGeom>
          <a:noFill/>
          <a:ln/>
        </p:spPr>
        <p:txBody>
          <a:bodyPr wrap="square" lIns="0" tIns="0" rIns="0" bIns="0" rtlCol="0" anchor="ctr"/>
          <a:lstStyle/>
          <a:p>
            <a:pPr marL="0" indent="0">
              <a:lnSpc>
                <a:spcPct val="115000"/>
              </a:lnSpc>
              <a:buNone/>
            </a:pPr>
            <a:r>
              <a:rPr lang="en-US" sz="980" dirty="0">
                <a:solidFill>
                  <a:srgbClr val="667085"/>
                </a:solidFill>
                <a:latin typeface="Arial" panose="020B0604020202020204" pitchFamily="34" charset="0"/>
                <a:ea typeface="Calibri" pitchFamily="34" charset="-122"/>
                <a:cs typeface="Arial" panose="020B0604020202020204" pitchFamily="34" charset="0"/>
              </a:rPr>
              <a:t>70 / 15 / 15 ordenado por fecha, sin shuffle. Evita el leakage de información futura, fundamental en finanzas.</a:t>
            </a:r>
            <a:endParaRPr lang="en-US" sz="980" dirty="0">
              <a:latin typeface="Arial" panose="020B0604020202020204" pitchFamily="34" charset="0"/>
              <a:cs typeface="Arial" panose="020B0604020202020204" pitchFamily="34" charset="0"/>
            </a:endParaRPr>
          </a:p>
        </p:txBody>
      </p:sp>
      <p:sp>
        <p:nvSpPr>
          <p:cNvPr id="45" name="Text 7">
            <a:extLst>
              <a:ext uri="{FF2B5EF4-FFF2-40B4-BE49-F238E27FC236}">
                <a16:creationId xmlns:a16="http://schemas.microsoft.com/office/drawing/2014/main" id="{4FD5CD8B-C6AE-63F7-45C7-B02BA5D575EA}"/>
              </a:ext>
            </a:extLst>
          </p:cNvPr>
          <p:cNvSpPr/>
          <p:nvPr/>
        </p:nvSpPr>
        <p:spPr>
          <a:xfrm>
            <a:off x="6947452" y="6010977"/>
            <a:ext cx="4573988" cy="795528"/>
          </a:xfrm>
          <a:prstGeom prst="rect">
            <a:avLst/>
          </a:prstGeom>
          <a:noFill/>
          <a:ln/>
        </p:spPr>
        <p:txBody>
          <a:bodyPr wrap="square" lIns="0" tIns="0" rIns="0" bIns="0" rtlCol="0" anchor="ctr"/>
          <a:lstStyle/>
          <a:p>
            <a:pPr marL="0" indent="0" algn="r">
              <a:buNone/>
            </a:pPr>
            <a:r>
              <a:rPr lang="en-US" sz="105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lgn="r">
              <a:buNone/>
            </a:pPr>
            <a:r>
              <a:rPr lang="en-US" sz="105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lgn="r">
              <a:buNone/>
            </a:pPr>
            <a:r>
              <a:rPr lang="en-US" sz="105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050" dirty="0">
              <a:solidFill>
                <a:schemeClr val="bg2">
                  <a:lumMod val="75000"/>
                </a:schemeClr>
              </a:solidFill>
              <a:latin typeface="Arial" panose="020B0604020202020204" pitchFamily="34" charset="0"/>
              <a:cs typeface="Arial" panose="020B0604020202020204" pitchFamily="34" charset="0"/>
            </a:endParaRPr>
          </a:p>
        </p:txBody>
      </p:sp>
      <p:sp>
        <p:nvSpPr>
          <p:cNvPr id="2" name="Text 7">
            <a:extLst>
              <a:ext uri="{FF2B5EF4-FFF2-40B4-BE49-F238E27FC236}">
                <a16:creationId xmlns:a16="http://schemas.microsoft.com/office/drawing/2014/main" id="{53130044-A522-9425-F75C-A216E5483ADC}"/>
              </a:ext>
            </a:extLst>
          </p:cNvPr>
          <p:cNvSpPr/>
          <p:nvPr/>
        </p:nvSpPr>
        <p:spPr>
          <a:xfrm>
            <a:off x="640080" y="2377440"/>
            <a:ext cx="5486400" cy="365760"/>
          </a:xfrm>
          <a:prstGeom prst="rect">
            <a:avLst/>
          </a:prstGeom>
          <a:noFill/>
          <a:ln/>
        </p:spPr>
        <p:txBody>
          <a:bodyPr wrap="square" lIns="0" tIns="0" rIns="0" bIns="0" rtlCol="0" anchor="ctr"/>
          <a:lstStyle/>
          <a:p>
            <a:pPr marL="0" indent="0" algn="l">
              <a:buNone/>
            </a:pPr>
            <a:r>
              <a:rPr lang="en-US" sz="1500" b="1" dirty="0">
                <a:solidFill>
                  <a:srgbClr val="111111"/>
                </a:solidFill>
                <a:latin typeface="Georgia" pitchFamily="34" charset="0"/>
                <a:ea typeface="Georgia" pitchFamily="34" charset="-122"/>
                <a:cs typeface="Georgia" pitchFamily="34" charset="-120"/>
              </a:rPr>
              <a:t>Ventana temporal  ·  k = 3 días</a:t>
            </a:r>
            <a:endParaRPr lang="en-US" sz="1500" dirty="0"/>
          </a:p>
        </p:txBody>
      </p:sp>
      <p:sp>
        <p:nvSpPr>
          <p:cNvPr id="4" name="Text 8">
            <a:extLst>
              <a:ext uri="{FF2B5EF4-FFF2-40B4-BE49-F238E27FC236}">
                <a16:creationId xmlns:a16="http://schemas.microsoft.com/office/drawing/2014/main" id="{E8F66171-ED22-F530-D2DA-98C1A11A13E2}"/>
              </a:ext>
            </a:extLst>
          </p:cNvPr>
          <p:cNvSpPr/>
          <p:nvPr/>
        </p:nvSpPr>
        <p:spPr>
          <a:xfrm>
            <a:off x="640080" y="2743200"/>
            <a:ext cx="5486400" cy="457200"/>
          </a:xfrm>
          <a:prstGeom prst="rect">
            <a:avLst/>
          </a:prstGeom>
          <a:noFill/>
          <a:ln/>
        </p:spPr>
        <p:txBody>
          <a:bodyPr wrap="square" lIns="0" tIns="0" rIns="0" bIns="0" rtlCol="0" anchor="t"/>
          <a:lstStyle/>
          <a:p>
            <a:pPr marL="0" indent="0" algn="l">
              <a:buNone/>
            </a:pPr>
            <a:r>
              <a:rPr lang="en-US" sz="1000" dirty="0">
                <a:solidFill>
                  <a:srgbClr val="555555"/>
                </a:solidFill>
                <a:latin typeface="Calibri" pitchFamily="34" charset="0"/>
                <a:ea typeface="Calibri" pitchFamily="34" charset="-122"/>
                <a:cs typeface="Calibri" pitchFamily="34" charset="-120"/>
              </a:rPr>
              <a:t>El prompt agrega las noticias previas de t-2, t-1 y t. El target es la narrativa del día t+1.</a:t>
            </a:r>
            <a:endParaRPr lang="en-US" sz="1000" dirty="0"/>
          </a:p>
        </p:txBody>
      </p:sp>
      <p:sp>
        <p:nvSpPr>
          <p:cNvPr id="7" name="Shape 9">
            <a:extLst>
              <a:ext uri="{FF2B5EF4-FFF2-40B4-BE49-F238E27FC236}">
                <a16:creationId xmlns:a16="http://schemas.microsoft.com/office/drawing/2014/main" id="{E648BC6A-A5D2-99F3-73CD-0B8AE90486A4}"/>
              </a:ext>
            </a:extLst>
          </p:cNvPr>
          <p:cNvSpPr/>
          <p:nvPr/>
        </p:nvSpPr>
        <p:spPr>
          <a:xfrm>
            <a:off x="640080" y="3474720"/>
            <a:ext cx="868680" cy="685800"/>
          </a:xfrm>
          <a:prstGeom prst="rect">
            <a:avLst/>
          </a:prstGeom>
          <a:solidFill>
            <a:srgbClr val="EDEDED"/>
          </a:solidFill>
          <a:ln w="6350">
            <a:solidFill>
              <a:srgbClr val="BFBFBF"/>
            </a:solidFill>
            <a:prstDash val="solid"/>
          </a:ln>
        </p:spPr>
        <p:txBody>
          <a:bodyPr/>
          <a:lstStyle/>
          <a:p>
            <a:endParaRPr lang="es-AR"/>
          </a:p>
        </p:txBody>
      </p:sp>
      <p:sp>
        <p:nvSpPr>
          <p:cNvPr id="25" name="Text 10">
            <a:extLst>
              <a:ext uri="{FF2B5EF4-FFF2-40B4-BE49-F238E27FC236}">
                <a16:creationId xmlns:a16="http://schemas.microsoft.com/office/drawing/2014/main" id="{1F5063DB-88A9-EE7D-0A93-9CA807524491}"/>
              </a:ext>
            </a:extLst>
          </p:cNvPr>
          <p:cNvSpPr/>
          <p:nvPr/>
        </p:nvSpPr>
        <p:spPr>
          <a:xfrm>
            <a:off x="640080" y="3474720"/>
            <a:ext cx="868680" cy="685800"/>
          </a:xfrm>
          <a:prstGeom prst="rect">
            <a:avLst/>
          </a:prstGeom>
          <a:noFill/>
          <a:ln/>
        </p:spPr>
        <p:txBody>
          <a:bodyPr wrap="square" lIns="0" tIns="0" rIns="0" bIns="0" rtlCol="0" anchor="ctr"/>
          <a:lstStyle/>
          <a:p>
            <a:pPr marL="0" indent="0" algn="ctr">
              <a:buNone/>
            </a:pPr>
            <a:r>
              <a:rPr lang="en-US" sz="1800" i="1" dirty="0">
                <a:solidFill>
                  <a:srgbClr val="111111"/>
                </a:solidFill>
                <a:latin typeface="Georgia" pitchFamily="34" charset="0"/>
                <a:ea typeface="Georgia" pitchFamily="34" charset="-122"/>
                <a:cs typeface="Georgia" pitchFamily="34" charset="-120"/>
              </a:rPr>
              <a:t>t-2</a:t>
            </a:r>
            <a:endParaRPr lang="en-US" sz="1800" dirty="0"/>
          </a:p>
        </p:txBody>
      </p:sp>
      <p:sp>
        <p:nvSpPr>
          <p:cNvPr id="32" name="Shape 11">
            <a:extLst>
              <a:ext uri="{FF2B5EF4-FFF2-40B4-BE49-F238E27FC236}">
                <a16:creationId xmlns:a16="http://schemas.microsoft.com/office/drawing/2014/main" id="{059CA6AD-0483-BD5C-9863-43B85C889CAD}"/>
              </a:ext>
            </a:extLst>
          </p:cNvPr>
          <p:cNvSpPr/>
          <p:nvPr/>
        </p:nvSpPr>
        <p:spPr>
          <a:xfrm>
            <a:off x="1737360" y="3474720"/>
            <a:ext cx="868680" cy="685800"/>
          </a:xfrm>
          <a:prstGeom prst="rect">
            <a:avLst/>
          </a:prstGeom>
          <a:solidFill>
            <a:srgbClr val="EDEDED"/>
          </a:solidFill>
          <a:ln w="6350">
            <a:solidFill>
              <a:srgbClr val="BFBFBF"/>
            </a:solidFill>
            <a:prstDash val="solid"/>
          </a:ln>
        </p:spPr>
        <p:txBody>
          <a:bodyPr/>
          <a:lstStyle/>
          <a:p>
            <a:endParaRPr lang="es-AR"/>
          </a:p>
        </p:txBody>
      </p:sp>
      <p:sp>
        <p:nvSpPr>
          <p:cNvPr id="33" name="Text 12">
            <a:extLst>
              <a:ext uri="{FF2B5EF4-FFF2-40B4-BE49-F238E27FC236}">
                <a16:creationId xmlns:a16="http://schemas.microsoft.com/office/drawing/2014/main" id="{DBB687D3-C649-82DA-7550-F00D758A335D}"/>
              </a:ext>
            </a:extLst>
          </p:cNvPr>
          <p:cNvSpPr/>
          <p:nvPr/>
        </p:nvSpPr>
        <p:spPr>
          <a:xfrm>
            <a:off x="1737360" y="3474720"/>
            <a:ext cx="868680" cy="685800"/>
          </a:xfrm>
          <a:prstGeom prst="rect">
            <a:avLst/>
          </a:prstGeom>
          <a:noFill/>
          <a:ln/>
        </p:spPr>
        <p:txBody>
          <a:bodyPr wrap="square" lIns="0" tIns="0" rIns="0" bIns="0" rtlCol="0" anchor="ctr"/>
          <a:lstStyle/>
          <a:p>
            <a:pPr marL="0" indent="0" algn="ctr">
              <a:buNone/>
            </a:pPr>
            <a:r>
              <a:rPr lang="en-US" sz="1800" i="1" dirty="0">
                <a:solidFill>
                  <a:srgbClr val="111111"/>
                </a:solidFill>
                <a:latin typeface="Georgia" pitchFamily="34" charset="0"/>
                <a:ea typeface="Georgia" pitchFamily="34" charset="-122"/>
                <a:cs typeface="Georgia" pitchFamily="34" charset="-120"/>
              </a:rPr>
              <a:t>t-1</a:t>
            </a:r>
            <a:endParaRPr lang="en-US" sz="1800" dirty="0"/>
          </a:p>
        </p:txBody>
      </p:sp>
      <p:sp>
        <p:nvSpPr>
          <p:cNvPr id="35" name="Shape 13">
            <a:extLst>
              <a:ext uri="{FF2B5EF4-FFF2-40B4-BE49-F238E27FC236}">
                <a16:creationId xmlns:a16="http://schemas.microsoft.com/office/drawing/2014/main" id="{BB26D5CE-3CE7-F849-8C1D-B77E9EFE8265}"/>
              </a:ext>
            </a:extLst>
          </p:cNvPr>
          <p:cNvSpPr/>
          <p:nvPr/>
        </p:nvSpPr>
        <p:spPr>
          <a:xfrm>
            <a:off x="2834640" y="3474720"/>
            <a:ext cx="868680" cy="685800"/>
          </a:xfrm>
          <a:prstGeom prst="rect">
            <a:avLst/>
          </a:prstGeom>
          <a:solidFill>
            <a:srgbClr val="EDEDED"/>
          </a:solidFill>
          <a:ln w="6350">
            <a:solidFill>
              <a:srgbClr val="BFBFBF"/>
            </a:solidFill>
            <a:prstDash val="solid"/>
          </a:ln>
        </p:spPr>
        <p:txBody>
          <a:bodyPr/>
          <a:lstStyle/>
          <a:p>
            <a:endParaRPr lang="es-AR"/>
          </a:p>
        </p:txBody>
      </p:sp>
      <p:sp>
        <p:nvSpPr>
          <p:cNvPr id="39" name="Text 14">
            <a:extLst>
              <a:ext uri="{FF2B5EF4-FFF2-40B4-BE49-F238E27FC236}">
                <a16:creationId xmlns:a16="http://schemas.microsoft.com/office/drawing/2014/main" id="{309A6295-6477-5569-2264-E6E23E9F0923}"/>
              </a:ext>
            </a:extLst>
          </p:cNvPr>
          <p:cNvSpPr/>
          <p:nvPr/>
        </p:nvSpPr>
        <p:spPr>
          <a:xfrm>
            <a:off x="2834640" y="3474720"/>
            <a:ext cx="868680" cy="685800"/>
          </a:xfrm>
          <a:prstGeom prst="rect">
            <a:avLst/>
          </a:prstGeom>
          <a:noFill/>
          <a:ln/>
        </p:spPr>
        <p:txBody>
          <a:bodyPr wrap="square" lIns="0" tIns="0" rIns="0" bIns="0" rtlCol="0" anchor="ctr"/>
          <a:lstStyle/>
          <a:p>
            <a:pPr marL="0" indent="0" algn="ctr">
              <a:buNone/>
            </a:pPr>
            <a:r>
              <a:rPr lang="en-US" sz="1800" i="1" dirty="0">
                <a:solidFill>
                  <a:srgbClr val="111111"/>
                </a:solidFill>
                <a:latin typeface="Georgia" pitchFamily="34" charset="0"/>
                <a:ea typeface="Georgia" pitchFamily="34" charset="-122"/>
                <a:cs typeface="Georgia" pitchFamily="34" charset="-120"/>
              </a:rPr>
              <a:t>t</a:t>
            </a:r>
            <a:endParaRPr lang="en-US" sz="1800" dirty="0"/>
          </a:p>
        </p:txBody>
      </p:sp>
      <p:sp>
        <p:nvSpPr>
          <p:cNvPr id="40" name="Shape 15">
            <a:extLst>
              <a:ext uri="{FF2B5EF4-FFF2-40B4-BE49-F238E27FC236}">
                <a16:creationId xmlns:a16="http://schemas.microsoft.com/office/drawing/2014/main" id="{24B53F16-A902-F4D7-D62F-19F08BDEEF40}"/>
              </a:ext>
            </a:extLst>
          </p:cNvPr>
          <p:cNvSpPr/>
          <p:nvPr/>
        </p:nvSpPr>
        <p:spPr>
          <a:xfrm>
            <a:off x="3931920" y="3474720"/>
            <a:ext cx="868680" cy="685800"/>
          </a:xfrm>
          <a:prstGeom prst="rect">
            <a:avLst/>
          </a:prstGeom>
          <a:solidFill>
            <a:srgbClr val="111111"/>
          </a:solidFill>
          <a:ln w="6350">
            <a:solidFill>
              <a:srgbClr val="111111"/>
            </a:solidFill>
            <a:prstDash val="solid"/>
          </a:ln>
        </p:spPr>
        <p:txBody>
          <a:bodyPr/>
          <a:lstStyle/>
          <a:p>
            <a:endParaRPr lang="es-AR"/>
          </a:p>
        </p:txBody>
      </p:sp>
      <p:sp>
        <p:nvSpPr>
          <p:cNvPr id="41" name="Text 16">
            <a:extLst>
              <a:ext uri="{FF2B5EF4-FFF2-40B4-BE49-F238E27FC236}">
                <a16:creationId xmlns:a16="http://schemas.microsoft.com/office/drawing/2014/main" id="{08D8C504-21B6-E5A5-5561-940F47457530}"/>
              </a:ext>
            </a:extLst>
          </p:cNvPr>
          <p:cNvSpPr/>
          <p:nvPr/>
        </p:nvSpPr>
        <p:spPr>
          <a:xfrm>
            <a:off x="3931920" y="3474720"/>
            <a:ext cx="868680" cy="685800"/>
          </a:xfrm>
          <a:prstGeom prst="rect">
            <a:avLst/>
          </a:prstGeom>
          <a:noFill/>
          <a:ln/>
        </p:spPr>
        <p:txBody>
          <a:bodyPr wrap="square" lIns="0" tIns="0" rIns="0" bIns="0" rtlCol="0" anchor="ctr"/>
          <a:lstStyle/>
          <a:p>
            <a:pPr marL="0" indent="0" algn="ctr">
              <a:buNone/>
            </a:pPr>
            <a:r>
              <a:rPr lang="en-US" sz="1800" i="1" dirty="0">
                <a:solidFill>
                  <a:srgbClr val="FFFFFF"/>
                </a:solidFill>
                <a:latin typeface="Georgia" pitchFamily="34" charset="0"/>
                <a:ea typeface="Georgia" pitchFamily="34" charset="-122"/>
                <a:cs typeface="Georgia" pitchFamily="34" charset="-120"/>
              </a:rPr>
              <a:t>t+1</a:t>
            </a:r>
            <a:endParaRPr lang="en-US" sz="1800" dirty="0"/>
          </a:p>
        </p:txBody>
      </p:sp>
      <p:sp>
        <p:nvSpPr>
          <p:cNvPr id="42" name="Shape 17">
            <a:extLst>
              <a:ext uri="{FF2B5EF4-FFF2-40B4-BE49-F238E27FC236}">
                <a16:creationId xmlns:a16="http://schemas.microsoft.com/office/drawing/2014/main" id="{B39C98A7-AD68-3102-5685-376DFBA68E87}"/>
              </a:ext>
            </a:extLst>
          </p:cNvPr>
          <p:cNvSpPr/>
          <p:nvPr/>
        </p:nvSpPr>
        <p:spPr>
          <a:xfrm>
            <a:off x="3749040" y="3822192"/>
            <a:ext cx="137160" cy="0"/>
          </a:xfrm>
          <a:prstGeom prst="line">
            <a:avLst/>
          </a:prstGeom>
          <a:noFill/>
          <a:ln w="9525">
            <a:solidFill>
              <a:srgbClr val="555555"/>
            </a:solidFill>
            <a:prstDash val="solid"/>
            <a:tailEnd type="triangle"/>
          </a:ln>
        </p:spPr>
        <p:txBody>
          <a:bodyPr/>
          <a:lstStyle/>
          <a:p>
            <a:endParaRPr lang="es-AR"/>
          </a:p>
        </p:txBody>
      </p:sp>
      <p:sp>
        <p:nvSpPr>
          <p:cNvPr id="43" name="Text 18">
            <a:extLst>
              <a:ext uri="{FF2B5EF4-FFF2-40B4-BE49-F238E27FC236}">
                <a16:creationId xmlns:a16="http://schemas.microsoft.com/office/drawing/2014/main" id="{8F169470-AC54-0B0C-630E-FB42F6729FFA}"/>
              </a:ext>
            </a:extLst>
          </p:cNvPr>
          <p:cNvSpPr/>
          <p:nvPr/>
        </p:nvSpPr>
        <p:spPr>
          <a:xfrm>
            <a:off x="640080" y="4251960"/>
            <a:ext cx="3063240" cy="228600"/>
          </a:xfrm>
          <a:prstGeom prst="rect">
            <a:avLst/>
          </a:prstGeom>
          <a:noFill/>
          <a:ln/>
        </p:spPr>
        <p:txBody>
          <a:bodyPr wrap="square" lIns="0" tIns="0" rIns="0" bIns="0" rtlCol="0" anchor="ctr"/>
          <a:lstStyle/>
          <a:p>
            <a:pPr marL="0" indent="0" algn="ctr">
              <a:buNone/>
            </a:pPr>
            <a:r>
              <a:rPr lang="en-US" sz="800" b="1" kern="0" spc="300" dirty="0">
                <a:solidFill>
                  <a:srgbClr val="777777"/>
                </a:solidFill>
                <a:latin typeface="Calibri" pitchFamily="34" charset="0"/>
                <a:ea typeface="Calibri" pitchFamily="34" charset="-122"/>
                <a:cs typeface="Calibri" pitchFamily="34" charset="-120"/>
              </a:rPr>
              <a:t>VENTANA DE CONTEXTO (PROMPT)</a:t>
            </a:r>
            <a:endParaRPr lang="en-US" sz="800" dirty="0"/>
          </a:p>
        </p:txBody>
      </p:sp>
      <p:sp>
        <p:nvSpPr>
          <p:cNvPr id="44" name="Text 19">
            <a:extLst>
              <a:ext uri="{FF2B5EF4-FFF2-40B4-BE49-F238E27FC236}">
                <a16:creationId xmlns:a16="http://schemas.microsoft.com/office/drawing/2014/main" id="{B7ECFDAD-EC95-01E8-E5AB-A15CFC0305E0}"/>
              </a:ext>
            </a:extLst>
          </p:cNvPr>
          <p:cNvSpPr/>
          <p:nvPr/>
        </p:nvSpPr>
        <p:spPr>
          <a:xfrm>
            <a:off x="3931920" y="4251960"/>
            <a:ext cx="868680" cy="228600"/>
          </a:xfrm>
          <a:prstGeom prst="rect">
            <a:avLst/>
          </a:prstGeom>
          <a:noFill/>
          <a:ln/>
        </p:spPr>
        <p:txBody>
          <a:bodyPr wrap="square" lIns="0" tIns="0" rIns="0" bIns="0" rtlCol="0" anchor="ctr"/>
          <a:lstStyle/>
          <a:p>
            <a:pPr marL="0" indent="0" algn="ctr">
              <a:buNone/>
            </a:pPr>
            <a:r>
              <a:rPr lang="en-US" sz="800" b="1" kern="0" spc="300" dirty="0">
                <a:solidFill>
                  <a:srgbClr val="111111"/>
                </a:solidFill>
                <a:latin typeface="Calibri" pitchFamily="34" charset="0"/>
                <a:ea typeface="Calibri" pitchFamily="34" charset="-122"/>
                <a:cs typeface="Calibri" pitchFamily="34" charset="-120"/>
              </a:rPr>
              <a:t>TARGET</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0080" y="640080"/>
            <a:ext cx="10332720" cy="749808"/>
          </a:xfrm>
          <a:prstGeom prst="rect">
            <a:avLst/>
          </a:prstGeom>
          <a:noFill/>
          <a:ln/>
        </p:spPr>
        <p:txBody>
          <a:bodyPr wrap="square" lIns="0" tIns="0" rIns="0" bIns="0" rtlCol="0" anchor="ctr"/>
          <a:lstStyle/>
          <a:p>
            <a:pPr marL="0" indent="0">
              <a:buNone/>
            </a:pPr>
            <a:r>
              <a:rPr lang="en-US" sz="2800" b="1" dirty="0">
                <a:solidFill>
                  <a:srgbClr val="23304A"/>
                </a:solidFill>
                <a:latin typeface="Arial" panose="020B0604020202020204" pitchFamily="34" charset="0"/>
                <a:ea typeface="Georgia" pitchFamily="34" charset="-122"/>
                <a:cs typeface="Arial" panose="020B0604020202020204" pitchFamily="34" charset="0"/>
              </a:rPr>
              <a:t>Finetuning: </a:t>
            </a:r>
            <a:r>
              <a:rPr lang="en-US" sz="2800" b="1" dirty="0" err="1">
                <a:solidFill>
                  <a:srgbClr val="23304A"/>
                </a:solidFill>
                <a:latin typeface="Arial" panose="020B0604020202020204" pitchFamily="34" charset="0"/>
                <a:ea typeface="Georgia" pitchFamily="34" charset="-122"/>
                <a:cs typeface="Arial" panose="020B0604020202020204" pitchFamily="34" charset="0"/>
              </a:rPr>
              <a:t>supervisado</a:t>
            </a:r>
            <a:r>
              <a:rPr lang="en-US" sz="2800" b="1" dirty="0">
                <a:solidFill>
                  <a:srgbClr val="23304A"/>
                </a:solidFill>
                <a:latin typeface="Arial" panose="020B0604020202020204" pitchFamily="34" charset="0"/>
                <a:ea typeface="Georgia" pitchFamily="34" charset="-122"/>
                <a:cs typeface="Arial" panose="020B0604020202020204" pitchFamily="34" charset="0"/>
              </a:rPr>
              <a:t> &amp; prompt / target</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Arial" panose="020B0604020202020204" pitchFamily="34" charset="0"/>
                <a:ea typeface="Georgia" pitchFamily="34" charset="-122"/>
                <a:cs typeface="Arial" panose="020B0604020202020204" pitchFamily="34" charset="0"/>
              </a:rPr>
              <a:t>06</a:t>
            </a:r>
            <a:endParaRPr lang="en-US" sz="1500" dirty="0">
              <a:latin typeface="Arial" panose="020B0604020202020204" pitchFamily="34" charset="0"/>
              <a:cs typeface="Arial" panose="020B0604020202020204" pitchFamily="34" charset="0"/>
            </a:endParaRPr>
          </a:p>
        </p:txBody>
      </p:sp>
      <p:sp>
        <p:nvSpPr>
          <p:cNvPr id="5" name="Text 3"/>
          <p:cNvSpPr/>
          <p:nvPr/>
        </p:nvSpPr>
        <p:spPr>
          <a:xfrm>
            <a:off x="640080" y="1481328"/>
            <a:ext cx="10881360" cy="365760"/>
          </a:xfrm>
          <a:prstGeom prst="rect">
            <a:avLst/>
          </a:prstGeom>
          <a:noFill/>
          <a:ln/>
        </p:spPr>
        <p:txBody>
          <a:bodyPr wrap="square" lIns="0" tIns="0" rIns="0" bIns="0" rtlCol="0" anchor="ctr"/>
          <a:lstStyle/>
          <a:p>
            <a:pPr marL="0" indent="0">
              <a:buNone/>
            </a:pPr>
            <a:r>
              <a:rPr lang="en-US" sz="1250" dirty="0" err="1">
                <a:latin typeface="Arial" panose="020B0604020202020204" pitchFamily="34" charset="0"/>
                <a:cs typeface="Arial" panose="020B0604020202020204" pitchFamily="34" charset="0"/>
              </a:rPr>
              <a:t>Preprocesamiento</a:t>
            </a:r>
            <a:r>
              <a:rPr lang="en-US" sz="1250" dirty="0">
                <a:latin typeface="Arial" panose="020B0604020202020204" pitchFamily="34" charset="0"/>
                <a:cs typeface="Arial" panose="020B0604020202020204" pitchFamily="34" charset="0"/>
              </a:rPr>
              <a:t> del dataset con prompt/competition.</a:t>
            </a:r>
          </a:p>
        </p:txBody>
      </p:sp>
      <p:sp>
        <p:nvSpPr>
          <p:cNvPr id="6" name="Shape 4"/>
          <p:cNvSpPr/>
          <p:nvPr/>
        </p:nvSpPr>
        <p:spPr>
          <a:xfrm>
            <a:off x="640080" y="2011680"/>
            <a:ext cx="5989320" cy="3310128"/>
          </a:xfrm>
          <a:prstGeom prst="rect">
            <a:avLst/>
          </a:prstGeom>
          <a:solidFill>
            <a:schemeClr val="tx1"/>
          </a:solidFill>
          <a:ln w="12700">
            <a:solidFill>
              <a:srgbClr val="333333"/>
            </a:solidFill>
            <a:prstDash val="solid"/>
          </a:ln>
          <a:effectLst>
            <a:outerShdw blurRad="114300" dist="38100" dir="8100000" algn="bl" rotWithShape="0">
              <a:srgbClr val="1E2A4A">
                <a:alpha val="14000"/>
              </a:srgbClr>
            </a:outerShdw>
          </a:effectLst>
        </p:spPr>
        <p:txBody>
          <a:bodyPr/>
          <a:lstStyle/>
          <a:p>
            <a:endParaRPr lang="es-AR"/>
          </a:p>
        </p:txBody>
      </p:sp>
      <p:sp>
        <p:nvSpPr>
          <p:cNvPr id="7" name="Shape 5"/>
          <p:cNvSpPr/>
          <p:nvPr/>
        </p:nvSpPr>
        <p:spPr>
          <a:xfrm>
            <a:off x="640080" y="2011680"/>
            <a:ext cx="5989320" cy="384048"/>
          </a:xfrm>
          <a:prstGeom prst="rect">
            <a:avLst/>
          </a:prstGeom>
          <a:solidFill>
            <a:schemeClr val="tx1">
              <a:lumMod val="85000"/>
              <a:lumOff val="15000"/>
            </a:schemeClr>
          </a:solidFill>
          <a:ln w="12700">
            <a:solidFill>
              <a:srgbClr val="333333"/>
            </a:solidFill>
            <a:prstDash val="solid"/>
          </a:ln>
        </p:spPr>
        <p:txBody>
          <a:bodyPr/>
          <a:lstStyle/>
          <a:p>
            <a:endParaRPr lang="es-AR"/>
          </a:p>
        </p:txBody>
      </p:sp>
      <p:sp>
        <p:nvSpPr>
          <p:cNvPr id="8" name="Shape 6"/>
          <p:cNvSpPr/>
          <p:nvPr/>
        </p:nvSpPr>
        <p:spPr>
          <a:xfrm>
            <a:off x="841248" y="2139696"/>
            <a:ext cx="128016" cy="128016"/>
          </a:xfrm>
          <a:prstGeom prst="ellipse">
            <a:avLst/>
          </a:prstGeom>
          <a:solidFill>
            <a:srgbClr val="B0413E"/>
          </a:solidFill>
          <a:ln w="12700">
            <a:solidFill>
              <a:srgbClr val="333333"/>
            </a:solidFill>
            <a:prstDash val="solid"/>
          </a:ln>
        </p:spPr>
        <p:txBody>
          <a:bodyPr/>
          <a:lstStyle/>
          <a:p>
            <a:endParaRPr lang="es-AR"/>
          </a:p>
        </p:txBody>
      </p:sp>
      <p:sp>
        <p:nvSpPr>
          <p:cNvPr id="9" name="Shape 7"/>
          <p:cNvSpPr/>
          <p:nvPr/>
        </p:nvSpPr>
        <p:spPr>
          <a:xfrm>
            <a:off x="1078992" y="2139696"/>
            <a:ext cx="128016" cy="128016"/>
          </a:xfrm>
          <a:prstGeom prst="ellipse">
            <a:avLst/>
          </a:prstGeom>
          <a:solidFill>
            <a:srgbClr val="C8923B"/>
          </a:solidFill>
          <a:ln w="12700">
            <a:solidFill>
              <a:srgbClr val="333333"/>
            </a:solidFill>
            <a:prstDash val="solid"/>
          </a:ln>
        </p:spPr>
        <p:txBody>
          <a:bodyPr/>
          <a:lstStyle/>
          <a:p>
            <a:endParaRPr lang="es-AR"/>
          </a:p>
        </p:txBody>
      </p:sp>
      <p:sp>
        <p:nvSpPr>
          <p:cNvPr id="10" name="Shape 8"/>
          <p:cNvSpPr/>
          <p:nvPr/>
        </p:nvSpPr>
        <p:spPr>
          <a:xfrm>
            <a:off x="1316736" y="2139696"/>
            <a:ext cx="128016" cy="128016"/>
          </a:xfrm>
          <a:prstGeom prst="ellipse">
            <a:avLst/>
          </a:prstGeom>
          <a:solidFill>
            <a:srgbClr val="3F7D58"/>
          </a:solidFill>
          <a:ln w="12700">
            <a:solidFill>
              <a:srgbClr val="333333"/>
            </a:solidFill>
            <a:prstDash val="solid"/>
          </a:ln>
        </p:spPr>
        <p:txBody>
          <a:bodyPr/>
          <a:lstStyle/>
          <a:p>
            <a:endParaRPr lang="es-AR"/>
          </a:p>
        </p:txBody>
      </p:sp>
      <p:sp>
        <p:nvSpPr>
          <p:cNvPr id="11" name="Text 9"/>
          <p:cNvSpPr/>
          <p:nvPr/>
        </p:nvSpPr>
        <p:spPr>
          <a:xfrm>
            <a:off x="1737360" y="2011680"/>
            <a:ext cx="4709160" cy="384048"/>
          </a:xfrm>
          <a:prstGeom prst="rect">
            <a:avLst/>
          </a:prstGeom>
          <a:noFill/>
          <a:ln/>
        </p:spPr>
        <p:txBody>
          <a:bodyPr wrap="square" lIns="0" tIns="0" rIns="0" bIns="0" rtlCol="0" anchor="ctr"/>
          <a:lstStyle/>
          <a:p>
            <a:pPr marL="0" indent="0">
              <a:buNone/>
            </a:pPr>
            <a:r>
              <a:rPr lang="en-US" sz="950" dirty="0">
                <a:solidFill>
                  <a:srgbClr val="8FA6C4"/>
                </a:solidFill>
                <a:latin typeface="Consolas" pitchFamily="34" charset="0"/>
                <a:ea typeface="Consolas" pitchFamily="34" charset="-122"/>
                <a:cs typeface="Consolas" pitchFamily="34" charset="-120"/>
              </a:rPr>
              <a:t>prompt  ·  ejemplo abreviado</a:t>
            </a:r>
            <a:endParaRPr lang="en-US" sz="950" dirty="0"/>
          </a:p>
        </p:txBody>
      </p:sp>
      <p:sp>
        <p:nvSpPr>
          <p:cNvPr id="12" name="Text 10"/>
          <p:cNvSpPr/>
          <p:nvPr/>
        </p:nvSpPr>
        <p:spPr>
          <a:xfrm>
            <a:off x="932688" y="2542032"/>
            <a:ext cx="5486400" cy="2596896"/>
          </a:xfrm>
          <a:prstGeom prst="rect">
            <a:avLst/>
          </a:prstGeom>
          <a:noFill/>
          <a:ln/>
        </p:spPr>
        <p:txBody>
          <a:bodyPr wrap="square" lIns="0" tIns="0" rIns="0" bIns="0" rtlCol="0" anchor="ctr"/>
          <a:lstStyle/>
          <a:p>
            <a:pPr marL="0" indent="0">
              <a:lnSpc>
                <a:spcPct val="122000"/>
              </a:lnSpc>
              <a:buNone/>
            </a:pPr>
            <a:r>
              <a:rPr lang="en-US" sz="1050" dirty="0">
                <a:solidFill>
                  <a:srgbClr val="6FB8C4"/>
                </a:solidFill>
                <a:latin typeface="Consolas" pitchFamily="34" charset="0"/>
                <a:ea typeface="Consolas" pitchFamily="34" charset="-122"/>
                <a:cs typeface="Consolas" pitchFamily="34" charset="-120"/>
              </a:rPr>
              <a:t>[TICKER: AMD]</a:t>
            </a:r>
            <a:endParaRPr lang="en-US" sz="1050" dirty="0"/>
          </a:p>
          <a:p>
            <a:pPr marL="0" indent="0">
              <a:lnSpc>
                <a:spcPct val="122000"/>
              </a:lnSpc>
              <a:buNone/>
            </a:pPr>
            <a:r>
              <a:rPr lang="en-US" sz="1050" dirty="0">
                <a:solidFill>
                  <a:srgbClr val="6FB8C4"/>
                </a:solidFill>
                <a:latin typeface="Consolas" pitchFamily="34" charset="0"/>
                <a:ea typeface="Consolas" pitchFamily="34" charset="-122"/>
                <a:cs typeface="Consolas" pitchFamily="34" charset="-120"/>
              </a:rPr>
              <a:t>[DATE: 2023-04-18]</a:t>
            </a:r>
            <a:endParaRPr lang="en-US" sz="1050" dirty="0"/>
          </a:p>
          <a:p>
            <a:pPr marL="0" indent="0">
              <a:lnSpc>
                <a:spcPct val="122000"/>
              </a:lnSpc>
              <a:buNone/>
            </a:pPr>
            <a:r>
              <a:rPr lang="en-US" sz="1050" dirty="0">
                <a:solidFill>
                  <a:srgbClr val="D8A24A"/>
                </a:solidFill>
                <a:latin typeface="Consolas" pitchFamily="34" charset="0"/>
                <a:ea typeface="Consolas" pitchFamily="34" charset="-122"/>
                <a:cs typeface="Consolas" pitchFamily="34" charset="-120"/>
              </a:rPr>
              <a:t>[PRICE_CHANGE: -0.10%]</a:t>
            </a:r>
            <a:endParaRPr lang="en-US" sz="1050" dirty="0"/>
          </a:p>
          <a:p>
            <a:pPr marL="0" indent="0">
              <a:lnSpc>
                <a:spcPct val="122000"/>
              </a:lnSpc>
              <a:buNone/>
            </a:pPr>
            <a:r>
              <a:rPr lang="en-US" sz="1050" dirty="0">
                <a:solidFill>
                  <a:srgbClr val="D8A24A"/>
                </a:solidFill>
                <a:latin typeface="Consolas" pitchFamily="34" charset="0"/>
                <a:ea typeface="Consolas" pitchFamily="34" charset="-122"/>
                <a:cs typeface="Consolas" pitchFamily="34" charset="-120"/>
              </a:rPr>
              <a:t>[VOLUME_RATIO: 0.80]</a:t>
            </a:r>
            <a:endParaRPr lang="en-US" sz="1050" dirty="0"/>
          </a:p>
          <a:p>
            <a:pPr marL="0" indent="0">
              <a:lnSpc>
                <a:spcPct val="122000"/>
              </a:lnSpc>
              <a:buNone/>
            </a:pPr>
            <a:r>
              <a:rPr lang="en-US" sz="1050" dirty="0">
                <a:solidFill>
                  <a:srgbClr val="D8A24A"/>
                </a:solidFill>
                <a:latin typeface="Consolas" pitchFamily="34" charset="0"/>
                <a:ea typeface="Consolas" pitchFamily="34" charset="-122"/>
                <a:cs typeface="Consolas" pitchFamily="34" charset="-120"/>
              </a:rPr>
              <a:t>[RSI: 36.50]</a:t>
            </a:r>
            <a:endParaRPr lang="en-US" sz="1050" dirty="0"/>
          </a:p>
          <a:p>
            <a:pPr marL="0" indent="0">
              <a:lnSpc>
                <a:spcPct val="122000"/>
              </a:lnSpc>
              <a:buNone/>
            </a:pPr>
            <a:r>
              <a:rPr lang="en-US" sz="1050" dirty="0">
                <a:solidFill>
                  <a:srgbClr val="FFFFFF"/>
                </a:solidFill>
                <a:latin typeface="Consolas" pitchFamily="34" charset="0"/>
                <a:ea typeface="Consolas" pitchFamily="34" charset="-122"/>
                <a:cs typeface="Consolas" pitchFamily="34" charset="-120"/>
              </a:rPr>
              <a:t> </a:t>
            </a:r>
            <a:endParaRPr lang="en-US" sz="1050" dirty="0"/>
          </a:p>
          <a:p>
            <a:pPr marL="0" indent="0">
              <a:lnSpc>
                <a:spcPct val="122000"/>
              </a:lnSpc>
              <a:buNone/>
            </a:pPr>
            <a:r>
              <a:rPr lang="en-US" sz="1050" dirty="0">
                <a:solidFill>
                  <a:srgbClr val="9FB0CC"/>
                </a:solidFill>
                <a:latin typeface="Consolas" pitchFamily="34" charset="0"/>
                <a:ea typeface="Consolas" pitchFamily="34" charset="-122"/>
                <a:cs typeface="Consolas" pitchFamily="34" charset="-120"/>
              </a:rPr>
              <a:t>[PREVIOUS NEWS]</a:t>
            </a:r>
            <a:endParaRPr lang="en-US" sz="1050" dirty="0"/>
          </a:p>
          <a:p>
            <a:pPr marL="0" indent="0">
              <a:lnSpc>
                <a:spcPct val="122000"/>
              </a:lnSpc>
              <a:buNone/>
            </a:pPr>
            <a:r>
              <a:rPr lang="en-US" sz="1050" dirty="0">
                <a:solidFill>
                  <a:srgbClr val="E6ECF5"/>
                </a:solidFill>
                <a:latin typeface="Consolas" pitchFamily="34" charset="0"/>
                <a:ea typeface="Consolas" pitchFamily="34" charset="-122"/>
                <a:cs typeface="Consolas" pitchFamily="34" charset="-120"/>
              </a:rPr>
              <a:t>  - 2023-04-16: analysts trim AMD estimates</a:t>
            </a:r>
            <a:endParaRPr lang="en-US" sz="1050" dirty="0"/>
          </a:p>
          <a:p>
            <a:pPr marL="0" indent="0">
              <a:lnSpc>
                <a:spcPct val="122000"/>
              </a:lnSpc>
              <a:buNone/>
            </a:pPr>
            <a:r>
              <a:rPr lang="en-US" sz="1050" dirty="0">
                <a:solidFill>
                  <a:srgbClr val="E6ECF5"/>
                </a:solidFill>
                <a:latin typeface="Consolas" pitchFamily="34" charset="0"/>
                <a:ea typeface="Consolas" pitchFamily="34" charset="-122"/>
                <a:cs typeface="Consolas" pitchFamily="34" charset="-120"/>
              </a:rPr>
              <a:t>  - 2023-04-17: chip sector slides on macro</a:t>
            </a:r>
            <a:endParaRPr lang="en-US" sz="1050" dirty="0"/>
          </a:p>
          <a:p>
            <a:pPr marL="0" indent="0">
              <a:lnSpc>
                <a:spcPct val="122000"/>
              </a:lnSpc>
              <a:buNone/>
            </a:pPr>
            <a:r>
              <a:rPr lang="en-US" sz="1050" dirty="0">
                <a:solidFill>
                  <a:srgbClr val="E6ECF5"/>
                </a:solidFill>
                <a:latin typeface="Consolas" pitchFamily="34" charset="0"/>
                <a:ea typeface="Consolas" pitchFamily="34" charset="-122"/>
                <a:cs typeface="Consolas" pitchFamily="34" charset="-120"/>
              </a:rPr>
              <a:t>  - 2023-04-18: AMD sinks as market gains</a:t>
            </a:r>
            <a:endParaRPr lang="en-US" sz="1050" dirty="0"/>
          </a:p>
          <a:p>
            <a:pPr marL="0" indent="0">
              <a:lnSpc>
                <a:spcPct val="122000"/>
              </a:lnSpc>
              <a:buNone/>
            </a:pPr>
            <a:r>
              <a:rPr lang="en-US" sz="1050" dirty="0">
                <a:solidFill>
                  <a:srgbClr val="8FA6C4"/>
                </a:solidFill>
                <a:latin typeface="Consolas" pitchFamily="34" charset="0"/>
                <a:ea typeface="Consolas" pitchFamily="34" charset="-122"/>
                <a:cs typeface="Consolas" pitchFamily="34" charset="-120"/>
              </a:rPr>
              <a:t>                       &lt;-- ventana k=3</a:t>
            </a:r>
            <a:endParaRPr lang="en-US" sz="1050" dirty="0"/>
          </a:p>
          <a:p>
            <a:pPr marL="0" indent="0">
              <a:lnSpc>
                <a:spcPct val="122000"/>
              </a:lnSpc>
              <a:buNone/>
            </a:pPr>
            <a:r>
              <a:rPr lang="en-US" sz="1050" dirty="0">
                <a:solidFill>
                  <a:srgbClr val="FFFFFF"/>
                </a:solidFill>
                <a:latin typeface="Consolas" pitchFamily="34" charset="0"/>
                <a:ea typeface="Consolas" pitchFamily="34" charset="-122"/>
                <a:cs typeface="Consolas" pitchFamily="34" charset="-120"/>
              </a:rPr>
              <a:t> </a:t>
            </a:r>
            <a:endParaRPr lang="en-US" sz="1050" dirty="0"/>
          </a:p>
          <a:p>
            <a:pPr marL="0" indent="0">
              <a:lnSpc>
                <a:spcPct val="122000"/>
              </a:lnSpc>
              <a:buNone/>
            </a:pPr>
            <a:r>
              <a:rPr lang="en-US" sz="1050" dirty="0">
                <a:solidFill>
                  <a:srgbClr val="82C49B"/>
                </a:solidFill>
                <a:latin typeface="Consolas" pitchFamily="34" charset="0"/>
                <a:ea typeface="Consolas" pitchFamily="34" charset="-122"/>
                <a:cs typeface="Consolas" pitchFamily="34" charset="-120"/>
              </a:rPr>
              <a:t>[NEXT DAY NEWS]   &lt;-- target</a:t>
            </a:r>
            <a:endParaRPr lang="en-US" sz="1050" dirty="0"/>
          </a:p>
        </p:txBody>
      </p:sp>
      <p:sp>
        <p:nvSpPr>
          <p:cNvPr id="13" name="Shape 11"/>
          <p:cNvSpPr/>
          <p:nvPr/>
        </p:nvSpPr>
        <p:spPr>
          <a:xfrm>
            <a:off x="640080" y="5468112"/>
            <a:ext cx="5989320" cy="566928"/>
          </a:xfrm>
          <a:prstGeom prst="rect">
            <a:avLst/>
          </a:prstGeom>
          <a:solidFill>
            <a:srgbClr val="EAF1F4"/>
          </a:solidFill>
          <a:ln w="12700">
            <a:solidFill>
              <a:srgbClr val="D6DEE4"/>
            </a:solidFill>
            <a:prstDash val="solid"/>
          </a:ln>
        </p:spPr>
        <p:txBody>
          <a:bodyPr/>
          <a:lstStyle/>
          <a:p>
            <a:endParaRPr lang="es-AR"/>
          </a:p>
        </p:txBody>
      </p:sp>
      <p:sp>
        <p:nvSpPr>
          <p:cNvPr id="15" name="Text 13"/>
          <p:cNvSpPr/>
          <p:nvPr/>
        </p:nvSpPr>
        <p:spPr>
          <a:xfrm>
            <a:off x="859536" y="5468112"/>
            <a:ext cx="5568696" cy="566928"/>
          </a:xfrm>
          <a:prstGeom prst="rect">
            <a:avLst/>
          </a:prstGeom>
          <a:noFill/>
          <a:ln/>
        </p:spPr>
        <p:txBody>
          <a:bodyPr wrap="square" lIns="0" tIns="0" rIns="0" bIns="0" rtlCol="0" anchor="ctr"/>
          <a:lstStyle/>
          <a:p>
            <a:pPr marL="0" indent="0">
              <a:buNone/>
            </a:pPr>
            <a:r>
              <a:rPr lang="en-US" sz="1000" b="1" dirty="0">
                <a:solidFill>
                  <a:srgbClr val="23304A"/>
                </a:solidFill>
                <a:latin typeface="Arial" panose="020B0604020202020204" pitchFamily="34" charset="0"/>
                <a:ea typeface="Calibri" pitchFamily="34" charset="-122"/>
                <a:cs typeface="Arial" panose="020B0604020202020204" pitchFamily="34" charset="0"/>
              </a:rPr>
              <a:t>Pérdida enmascarada sobre el prompt  </a:t>
            </a:r>
            <a:r>
              <a:rPr lang="en-US" sz="1000" dirty="0">
                <a:solidFill>
                  <a:srgbClr val="667085"/>
                </a:solidFill>
                <a:latin typeface="Arial" panose="020B0604020202020204" pitchFamily="34" charset="0"/>
                <a:ea typeface="Calibri" pitchFamily="34" charset="-122"/>
                <a:cs typeface="Arial" panose="020B0604020202020204" pitchFamily="34" charset="0"/>
              </a:rPr>
              <a:t>→  el gradiente viene solo del completion.</a:t>
            </a:r>
            <a:endParaRPr lang="en-US" sz="1000" dirty="0">
              <a:latin typeface="Arial" panose="020B0604020202020204" pitchFamily="34" charset="0"/>
              <a:cs typeface="Arial" panose="020B0604020202020204" pitchFamily="34" charset="0"/>
            </a:endParaRPr>
          </a:p>
        </p:txBody>
      </p:sp>
      <p:sp>
        <p:nvSpPr>
          <p:cNvPr id="16" name="Shape 14"/>
          <p:cNvSpPr/>
          <p:nvPr/>
        </p:nvSpPr>
        <p:spPr>
          <a:xfrm>
            <a:off x="6931152" y="2011680"/>
            <a:ext cx="4620463" cy="1078992"/>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18" name="Image 0" descr="icon_arrow_t.png"/>
          <p:cNvPicPr>
            <a:picLocks noChangeAspect="1"/>
          </p:cNvPicPr>
          <p:nvPr/>
        </p:nvPicPr>
        <p:blipFill>
          <a:blip r:embed="rId3"/>
          <a:stretch>
            <a:fillRect/>
          </a:stretch>
        </p:blipFill>
        <p:spPr>
          <a:xfrm>
            <a:off x="7132320" y="2194560"/>
            <a:ext cx="292608" cy="292608"/>
          </a:xfrm>
          <a:prstGeom prst="rect">
            <a:avLst/>
          </a:prstGeom>
        </p:spPr>
      </p:pic>
      <p:sp>
        <p:nvSpPr>
          <p:cNvPr id="19" name="Text 16"/>
          <p:cNvSpPr/>
          <p:nvPr/>
        </p:nvSpPr>
        <p:spPr>
          <a:xfrm>
            <a:off x="7534656" y="2157984"/>
            <a:ext cx="3843223" cy="365760"/>
          </a:xfrm>
          <a:prstGeom prst="rect">
            <a:avLst/>
          </a:prstGeom>
          <a:noFill/>
          <a:ln/>
        </p:spPr>
        <p:txBody>
          <a:bodyPr wrap="square" lIns="0" tIns="0" rIns="0" bIns="0" rtlCol="0" anchor="ctr"/>
          <a:lstStyle/>
          <a:p>
            <a:pPr marL="0" indent="0">
              <a:buNone/>
            </a:pPr>
            <a:r>
              <a:rPr lang="en-US" sz="1250" b="1" dirty="0">
                <a:solidFill>
                  <a:srgbClr val="23304A"/>
                </a:solidFill>
                <a:latin typeface="Arial" panose="020B0604020202020204" pitchFamily="34" charset="0"/>
                <a:ea typeface="Calibri" pitchFamily="34" charset="-122"/>
                <a:cs typeface="Arial" panose="020B0604020202020204" pitchFamily="34" charset="0"/>
              </a:rPr>
              <a:t>Prompt (contexto hasta el día t)</a:t>
            </a:r>
            <a:endParaRPr lang="en-US" sz="1250" dirty="0">
              <a:latin typeface="Arial" panose="020B0604020202020204" pitchFamily="34" charset="0"/>
              <a:cs typeface="Arial" panose="020B0604020202020204" pitchFamily="34" charset="0"/>
            </a:endParaRPr>
          </a:p>
        </p:txBody>
      </p:sp>
      <p:sp>
        <p:nvSpPr>
          <p:cNvPr id="20" name="Text 17"/>
          <p:cNvSpPr/>
          <p:nvPr/>
        </p:nvSpPr>
        <p:spPr>
          <a:xfrm>
            <a:off x="7150608" y="2514600"/>
            <a:ext cx="4199839" cy="438912"/>
          </a:xfrm>
          <a:prstGeom prst="rect">
            <a:avLst/>
          </a:prstGeom>
          <a:noFill/>
          <a:ln/>
        </p:spPr>
        <p:txBody>
          <a:bodyPr wrap="square" lIns="0" tIns="0" rIns="0" bIns="0" rtlCol="0" anchor="ctr"/>
          <a:lstStyle/>
          <a:p>
            <a:pPr marL="0" indent="0">
              <a:lnSpc>
                <a:spcPct val="112000"/>
              </a:lnSpc>
              <a:buNone/>
            </a:pPr>
            <a:r>
              <a:rPr lang="en-US" sz="1030" dirty="0">
                <a:solidFill>
                  <a:srgbClr val="667085"/>
                </a:solidFill>
                <a:latin typeface="Arial" panose="020B0604020202020204" pitchFamily="34" charset="0"/>
                <a:ea typeface="Calibri" pitchFamily="34" charset="-122"/>
                <a:cs typeface="Arial" panose="020B0604020202020204" pitchFamily="34" charset="0"/>
              </a:rPr>
              <a:t>Ticker, fecha, features numéricas de mercado y la ventana de noticias previas (k = 3 días).</a:t>
            </a:r>
            <a:endParaRPr lang="en-US" sz="1030" dirty="0">
              <a:latin typeface="Arial" panose="020B0604020202020204" pitchFamily="34" charset="0"/>
              <a:cs typeface="Arial" panose="020B0604020202020204" pitchFamily="34" charset="0"/>
            </a:endParaRPr>
          </a:p>
        </p:txBody>
      </p:sp>
      <p:sp>
        <p:nvSpPr>
          <p:cNvPr id="21" name="Shape 18"/>
          <p:cNvSpPr/>
          <p:nvPr/>
        </p:nvSpPr>
        <p:spPr>
          <a:xfrm>
            <a:off x="6931152" y="3273552"/>
            <a:ext cx="4620463" cy="969264"/>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23" name="Image 1" descr="icon_target.png"/>
          <p:cNvPicPr>
            <a:picLocks noChangeAspect="1"/>
          </p:cNvPicPr>
          <p:nvPr/>
        </p:nvPicPr>
        <p:blipFill>
          <a:blip r:embed="rId4"/>
          <a:stretch>
            <a:fillRect/>
          </a:stretch>
        </p:blipFill>
        <p:spPr>
          <a:xfrm>
            <a:off x="7132320" y="3456432"/>
            <a:ext cx="292608" cy="292608"/>
          </a:xfrm>
          <a:prstGeom prst="rect">
            <a:avLst/>
          </a:prstGeom>
        </p:spPr>
      </p:pic>
      <p:sp>
        <p:nvSpPr>
          <p:cNvPr id="24" name="Text 20"/>
          <p:cNvSpPr/>
          <p:nvPr/>
        </p:nvSpPr>
        <p:spPr>
          <a:xfrm>
            <a:off x="7534656" y="3419856"/>
            <a:ext cx="3843223" cy="365760"/>
          </a:xfrm>
          <a:prstGeom prst="rect">
            <a:avLst/>
          </a:prstGeom>
          <a:noFill/>
          <a:ln/>
        </p:spPr>
        <p:txBody>
          <a:bodyPr wrap="square" lIns="0" tIns="0" rIns="0" bIns="0" rtlCol="0" anchor="ctr"/>
          <a:lstStyle/>
          <a:p>
            <a:pPr marL="0" indent="0">
              <a:buNone/>
            </a:pPr>
            <a:r>
              <a:rPr lang="en-US" sz="1250" b="1" dirty="0">
                <a:solidFill>
                  <a:srgbClr val="23304A"/>
                </a:solidFill>
                <a:latin typeface="Arial" panose="020B0604020202020204" pitchFamily="34" charset="0"/>
                <a:ea typeface="Calibri" pitchFamily="34" charset="-122"/>
                <a:cs typeface="Arial" panose="020B0604020202020204" pitchFamily="34" charset="0"/>
              </a:rPr>
              <a:t>Target (día t+1)</a:t>
            </a:r>
            <a:endParaRPr lang="en-US" sz="1250" dirty="0">
              <a:latin typeface="Arial" panose="020B0604020202020204" pitchFamily="34" charset="0"/>
              <a:cs typeface="Arial" panose="020B0604020202020204" pitchFamily="34" charset="0"/>
            </a:endParaRPr>
          </a:p>
        </p:txBody>
      </p:sp>
      <p:sp>
        <p:nvSpPr>
          <p:cNvPr id="25" name="Text 21"/>
          <p:cNvSpPr/>
          <p:nvPr/>
        </p:nvSpPr>
        <p:spPr>
          <a:xfrm>
            <a:off x="7150608" y="3776472"/>
            <a:ext cx="4199839" cy="329184"/>
          </a:xfrm>
          <a:prstGeom prst="rect">
            <a:avLst/>
          </a:prstGeom>
          <a:noFill/>
          <a:ln/>
        </p:spPr>
        <p:txBody>
          <a:bodyPr wrap="square" lIns="0" tIns="0" rIns="0" bIns="0" rtlCol="0" anchor="ctr"/>
          <a:lstStyle/>
          <a:p>
            <a:pPr marL="0" indent="0">
              <a:lnSpc>
                <a:spcPct val="112000"/>
              </a:lnSpc>
              <a:buNone/>
            </a:pPr>
            <a:r>
              <a:rPr lang="en-US" sz="1030" dirty="0">
                <a:solidFill>
                  <a:srgbClr val="667085"/>
                </a:solidFill>
                <a:latin typeface="Arial" panose="020B0604020202020204" pitchFamily="34" charset="0"/>
                <a:ea typeface="Calibri" pitchFamily="34" charset="-122"/>
                <a:cs typeface="Arial" panose="020B0604020202020204" pitchFamily="34" charset="0"/>
              </a:rPr>
              <a:t>La narrativa u outlook del día siguiente que el modelo debe generar.</a:t>
            </a:r>
            <a:endParaRPr lang="en-US" sz="1030" dirty="0">
              <a:latin typeface="Arial" panose="020B0604020202020204" pitchFamily="34" charset="0"/>
              <a:cs typeface="Arial" panose="020B0604020202020204" pitchFamily="34" charset="0"/>
            </a:endParaRPr>
          </a:p>
        </p:txBody>
      </p:sp>
      <p:sp>
        <p:nvSpPr>
          <p:cNvPr id="26" name="Shape 22"/>
          <p:cNvSpPr/>
          <p:nvPr/>
        </p:nvSpPr>
        <p:spPr>
          <a:xfrm>
            <a:off x="6931152" y="4425696"/>
            <a:ext cx="4620463" cy="137160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28" name="Image 2" descr="icon_sliders.png"/>
          <p:cNvPicPr>
            <a:picLocks noChangeAspect="1"/>
          </p:cNvPicPr>
          <p:nvPr/>
        </p:nvPicPr>
        <p:blipFill>
          <a:blip r:embed="rId5"/>
          <a:stretch>
            <a:fillRect/>
          </a:stretch>
        </p:blipFill>
        <p:spPr>
          <a:xfrm>
            <a:off x="7132320" y="4608576"/>
            <a:ext cx="292608" cy="292608"/>
          </a:xfrm>
          <a:prstGeom prst="rect">
            <a:avLst/>
          </a:prstGeom>
        </p:spPr>
      </p:pic>
      <p:sp>
        <p:nvSpPr>
          <p:cNvPr id="29" name="Text 24"/>
          <p:cNvSpPr/>
          <p:nvPr/>
        </p:nvSpPr>
        <p:spPr>
          <a:xfrm>
            <a:off x="7534656" y="4572000"/>
            <a:ext cx="3843223" cy="365760"/>
          </a:xfrm>
          <a:prstGeom prst="rect">
            <a:avLst/>
          </a:prstGeom>
          <a:noFill/>
          <a:ln/>
        </p:spPr>
        <p:txBody>
          <a:bodyPr wrap="square" lIns="0" tIns="0" rIns="0" bIns="0" rtlCol="0" anchor="ctr"/>
          <a:lstStyle/>
          <a:p>
            <a:pPr marL="0" indent="0">
              <a:buNone/>
            </a:pPr>
            <a:r>
              <a:rPr lang="en-US" sz="1250" b="1" dirty="0">
                <a:solidFill>
                  <a:srgbClr val="23304A"/>
                </a:solidFill>
                <a:latin typeface="Arial" panose="020B0604020202020204" pitchFamily="34" charset="0"/>
                <a:ea typeface="Calibri" pitchFamily="34" charset="-122"/>
                <a:cs typeface="Arial" panose="020B0604020202020204" pitchFamily="34" charset="0"/>
              </a:rPr>
              <a:t>Variantes de target</a:t>
            </a:r>
            <a:endParaRPr lang="en-US" sz="1250" dirty="0">
              <a:latin typeface="Arial" panose="020B0604020202020204" pitchFamily="34" charset="0"/>
              <a:cs typeface="Arial" panose="020B0604020202020204" pitchFamily="34" charset="0"/>
            </a:endParaRPr>
          </a:p>
        </p:txBody>
      </p:sp>
      <p:sp>
        <p:nvSpPr>
          <p:cNvPr id="30" name="Text 25"/>
          <p:cNvSpPr/>
          <p:nvPr/>
        </p:nvSpPr>
        <p:spPr>
          <a:xfrm>
            <a:off x="7150608" y="4928616"/>
            <a:ext cx="4199839" cy="731520"/>
          </a:xfrm>
          <a:prstGeom prst="rect">
            <a:avLst/>
          </a:prstGeom>
          <a:noFill/>
          <a:ln/>
        </p:spPr>
        <p:txBody>
          <a:bodyPr wrap="square" lIns="0" tIns="0" rIns="0" bIns="0" rtlCol="0" anchor="ctr"/>
          <a:lstStyle/>
          <a:p>
            <a:pPr marL="0" indent="0">
              <a:lnSpc>
                <a:spcPct val="112000"/>
              </a:lnSpc>
              <a:buNone/>
            </a:pPr>
            <a:r>
              <a:rPr lang="en-US" sz="1030" dirty="0">
                <a:solidFill>
                  <a:srgbClr val="667085"/>
                </a:solidFill>
                <a:latin typeface="Arial" panose="020B0604020202020204" pitchFamily="34" charset="0"/>
                <a:ea typeface="Calibri" pitchFamily="34" charset="-122"/>
                <a:cs typeface="Arial" panose="020B0604020202020204" pitchFamily="34" charset="0"/>
              </a:rPr>
              <a:t>Algunos runs usan texto libre, solo titulares; otros añaden estructura explícita de sentimiento y dirección, para comparar si estructurar ayuda al modelo.</a:t>
            </a:r>
            <a:endParaRPr lang="en-US" sz="1030" dirty="0">
              <a:latin typeface="Arial" panose="020B0604020202020204" pitchFamily="34" charset="0"/>
              <a:cs typeface="Arial" panose="020B0604020202020204" pitchFamily="34" charset="0"/>
            </a:endParaRPr>
          </a:p>
        </p:txBody>
      </p:sp>
      <p:sp>
        <p:nvSpPr>
          <p:cNvPr id="32" name="Text 7">
            <a:extLst>
              <a:ext uri="{FF2B5EF4-FFF2-40B4-BE49-F238E27FC236}">
                <a16:creationId xmlns:a16="http://schemas.microsoft.com/office/drawing/2014/main" id="{3FF02E16-F9F5-40BA-0320-130C2A311FA6}"/>
              </a:ext>
            </a:extLst>
          </p:cNvPr>
          <p:cNvSpPr/>
          <p:nvPr/>
        </p:nvSpPr>
        <p:spPr>
          <a:xfrm>
            <a:off x="6947452" y="5943202"/>
            <a:ext cx="4573988" cy="795528"/>
          </a:xfrm>
          <a:prstGeom prst="rect">
            <a:avLst/>
          </a:prstGeom>
          <a:noFill/>
          <a:ln/>
        </p:spPr>
        <p:txBody>
          <a:bodyPr wrap="square" lIns="0" tIns="0" rIns="0" bIns="0" rtlCol="0" anchor="ctr"/>
          <a:lstStyle/>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200" dirty="0">
              <a:solidFill>
                <a:schemeClr val="bg2">
                  <a:lumMod val="7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21699" y="923544"/>
            <a:ext cx="10332720" cy="749808"/>
          </a:xfrm>
          <a:prstGeom prst="rect">
            <a:avLst/>
          </a:prstGeom>
          <a:noFill/>
          <a:ln/>
        </p:spPr>
        <p:txBody>
          <a:bodyPr wrap="square" lIns="0" tIns="0" rIns="0" bIns="0" rtlCol="0" anchor="ctr"/>
          <a:lstStyle/>
          <a:p>
            <a:pPr marL="0" indent="0">
              <a:buNone/>
            </a:pPr>
            <a:r>
              <a:rPr lang="en-US" sz="2800" b="1" dirty="0" err="1">
                <a:solidFill>
                  <a:srgbClr val="23304A"/>
                </a:solidFill>
                <a:latin typeface="Arial" panose="020B0604020202020204" pitchFamily="34" charset="0"/>
                <a:ea typeface="Georgia" pitchFamily="34" charset="-122"/>
                <a:cs typeface="Arial" panose="020B0604020202020204" pitchFamily="34" charset="0"/>
              </a:rPr>
              <a:t>Evaluación</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Arial" panose="020B0604020202020204" pitchFamily="34" charset="0"/>
                <a:ea typeface="Georgia" pitchFamily="34" charset="-122"/>
                <a:cs typeface="Arial" panose="020B0604020202020204" pitchFamily="34" charset="0"/>
              </a:rPr>
              <a:t>07</a:t>
            </a:r>
            <a:endParaRPr lang="en-US" sz="1500" dirty="0">
              <a:latin typeface="Arial" panose="020B0604020202020204" pitchFamily="34" charset="0"/>
              <a:cs typeface="Arial" panose="020B0604020202020204" pitchFamily="34" charset="0"/>
            </a:endParaRPr>
          </a:p>
        </p:txBody>
      </p:sp>
      <p:sp>
        <p:nvSpPr>
          <p:cNvPr id="6" name="Shape 4"/>
          <p:cNvSpPr/>
          <p:nvPr/>
        </p:nvSpPr>
        <p:spPr>
          <a:xfrm>
            <a:off x="1965960" y="2250779"/>
            <a:ext cx="2651760" cy="2743200"/>
          </a:xfrm>
          <a:prstGeom prst="rect">
            <a:avLst/>
          </a:prstGeom>
          <a:solidFill>
            <a:srgbClr val="EAF1F4"/>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sp>
        <p:nvSpPr>
          <p:cNvPr id="7" name="Shape 5"/>
          <p:cNvSpPr/>
          <p:nvPr/>
        </p:nvSpPr>
        <p:spPr>
          <a:xfrm>
            <a:off x="1965960" y="2250779"/>
            <a:ext cx="2651760" cy="457200"/>
          </a:xfrm>
          <a:prstGeom prst="rect">
            <a:avLst/>
          </a:prstGeom>
          <a:solidFill>
            <a:srgbClr val="2A7F8C"/>
          </a:solidFill>
          <a:ln w="12700">
            <a:solidFill>
              <a:srgbClr val="333333"/>
            </a:solidFill>
            <a:prstDash val="solid"/>
          </a:ln>
        </p:spPr>
        <p:txBody>
          <a:bodyPr/>
          <a:lstStyle/>
          <a:p>
            <a:endParaRPr lang="es-AR"/>
          </a:p>
        </p:txBody>
      </p:sp>
      <p:sp>
        <p:nvSpPr>
          <p:cNvPr id="8" name="Text 6"/>
          <p:cNvSpPr/>
          <p:nvPr/>
        </p:nvSpPr>
        <p:spPr>
          <a:xfrm>
            <a:off x="2057400" y="2250779"/>
            <a:ext cx="2468880" cy="457200"/>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Arial" panose="020B0604020202020204" pitchFamily="34" charset="0"/>
                <a:ea typeface="Calibri" pitchFamily="34" charset="-122"/>
                <a:cs typeface="Arial" panose="020B0604020202020204" pitchFamily="34" charset="0"/>
              </a:rPr>
              <a:t>CAPA 1  ·  TEXTUAL</a:t>
            </a:r>
            <a:endParaRPr lang="en-US" sz="950" dirty="0">
              <a:latin typeface="Arial" panose="020B0604020202020204" pitchFamily="34" charset="0"/>
              <a:cs typeface="Arial" panose="020B0604020202020204" pitchFamily="34" charset="0"/>
            </a:endParaRPr>
          </a:p>
        </p:txBody>
      </p:sp>
      <p:sp>
        <p:nvSpPr>
          <p:cNvPr id="9" name="Shape 7"/>
          <p:cNvSpPr/>
          <p:nvPr/>
        </p:nvSpPr>
        <p:spPr>
          <a:xfrm>
            <a:off x="2990088" y="2890859"/>
            <a:ext cx="603504" cy="603504"/>
          </a:xfrm>
          <a:prstGeom prst="ellipse">
            <a:avLst/>
          </a:prstGeom>
          <a:solidFill>
            <a:srgbClr val="FFFFFF"/>
          </a:solidFill>
          <a:ln w="12700">
            <a:solidFill>
              <a:srgbClr val="D6DEE4"/>
            </a:solidFill>
            <a:prstDash val="solid"/>
          </a:ln>
        </p:spPr>
        <p:txBody>
          <a:bodyPr/>
          <a:lstStyle/>
          <a:p>
            <a:endParaRPr lang="es-AR"/>
          </a:p>
        </p:txBody>
      </p:sp>
      <p:pic>
        <p:nvPicPr>
          <p:cNvPr id="10" name="Image 0" descr="icon_text.png"/>
          <p:cNvPicPr>
            <a:picLocks noChangeAspect="1"/>
          </p:cNvPicPr>
          <p:nvPr/>
        </p:nvPicPr>
        <p:blipFill>
          <a:blip r:embed="rId3"/>
          <a:stretch>
            <a:fillRect/>
          </a:stretch>
        </p:blipFill>
        <p:spPr>
          <a:xfrm>
            <a:off x="3118104" y="3018875"/>
            <a:ext cx="347472" cy="347472"/>
          </a:xfrm>
          <a:prstGeom prst="rect">
            <a:avLst/>
          </a:prstGeom>
        </p:spPr>
      </p:pic>
      <p:sp>
        <p:nvSpPr>
          <p:cNvPr id="11" name="Text 8"/>
          <p:cNvSpPr/>
          <p:nvPr/>
        </p:nvSpPr>
        <p:spPr>
          <a:xfrm>
            <a:off x="2084832" y="3604091"/>
            <a:ext cx="2414016" cy="548640"/>
          </a:xfrm>
          <a:prstGeom prst="rect">
            <a:avLst/>
          </a:prstGeom>
          <a:noFill/>
          <a:ln/>
        </p:spPr>
        <p:txBody>
          <a:bodyPr wrap="square" lIns="0" tIns="0" rIns="0" bIns="0" rtlCol="0" anchor="ctr"/>
          <a:lstStyle/>
          <a:p>
            <a:pPr marL="0" indent="0" algn="ctr">
              <a:buNone/>
            </a:pPr>
            <a:r>
              <a:rPr lang="en-US" sz="1250" b="1" dirty="0">
                <a:solidFill>
                  <a:srgbClr val="23304A"/>
                </a:solidFill>
                <a:latin typeface="Arial" panose="020B0604020202020204" pitchFamily="34" charset="0"/>
                <a:ea typeface="Calibri" pitchFamily="34" charset="-122"/>
                <a:cs typeface="Arial" panose="020B0604020202020204" pitchFamily="34" charset="0"/>
              </a:rPr>
              <a:t>ROUGE-L</a:t>
            </a:r>
            <a:endParaRPr lang="en-US" sz="1250" dirty="0">
              <a:latin typeface="Arial" panose="020B0604020202020204" pitchFamily="34" charset="0"/>
              <a:cs typeface="Arial" panose="020B0604020202020204" pitchFamily="34" charset="0"/>
            </a:endParaRPr>
          </a:p>
        </p:txBody>
      </p:sp>
      <p:sp>
        <p:nvSpPr>
          <p:cNvPr id="12" name="Text 9"/>
          <p:cNvSpPr/>
          <p:nvPr/>
        </p:nvSpPr>
        <p:spPr>
          <a:xfrm>
            <a:off x="2148840" y="4079579"/>
            <a:ext cx="2286000" cy="822960"/>
          </a:xfrm>
          <a:prstGeom prst="rect">
            <a:avLst/>
          </a:prstGeom>
          <a:noFill/>
          <a:ln/>
        </p:spPr>
        <p:txBody>
          <a:bodyPr wrap="square" lIns="0" tIns="0" rIns="0" bIns="0" rtlCol="0" anchor="ctr"/>
          <a:lstStyle/>
          <a:p>
            <a:pPr marL="0" indent="0" algn="ctr">
              <a:lnSpc>
                <a:spcPct val="115000"/>
              </a:lnSpc>
              <a:buNone/>
            </a:pPr>
            <a:r>
              <a:rPr lang="en-US" sz="980" dirty="0">
                <a:solidFill>
                  <a:srgbClr val="667085"/>
                </a:solidFill>
                <a:latin typeface="Arial" panose="020B0604020202020204" pitchFamily="34" charset="0"/>
                <a:ea typeface="Calibri" pitchFamily="34" charset="-122"/>
                <a:cs typeface="Arial" panose="020B0604020202020204" pitchFamily="34" charset="0"/>
              </a:rPr>
              <a:t>Solapamiento secuencial con la noticia real. Coincidencia más literal.</a:t>
            </a:r>
            <a:endParaRPr lang="en-US" sz="980" dirty="0">
              <a:latin typeface="Arial" panose="020B0604020202020204" pitchFamily="34" charset="0"/>
              <a:cs typeface="Arial" panose="020B0604020202020204" pitchFamily="34" charset="0"/>
            </a:endParaRPr>
          </a:p>
        </p:txBody>
      </p:sp>
      <p:sp>
        <p:nvSpPr>
          <p:cNvPr id="13" name="Shape 10"/>
          <p:cNvSpPr/>
          <p:nvPr/>
        </p:nvSpPr>
        <p:spPr>
          <a:xfrm>
            <a:off x="4809744" y="2250779"/>
            <a:ext cx="2651760" cy="2743200"/>
          </a:xfrm>
          <a:prstGeom prst="rect">
            <a:avLst/>
          </a:prstGeom>
          <a:solidFill>
            <a:srgbClr val="EAF1F4"/>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sp>
        <p:nvSpPr>
          <p:cNvPr id="14" name="Shape 11"/>
          <p:cNvSpPr/>
          <p:nvPr/>
        </p:nvSpPr>
        <p:spPr>
          <a:xfrm>
            <a:off x="4809744" y="2250779"/>
            <a:ext cx="2651760" cy="457200"/>
          </a:xfrm>
          <a:prstGeom prst="rect">
            <a:avLst/>
          </a:prstGeom>
          <a:solidFill>
            <a:srgbClr val="2A7F8C"/>
          </a:solidFill>
          <a:ln w="12700">
            <a:solidFill>
              <a:srgbClr val="333333"/>
            </a:solidFill>
            <a:prstDash val="solid"/>
          </a:ln>
        </p:spPr>
        <p:txBody>
          <a:bodyPr/>
          <a:lstStyle/>
          <a:p>
            <a:endParaRPr lang="es-AR"/>
          </a:p>
        </p:txBody>
      </p:sp>
      <p:sp>
        <p:nvSpPr>
          <p:cNvPr id="15" name="Text 12"/>
          <p:cNvSpPr/>
          <p:nvPr/>
        </p:nvSpPr>
        <p:spPr>
          <a:xfrm>
            <a:off x="4901184" y="2250779"/>
            <a:ext cx="2468880" cy="457200"/>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Arial" panose="020B0604020202020204" pitchFamily="34" charset="0"/>
                <a:ea typeface="Calibri" pitchFamily="34" charset="-122"/>
                <a:cs typeface="Arial" panose="020B0604020202020204" pitchFamily="34" charset="0"/>
              </a:rPr>
              <a:t>CAPA 2  ·  SEMÁNTICA</a:t>
            </a:r>
            <a:endParaRPr lang="en-US" sz="950" dirty="0">
              <a:latin typeface="Arial" panose="020B0604020202020204" pitchFamily="34" charset="0"/>
              <a:cs typeface="Arial" panose="020B0604020202020204" pitchFamily="34" charset="0"/>
            </a:endParaRPr>
          </a:p>
        </p:txBody>
      </p:sp>
      <p:sp>
        <p:nvSpPr>
          <p:cNvPr id="16" name="Shape 13"/>
          <p:cNvSpPr/>
          <p:nvPr/>
        </p:nvSpPr>
        <p:spPr>
          <a:xfrm>
            <a:off x="5833872" y="2890859"/>
            <a:ext cx="603504" cy="603504"/>
          </a:xfrm>
          <a:prstGeom prst="ellipse">
            <a:avLst/>
          </a:prstGeom>
          <a:solidFill>
            <a:srgbClr val="FFFFFF"/>
          </a:solidFill>
          <a:ln w="12700">
            <a:solidFill>
              <a:srgbClr val="D6DEE4"/>
            </a:solidFill>
            <a:prstDash val="solid"/>
          </a:ln>
        </p:spPr>
        <p:txBody>
          <a:bodyPr/>
          <a:lstStyle/>
          <a:p>
            <a:endParaRPr lang="es-AR"/>
          </a:p>
        </p:txBody>
      </p:sp>
      <p:pic>
        <p:nvPicPr>
          <p:cNvPr id="17" name="Image 1" descr="icon_balance.png"/>
          <p:cNvPicPr>
            <a:picLocks noChangeAspect="1"/>
          </p:cNvPicPr>
          <p:nvPr/>
        </p:nvPicPr>
        <p:blipFill>
          <a:blip r:embed="rId4"/>
          <a:stretch>
            <a:fillRect/>
          </a:stretch>
        </p:blipFill>
        <p:spPr>
          <a:xfrm>
            <a:off x="5961888" y="3018875"/>
            <a:ext cx="347472" cy="347472"/>
          </a:xfrm>
          <a:prstGeom prst="rect">
            <a:avLst/>
          </a:prstGeom>
        </p:spPr>
      </p:pic>
      <p:sp>
        <p:nvSpPr>
          <p:cNvPr id="18" name="Text 14"/>
          <p:cNvSpPr/>
          <p:nvPr/>
        </p:nvSpPr>
        <p:spPr>
          <a:xfrm>
            <a:off x="4928616" y="3604091"/>
            <a:ext cx="2414016" cy="548640"/>
          </a:xfrm>
          <a:prstGeom prst="rect">
            <a:avLst/>
          </a:prstGeom>
          <a:noFill/>
          <a:ln/>
        </p:spPr>
        <p:txBody>
          <a:bodyPr wrap="square" lIns="0" tIns="0" rIns="0" bIns="0" rtlCol="0" anchor="ctr"/>
          <a:lstStyle/>
          <a:p>
            <a:pPr marL="0" indent="0" algn="ctr">
              <a:buNone/>
            </a:pPr>
            <a:r>
              <a:rPr lang="en-US" sz="1250" b="1" dirty="0">
                <a:solidFill>
                  <a:srgbClr val="23304A"/>
                </a:solidFill>
                <a:latin typeface="Arial" panose="020B0604020202020204" pitchFamily="34" charset="0"/>
                <a:ea typeface="Calibri" pitchFamily="34" charset="-122"/>
                <a:cs typeface="Arial" panose="020B0604020202020204" pitchFamily="34" charset="0"/>
              </a:rPr>
              <a:t>BERTScore · FinBERT</a:t>
            </a:r>
            <a:endParaRPr lang="en-US" sz="1250" dirty="0">
              <a:latin typeface="Arial" panose="020B0604020202020204" pitchFamily="34" charset="0"/>
              <a:cs typeface="Arial" panose="020B0604020202020204" pitchFamily="34" charset="0"/>
            </a:endParaRPr>
          </a:p>
        </p:txBody>
      </p:sp>
      <p:sp>
        <p:nvSpPr>
          <p:cNvPr id="19" name="Text 15"/>
          <p:cNvSpPr/>
          <p:nvPr/>
        </p:nvSpPr>
        <p:spPr>
          <a:xfrm>
            <a:off x="4992624" y="4079579"/>
            <a:ext cx="2286000" cy="822960"/>
          </a:xfrm>
          <a:prstGeom prst="rect">
            <a:avLst/>
          </a:prstGeom>
          <a:noFill/>
          <a:ln/>
        </p:spPr>
        <p:txBody>
          <a:bodyPr wrap="square" lIns="0" tIns="0" rIns="0" bIns="0" rtlCol="0" anchor="ctr"/>
          <a:lstStyle/>
          <a:p>
            <a:pPr marL="0" indent="0" algn="ctr">
              <a:lnSpc>
                <a:spcPct val="115000"/>
              </a:lnSpc>
              <a:buNone/>
            </a:pPr>
            <a:r>
              <a:rPr lang="en-US" sz="980" dirty="0">
                <a:solidFill>
                  <a:srgbClr val="667085"/>
                </a:solidFill>
                <a:latin typeface="Arial" panose="020B0604020202020204" pitchFamily="34" charset="0"/>
                <a:ea typeface="Calibri" pitchFamily="34" charset="-122"/>
                <a:cs typeface="Arial" panose="020B0604020202020204" pitchFamily="34" charset="0"/>
              </a:rPr>
              <a:t>Cercanía semántica con embeddings y match de sentimiento financiero.</a:t>
            </a:r>
            <a:endParaRPr lang="en-US" sz="980" dirty="0">
              <a:latin typeface="Arial" panose="020B0604020202020204" pitchFamily="34" charset="0"/>
              <a:cs typeface="Arial" panose="020B0604020202020204" pitchFamily="34" charset="0"/>
            </a:endParaRPr>
          </a:p>
        </p:txBody>
      </p:sp>
      <p:sp>
        <p:nvSpPr>
          <p:cNvPr id="20" name="Shape 16"/>
          <p:cNvSpPr/>
          <p:nvPr/>
        </p:nvSpPr>
        <p:spPr>
          <a:xfrm>
            <a:off x="7653528" y="2250779"/>
            <a:ext cx="2651760" cy="2743200"/>
          </a:xfrm>
          <a:prstGeom prst="rect">
            <a:avLst/>
          </a:prstGeom>
          <a:solidFill>
            <a:srgbClr val="EAF1F4"/>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sp>
        <p:nvSpPr>
          <p:cNvPr id="21" name="Shape 17"/>
          <p:cNvSpPr/>
          <p:nvPr/>
        </p:nvSpPr>
        <p:spPr>
          <a:xfrm>
            <a:off x="7653528" y="2250779"/>
            <a:ext cx="2651760" cy="457200"/>
          </a:xfrm>
          <a:prstGeom prst="rect">
            <a:avLst/>
          </a:prstGeom>
          <a:solidFill>
            <a:srgbClr val="C8923B"/>
          </a:solidFill>
          <a:ln w="12700">
            <a:solidFill>
              <a:srgbClr val="333333"/>
            </a:solidFill>
            <a:prstDash val="solid"/>
          </a:ln>
        </p:spPr>
        <p:txBody>
          <a:bodyPr/>
          <a:lstStyle/>
          <a:p>
            <a:endParaRPr lang="es-AR"/>
          </a:p>
        </p:txBody>
      </p:sp>
      <p:sp>
        <p:nvSpPr>
          <p:cNvPr id="22" name="Text 18"/>
          <p:cNvSpPr/>
          <p:nvPr/>
        </p:nvSpPr>
        <p:spPr>
          <a:xfrm>
            <a:off x="7744968" y="2250779"/>
            <a:ext cx="2468880" cy="457200"/>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Arial" panose="020B0604020202020204" pitchFamily="34" charset="0"/>
                <a:ea typeface="Calibri" pitchFamily="34" charset="-122"/>
                <a:cs typeface="Arial" panose="020B0604020202020204" pitchFamily="34" charset="0"/>
              </a:rPr>
              <a:t>CAPA 3  ·  FINANCIERA</a:t>
            </a:r>
            <a:endParaRPr lang="en-US" sz="950" dirty="0">
              <a:latin typeface="Arial" panose="020B0604020202020204" pitchFamily="34" charset="0"/>
              <a:cs typeface="Arial" panose="020B0604020202020204" pitchFamily="34" charset="0"/>
            </a:endParaRPr>
          </a:p>
        </p:txBody>
      </p:sp>
      <p:sp>
        <p:nvSpPr>
          <p:cNvPr id="23" name="Shape 19"/>
          <p:cNvSpPr/>
          <p:nvPr/>
        </p:nvSpPr>
        <p:spPr>
          <a:xfrm>
            <a:off x="8677656" y="2890859"/>
            <a:ext cx="603504" cy="603504"/>
          </a:xfrm>
          <a:prstGeom prst="ellipse">
            <a:avLst/>
          </a:prstGeom>
          <a:solidFill>
            <a:srgbClr val="FFFFFF"/>
          </a:solidFill>
          <a:ln w="12700">
            <a:solidFill>
              <a:srgbClr val="D6DEE4"/>
            </a:solidFill>
            <a:prstDash val="solid"/>
          </a:ln>
        </p:spPr>
        <p:txBody>
          <a:bodyPr/>
          <a:lstStyle/>
          <a:p>
            <a:endParaRPr lang="es-AR"/>
          </a:p>
        </p:txBody>
      </p:sp>
      <p:pic>
        <p:nvPicPr>
          <p:cNvPr id="24" name="Image 2" descr="icon_chart.png"/>
          <p:cNvPicPr>
            <a:picLocks noChangeAspect="1"/>
          </p:cNvPicPr>
          <p:nvPr/>
        </p:nvPicPr>
        <p:blipFill>
          <a:blip r:embed="rId5"/>
          <a:stretch>
            <a:fillRect/>
          </a:stretch>
        </p:blipFill>
        <p:spPr>
          <a:xfrm>
            <a:off x="8805672" y="3018875"/>
            <a:ext cx="347472" cy="347472"/>
          </a:xfrm>
          <a:prstGeom prst="rect">
            <a:avLst/>
          </a:prstGeom>
        </p:spPr>
      </p:pic>
      <p:sp>
        <p:nvSpPr>
          <p:cNvPr id="25" name="Text 20"/>
          <p:cNvSpPr/>
          <p:nvPr/>
        </p:nvSpPr>
        <p:spPr>
          <a:xfrm>
            <a:off x="7772400" y="3604091"/>
            <a:ext cx="2414016" cy="548640"/>
          </a:xfrm>
          <a:prstGeom prst="rect">
            <a:avLst/>
          </a:prstGeom>
          <a:noFill/>
          <a:ln/>
        </p:spPr>
        <p:txBody>
          <a:bodyPr wrap="square" lIns="0" tIns="0" rIns="0" bIns="0" rtlCol="0" anchor="ctr"/>
          <a:lstStyle/>
          <a:p>
            <a:pPr marL="0" indent="0" algn="ctr">
              <a:buNone/>
            </a:pPr>
            <a:r>
              <a:rPr lang="en-US" sz="1250" b="1" dirty="0">
                <a:solidFill>
                  <a:srgbClr val="23304A"/>
                </a:solidFill>
                <a:latin typeface="Arial" panose="020B0604020202020204" pitchFamily="34" charset="0"/>
                <a:ea typeface="Calibri" pitchFamily="34" charset="-122"/>
                <a:cs typeface="Arial" panose="020B0604020202020204" pitchFamily="34" charset="0"/>
              </a:rPr>
              <a:t>Dir. accuracy + coverage</a:t>
            </a:r>
            <a:endParaRPr lang="en-US" sz="1250" dirty="0">
              <a:latin typeface="Arial" panose="020B0604020202020204" pitchFamily="34" charset="0"/>
              <a:cs typeface="Arial" panose="020B0604020202020204" pitchFamily="34" charset="0"/>
            </a:endParaRPr>
          </a:p>
        </p:txBody>
      </p:sp>
      <p:sp>
        <p:nvSpPr>
          <p:cNvPr id="26" name="Text 21"/>
          <p:cNvSpPr/>
          <p:nvPr/>
        </p:nvSpPr>
        <p:spPr>
          <a:xfrm>
            <a:off x="7836408" y="4079579"/>
            <a:ext cx="2286000" cy="822960"/>
          </a:xfrm>
          <a:prstGeom prst="rect">
            <a:avLst/>
          </a:prstGeom>
          <a:noFill/>
          <a:ln/>
        </p:spPr>
        <p:txBody>
          <a:bodyPr wrap="square" lIns="0" tIns="0" rIns="0" bIns="0" rtlCol="0" anchor="ctr"/>
          <a:lstStyle/>
          <a:p>
            <a:pPr marL="0" indent="0" algn="ctr">
              <a:lnSpc>
                <a:spcPct val="115000"/>
              </a:lnSpc>
              <a:buNone/>
            </a:pPr>
            <a:r>
              <a:rPr lang="en-US" sz="980" dirty="0">
                <a:solidFill>
                  <a:srgbClr val="667085"/>
                </a:solidFill>
                <a:latin typeface="Arial" panose="020B0604020202020204" pitchFamily="34" charset="0"/>
                <a:ea typeface="Calibri" pitchFamily="34" charset="-122"/>
                <a:cs typeface="Arial" panose="020B0604020202020204" pitchFamily="34" charset="0"/>
              </a:rPr>
              <a:t>Convierte la salida en una señal direccional y la compara con el activo.</a:t>
            </a:r>
            <a:endParaRPr lang="en-US" sz="980" dirty="0">
              <a:latin typeface="Arial" panose="020B0604020202020204" pitchFamily="34" charset="0"/>
              <a:cs typeface="Arial" panose="020B0604020202020204" pitchFamily="34" charset="0"/>
            </a:endParaRPr>
          </a:p>
        </p:txBody>
      </p:sp>
      <p:sp>
        <p:nvSpPr>
          <p:cNvPr id="2" name="Text 7">
            <a:extLst>
              <a:ext uri="{FF2B5EF4-FFF2-40B4-BE49-F238E27FC236}">
                <a16:creationId xmlns:a16="http://schemas.microsoft.com/office/drawing/2014/main" id="{77EA2F06-6FD4-EA06-B642-262FDC991EEF}"/>
              </a:ext>
            </a:extLst>
          </p:cNvPr>
          <p:cNvSpPr/>
          <p:nvPr/>
        </p:nvSpPr>
        <p:spPr>
          <a:xfrm>
            <a:off x="6947452" y="5943202"/>
            <a:ext cx="4573988" cy="795528"/>
          </a:xfrm>
          <a:prstGeom prst="rect">
            <a:avLst/>
          </a:prstGeom>
          <a:noFill/>
          <a:ln/>
        </p:spPr>
        <p:txBody>
          <a:bodyPr wrap="square" lIns="0" tIns="0" rIns="0" bIns="0" rtlCol="0" anchor="ctr"/>
          <a:lstStyle/>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200" dirty="0">
              <a:solidFill>
                <a:schemeClr val="bg2">
                  <a:lumMod val="7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0080" y="640080"/>
            <a:ext cx="10332720" cy="749808"/>
          </a:xfrm>
          <a:prstGeom prst="rect">
            <a:avLst/>
          </a:prstGeom>
          <a:noFill/>
          <a:ln/>
        </p:spPr>
        <p:txBody>
          <a:bodyPr wrap="square" lIns="0" tIns="0" rIns="0" bIns="0" rtlCol="0" anchor="ctr"/>
          <a:lstStyle/>
          <a:p>
            <a:pPr marL="0" indent="0">
              <a:buNone/>
            </a:pPr>
            <a:r>
              <a:rPr lang="en-US" sz="2800" b="1" dirty="0" err="1">
                <a:solidFill>
                  <a:srgbClr val="23304A"/>
                </a:solidFill>
                <a:latin typeface="Arial" panose="020B0604020202020204" pitchFamily="34" charset="0"/>
                <a:ea typeface="Georgia" pitchFamily="34" charset="-122"/>
                <a:cs typeface="Arial" panose="020B0604020202020204" pitchFamily="34" charset="0"/>
              </a:rPr>
              <a:t>Resultados: progresión experimental</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Arial" panose="020B0604020202020204" pitchFamily="34" charset="0"/>
                <a:ea typeface="Georgia" pitchFamily="34" charset="-122"/>
                <a:cs typeface="Arial" panose="020B0604020202020204" pitchFamily="34" charset="0"/>
              </a:rPr>
              <a:t>08</a:t>
            </a:r>
            <a:endParaRPr lang="en-US" sz="1500" dirty="0">
              <a:latin typeface="Arial" panose="020B0604020202020204" pitchFamily="34" charset="0"/>
              <a:cs typeface="Arial" panose="020B0604020202020204" pitchFamily="34" charset="0"/>
            </a:endParaRPr>
          </a:p>
        </p:txBody>
      </p:sp>
      <p:sp>
        <p:nvSpPr>
          <p:cNvPr id="5" name="Text 3"/>
          <p:cNvSpPr/>
          <p:nvPr/>
        </p:nvSpPr>
        <p:spPr>
          <a:xfrm>
            <a:off x="672084" y="1372277"/>
            <a:ext cx="10881360" cy="329184"/>
          </a:xfrm>
          <a:prstGeom prst="rect">
            <a:avLst/>
          </a:prstGeom>
          <a:noFill/>
          <a:ln/>
        </p:spPr>
        <p:txBody>
          <a:bodyPr wrap="square" lIns="0" tIns="0" rIns="0" bIns="0" rtlCol="0" anchor="ctr"/>
          <a:lstStyle/>
          <a:p>
            <a:pPr marL="0" indent="0">
              <a:buNone/>
            </a:pPr>
            <a:r>
              <a:rPr lang="en-US" sz="1200" dirty="0">
                <a:solidFill>
                  <a:srgbClr val="667085"/>
                </a:solidFill>
                <a:latin typeface="Arial" panose="020B0604020202020204" pitchFamily="34" charset="0"/>
                <a:ea typeface="Calibri" pitchFamily="34" charset="-122"/>
                <a:cs typeface="Arial" panose="020B0604020202020204" pitchFamily="34" charset="0"/>
              </a:rPr>
              <a:t>No es un ranking de modelos: cada run responde un paso distinto de la progresión.</a:t>
            </a:r>
            <a:endParaRPr lang="en-US" sz="1200" dirty="0">
              <a:latin typeface="Arial" panose="020B0604020202020204" pitchFamily="34" charset="0"/>
              <a:cs typeface="Arial" panose="020B0604020202020204" pitchFamily="34" charset="0"/>
            </a:endParaRPr>
          </a:p>
        </p:txBody>
      </p:sp>
      <p:graphicFrame>
        <p:nvGraphicFramePr>
          <p:cNvPr id="8" name="Table 0"/>
          <p:cNvGraphicFramePr>
            <a:graphicFrameLocks noGrp="1"/>
          </p:cNvGraphicFramePr>
          <p:nvPr>
            <p:extLst>
              <p:ext uri="{D42A27DB-BD31-4B8C-83A1-F6EECF244321}">
                <p14:modId xmlns:p14="http://schemas.microsoft.com/office/powerpoint/2010/main" val="3590342193"/>
              </p:ext>
            </p:extLst>
          </p:nvPr>
        </p:nvGraphicFramePr>
        <p:xfrm>
          <a:off x="640080" y="1874520"/>
          <a:ext cx="9800270" cy="2194560"/>
        </p:xfrm>
        <a:graphic>
          <a:graphicData uri="http://schemas.openxmlformats.org/drawingml/2006/table">
            <a:tbl>
              <a:tblPr/>
              <a:tblGrid>
                <a:gridCol w="2401526">
                  <a:extLst>
                    <a:ext uri="{9D8B030D-6E8A-4147-A177-3AD203B41FA5}">
                      <a16:colId xmlns:a16="http://schemas.microsoft.com/office/drawing/2014/main" val="20000"/>
                    </a:ext>
                  </a:extLst>
                </a:gridCol>
                <a:gridCol w="2094948">
                  <a:extLst>
                    <a:ext uri="{9D8B030D-6E8A-4147-A177-3AD203B41FA5}">
                      <a16:colId xmlns:a16="http://schemas.microsoft.com/office/drawing/2014/main" val="20001"/>
                    </a:ext>
                  </a:extLst>
                </a:gridCol>
                <a:gridCol w="1348942">
                  <a:extLst>
                    <a:ext uri="{9D8B030D-6E8A-4147-A177-3AD203B41FA5}">
                      <a16:colId xmlns:a16="http://schemas.microsoft.com/office/drawing/2014/main" val="20002"/>
                    </a:ext>
                  </a:extLst>
                </a:gridCol>
                <a:gridCol w="1297846">
                  <a:extLst>
                    <a:ext uri="{9D8B030D-6E8A-4147-A177-3AD203B41FA5}">
                      <a16:colId xmlns:a16="http://schemas.microsoft.com/office/drawing/2014/main" val="20003"/>
                    </a:ext>
                  </a:extLst>
                </a:gridCol>
                <a:gridCol w="1205873">
                  <a:extLst>
                    <a:ext uri="{9D8B030D-6E8A-4147-A177-3AD203B41FA5}">
                      <a16:colId xmlns:a16="http://schemas.microsoft.com/office/drawing/2014/main" val="20004"/>
                    </a:ext>
                  </a:extLst>
                </a:gridCol>
                <a:gridCol w="1451135">
                  <a:extLst>
                    <a:ext uri="{9D8B030D-6E8A-4147-A177-3AD203B41FA5}">
                      <a16:colId xmlns:a16="http://schemas.microsoft.com/office/drawing/2014/main" val="20005"/>
                    </a:ext>
                  </a:extLst>
                </a:gridCol>
              </a:tblGrid>
              <a:tr h="36576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Run</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1E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Rol</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1E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ROUGE-L</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1E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BERT F1</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1E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Sent.</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1E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Dir. acc.</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1E2A4A"/>
                    </a:solidFill>
                  </a:tcPr>
                </a:tc>
                <a:extLst>
                  <a:ext uri="{0D108BD9-81ED-4DB2-BD59-A6C34878D82A}">
                    <a16:rowId xmlns:a16="http://schemas.microsoft.com/office/drawing/2014/main" val="10000"/>
                  </a:ext>
                </a:extLst>
              </a:tr>
              <a:tr h="365760">
                <a:tc>
                  <a:txBody>
                    <a:bodyPr/>
                    <a:lstStyle/>
                    <a:p>
                      <a:pPr marL="0" indent="0" algn="l">
                        <a:buNone/>
                      </a:pPr>
                      <a:r>
                        <a:rPr lang="en-US" sz="1000" b="1" dirty="0">
                          <a:solidFill>
                            <a:srgbClr val="C8923B"/>
                          </a:solidFill>
                          <a:latin typeface="Calibri" pitchFamily="34" charset="0"/>
                          <a:ea typeface="Calibri" pitchFamily="34" charset="-122"/>
                          <a:cs typeface="Calibri" pitchFamily="34" charset="-120"/>
                        </a:rPr>
                        <a:t>GPT-2 no fine-tune</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7EEDD"/>
                    </a:solidFill>
                  </a:tcPr>
                </a:tc>
                <a:tc>
                  <a:txBody>
                    <a:bodyPr/>
                    <a:lstStyle/>
                    <a:p>
                      <a:pPr marL="0" indent="0" algn="l">
                        <a:buNone/>
                      </a:pPr>
                      <a:r>
                        <a:rPr lang="en-US" sz="1000" i="1" dirty="0">
                          <a:solidFill>
                            <a:srgbClr val="667085"/>
                          </a:solidFill>
                          <a:latin typeface="Calibri" pitchFamily="34" charset="0"/>
                          <a:ea typeface="Calibri" pitchFamily="34" charset="-122"/>
                          <a:cs typeface="Calibri" pitchFamily="34" charset="-120"/>
                        </a:rPr>
                        <a:t>Paso 1 · baseline</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0.040</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0.704</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0.273</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0.549</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extLst>
                  <a:ext uri="{0D108BD9-81ED-4DB2-BD59-A6C34878D82A}">
                    <a16:rowId xmlns:a16="http://schemas.microsoft.com/office/drawing/2014/main" val="10001"/>
                  </a:ext>
                </a:extLst>
              </a:tr>
              <a:tr h="365760">
                <a:tc>
                  <a:txBody>
                    <a:bodyPr/>
                    <a:lstStyle/>
                    <a:p>
                      <a:pPr marL="0" indent="0" algn="l">
                        <a:buNone/>
                      </a:pPr>
                      <a:r>
                        <a:rPr lang="en-US" sz="1000" b="1" dirty="0">
                          <a:solidFill>
                            <a:srgbClr val="23304A"/>
                          </a:solidFill>
                          <a:latin typeface="Calibri" pitchFamily="34" charset="0"/>
                          <a:ea typeface="Calibri" pitchFamily="34" charset="-122"/>
                          <a:cs typeface="Calibri" pitchFamily="34" charset="-120"/>
                        </a:rPr>
                        <a:t>SPY/QQQ fine-tuned</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667085"/>
                          </a:solidFill>
                          <a:latin typeface="Calibri" pitchFamily="34" charset="0"/>
                          <a:ea typeface="Calibri" pitchFamily="34" charset="-122"/>
                          <a:cs typeface="Calibri" pitchFamily="34" charset="-120"/>
                        </a:rPr>
                        <a:t>Paso 2 · dominio amplio</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0.062</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0.732</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0.386</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0.528</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000" b="1" dirty="0">
                          <a:solidFill>
                            <a:srgbClr val="23304A"/>
                          </a:solidFill>
                          <a:latin typeface="Calibri" pitchFamily="34" charset="0"/>
                          <a:ea typeface="Calibri" pitchFamily="34" charset="-122"/>
                          <a:cs typeface="Calibri" pitchFamily="34" charset="-120"/>
                        </a:rPr>
                        <a:t>NVDA single</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667085"/>
                          </a:solidFill>
                          <a:latin typeface="Calibri" pitchFamily="34" charset="0"/>
                          <a:ea typeface="Calibri" pitchFamily="34" charset="-122"/>
                          <a:cs typeface="Calibri" pitchFamily="34" charset="-120"/>
                        </a:rPr>
                        <a:t>Paso 3 · especialización</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0.070</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0.744</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0.346</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0.462</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000" b="1" dirty="0">
                          <a:solidFill>
                            <a:srgbClr val="23304A"/>
                          </a:solidFill>
                          <a:latin typeface="Calibri" pitchFamily="34" charset="0"/>
                          <a:ea typeface="Calibri" pitchFamily="34" charset="-122"/>
                          <a:cs typeface="Calibri" pitchFamily="34" charset="-120"/>
                        </a:rPr>
                        <a:t>NVDA label scoring</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667085"/>
                          </a:solidFill>
                          <a:latin typeface="Calibri" pitchFamily="34" charset="0"/>
                          <a:ea typeface="Calibri" pitchFamily="34" charset="-122"/>
                          <a:cs typeface="Calibri" pitchFamily="34" charset="-120"/>
                        </a:rPr>
                        <a:t>Paso 4 · estructura</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0.066</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0.740</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0.376</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0.496</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l">
                        <a:buNone/>
                      </a:pPr>
                      <a:r>
                        <a:rPr lang="en-US" sz="1000" b="1" dirty="0">
                          <a:solidFill>
                            <a:srgbClr val="2A7F8C"/>
                          </a:solidFill>
                          <a:latin typeface="Calibri" pitchFamily="34" charset="0"/>
                          <a:ea typeface="Calibri" pitchFamily="34" charset="-122"/>
                          <a:cs typeface="Calibri" pitchFamily="34" charset="-120"/>
                        </a:rPr>
                        <a:t>NVDA + AMD: mejor balance</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E3EFF1"/>
                    </a:solidFill>
                  </a:tcPr>
                </a:tc>
                <a:tc>
                  <a:txBody>
                    <a:bodyPr/>
                    <a:lstStyle/>
                    <a:p>
                      <a:pPr marL="0" indent="0" algn="l">
                        <a:buNone/>
                      </a:pPr>
                      <a:r>
                        <a:rPr lang="en-US" sz="1000" i="1" dirty="0">
                          <a:solidFill>
                            <a:srgbClr val="667085"/>
                          </a:solidFill>
                          <a:latin typeface="Calibri" pitchFamily="34" charset="0"/>
                          <a:ea typeface="Calibri" pitchFamily="34" charset="-122"/>
                          <a:cs typeface="Calibri" pitchFamily="34" charset="-120"/>
                        </a:rPr>
                        <a:t>Paso 5 · multi-ticker</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0.074</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0.738</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0.442</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0.530</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extLst>
                  <a:ext uri="{0D108BD9-81ED-4DB2-BD59-A6C34878D82A}">
                    <a16:rowId xmlns:a16="http://schemas.microsoft.com/office/drawing/2014/main" val="10005"/>
                  </a:ext>
                </a:extLst>
              </a:tr>
            </a:tbl>
          </a:graphicData>
        </a:graphic>
      </p:graphicFrame>
      <p:sp>
        <p:nvSpPr>
          <p:cNvPr id="7" name="Shape 4"/>
          <p:cNvSpPr/>
          <p:nvPr/>
        </p:nvSpPr>
        <p:spPr>
          <a:xfrm>
            <a:off x="640080" y="4434840"/>
            <a:ext cx="3456432" cy="1463040"/>
          </a:xfrm>
          <a:prstGeom prst="rect">
            <a:avLst/>
          </a:prstGeom>
          <a:solidFill>
            <a:srgbClr val="EAF1F4"/>
          </a:solidFill>
          <a:ln w="12700">
            <a:solidFill>
              <a:srgbClr val="D6DEE4"/>
            </a:solidFill>
            <a:prstDash val="solid"/>
          </a:ln>
        </p:spPr>
        <p:txBody>
          <a:bodyPr/>
          <a:lstStyle/>
          <a:p>
            <a:endParaRPr lang="es-AR"/>
          </a:p>
        </p:txBody>
      </p:sp>
      <p:pic>
        <p:nvPicPr>
          <p:cNvPr id="9" name="Image 0" descr="icon_x.png"/>
          <p:cNvPicPr>
            <a:picLocks noChangeAspect="1"/>
          </p:cNvPicPr>
          <p:nvPr/>
        </p:nvPicPr>
        <p:blipFill>
          <a:blip r:embed="rId3"/>
          <a:stretch>
            <a:fillRect/>
          </a:stretch>
        </p:blipFill>
        <p:spPr>
          <a:xfrm>
            <a:off x="822960" y="4599432"/>
            <a:ext cx="274320" cy="274320"/>
          </a:xfrm>
          <a:prstGeom prst="rect">
            <a:avLst/>
          </a:prstGeom>
        </p:spPr>
      </p:pic>
      <p:sp>
        <p:nvSpPr>
          <p:cNvPr id="10" name="Text 6"/>
          <p:cNvSpPr/>
          <p:nvPr/>
        </p:nvSpPr>
        <p:spPr>
          <a:xfrm>
            <a:off x="1188720" y="4553712"/>
            <a:ext cx="2743200" cy="365760"/>
          </a:xfrm>
          <a:prstGeom prst="rect">
            <a:avLst/>
          </a:prstGeom>
          <a:noFill/>
          <a:ln/>
        </p:spPr>
        <p:txBody>
          <a:bodyPr wrap="square" lIns="0" tIns="0" rIns="0" bIns="0" rtlCol="0" anchor="ctr"/>
          <a:lstStyle/>
          <a:p>
            <a:pPr marL="0" indent="0">
              <a:buNone/>
            </a:pPr>
            <a:r>
              <a:rPr lang="en-US" sz="1150" b="1" dirty="0">
                <a:solidFill>
                  <a:srgbClr val="23304A"/>
                </a:solidFill>
                <a:latin typeface="Arial" panose="020B0604020202020204" pitchFamily="34" charset="0"/>
                <a:ea typeface="Calibri" pitchFamily="34" charset="-122"/>
                <a:cs typeface="Arial" panose="020B0604020202020204" pitchFamily="34" charset="0"/>
              </a:rPr>
              <a:t>Fine-tuning mejora NLP</a:t>
            </a:r>
            <a:endParaRPr lang="en-US" sz="1150" dirty="0">
              <a:latin typeface="Arial" panose="020B0604020202020204" pitchFamily="34" charset="0"/>
              <a:cs typeface="Arial" panose="020B0604020202020204" pitchFamily="34" charset="0"/>
            </a:endParaRPr>
          </a:p>
        </p:txBody>
      </p:sp>
      <p:sp>
        <p:nvSpPr>
          <p:cNvPr id="11" name="Text 7"/>
          <p:cNvSpPr/>
          <p:nvPr/>
        </p:nvSpPr>
        <p:spPr>
          <a:xfrm>
            <a:off x="841248" y="4910328"/>
            <a:ext cx="3072384" cy="868680"/>
          </a:xfrm>
          <a:prstGeom prst="rect">
            <a:avLst/>
          </a:prstGeom>
          <a:noFill/>
          <a:ln/>
        </p:spPr>
        <p:txBody>
          <a:bodyPr wrap="square" lIns="0" tIns="0" rIns="0" bIns="0" rtlCol="0" anchor="ctr"/>
          <a:lstStyle/>
          <a:p>
            <a:pPr marL="0" indent="0">
              <a:lnSpc>
                <a:spcPct val="112000"/>
              </a:lnSpc>
              <a:buNone/>
            </a:pPr>
            <a:r>
              <a:rPr lang="en-US" sz="970" dirty="0">
                <a:solidFill>
                  <a:srgbClr val="667085"/>
                </a:solidFill>
                <a:latin typeface="Arial" panose="020B0604020202020204" pitchFamily="34" charset="0"/>
                <a:ea typeface="Calibri" pitchFamily="34" charset="-122"/>
                <a:cs typeface="Arial" panose="020B0604020202020204" pitchFamily="34" charset="0"/>
              </a:rPr>
              <a:t>El fine-tuning mejora ROUGE-L y sentiment match frente a GPT-2 base.</a:t>
            </a:r>
            <a:endParaRPr lang="en-US" sz="970" dirty="0">
              <a:latin typeface="Arial" panose="020B0604020202020204" pitchFamily="34" charset="0"/>
              <a:cs typeface="Arial" panose="020B0604020202020204" pitchFamily="34" charset="0"/>
            </a:endParaRPr>
          </a:p>
        </p:txBody>
      </p:sp>
      <p:sp>
        <p:nvSpPr>
          <p:cNvPr id="12" name="Shape 8"/>
          <p:cNvSpPr/>
          <p:nvPr/>
        </p:nvSpPr>
        <p:spPr>
          <a:xfrm>
            <a:off x="4343400" y="4434840"/>
            <a:ext cx="3456432" cy="1463040"/>
          </a:xfrm>
          <a:prstGeom prst="rect">
            <a:avLst/>
          </a:prstGeom>
          <a:solidFill>
            <a:srgbClr val="EAF1F4"/>
          </a:solidFill>
          <a:ln w="12700">
            <a:solidFill>
              <a:srgbClr val="D6DEE4"/>
            </a:solidFill>
            <a:prstDash val="solid"/>
          </a:ln>
        </p:spPr>
        <p:txBody>
          <a:bodyPr/>
          <a:lstStyle/>
          <a:p>
            <a:endParaRPr lang="es-AR"/>
          </a:p>
        </p:txBody>
      </p:sp>
      <p:pic>
        <p:nvPicPr>
          <p:cNvPr id="14" name="Image 1" descr="icon_balance.png"/>
          <p:cNvPicPr>
            <a:picLocks noChangeAspect="1"/>
          </p:cNvPicPr>
          <p:nvPr/>
        </p:nvPicPr>
        <p:blipFill>
          <a:blip r:embed="rId4"/>
          <a:stretch>
            <a:fillRect/>
          </a:stretch>
        </p:blipFill>
        <p:spPr>
          <a:xfrm>
            <a:off x="4526280" y="4599432"/>
            <a:ext cx="274320" cy="274320"/>
          </a:xfrm>
          <a:prstGeom prst="rect">
            <a:avLst/>
          </a:prstGeom>
        </p:spPr>
      </p:pic>
      <p:sp>
        <p:nvSpPr>
          <p:cNvPr id="15" name="Text 10"/>
          <p:cNvSpPr/>
          <p:nvPr/>
        </p:nvSpPr>
        <p:spPr>
          <a:xfrm>
            <a:off x="4892040" y="4553712"/>
            <a:ext cx="2743200" cy="365760"/>
          </a:xfrm>
          <a:prstGeom prst="rect">
            <a:avLst/>
          </a:prstGeom>
          <a:noFill/>
          <a:ln/>
        </p:spPr>
        <p:txBody>
          <a:bodyPr wrap="square" lIns="0" tIns="0" rIns="0" bIns="0" rtlCol="0" anchor="ctr"/>
          <a:lstStyle/>
          <a:p>
            <a:pPr marL="0" indent="0">
              <a:buNone/>
            </a:pPr>
            <a:r>
              <a:rPr lang="en-US" sz="1150" b="1" dirty="0">
                <a:solidFill>
                  <a:srgbClr val="23304A"/>
                </a:solidFill>
                <a:latin typeface="Arial" panose="020B0604020202020204" pitchFamily="34" charset="0"/>
                <a:ea typeface="Calibri" pitchFamily="34" charset="-122"/>
                <a:cs typeface="Arial" panose="020B0604020202020204" pitchFamily="34" charset="0"/>
              </a:rPr>
              <a:t>NVDA + AMD</a:t>
            </a:r>
            <a:endParaRPr lang="en-US" sz="1150" dirty="0">
              <a:latin typeface="Arial" panose="020B0604020202020204" pitchFamily="34" charset="0"/>
              <a:cs typeface="Arial" panose="020B0604020202020204" pitchFamily="34" charset="0"/>
            </a:endParaRPr>
          </a:p>
        </p:txBody>
      </p:sp>
      <p:sp>
        <p:nvSpPr>
          <p:cNvPr id="16" name="Text 11"/>
          <p:cNvSpPr/>
          <p:nvPr/>
        </p:nvSpPr>
        <p:spPr>
          <a:xfrm>
            <a:off x="4544568" y="4910328"/>
            <a:ext cx="3072384" cy="868680"/>
          </a:xfrm>
          <a:prstGeom prst="rect">
            <a:avLst/>
          </a:prstGeom>
          <a:noFill/>
          <a:ln/>
        </p:spPr>
        <p:txBody>
          <a:bodyPr wrap="square" lIns="0" tIns="0" rIns="0" bIns="0" rtlCol="0" anchor="ctr"/>
          <a:lstStyle/>
          <a:p>
            <a:pPr marL="0" indent="0">
              <a:lnSpc>
                <a:spcPct val="112000"/>
              </a:lnSpc>
              <a:buNone/>
            </a:pPr>
            <a:r>
              <a:rPr lang="en-US" sz="970" dirty="0">
                <a:solidFill>
                  <a:srgbClr val="667085"/>
                </a:solidFill>
                <a:latin typeface="Arial" panose="020B0604020202020204" pitchFamily="34" charset="0"/>
                <a:ea typeface="Calibri" pitchFamily="34" charset="-122"/>
                <a:cs typeface="Arial" panose="020B0604020202020204" pitchFamily="34" charset="0"/>
              </a:rPr>
              <a:t>Mejor balance textual y semántico de la selección.</a:t>
            </a:r>
            <a:endParaRPr lang="en-US" sz="970" dirty="0">
              <a:latin typeface="Arial" panose="020B0604020202020204" pitchFamily="34" charset="0"/>
              <a:cs typeface="Arial" panose="020B0604020202020204" pitchFamily="34" charset="0"/>
            </a:endParaRPr>
          </a:p>
        </p:txBody>
      </p:sp>
      <p:sp>
        <p:nvSpPr>
          <p:cNvPr id="17" name="Shape 12"/>
          <p:cNvSpPr/>
          <p:nvPr/>
        </p:nvSpPr>
        <p:spPr>
          <a:xfrm>
            <a:off x="8046720" y="4434840"/>
            <a:ext cx="3456432" cy="1463040"/>
          </a:xfrm>
          <a:prstGeom prst="rect">
            <a:avLst/>
          </a:prstGeom>
          <a:solidFill>
            <a:srgbClr val="EAF1F4"/>
          </a:solidFill>
          <a:ln w="12700">
            <a:solidFill>
              <a:srgbClr val="D6DEE4"/>
            </a:solidFill>
            <a:prstDash val="solid"/>
          </a:ln>
        </p:spPr>
        <p:txBody>
          <a:bodyPr/>
          <a:lstStyle/>
          <a:p>
            <a:endParaRPr lang="es-AR"/>
          </a:p>
        </p:txBody>
      </p:sp>
      <p:pic>
        <p:nvPicPr>
          <p:cNvPr id="19" name="Image 2" descr="icon_target.png"/>
          <p:cNvPicPr>
            <a:picLocks noChangeAspect="1"/>
          </p:cNvPicPr>
          <p:nvPr/>
        </p:nvPicPr>
        <p:blipFill>
          <a:blip r:embed="rId5"/>
          <a:stretch>
            <a:fillRect/>
          </a:stretch>
        </p:blipFill>
        <p:spPr>
          <a:xfrm>
            <a:off x="8229600" y="4599432"/>
            <a:ext cx="274320" cy="274320"/>
          </a:xfrm>
          <a:prstGeom prst="rect">
            <a:avLst/>
          </a:prstGeom>
        </p:spPr>
      </p:pic>
      <p:sp>
        <p:nvSpPr>
          <p:cNvPr id="20" name="Text 14"/>
          <p:cNvSpPr/>
          <p:nvPr/>
        </p:nvSpPr>
        <p:spPr>
          <a:xfrm>
            <a:off x="8595360" y="4553712"/>
            <a:ext cx="2743200" cy="365760"/>
          </a:xfrm>
          <a:prstGeom prst="rect">
            <a:avLst/>
          </a:prstGeom>
          <a:noFill/>
          <a:ln/>
        </p:spPr>
        <p:txBody>
          <a:bodyPr wrap="square" lIns="0" tIns="0" rIns="0" bIns="0" rtlCol="0" anchor="ctr"/>
          <a:lstStyle/>
          <a:p>
            <a:pPr marL="0" indent="0">
              <a:buNone/>
            </a:pPr>
            <a:r>
              <a:rPr lang="en-US" sz="1150" b="1" dirty="0">
                <a:solidFill>
                  <a:srgbClr val="23304A"/>
                </a:solidFill>
                <a:latin typeface="Arial" panose="020B0604020202020204" pitchFamily="34" charset="0"/>
                <a:ea typeface="Calibri" pitchFamily="34" charset="-122"/>
                <a:cs typeface="Arial" panose="020B0604020202020204" pitchFamily="34" charset="0"/>
              </a:rPr>
              <a:t>Dir. accuracy no sigue al NLP</a:t>
            </a:r>
            <a:endParaRPr lang="en-US" sz="1150" dirty="0">
              <a:latin typeface="Arial" panose="020B0604020202020204" pitchFamily="34" charset="0"/>
              <a:cs typeface="Arial" panose="020B0604020202020204" pitchFamily="34" charset="0"/>
            </a:endParaRPr>
          </a:p>
        </p:txBody>
      </p:sp>
      <p:sp>
        <p:nvSpPr>
          <p:cNvPr id="21" name="Text 15"/>
          <p:cNvSpPr/>
          <p:nvPr/>
        </p:nvSpPr>
        <p:spPr>
          <a:xfrm>
            <a:off x="8247888" y="4910328"/>
            <a:ext cx="3072384" cy="868680"/>
          </a:xfrm>
          <a:prstGeom prst="rect">
            <a:avLst/>
          </a:prstGeom>
          <a:noFill/>
          <a:ln/>
        </p:spPr>
        <p:txBody>
          <a:bodyPr wrap="square" lIns="0" tIns="0" rIns="0" bIns="0" rtlCol="0" anchor="ctr"/>
          <a:lstStyle/>
          <a:p>
            <a:pPr marL="0" indent="0">
              <a:lnSpc>
                <a:spcPct val="112000"/>
              </a:lnSpc>
              <a:buNone/>
            </a:pPr>
            <a:r>
              <a:rPr lang="en-US" sz="970" dirty="0">
                <a:solidFill>
                  <a:srgbClr val="667085"/>
                </a:solidFill>
                <a:latin typeface="Arial" panose="020B0604020202020204" pitchFamily="34" charset="0"/>
                <a:ea typeface="Calibri" pitchFamily="34" charset="-122"/>
                <a:cs typeface="Arial" panose="020B0604020202020204" pitchFamily="34" charset="0"/>
              </a:rPr>
              <a:t>La directional accuracy no sigue necesariamente a las métricas de NLP.</a:t>
            </a:r>
            <a:endParaRPr lang="en-US" sz="970" dirty="0">
              <a:latin typeface="Arial" panose="020B0604020202020204" pitchFamily="34" charset="0"/>
              <a:cs typeface="Arial" panose="020B0604020202020204" pitchFamily="34" charset="0"/>
            </a:endParaRPr>
          </a:p>
        </p:txBody>
      </p:sp>
      <p:sp>
        <p:nvSpPr>
          <p:cNvPr id="2" name="Text 7">
            <a:extLst>
              <a:ext uri="{FF2B5EF4-FFF2-40B4-BE49-F238E27FC236}">
                <a16:creationId xmlns:a16="http://schemas.microsoft.com/office/drawing/2014/main" id="{ED5A9930-5BC3-B718-2BC2-FAEB4DFD8773}"/>
              </a:ext>
            </a:extLst>
          </p:cNvPr>
          <p:cNvSpPr/>
          <p:nvPr/>
        </p:nvSpPr>
        <p:spPr>
          <a:xfrm>
            <a:off x="6947452" y="5943202"/>
            <a:ext cx="4573988" cy="795528"/>
          </a:xfrm>
          <a:prstGeom prst="rect">
            <a:avLst/>
          </a:prstGeom>
          <a:noFill/>
          <a:ln/>
        </p:spPr>
        <p:txBody>
          <a:bodyPr wrap="square" lIns="0" tIns="0" rIns="0" bIns="0" rtlCol="0" anchor="ctr"/>
          <a:lstStyle/>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200" dirty="0">
              <a:solidFill>
                <a:schemeClr val="bg2">
                  <a:lumMod val="7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0080" y="640080"/>
            <a:ext cx="10332720" cy="749808"/>
          </a:xfrm>
          <a:prstGeom prst="rect">
            <a:avLst/>
          </a:prstGeom>
          <a:noFill/>
          <a:ln/>
        </p:spPr>
        <p:txBody>
          <a:bodyPr wrap="square" lIns="0" tIns="0" rIns="0" bIns="0" rtlCol="0" anchor="ctr"/>
          <a:lstStyle/>
          <a:p>
            <a:pPr marL="0" indent="0">
              <a:buNone/>
            </a:pPr>
            <a:r>
              <a:rPr lang="en-US" sz="2800" b="1" dirty="0">
                <a:solidFill>
                  <a:srgbClr val="23304A"/>
                </a:solidFill>
                <a:latin typeface="Arial" panose="020B0604020202020204" pitchFamily="34" charset="0"/>
                <a:ea typeface="Georgia" pitchFamily="34" charset="-122"/>
                <a:cs typeface="Arial" panose="020B0604020202020204" pitchFamily="34" charset="0"/>
              </a:rPr>
              <a:t>Loss y perplexity</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Georgia" pitchFamily="34" charset="0"/>
                <a:ea typeface="Georgia" pitchFamily="34" charset="-122"/>
                <a:cs typeface="Georgia" pitchFamily="34" charset="-120"/>
              </a:rPr>
              <a:t>09</a:t>
            </a:r>
            <a:endParaRPr lang="en-US" sz="1500" dirty="0"/>
          </a:p>
        </p:txBody>
      </p:sp>
      <p:sp>
        <p:nvSpPr>
          <p:cNvPr id="5" name="Text 3"/>
          <p:cNvSpPr/>
          <p:nvPr/>
        </p:nvSpPr>
        <p:spPr>
          <a:xfrm>
            <a:off x="640080" y="1463040"/>
            <a:ext cx="10881360" cy="329184"/>
          </a:xfrm>
          <a:prstGeom prst="rect">
            <a:avLst/>
          </a:prstGeom>
          <a:noFill/>
          <a:ln/>
        </p:spPr>
        <p:txBody>
          <a:bodyPr wrap="square" lIns="0" tIns="0" rIns="0" bIns="0" rtlCol="0" anchor="ctr"/>
          <a:lstStyle/>
          <a:p>
            <a:pPr marL="0" indent="0">
              <a:buNone/>
            </a:pPr>
            <a:r>
              <a:rPr lang="en-US" sz="1200" dirty="0">
                <a:solidFill>
                  <a:srgbClr val="667085"/>
                </a:solidFill>
                <a:latin typeface="Arial" panose="020B0604020202020204" pitchFamily="34" charset="0"/>
                <a:ea typeface="Calibri" pitchFamily="34" charset="-122"/>
                <a:cs typeface="Arial" panose="020B0604020202020204" pitchFamily="34" charset="0"/>
              </a:rPr>
              <a:t>La loss baja dentro de </a:t>
            </a:r>
            <a:r>
              <a:rPr lang="en-US" sz="1200" dirty="0" err="1">
                <a:solidFill>
                  <a:srgbClr val="667085"/>
                </a:solidFill>
                <a:latin typeface="Arial" panose="020B0604020202020204" pitchFamily="34" charset="0"/>
                <a:ea typeface="Calibri" pitchFamily="34" charset="-122"/>
                <a:cs typeface="Arial" panose="020B0604020202020204" pitchFamily="34" charset="0"/>
              </a:rPr>
              <a:t>cada</a:t>
            </a:r>
            <a:r>
              <a:rPr lang="en-US" sz="1200" dirty="0">
                <a:solidFill>
                  <a:srgbClr val="667085"/>
                </a:solidFill>
                <a:latin typeface="Arial" panose="020B0604020202020204" pitchFamily="34" charset="0"/>
                <a:ea typeface="Calibri" pitchFamily="34" charset="-122"/>
                <a:cs typeface="Arial" panose="020B0604020202020204" pitchFamily="34" charset="0"/>
              </a:rPr>
              <a:t> run: indica que </a:t>
            </a:r>
            <a:r>
              <a:rPr lang="en-US" sz="1200" dirty="0" err="1">
                <a:solidFill>
                  <a:srgbClr val="667085"/>
                </a:solidFill>
                <a:latin typeface="Arial" panose="020B0604020202020204" pitchFamily="34" charset="0"/>
                <a:ea typeface="Calibri" pitchFamily="34" charset="-122"/>
                <a:cs typeface="Arial" panose="020B0604020202020204" pitchFamily="34" charset="0"/>
              </a:rPr>
              <a:t>el</a:t>
            </a:r>
            <a:r>
              <a:rPr lang="en-US" sz="1200" dirty="0">
                <a:solidFill>
                  <a:srgbClr val="667085"/>
                </a:solidFill>
                <a:latin typeface="Arial" panose="020B0604020202020204" pitchFamily="34" charset="0"/>
                <a:ea typeface="Calibri" pitchFamily="34" charset="-122"/>
                <a:cs typeface="Arial" panose="020B0604020202020204" pitchFamily="34" charset="0"/>
              </a:rPr>
              <a:t> finetuning </a:t>
            </a:r>
            <a:r>
              <a:rPr lang="en-US" sz="1200" dirty="0" err="1">
                <a:solidFill>
                  <a:srgbClr val="667085"/>
                </a:solidFill>
                <a:latin typeface="Arial" panose="020B0604020202020204" pitchFamily="34" charset="0"/>
                <a:ea typeface="Calibri" pitchFamily="34" charset="-122"/>
                <a:cs typeface="Arial" panose="020B0604020202020204" pitchFamily="34" charset="0"/>
              </a:rPr>
              <a:t>funciona</a:t>
            </a:r>
            <a:endParaRPr lang="en-US" sz="1200" dirty="0">
              <a:latin typeface="Arial" panose="020B0604020202020204" pitchFamily="34" charset="0"/>
              <a:cs typeface="Arial" panose="020B0604020202020204" pitchFamily="34" charset="0"/>
            </a:endParaRPr>
          </a:p>
        </p:txBody>
      </p:sp>
      <p:sp>
        <p:nvSpPr>
          <p:cNvPr id="6" name="Shape 4"/>
          <p:cNvSpPr/>
          <p:nvPr/>
        </p:nvSpPr>
        <p:spPr>
          <a:xfrm>
            <a:off x="640080" y="1874520"/>
            <a:ext cx="5394960" cy="2770632"/>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7" name="Image 0" descr="training_loss_curves.png"/>
          <p:cNvPicPr>
            <a:picLocks noChangeAspect="1"/>
          </p:cNvPicPr>
          <p:nvPr/>
        </p:nvPicPr>
        <p:blipFill>
          <a:blip r:embed="rId3"/>
          <a:stretch>
            <a:fillRect/>
          </a:stretch>
        </p:blipFill>
        <p:spPr>
          <a:xfrm>
            <a:off x="894311" y="1947672"/>
            <a:ext cx="4886499" cy="2624328"/>
          </a:xfrm>
          <a:prstGeom prst="rect">
            <a:avLst/>
          </a:prstGeom>
        </p:spPr>
      </p:pic>
      <p:sp>
        <p:nvSpPr>
          <p:cNvPr id="8" name="Text 5"/>
          <p:cNvSpPr/>
          <p:nvPr/>
        </p:nvSpPr>
        <p:spPr>
          <a:xfrm>
            <a:off x="640080" y="4663440"/>
            <a:ext cx="5394960" cy="219456"/>
          </a:xfrm>
          <a:prstGeom prst="rect">
            <a:avLst/>
          </a:prstGeom>
          <a:noFill/>
          <a:ln/>
        </p:spPr>
        <p:txBody>
          <a:bodyPr wrap="square" lIns="0" tIns="0" rIns="0" bIns="0" rtlCol="0" anchor="ctr"/>
          <a:lstStyle/>
          <a:p>
            <a:pPr marL="0" indent="0" algn="ctr">
              <a:buNone/>
            </a:pPr>
            <a:r>
              <a:rPr lang="en-US" sz="850" i="1" dirty="0">
                <a:solidFill>
                  <a:srgbClr val="667085"/>
                </a:solidFill>
                <a:latin typeface="Arial" panose="020B0604020202020204" pitchFamily="34" charset="0"/>
                <a:ea typeface="Calibri" pitchFamily="34" charset="-122"/>
                <a:cs typeface="Arial" panose="020B0604020202020204" pitchFamily="34" charset="0"/>
              </a:rPr>
              <a:t>Training loss</a:t>
            </a:r>
            <a:endParaRPr lang="en-US" sz="850" dirty="0">
              <a:latin typeface="Arial" panose="020B0604020202020204" pitchFamily="34" charset="0"/>
              <a:cs typeface="Arial" panose="020B0604020202020204" pitchFamily="34" charset="0"/>
            </a:endParaRPr>
          </a:p>
        </p:txBody>
      </p:sp>
      <p:sp>
        <p:nvSpPr>
          <p:cNvPr id="9" name="Shape 6"/>
          <p:cNvSpPr/>
          <p:nvPr/>
        </p:nvSpPr>
        <p:spPr>
          <a:xfrm>
            <a:off x="6300216" y="1874520"/>
            <a:ext cx="5394960" cy="2770632"/>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10" name="Image 1" descr="eval_loss_curves.png"/>
          <p:cNvPicPr>
            <a:picLocks noChangeAspect="1"/>
          </p:cNvPicPr>
          <p:nvPr/>
        </p:nvPicPr>
        <p:blipFill>
          <a:blip r:embed="rId4"/>
          <a:stretch>
            <a:fillRect/>
          </a:stretch>
        </p:blipFill>
        <p:spPr>
          <a:xfrm>
            <a:off x="6554446" y="1947672"/>
            <a:ext cx="4886499" cy="2624328"/>
          </a:xfrm>
          <a:prstGeom prst="rect">
            <a:avLst/>
          </a:prstGeom>
        </p:spPr>
      </p:pic>
      <p:sp>
        <p:nvSpPr>
          <p:cNvPr id="11" name="Text 7"/>
          <p:cNvSpPr/>
          <p:nvPr/>
        </p:nvSpPr>
        <p:spPr>
          <a:xfrm>
            <a:off x="6300216" y="4663440"/>
            <a:ext cx="5394960" cy="219456"/>
          </a:xfrm>
          <a:prstGeom prst="rect">
            <a:avLst/>
          </a:prstGeom>
          <a:noFill/>
          <a:ln/>
        </p:spPr>
        <p:txBody>
          <a:bodyPr wrap="square" lIns="0" tIns="0" rIns="0" bIns="0" rtlCol="0" anchor="ctr"/>
          <a:lstStyle/>
          <a:p>
            <a:pPr marL="0" indent="0" algn="ctr">
              <a:buNone/>
            </a:pPr>
            <a:r>
              <a:rPr lang="en-US" sz="850" i="1" dirty="0">
                <a:solidFill>
                  <a:srgbClr val="667085"/>
                </a:solidFill>
                <a:latin typeface="Arial" panose="020B0604020202020204" pitchFamily="34" charset="0"/>
                <a:ea typeface="Calibri" pitchFamily="34" charset="-122"/>
                <a:cs typeface="Arial" panose="020B0604020202020204" pitchFamily="34" charset="0"/>
              </a:rPr>
              <a:t>Validation loss</a:t>
            </a:r>
            <a:endParaRPr lang="en-US" sz="850" dirty="0">
              <a:latin typeface="Arial" panose="020B0604020202020204" pitchFamily="34" charset="0"/>
              <a:cs typeface="Arial" panose="020B0604020202020204" pitchFamily="34" charset="0"/>
            </a:endParaRPr>
          </a:p>
        </p:txBody>
      </p:sp>
      <p:sp>
        <p:nvSpPr>
          <p:cNvPr id="12" name="Text 8"/>
          <p:cNvSpPr/>
          <p:nvPr/>
        </p:nvSpPr>
        <p:spPr>
          <a:xfrm>
            <a:off x="640080" y="4919472"/>
            <a:ext cx="6400800" cy="274320"/>
          </a:xfrm>
          <a:prstGeom prst="rect">
            <a:avLst/>
          </a:prstGeom>
          <a:noFill/>
          <a:ln/>
        </p:spPr>
        <p:txBody>
          <a:bodyPr wrap="square" lIns="0" tIns="0" rIns="0" bIns="0" rtlCol="0" anchor="ctr"/>
          <a:lstStyle/>
          <a:p>
            <a:pPr marL="0" indent="0">
              <a:buNone/>
            </a:pPr>
            <a:r>
              <a:rPr lang="en-US" sz="1150" b="1" dirty="0">
                <a:solidFill>
                  <a:srgbClr val="23304A"/>
                </a:solidFill>
                <a:latin typeface="Arial" panose="020B0604020202020204" pitchFamily="34" charset="0"/>
                <a:ea typeface="Calibri" pitchFamily="34" charset="-122"/>
                <a:cs typeface="Arial" panose="020B0604020202020204" pitchFamily="34" charset="0"/>
              </a:rPr>
              <a:t>Perplexity por run</a:t>
            </a:r>
            <a:endParaRPr lang="en-US" sz="1150" dirty="0">
              <a:latin typeface="Arial" panose="020B0604020202020204" pitchFamily="34" charset="0"/>
              <a:cs typeface="Arial" panose="020B0604020202020204" pitchFamily="34" charset="0"/>
            </a:endParaRPr>
          </a:p>
        </p:txBody>
      </p:sp>
      <p:sp>
        <p:nvSpPr>
          <p:cNvPr id="13" name="Shape 9"/>
          <p:cNvSpPr/>
          <p:nvPr/>
        </p:nvSpPr>
        <p:spPr>
          <a:xfrm>
            <a:off x="640080" y="5212080"/>
            <a:ext cx="1490472" cy="841248"/>
          </a:xfrm>
          <a:prstGeom prst="rect">
            <a:avLst/>
          </a:prstGeom>
          <a:solidFill>
            <a:srgbClr val="EAF1F4"/>
          </a:solidFill>
          <a:ln w="12700">
            <a:solidFill>
              <a:srgbClr val="D6DEE4"/>
            </a:solidFill>
            <a:prstDash val="solid"/>
          </a:ln>
        </p:spPr>
        <p:txBody>
          <a:bodyPr/>
          <a:lstStyle/>
          <a:p>
            <a:endParaRPr lang="es-AR"/>
          </a:p>
        </p:txBody>
      </p:sp>
      <p:sp>
        <p:nvSpPr>
          <p:cNvPr id="15" name="Text 11"/>
          <p:cNvSpPr/>
          <p:nvPr/>
        </p:nvSpPr>
        <p:spPr>
          <a:xfrm>
            <a:off x="640080" y="5285232"/>
            <a:ext cx="1490472" cy="420624"/>
          </a:xfrm>
          <a:prstGeom prst="rect">
            <a:avLst/>
          </a:prstGeom>
          <a:noFill/>
          <a:ln/>
        </p:spPr>
        <p:txBody>
          <a:bodyPr wrap="square" lIns="0" tIns="0" rIns="0" bIns="0" rtlCol="0" anchor="ctr"/>
          <a:lstStyle/>
          <a:p>
            <a:pPr marL="0" indent="0" algn="ctr">
              <a:buNone/>
            </a:pPr>
            <a:r>
              <a:rPr lang="en-US" sz="1900" b="1" dirty="0">
                <a:solidFill>
                  <a:srgbClr val="2A7F8C"/>
                </a:solidFill>
                <a:latin typeface="Arial" panose="020B0604020202020204" pitchFamily="34" charset="0"/>
                <a:ea typeface="Georgia" pitchFamily="34" charset="-122"/>
                <a:cs typeface="Arial" panose="020B0604020202020204" pitchFamily="34" charset="0"/>
              </a:rPr>
              <a:t>14.7</a:t>
            </a:r>
            <a:endParaRPr lang="en-US" sz="1900" dirty="0">
              <a:latin typeface="Arial" panose="020B0604020202020204" pitchFamily="34" charset="0"/>
              <a:cs typeface="Arial" panose="020B0604020202020204" pitchFamily="34" charset="0"/>
            </a:endParaRPr>
          </a:p>
        </p:txBody>
      </p:sp>
      <p:sp>
        <p:nvSpPr>
          <p:cNvPr id="16" name="Text 12"/>
          <p:cNvSpPr/>
          <p:nvPr/>
        </p:nvSpPr>
        <p:spPr>
          <a:xfrm>
            <a:off x="640080" y="5724144"/>
            <a:ext cx="1490472" cy="274320"/>
          </a:xfrm>
          <a:prstGeom prst="rect">
            <a:avLst/>
          </a:prstGeom>
          <a:noFill/>
          <a:ln/>
        </p:spPr>
        <p:txBody>
          <a:bodyPr wrap="square" lIns="0" tIns="0" rIns="0" bIns="0" rtlCol="0" anchor="ctr"/>
          <a:lstStyle/>
          <a:p>
            <a:pPr marL="0" indent="0" algn="ctr">
              <a:buNone/>
            </a:pPr>
            <a:r>
              <a:rPr lang="en-US" sz="850" dirty="0">
                <a:solidFill>
                  <a:srgbClr val="667085"/>
                </a:solidFill>
                <a:latin typeface="Arial" panose="020B0604020202020204" pitchFamily="34" charset="0"/>
                <a:ea typeface="Calibri" pitchFamily="34" charset="-122"/>
                <a:cs typeface="Arial" panose="020B0604020202020204" pitchFamily="34" charset="0"/>
              </a:rPr>
              <a:t>SPY/QQQ</a:t>
            </a:r>
            <a:endParaRPr lang="en-US" sz="850" dirty="0">
              <a:latin typeface="Arial" panose="020B0604020202020204" pitchFamily="34" charset="0"/>
              <a:cs typeface="Arial" panose="020B0604020202020204" pitchFamily="34" charset="0"/>
            </a:endParaRPr>
          </a:p>
        </p:txBody>
      </p:sp>
      <p:sp>
        <p:nvSpPr>
          <p:cNvPr id="17" name="Shape 13"/>
          <p:cNvSpPr/>
          <p:nvPr/>
        </p:nvSpPr>
        <p:spPr>
          <a:xfrm>
            <a:off x="2240280" y="5212080"/>
            <a:ext cx="1490472" cy="841248"/>
          </a:xfrm>
          <a:prstGeom prst="rect">
            <a:avLst/>
          </a:prstGeom>
          <a:solidFill>
            <a:srgbClr val="EAF1F4"/>
          </a:solidFill>
          <a:ln w="12700">
            <a:solidFill>
              <a:srgbClr val="D6DEE4"/>
            </a:solidFill>
            <a:prstDash val="solid"/>
          </a:ln>
        </p:spPr>
        <p:txBody>
          <a:bodyPr/>
          <a:lstStyle/>
          <a:p>
            <a:endParaRPr lang="es-AR"/>
          </a:p>
        </p:txBody>
      </p:sp>
      <p:sp>
        <p:nvSpPr>
          <p:cNvPr id="19" name="Text 15"/>
          <p:cNvSpPr/>
          <p:nvPr/>
        </p:nvSpPr>
        <p:spPr>
          <a:xfrm>
            <a:off x="2240280" y="5285232"/>
            <a:ext cx="1490472" cy="420624"/>
          </a:xfrm>
          <a:prstGeom prst="rect">
            <a:avLst/>
          </a:prstGeom>
          <a:noFill/>
          <a:ln/>
        </p:spPr>
        <p:txBody>
          <a:bodyPr wrap="square" lIns="0" tIns="0" rIns="0" bIns="0" rtlCol="0" anchor="ctr"/>
          <a:lstStyle/>
          <a:p>
            <a:pPr marL="0" indent="0" algn="ctr">
              <a:buNone/>
            </a:pPr>
            <a:r>
              <a:rPr lang="en-US" sz="1900" b="1" dirty="0">
                <a:solidFill>
                  <a:srgbClr val="2A7F8C"/>
                </a:solidFill>
                <a:latin typeface="Arial" panose="020B0604020202020204" pitchFamily="34" charset="0"/>
                <a:ea typeface="Georgia" pitchFamily="34" charset="-122"/>
                <a:cs typeface="Arial" panose="020B0604020202020204" pitchFamily="34" charset="0"/>
              </a:rPr>
              <a:t>29.6</a:t>
            </a:r>
            <a:endParaRPr lang="en-US" sz="1900" dirty="0">
              <a:latin typeface="Arial" panose="020B0604020202020204" pitchFamily="34" charset="0"/>
              <a:cs typeface="Arial" panose="020B0604020202020204" pitchFamily="34" charset="0"/>
            </a:endParaRPr>
          </a:p>
        </p:txBody>
      </p:sp>
      <p:sp>
        <p:nvSpPr>
          <p:cNvPr id="20" name="Text 16"/>
          <p:cNvSpPr/>
          <p:nvPr/>
        </p:nvSpPr>
        <p:spPr>
          <a:xfrm>
            <a:off x="2240280" y="5724144"/>
            <a:ext cx="1490472" cy="274320"/>
          </a:xfrm>
          <a:prstGeom prst="rect">
            <a:avLst/>
          </a:prstGeom>
          <a:noFill/>
          <a:ln/>
        </p:spPr>
        <p:txBody>
          <a:bodyPr wrap="square" lIns="0" tIns="0" rIns="0" bIns="0" rtlCol="0" anchor="ctr"/>
          <a:lstStyle/>
          <a:p>
            <a:pPr marL="0" indent="0" algn="ctr">
              <a:buNone/>
            </a:pPr>
            <a:r>
              <a:rPr lang="en-US" sz="850" dirty="0">
                <a:solidFill>
                  <a:srgbClr val="667085"/>
                </a:solidFill>
                <a:latin typeface="Arial" panose="020B0604020202020204" pitchFamily="34" charset="0"/>
                <a:ea typeface="Calibri" pitchFamily="34" charset="-122"/>
                <a:cs typeface="Arial" panose="020B0604020202020204" pitchFamily="34" charset="0"/>
              </a:rPr>
              <a:t>NVDA single</a:t>
            </a:r>
            <a:endParaRPr lang="en-US" sz="850" dirty="0">
              <a:latin typeface="Arial" panose="020B0604020202020204" pitchFamily="34" charset="0"/>
              <a:cs typeface="Arial" panose="020B0604020202020204" pitchFamily="34" charset="0"/>
            </a:endParaRPr>
          </a:p>
        </p:txBody>
      </p:sp>
      <p:sp>
        <p:nvSpPr>
          <p:cNvPr id="21" name="Shape 17"/>
          <p:cNvSpPr/>
          <p:nvPr/>
        </p:nvSpPr>
        <p:spPr>
          <a:xfrm>
            <a:off x="3840480" y="5212080"/>
            <a:ext cx="1490472" cy="841248"/>
          </a:xfrm>
          <a:prstGeom prst="rect">
            <a:avLst/>
          </a:prstGeom>
          <a:solidFill>
            <a:srgbClr val="EAF1F4"/>
          </a:solidFill>
          <a:ln w="12700">
            <a:solidFill>
              <a:srgbClr val="D6DEE4"/>
            </a:solidFill>
            <a:prstDash val="solid"/>
          </a:ln>
        </p:spPr>
        <p:txBody>
          <a:bodyPr/>
          <a:lstStyle/>
          <a:p>
            <a:endParaRPr lang="es-AR"/>
          </a:p>
        </p:txBody>
      </p:sp>
      <p:sp>
        <p:nvSpPr>
          <p:cNvPr id="23" name="Text 19"/>
          <p:cNvSpPr/>
          <p:nvPr/>
        </p:nvSpPr>
        <p:spPr>
          <a:xfrm>
            <a:off x="3840480" y="5285232"/>
            <a:ext cx="1490472" cy="420624"/>
          </a:xfrm>
          <a:prstGeom prst="rect">
            <a:avLst/>
          </a:prstGeom>
          <a:noFill/>
          <a:ln/>
        </p:spPr>
        <p:txBody>
          <a:bodyPr wrap="square" lIns="0" tIns="0" rIns="0" bIns="0" rtlCol="0" anchor="ctr"/>
          <a:lstStyle/>
          <a:p>
            <a:pPr marL="0" indent="0" algn="ctr">
              <a:buNone/>
            </a:pPr>
            <a:r>
              <a:rPr lang="en-US" sz="1900" b="1" dirty="0">
                <a:solidFill>
                  <a:srgbClr val="2A7F8C"/>
                </a:solidFill>
                <a:latin typeface="Arial" panose="020B0604020202020204" pitchFamily="34" charset="0"/>
                <a:ea typeface="Georgia" pitchFamily="34" charset="-122"/>
                <a:cs typeface="Arial" panose="020B0604020202020204" pitchFamily="34" charset="0"/>
              </a:rPr>
              <a:t>19.3</a:t>
            </a:r>
            <a:endParaRPr lang="en-US" sz="1900" dirty="0">
              <a:latin typeface="Arial" panose="020B0604020202020204" pitchFamily="34" charset="0"/>
              <a:cs typeface="Arial" panose="020B0604020202020204" pitchFamily="34" charset="0"/>
            </a:endParaRPr>
          </a:p>
        </p:txBody>
      </p:sp>
      <p:sp>
        <p:nvSpPr>
          <p:cNvPr id="24" name="Text 20"/>
          <p:cNvSpPr/>
          <p:nvPr/>
        </p:nvSpPr>
        <p:spPr>
          <a:xfrm>
            <a:off x="3840480" y="5724144"/>
            <a:ext cx="1490472" cy="274320"/>
          </a:xfrm>
          <a:prstGeom prst="rect">
            <a:avLst/>
          </a:prstGeom>
          <a:noFill/>
          <a:ln/>
        </p:spPr>
        <p:txBody>
          <a:bodyPr wrap="square" lIns="0" tIns="0" rIns="0" bIns="0" rtlCol="0" anchor="ctr"/>
          <a:lstStyle/>
          <a:p>
            <a:pPr marL="0" indent="0" algn="ctr">
              <a:buNone/>
            </a:pPr>
            <a:r>
              <a:rPr lang="en-US" sz="850" dirty="0">
                <a:solidFill>
                  <a:srgbClr val="667085"/>
                </a:solidFill>
                <a:latin typeface="Arial" panose="020B0604020202020204" pitchFamily="34" charset="0"/>
                <a:ea typeface="Calibri" pitchFamily="34" charset="-122"/>
                <a:cs typeface="Arial" panose="020B0604020202020204" pitchFamily="34" charset="0"/>
              </a:rPr>
              <a:t>NVDA+AMD</a:t>
            </a:r>
            <a:endParaRPr lang="en-US" sz="850" dirty="0">
              <a:latin typeface="Arial" panose="020B0604020202020204" pitchFamily="34" charset="0"/>
              <a:cs typeface="Arial" panose="020B0604020202020204" pitchFamily="34" charset="0"/>
            </a:endParaRPr>
          </a:p>
        </p:txBody>
      </p:sp>
      <p:sp>
        <p:nvSpPr>
          <p:cNvPr id="25" name="Shape 21"/>
          <p:cNvSpPr/>
          <p:nvPr/>
        </p:nvSpPr>
        <p:spPr>
          <a:xfrm>
            <a:off x="5440680" y="5212080"/>
            <a:ext cx="1490472" cy="841248"/>
          </a:xfrm>
          <a:prstGeom prst="rect">
            <a:avLst/>
          </a:prstGeom>
          <a:solidFill>
            <a:srgbClr val="EAF1F4"/>
          </a:solidFill>
          <a:ln w="12700">
            <a:solidFill>
              <a:srgbClr val="D6DEE4"/>
            </a:solidFill>
            <a:prstDash val="solid"/>
          </a:ln>
        </p:spPr>
        <p:txBody>
          <a:bodyPr/>
          <a:lstStyle/>
          <a:p>
            <a:endParaRPr lang="es-AR"/>
          </a:p>
        </p:txBody>
      </p:sp>
      <p:sp>
        <p:nvSpPr>
          <p:cNvPr id="27" name="Text 23"/>
          <p:cNvSpPr/>
          <p:nvPr/>
        </p:nvSpPr>
        <p:spPr>
          <a:xfrm>
            <a:off x="5440680" y="5285232"/>
            <a:ext cx="1490472" cy="420624"/>
          </a:xfrm>
          <a:prstGeom prst="rect">
            <a:avLst/>
          </a:prstGeom>
          <a:noFill/>
          <a:ln/>
        </p:spPr>
        <p:txBody>
          <a:bodyPr wrap="square" lIns="0" tIns="0" rIns="0" bIns="0" rtlCol="0" anchor="ctr"/>
          <a:lstStyle/>
          <a:p>
            <a:pPr marL="0" indent="0" algn="ctr">
              <a:buNone/>
            </a:pPr>
            <a:r>
              <a:rPr lang="en-US" sz="1900" b="1" dirty="0">
                <a:solidFill>
                  <a:srgbClr val="2A7F8C"/>
                </a:solidFill>
                <a:latin typeface="Arial" panose="020B0604020202020204" pitchFamily="34" charset="0"/>
                <a:ea typeface="Georgia" pitchFamily="34" charset="-122"/>
                <a:cs typeface="Arial" panose="020B0604020202020204" pitchFamily="34" charset="0"/>
              </a:rPr>
              <a:t>16.6</a:t>
            </a:r>
            <a:endParaRPr lang="en-US" sz="1900" dirty="0">
              <a:latin typeface="Arial" panose="020B0604020202020204" pitchFamily="34" charset="0"/>
              <a:cs typeface="Arial" panose="020B0604020202020204" pitchFamily="34" charset="0"/>
            </a:endParaRPr>
          </a:p>
        </p:txBody>
      </p:sp>
      <p:sp>
        <p:nvSpPr>
          <p:cNvPr id="28" name="Text 24"/>
          <p:cNvSpPr/>
          <p:nvPr/>
        </p:nvSpPr>
        <p:spPr>
          <a:xfrm>
            <a:off x="5440680" y="5724144"/>
            <a:ext cx="1490472" cy="274320"/>
          </a:xfrm>
          <a:prstGeom prst="rect">
            <a:avLst/>
          </a:prstGeom>
          <a:noFill/>
          <a:ln/>
        </p:spPr>
        <p:txBody>
          <a:bodyPr wrap="square" lIns="0" tIns="0" rIns="0" bIns="0" rtlCol="0" anchor="ctr"/>
          <a:lstStyle/>
          <a:p>
            <a:pPr marL="0" indent="0" algn="ctr">
              <a:buNone/>
            </a:pPr>
            <a:r>
              <a:rPr lang="en-US" sz="850" dirty="0">
                <a:solidFill>
                  <a:srgbClr val="667085"/>
                </a:solidFill>
                <a:latin typeface="Arial" panose="020B0604020202020204" pitchFamily="34" charset="0"/>
                <a:ea typeface="Calibri" pitchFamily="34" charset="-122"/>
                <a:cs typeface="Arial" panose="020B0604020202020204" pitchFamily="34" charset="0"/>
              </a:rPr>
              <a:t>NVDA label sc.</a:t>
            </a:r>
            <a:endParaRPr lang="en-US" sz="850" dirty="0">
              <a:latin typeface="Arial" panose="020B0604020202020204" pitchFamily="34" charset="0"/>
              <a:cs typeface="Arial" panose="020B0604020202020204" pitchFamily="34" charset="0"/>
            </a:endParaRPr>
          </a:p>
        </p:txBody>
      </p:sp>
      <p:sp>
        <p:nvSpPr>
          <p:cNvPr id="29" name="Shape 25"/>
          <p:cNvSpPr/>
          <p:nvPr/>
        </p:nvSpPr>
        <p:spPr>
          <a:xfrm>
            <a:off x="7399020" y="5065776"/>
            <a:ext cx="4236415" cy="1261872"/>
          </a:xfrm>
          <a:prstGeom prst="rect">
            <a:avLst/>
          </a:prstGeom>
          <a:solidFill>
            <a:srgbClr val="1E2A4A"/>
          </a:solidFill>
          <a:ln w="12700">
            <a:solidFill>
              <a:srgbClr val="333333"/>
            </a:solidFill>
            <a:prstDash val="solid"/>
          </a:ln>
          <a:effectLst>
            <a:outerShdw blurRad="114300" dist="38100" dir="8100000" algn="bl" rotWithShape="0">
              <a:srgbClr val="1E2A4A">
                <a:alpha val="14000"/>
              </a:srgbClr>
            </a:outerShdw>
          </a:effectLst>
        </p:spPr>
        <p:txBody>
          <a:bodyPr/>
          <a:lstStyle/>
          <a:p>
            <a:endParaRPr lang="es-AR"/>
          </a:p>
        </p:txBody>
      </p:sp>
      <p:sp>
        <p:nvSpPr>
          <p:cNvPr id="32" name="Text 27"/>
          <p:cNvSpPr/>
          <p:nvPr/>
        </p:nvSpPr>
        <p:spPr>
          <a:xfrm>
            <a:off x="7636764" y="5212080"/>
            <a:ext cx="3779215" cy="960120"/>
          </a:xfrm>
          <a:prstGeom prst="rect">
            <a:avLst/>
          </a:prstGeom>
          <a:noFill/>
          <a:ln/>
        </p:spPr>
        <p:txBody>
          <a:bodyPr wrap="square" lIns="0" tIns="0" rIns="0" bIns="0" rtlCol="0" anchor="ctr"/>
          <a:lstStyle/>
          <a:p>
            <a:pPr marL="0" indent="0">
              <a:lnSpc>
                <a:spcPct val="120000"/>
              </a:lnSpc>
              <a:buNone/>
            </a:pPr>
            <a:r>
              <a:rPr lang="en-US" sz="1000" dirty="0">
                <a:solidFill>
                  <a:srgbClr val="FFC000"/>
                </a:solidFill>
                <a:latin typeface="Arial" panose="020B0604020202020204" pitchFamily="34" charset="0"/>
                <a:ea typeface="Calibri" pitchFamily="34" charset="-122"/>
                <a:cs typeface="Arial" panose="020B0604020202020204" pitchFamily="34" charset="0"/>
              </a:rPr>
              <a:t>Menor perplexity no implica mejor resultado semántico o financiero. NVDA tagged structured tenía la mejor perplexity (≈9.73), pero no se eligió como variante estructurada: era peor en ROUGE-L y BERTScore que NVDA label scoring.</a:t>
            </a:r>
            <a:endParaRPr lang="en-US" sz="1000" dirty="0">
              <a:solidFill>
                <a:srgbClr val="FFC000"/>
              </a:solidFill>
              <a:latin typeface="Arial" panose="020B0604020202020204" pitchFamily="34" charset="0"/>
              <a:cs typeface="Arial" panose="020B0604020202020204" pitchFamily="34" charset="0"/>
            </a:endParaRPr>
          </a:p>
        </p:txBody>
      </p:sp>
      <p:sp>
        <p:nvSpPr>
          <p:cNvPr id="2" name="Text 7">
            <a:extLst>
              <a:ext uri="{FF2B5EF4-FFF2-40B4-BE49-F238E27FC236}">
                <a16:creationId xmlns:a16="http://schemas.microsoft.com/office/drawing/2014/main" id="{2FCF7774-C144-7DCC-E199-81B7AD5FC232}"/>
              </a:ext>
            </a:extLst>
          </p:cNvPr>
          <p:cNvSpPr/>
          <p:nvPr/>
        </p:nvSpPr>
        <p:spPr>
          <a:xfrm>
            <a:off x="640080" y="6071616"/>
            <a:ext cx="4573988" cy="795528"/>
          </a:xfrm>
          <a:prstGeom prst="rect">
            <a:avLst/>
          </a:prstGeom>
          <a:noFill/>
          <a:ln/>
        </p:spPr>
        <p:txBody>
          <a:bodyPr wrap="square" lIns="0" tIns="0" rIns="0" bIns="0" rtlCol="0" anchor="ctr"/>
          <a:lstStyle/>
          <a:p>
            <a:pPr marL="0" indent="0">
              <a:buNone/>
            </a:pPr>
            <a:r>
              <a:rPr lang="en-US" sz="105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buNone/>
            </a:pPr>
            <a:r>
              <a:rPr lang="en-US" sz="105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buNone/>
            </a:pPr>
            <a:r>
              <a:rPr lang="en-US" sz="105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050" dirty="0">
              <a:solidFill>
                <a:schemeClr val="bg2">
                  <a:lumMod val="7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0080" y="640080"/>
            <a:ext cx="10332720" cy="749808"/>
          </a:xfrm>
          <a:prstGeom prst="rect">
            <a:avLst/>
          </a:prstGeom>
          <a:noFill/>
          <a:ln/>
        </p:spPr>
        <p:txBody>
          <a:bodyPr wrap="square" lIns="0" tIns="0" rIns="0" bIns="0" rtlCol="0" anchor="ctr"/>
          <a:lstStyle/>
          <a:p>
            <a:pPr marL="0" indent="0">
              <a:buNone/>
            </a:pPr>
            <a:r>
              <a:rPr lang="en-US" sz="2800" b="1" dirty="0">
                <a:solidFill>
                  <a:srgbClr val="23304A"/>
                </a:solidFill>
                <a:latin typeface="Arial" panose="020B0604020202020204" pitchFamily="34" charset="0"/>
                <a:ea typeface="Georgia" pitchFamily="34" charset="-122"/>
                <a:cs typeface="Arial" panose="020B0604020202020204" pitchFamily="34" charset="0"/>
              </a:rPr>
              <a:t>Semántica y señal direccional</a:t>
            </a:r>
            <a:endParaRPr lang="en-US" sz="2800" dirty="0">
              <a:latin typeface="Arial" panose="020B0604020202020204" pitchFamily="34" charset="0"/>
              <a:cs typeface="Arial" panose="020B0604020202020204" pitchFamily="34" charset="0"/>
            </a:endParaRPr>
          </a:p>
        </p:txBody>
      </p:sp>
      <p:sp>
        <p:nvSpPr>
          <p:cNvPr id="5" name="Text 3"/>
          <p:cNvSpPr/>
          <p:nvPr/>
        </p:nvSpPr>
        <p:spPr>
          <a:xfrm>
            <a:off x="640080" y="1463040"/>
            <a:ext cx="10881360" cy="329184"/>
          </a:xfrm>
          <a:prstGeom prst="rect">
            <a:avLst/>
          </a:prstGeom>
          <a:noFill/>
          <a:ln/>
        </p:spPr>
        <p:txBody>
          <a:bodyPr wrap="square" lIns="0" tIns="0" rIns="0" bIns="0" rtlCol="0" anchor="ctr"/>
          <a:lstStyle/>
          <a:p>
            <a:pPr marL="0" indent="0">
              <a:buNone/>
            </a:pPr>
            <a:r>
              <a:rPr lang="en-US" sz="1200" dirty="0">
                <a:solidFill>
                  <a:srgbClr val="667085"/>
                </a:solidFill>
                <a:latin typeface="Arial" panose="020B0604020202020204" pitchFamily="34" charset="0"/>
                <a:ea typeface="Calibri" pitchFamily="34" charset="-122"/>
                <a:cs typeface="Arial" panose="020B0604020202020204" pitchFamily="34" charset="0"/>
              </a:rPr>
              <a:t>Sentimiento real vs. generado y señal direccional vs. dirección real del activo.</a:t>
            </a:r>
            <a:endParaRPr lang="en-US" sz="1200" dirty="0">
              <a:latin typeface="Arial" panose="020B0604020202020204" pitchFamily="34" charset="0"/>
              <a:cs typeface="Arial" panose="020B0604020202020204" pitchFamily="34" charset="0"/>
            </a:endParaRPr>
          </a:p>
        </p:txBody>
      </p:sp>
      <p:sp>
        <p:nvSpPr>
          <p:cNvPr id="6" name="Shape 4"/>
          <p:cNvSpPr/>
          <p:nvPr/>
        </p:nvSpPr>
        <p:spPr>
          <a:xfrm>
            <a:off x="640080" y="1874520"/>
            <a:ext cx="3456432" cy="324612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latin typeface="Arial" panose="020B0604020202020204" pitchFamily="34" charset="0"/>
              <a:cs typeface="Arial" panose="020B0604020202020204" pitchFamily="34" charset="0"/>
            </a:endParaRPr>
          </a:p>
        </p:txBody>
      </p:sp>
      <p:sp>
        <p:nvSpPr>
          <p:cNvPr id="7" name="Text 5"/>
          <p:cNvSpPr/>
          <p:nvPr/>
        </p:nvSpPr>
        <p:spPr>
          <a:xfrm>
            <a:off x="804672" y="1993392"/>
            <a:ext cx="3127248" cy="320040"/>
          </a:xfrm>
          <a:prstGeom prst="rect">
            <a:avLst/>
          </a:prstGeom>
          <a:noFill/>
          <a:ln/>
        </p:spPr>
        <p:txBody>
          <a:bodyPr wrap="square" lIns="0" tIns="0" rIns="0" bIns="0" rtlCol="0" anchor="ctr"/>
          <a:lstStyle/>
          <a:p>
            <a:pPr marL="0" indent="0">
              <a:buNone/>
            </a:pPr>
            <a:r>
              <a:rPr lang="en-US" sz="1100" b="1" dirty="0">
                <a:solidFill>
                  <a:srgbClr val="23304A"/>
                </a:solidFill>
                <a:latin typeface="Arial" panose="020B0604020202020204" pitchFamily="34" charset="0"/>
                <a:ea typeface="Calibri" pitchFamily="34" charset="-122"/>
                <a:cs typeface="Arial" panose="020B0604020202020204" pitchFamily="34" charset="0"/>
              </a:rPr>
              <a:t>Semántica · GPT-2 no fine-tune</a:t>
            </a:r>
            <a:endParaRPr lang="en-US" sz="1100" dirty="0">
              <a:latin typeface="Arial" panose="020B0604020202020204" pitchFamily="34" charset="0"/>
              <a:cs typeface="Arial" panose="020B0604020202020204" pitchFamily="34" charset="0"/>
            </a:endParaRPr>
          </a:p>
        </p:txBody>
      </p:sp>
      <p:pic>
        <p:nvPicPr>
          <p:cNvPr id="8" name="Image 0" descr="semantic_baseline_gpt2_no_finetune.png"/>
          <p:cNvPicPr>
            <a:picLocks noChangeAspect="1"/>
          </p:cNvPicPr>
          <p:nvPr/>
        </p:nvPicPr>
        <p:blipFill>
          <a:blip r:embed="rId3"/>
          <a:stretch>
            <a:fillRect/>
          </a:stretch>
        </p:blipFill>
        <p:spPr>
          <a:xfrm>
            <a:off x="1049690" y="2350008"/>
            <a:ext cx="2637213" cy="2148840"/>
          </a:xfrm>
          <a:prstGeom prst="rect">
            <a:avLst/>
          </a:prstGeom>
        </p:spPr>
      </p:pic>
      <p:sp>
        <p:nvSpPr>
          <p:cNvPr id="9" name="Text 6"/>
          <p:cNvSpPr/>
          <p:nvPr/>
        </p:nvSpPr>
        <p:spPr>
          <a:xfrm>
            <a:off x="804672" y="4553712"/>
            <a:ext cx="3127248" cy="502920"/>
          </a:xfrm>
          <a:prstGeom prst="rect">
            <a:avLst/>
          </a:prstGeom>
          <a:noFill/>
          <a:ln/>
        </p:spPr>
        <p:txBody>
          <a:bodyPr wrap="square" lIns="0" tIns="0" rIns="0" bIns="0" rtlCol="0" anchor="ctr"/>
          <a:lstStyle/>
          <a:p>
            <a:pPr marL="0" indent="0">
              <a:lnSpc>
                <a:spcPct val="110000"/>
              </a:lnSpc>
              <a:buNone/>
            </a:pPr>
            <a:r>
              <a:rPr lang="en-US" sz="870" dirty="0">
                <a:solidFill>
                  <a:srgbClr val="667085"/>
                </a:solidFill>
                <a:latin typeface="Arial" panose="020B0604020202020204" pitchFamily="34" charset="0"/>
                <a:ea typeface="Calibri" pitchFamily="34" charset="-122"/>
                <a:cs typeface="Arial" panose="020B0604020202020204" pitchFamily="34" charset="0"/>
              </a:rPr>
              <a:t>Sentiment match = 0.273. Dispersión fuera de la diagonal.</a:t>
            </a:r>
            <a:endParaRPr lang="en-US" sz="870" dirty="0">
              <a:latin typeface="Arial" panose="020B0604020202020204" pitchFamily="34" charset="0"/>
              <a:cs typeface="Arial" panose="020B0604020202020204" pitchFamily="34" charset="0"/>
            </a:endParaRPr>
          </a:p>
        </p:txBody>
      </p:sp>
      <p:sp>
        <p:nvSpPr>
          <p:cNvPr id="10" name="Shape 7"/>
          <p:cNvSpPr/>
          <p:nvPr/>
        </p:nvSpPr>
        <p:spPr>
          <a:xfrm>
            <a:off x="4343400" y="1874520"/>
            <a:ext cx="3456432" cy="324612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latin typeface="Arial" panose="020B0604020202020204" pitchFamily="34" charset="0"/>
              <a:cs typeface="Arial" panose="020B0604020202020204" pitchFamily="34" charset="0"/>
            </a:endParaRPr>
          </a:p>
        </p:txBody>
      </p:sp>
      <p:sp>
        <p:nvSpPr>
          <p:cNvPr id="11" name="Text 8"/>
          <p:cNvSpPr/>
          <p:nvPr/>
        </p:nvSpPr>
        <p:spPr>
          <a:xfrm>
            <a:off x="4507992" y="1993392"/>
            <a:ext cx="3127248" cy="320040"/>
          </a:xfrm>
          <a:prstGeom prst="rect">
            <a:avLst/>
          </a:prstGeom>
          <a:noFill/>
          <a:ln/>
        </p:spPr>
        <p:txBody>
          <a:bodyPr wrap="square" lIns="0" tIns="0" rIns="0" bIns="0" rtlCol="0" anchor="ctr"/>
          <a:lstStyle/>
          <a:p>
            <a:pPr marL="0" indent="0">
              <a:buNone/>
            </a:pPr>
            <a:r>
              <a:rPr lang="en-US" sz="1100" b="1" dirty="0">
                <a:solidFill>
                  <a:srgbClr val="23304A"/>
                </a:solidFill>
                <a:latin typeface="Arial" panose="020B0604020202020204" pitchFamily="34" charset="0"/>
                <a:ea typeface="Calibri" pitchFamily="34" charset="-122"/>
                <a:cs typeface="Arial" panose="020B0604020202020204" pitchFamily="34" charset="0"/>
              </a:rPr>
              <a:t>Semántica · NVDA + AMD</a:t>
            </a:r>
            <a:endParaRPr lang="en-US" sz="1100" dirty="0">
              <a:latin typeface="Arial" panose="020B0604020202020204" pitchFamily="34" charset="0"/>
              <a:cs typeface="Arial" panose="020B0604020202020204" pitchFamily="34" charset="0"/>
            </a:endParaRPr>
          </a:p>
        </p:txBody>
      </p:sp>
      <p:pic>
        <p:nvPicPr>
          <p:cNvPr id="12" name="Image 1" descr="semantic_finetuned_nvda_amd.png"/>
          <p:cNvPicPr>
            <a:picLocks noChangeAspect="1"/>
          </p:cNvPicPr>
          <p:nvPr/>
        </p:nvPicPr>
        <p:blipFill>
          <a:blip r:embed="rId4"/>
          <a:stretch>
            <a:fillRect/>
          </a:stretch>
        </p:blipFill>
        <p:spPr>
          <a:xfrm>
            <a:off x="4753010" y="2350008"/>
            <a:ext cx="2637213" cy="2148840"/>
          </a:xfrm>
          <a:prstGeom prst="rect">
            <a:avLst/>
          </a:prstGeom>
        </p:spPr>
      </p:pic>
      <p:sp>
        <p:nvSpPr>
          <p:cNvPr id="13" name="Text 9"/>
          <p:cNvSpPr/>
          <p:nvPr/>
        </p:nvSpPr>
        <p:spPr>
          <a:xfrm>
            <a:off x="4507992" y="4553712"/>
            <a:ext cx="3127248" cy="502920"/>
          </a:xfrm>
          <a:prstGeom prst="rect">
            <a:avLst/>
          </a:prstGeom>
          <a:noFill/>
          <a:ln/>
        </p:spPr>
        <p:txBody>
          <a:bodyPr wrap="square" lIns="0" tIns="0" rIns="0" bIns="0" rtlCol="0" anchor="ctr"/>
          <a:lstStyle/>
          <a:p>
            <a:pPr marL="0" indent="0">
              <a:lnSpc>
                <a:spcPct val="110000"/>
              </a:lnSpc>
              <a:buNone/>
            </a:pPr>
            <a:r>
              <a:rPr lang="en-US" sz="870" dirty="0">
                <a:solidFill>
                  <a:srgbClr val="667085"/>
                </a:solidFill>
                <a:latin typeface="Arial" panose="020B0604020202020204" pitchFamily="34" charset="0"/>
                <a:ea typeface="Calibri" pitchFamily="34" charset="-122"/>
                <a:cs typeface="Arial" panose="020B0604020202020204" pitchFamily="34" charset="0"/>
              </a:rPr>
              <a:t>Sentiment match = 0.442. El fine-tuning mejora la alineación semántica.</a:t>
            </a:r>
            <a:endParaRPr lang="en-US" sz="870" dirty="0">
              <a:latin typeface="Arial" panose="020B0604020202020204" pitchFamily="34" charset="0"/>
              <a:cs typeface="Arial" panose="020B0604020202020204" pitchFamily="34" charset="0"/>
            </a:endParaRPr>
          </a:p>
        </p:txBody>
      </p:sp>
      <p:sp>
        <p:nvSpPr>
          <p:cNvPr id="14" name="Shape 10"/>
          <p:cNvSpPr/>
          <p:nvPr/>
        </p:nvSpPr>
        <p:spPr>
          <a:xfrm>
            <a:off x="8046720" y="491778"/>
            <a:ext cx="3456432" cy="4628862"/>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latin typeface="Arial" panose="020B0604020202020204" pitchFamily="34" charset="0"/>
              <a:cs typeface="Arial" panose="020B0604020202020204" pitchFamily="34" charset="0"/>
            </a:endParaRPr>
          </a:p>
        </p:txBody>
      </p:sp>
      <p:sp>
        <p:nvSpPr>
          <p:cNvPr id="15" name="Text 11"/>
          <p:cNvSpPr/>
          <p:nvPr/>
        </p:nvSpPr>
        <p:spPr>
          <a:xfrm>
            <a:off x="8137659" y="2878785"/>
            <a:ext cx="3127248" cy="320040"/>
          </a:xfrm>
          <a:prstGeom prst="rect">
            <a:avLst/>
          </a:prstGeom>
          <a:noFill/>
          <a:ln/>
        </p:spPr>
        <p:txBody>
          <a:bodyPr wrap="square" lIns="0" tIns="0" rIns="0" bIns="0" rtlCol="0" anchor="ctr"/>
          <a:lstStyle/>
          <a:p>
            <a:pPr marL="0" indent="0">
              <a:buNone/>
            </a:pPr>
            <a:r>
              <a:rPr lang="en-US" sz="1100" b="1" dirty="0">
                <a:solidFill>
                  <a:srgbClr val="23304A"/>
                </a:solidFill>
                <a:latin typeface="Arial" panose="020B0604020202020204" pitchFamily="34" charset="0"/>
                <a:ea typeface="Calibri" pitchFamily="34" charset="-122"/>
                <a:cs typeface="Arial" panose="020B0604020202020204" pitchFamily="34" charset="0"/>
              </a:rPr>
              <a:t>Financiera · NVDA + AMD</a:t>
            </a:r>
            <a:endParaRPr lang="en-US" sz="1100" dirty="0">
              <a:latin typeface="Arial" panose="020B0604020202020204" pitchFamily="34" charset="0"/>
              <a:cs typeface="Arial" panose="020B0604020202020204" pitchFamily="34" charset="0"/>
            </a:endParaRPr>
          </a:p>
        </p:txBody>
      </p:sp>
      <p:pic>
        <p:nvPicPr>
          <p:cNvPr id="16" name="Image 2" descr="financial_direction_features.png"/>
          <p:cNvPicPr>
            <a:picLocks noChangeAspect="1"/>
          </p:cNvPicPr>
          <p:nvPr/>
        </p:nvPicPr>
        <p:blipFill>
          <a:blip r:embed="rId5"/>
          <a:stretch>
            <a:fillRect/>
          </a:stretch>
        </p:blipFill>
        <p:spPr>
          <a:xfrm>
            <a:off x="8623675" y="3179729"/>
            <a:ext cx="1876903" cy="1876903"/>
          </a:xfrm>
          <a:prstGeom prst="rect">
            <a:avLst/>
          </a:prstGeom>
        </p:spPr>
      </p:pic>
      <p:sp>
        <p:nvSpPr>
          <p:cNvPr id="17" name="Text 12"/>
          <p:cNvSpPr/>
          <p:nvPr/>
        </p:nvSpPr>
        <p:spPr>
          <a:xfrm>
            <a:off x="10321693" y="4539107"/>
            <a:ext cx="3127248" cy="502920"/>
          </a:xfrm>
          <a:prstGeom prst="rect">
            <a:avLst/>
          </a:prstGeom>
          <a:noFill/>
          <a:ln/>
        </p:spPr>
        <p:txBody>
          <a:bodyPr wrap="square" lIns="0" tIns="0" rIns="0" bIns="0" rtlCol="0" anchor="ctr"/>
          <a:lstStyle/>
          <a:p>
            <a:pPr marL="0" indent="0">
              <a:lnSpc>
                <a:spcPct val="110000"/>
              </a:lnSpc>
              <a:buNone/>
            </a:pPr>
            <a:r>
              <a:rPr lang="en-US" sz="870" dirty="0">
                <a:solidFill>
                  <a:srgbClr val="667085"/>
                </a:solidFill>
                <a:latin typeface="Arial" panose="020B0604020202020204" pitchFamily="34" charset="0"/>
                <a:ea typeface="Calibri" pitchFamily="34" charset="-122"/>
                <a:cs typeface="Arial" panose="020B0604020202020204" pitchFamily="34" charset="0"/>
              </a:rPr>
              <a:t>Dir. acc. 0.530</a:t>
            </a:r>
            <a:endParaRPr lang="en-US" sz="870" dirty="0">
              <a:latin typeface="Arial" panose="020B0604020202020204" pitchFamily="34" charset="0"/>
              <a:cs typeface="Arial" panose="020B0604020202020204" pitchFamily="34" charset="0"/>
            </a:endParaRPr>
          </a:p>
        </p:txBody>
      </p:sp>
      <p:sp>
        <p:nvSpPr>
          <p:cNvPr id="18" name="Shape 13"/>
          <p:cNvSpPr/>
          <p:nvPr/>
        </p:nvSpPr>
        <p:spPr>
          <a:xfrm>
            <a:off x="640080" y="5285232"/>
            <a:ext cx="10908792" cy="713232"/>
          </a:xfrm>
          <a:prstGeom prst="rect">
            <a:avLst/>
          </a:prstGeom>
          <a:solidFill>
            <a:schemeClr val="tx1">
              <a:lumMod val="85000"/>
              <a:lumOff val="15000"/>
            </a:schemeClr>
          </a:solidFill>
          <a:ln w="12700">
            <a:solidFill>
              <a:srgbClr val="333333"/>
            </a:solidFill>
            <a:prstDash val="solid"/>
          </a:ln>
          <a:effectLst>
            <a:outerShdw blurRad="114300" dist="38100" dir="8100000" algn="bl" rotWithShape="0">
              <a:srgbClr val="1E2A4A">
                <a:alpha val="14000"/>
              </a:srgbClr>
            </a:outerShdw>
          </a:effectLst>
        </p:spPr>
        <p:txBody>
          <a:bodyPr/>
          <a:lstStyle/>
          <a:p>
            <a:endParaRPr lang="es-AR">
              <a:latin typeface="Arial" panose="020B0604020202020204" pitchFamily="34" charset="0"/>
              <a:cs typeface="Arial" panose="020B0604020202020204" pitchFamily="34" charset="0"/>
            </a:endParaRPr>
          </a:p>
        </p:txBody>
      </p:sp>
      <p:sp>
        <p:nvSpPr>
          <p:cNvPr id="20" name="Text 14"/>
          <p:cNvSpPr/>
          <p:nvPr/>
        </p:nvSpPr>
        <p:spPr>
          <a:xfrm>
            <a:off x="992378" y="5301742"/>
            <a:ext cx="10510774" cy="713232"/>
          </a:xfrm>
          <a:prstGeom prst="rect">
            <a:avLst/>
          </a:prstGeom>
          <a:noFill/>
          <a:ln/>
        </p:spPr>
        <p:txBody>
          <a:bodyPr wrap="square" lIns="0" tIns="0" rIns="0" bIns="0" rtlCol="0" anchor="ctr"/>
          <a:lstStyle/>
          <a:p>
            <a:pPr marL="0" indent="0">
              <a:lnSpc>
                <a:spcPct val="110000"/>
              </a:lnSpc>
              <a:buNone/>
            </a:pPr>
            <a:r>
              <a:rPr lang="en-US" sz="1100" b="1" dirty="0">
                <a:solidFill>
                  <a:srgbClr val="C8923B"/>
                </a:solidFill>
                <a:latin typeface="Arial" panose="020B0604020202020204" pitchFamily="34" charset="0"/>
                <a:ea typeface="Calibri" pitchFamily="34" charset="-122"/>
                <a:cs typeface="Arial" panose="020B0604020202020204" pitchFamily="34" charset="0"/>
              </a:rPr>
              <a:t>Lectura:  </a:t>
            </a:r>
            <a:r>
              <a:rPr lang="en-US" sz="1100" dirty="0">
                <a:solidFill>
                  <a:srgbClr val="DCE4F0"/>
                </a:solidFill>
                <a:latin typeface="Arial" panose="020B0604020202020204" pitchFamily="34" charset="0"/>
                <a:ea typeface="Calibri" pitchFamily="34" charset="-122"/>
                <a:cs typeface="Arial" panose="020B0604020202020204" pitchFamily="34" charset="0"/>
              </a:rPr>
              <a:t>el fine-tuning mejora la alineación semántica, pero el baseline neutral sigue siendo competitivo y la señal financiera no aporta evidencia estadística fuerte.</a:t>
            </a:r>
            <a:endParaRPr lang="en-US" sz="1100" dirty="0">
              <a:latin typeface="Arial" panose="020B0604020202020204" pitchFamily="34" charset="0"/>
              <a:cs typeface="Arial" panose="020B0604020202020204" pitchFamily="34" charset="0"/>
            </a:endParaRPr>
          </a:p>
        </p:txBody>
      </p:sp>
      <p:sp>
        <p:nvSpPr>
          <p:cNvPr id="2" name="Text 7">
            <a:extLst>
              <a:ext uri="{FF2B5EF4-FFF2-40B4-BE49-F238E27FC236}">
                <a16:creationId xmlns:a16="http://schemas.microsoft.com/office/drawing/2014/main" id="{AC0BBD17-578C-EE2E-1451-AFD91E4EB33E}"/>
              </a:ext>
            </a:extLst>
          </p:cNvPr>
          <p:cNvSpPr/>
          <p:nvPr/>
        </p:nvSpPr>
        <p:spPr>
          <a:xfrm>
            <a:off x="6977627" y="6031484"/>
            <a:ext cx="4573988" cy="795528"/>
          </a:xfrm>
          <a:prstGeom prst="rect">
            <a:avLst/>
          </a:prstGeom>
          <a:noFill/>
          <a:ln/>
        </p:spPr>
        <p:txBody>
          <a:bodyPr wrap="square" lIns="0" tIns="0" rIns="0" bIns="0" rtlCol="0" anchor="ctr"/>
          <a:lstStyle/>
          <a:p>
            <a:pPr marL="0" indent="0" algn="r">
              <a:buNone/>
            </a:pPr>
            <a:r>
              <a:rPr lang="en-US" sz="11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lgn="r">
              <a:buNone/>
            </a:pPr>
            <a:r>
              <a:rPr lang="en-US" sz="11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lgn="r">
              <a:buNone/>
            </a:pPr>
            <a:r>
              <a:rPr lang="en-US" sz="11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100" dirty="0">
              <a:solidFill>
                <a:schemeClr val="bg2">
                  <a:lumMod val="75000"/>
                </a:schemeClr>
              </a:solidFill>
              <a:latin typeface="Arial" panose="020B0604020202020204" pitchFamily="34" charset="0"/>
              <a:cs typeface="Arial" panose="020B0604020202020204" pitchFamily="34" charset="0"/>
            </a:endParaRPr>
          </a:p>
        </p:txBody>
      </p:sp>
      <p:pic>
        <p:nvPicPr>
          <p:cNvPr id="21" name="Imagen 20">
            <a:extLst>
              <a:ext uri="{FF2B5EF4-FFF2-40B4-BE49-F238E27FC236}">
                <a16:creationId xmlns:a16="http://schemas.microsoft.com/office/drawing/2014/main" id="{98BDD88B-3705-5127-47BA-2D77E7B75F29}"/>
              </a:ext>
            </a:extLst>
          </p:cNvPr>
          <p:cNvPicPr>
            <a:picLocks noChangeAspect="1"/>
          </p:cNvPicPr>
          <p:nvPr/>
        </p:nvPicPr>
        <p:blipFill>
          <a:blip r:embed="rId6"/>
          <a:stretch>
            <a:fillRect/>
          </a:stretch>
        </p:blipFill>
        <p:spPr>
          <a:xfrm>
            <a:off x="8607365" y="837463"/>
            <a:ext cx="1909521" cy="1909521"/>
          </a:xfrm>
          <a:prstGeom prst="rect">
            <a:avLst/>
          </a:prstGeom>
        </p:spPr>
      </p:pic>
      <p:sp>
        <p:nvSpPr>
          <p:cNvPr id="22" name="Text 11">
            <a:extLst>
              <a:ext uri="{FF2B5EF4-FFF2-40B4-BE49-F238E27FC236}">
                <a16:creationId xmlns:a16="http://schemas.microsoft.com/office/drawing/2014/main" id="{C95F6D3C-AE15-95C0-EA9E-35918EE14AB3}"/>
              </a:ext>
            </a:extLst>
          </p:cNvPr>
          <p:cNvSpPr/>
          <p:nvPr/>
        </p:nvSpPr>
        <p:spPr>
          <a:xfrm>
            <a:off x="8211312" y="552425"/>
            <a:ext cx="3127248" cy="320040"/>
          </a:xfrm>
          <a:prstGeom prst="rect">
            <a:avLst/>
          </a:prstGeom>
          <a:noFill/>
          <a:ln/>
        </p:spPr>
        <p:txBody>
          <a:bodyPr wrap="square" lIns="0" tIns="0" rIns="0" bIns="0" rtlCol="0" anchor="ctr"/>
          <a:lstStyle/>
          <a:p>
            <a:pPr marL="0" indent="0">
              <a:buNone/>
            </a:pPr>
            <a:r>
              <a:rPr lang="en-US" sz="1100" b="1" dirty="0">
                <a:solidFill>
                  <a:srgbClr val="23304A"/>
                </a:solidFill>
                <a:latin typeface="Arial" panose="020B0604020202020204" pitchFamily="34" charset="0"/>
                <a:ea typeface="Calibri" pitchFamily="34" charset="-122"/>
                <a:cs typeface="Arial" panose="020B0604020202020204" pitchFamily="34" charset="0"/>
              </a:rPr>
              <a:t>Financiera · · GPT-2 no fine-tune</a:t>
            </a:r>
            <a:endParaRPr lang="en-US" sz="1100" dirty="0">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243840"/>
            <a:ext cx="10972800" cy="548640"/>
          </a:xfrm>
          <a:prstGeom prst="rect">
            <a:avLst/>
          </a:prstGeom>
          <a:noFill/>
          <a:ln/>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Ejemplos cualitativos: qué cambia con fine-tuning</a:t>
            </a:r>
            <a:endParaRPr lang="en-US" sz="2933" dirty="0"/>
          </a:p>
        </p:txBody>
      </p:sp>
      <p:sp>
        <p:nvSpPr>
          <p:cNvPr id="4" name="Shape 2"/>
          <p:cNvSpPr/>
          <p:nvPr/>
        </p:nvSpPr>
        <p:spPr>
          <a:xfrm>
            <a:off x="487680" y="1341120"/>
            <a:ext cx="5364480" cy="4267200"/>
          </a:xfrm>
          <a:prstGeom prst="rect">
            <a:avLst/>
          </a:prstGeom>
          <a:solidFill>
            <a:schemeClr val="tx1">
              <a:lumMod val="95000"/>
              <a:lumOff val="5000"/>
            </a:schemeClr>
          </a:solidFill>
          <a:ln/>
          <a:effectLst>
            <a:outerShdw blurRad="101600" dist="25400" dir="8100000" algn="bl" rotWithShape="0">
              <a:srgbClr val="000000">
                <a:alpha val="30000"/>
              </a:srgbClr>
            </a:outerShdw>
          </a:effectLst>
        </p:spPr>
        <p:txBody>
          <a:bodyPr/>
          <a:lstStyle/>
          <a:p>
            <a:endParaRPr lang="es-AR" sz="2400"/>
          </a:p>
        </p:txBody>
      </p:sp>
      <p:sp>
        <p:nvSpPr>
          <p:cNvPr id="5" name="Shape 3"/>
          <p:cNvSpPr/>
          <p:nvPr/>
        </p:nvSpPr>
        <p:spPr>
          <a:xfrm>
            <a:off x="487680" y="1341120"/>
            <a:ext cx="5364480" cy="48768"/>
          </a:xfrm>
          <a:prstGeom prst="rect">
            <a:avLst/>
          </a:prstGeom>
          <a:solidFill>
            <a:srgbClr val="00B4D8"/>
          </a:solidFill>
          <a:ln/>
        </p:spPr>
        <p:txBody>
          <a:bodyPr/>
          <a:lstStyle/>
          <a:p>
            <a:endParaRPr lang="es-AR" sz="2400"/>
          </a:p>
        </p:txBody>
      </p:sp>
      <p:sp>
        <p:nvSpPr>
          <p:cNvPr id="16" name="Shape 14"/>
          <p:cNvSpPr/>
          <p:nvPr/>
        </p:nvSpPr>
        <p:spPr>
          <a:xfrm>
            <a:off x="6339840" y="1341120"/>
            <a:ext cx="5364480" cy="4267200"/>
          </a:xfrm>
          <a:prstGeom prst="rect">
            <a:avLst/>
          </a:prstGeom>
          <a:solidFill>
            <a:schemeClr val="tx1">
              <a:lumMod val="95000"/>
              <a:lumOff val="5000"/>
            </a:schemeClr>
          </a:solidFill>
          <a:ln/>
          <a:effectLst>
            <a:outerShdw blurRad="101600" dist="25400" dir="8100000" algn="bl" rotWithShape="0">
              <a:srgbClr val="000000">
                <a:alpha val="30000"/>
              </a:srgbClr>
            </a:outerShdw>
          </a:effectLst>
        </p:spPr>
        <p:txBody>
          <a:bodyPr/>
          <a:lstStyle/>
          <a:p>
            <a:endParaRPr lang="es-AR" sz="2400"/>
          </a:p>
        </p:txBody>
      </p:sp>
      <p:sp>
        <p:nvSpPr>
          <p:cNvPr id="17" name="Shape 15"/>
          <p:cNvSpPr/>
          <p:nvPr/>
        </p:nvSpPr>
        <p:spPr>
          <a:xfrm>
            <a:off x="6339840" y="1341120"/>
            <a:ext cx="5364480" cy="48768"/>
          </a:xfrm>
          <a:prstGeom prst="rect">
            <a:avLst/>
          </a:prstGeom>
          <a:solidFill>
            <a:srgbClr val="E94560"/>
          </a:solidFill>
          <a:ln/>
        </p:spPr>
        <p:txBody>
          <a:bodyPr/>
          <a:lstStyle/>
          <a:p>
            <a:endParaRPr lang="es-AR" sz="2400"/>
          </a:p>
        </p:txBody>
      </p:sp>
      <p:sp>
        <p:nvSpPr>
          <p:cNvPr id="29" name="Shape 27"/>
          <p:cNvSpPr/>
          <p:nvPr/>
        </p:nvSpPr>
        <p:spPr>
          <a:xfrm>
            <a:off x="487680" y="5852160"/>
            <a:ext cx="8126122" cy="670560"/>
          </a:xfrm>
          <a:prstGeom prst="rect">
            <a:avLst/>
          </a:prstGeom>
          <a:solidFill>
            <a:schemeClr val="tx1">
              <a:lumMod val="85000"/>
              <a:lumOff val="15000"/>
            </a:schemeClr>
          </a:solidFill>
          <a:ln/>
          <a:effectLst>
            <a:outerShdw blurRad="50800" dist="12700" dir="8100000" algn="bl" rotWithShape="0">
              <a:srgbClr val="000000">
                <a:alpha val="20000"/>
              </a:srgbClr>
            </a:outerShdw>
          </a:effectLst>
        </p:spPr>
        <p:txBody>
          <a:bodyPr/>
          <a:lstStyle/>
          <a:p>
            <a:endParaRPr lang="es-AR" sz="2400"/>
          </a:p>
        </p:txBody>
      </p:sp>
      <p:sp>
        <p:nvSpPr>
          <p:cNvPr id="30" name="Text 28"/>
          <p:cNvSpPr/>
          <p:nvPr/>
        </p:nvSpPr>
        <p:spPr>
          <a:xfrm>
            <a:off x="731520" y="5913120"/>
            <a:ext cx="7772812" cy="548640"/>
          </a:xfrm>
          <a:prstGeom prst="rect">
            <a:avLst/>
          </a:prstGeom>
          <a:noFill/>
          <a:ln/>
        </p:spPr>
        <p:txBody>
          <a:bodyPr wrap="square" lIns="0" tIns="0" rIns="0" bIns="0" rtlCol="0" anchor="ctr"/>
          <a:lstStyle/>
          <a:p>
            <a:r>
              <a:rPr lang="en-US" sz="1333" dirty="0">
                <a:solidFill>
                  <a:srgbClr val="E0E0F0"/>
                </a:solidFill>
                <a:latin typeface="Calibri" pitchFamily="34" charset="0"/>
                <a:ea typeface="Calibri" pitchFamily="34" charset="-122"/>
                <a:cs typeface="Calibri" pitchFamily="34" charset="-120"/>
              </a:rPr>
              <a:t>La inspección cualitativa confirma la lectura de métricas: fine-tuning mejora lenguaje financiero, pero una señal direccional correcta no implica una buena narrativa.</a:t>
            </a:r>
            <a:endParaRPr lang="en-US" sz="1333" dirty="0"/>
          </a:p>
        </p:txBody>
      </p:sp>
      <p:sp>
        <p:nvSpPr>
          <p:cNvPr id="31" name="Text 1">
            <a:extLst>
              <a:ext uri="{FF2B5EF4-FFF2-40B4-BE49-F238E27FC236}">
                <a16:creationId xmlns:a16="http://schemas.microsoft.com/office/drawing/2014/main" id="{F2754BDD-2019-BBD5-EF0E-06B8B6B82F66}"/>
              </a:ext>
            </a:extLst>
          </p:cNvPr>
          <p:cNvSpPr/>
          <p:nvPr/>
        </p:nvSpPr>
        <p:spPr>
          <a:xfrm>
            <a:off x="487680" y="304546"/>
            <a:ext cx="10332720" cy="749808"/>
          </a:xfrm>
          <a:prstGeom prst="rect">
            <a:avLst/>
          </a:prstGeom>
          <a:noFill/>
          <a:ln/>
        </p:spPr>
        <p:txBody>
          <a:bodyPr wrap="square" lIns="0" tIns="0" rIns="0" bIns="0" rtlCol="0" anchor="ctr"/>
          <a:lstStyle/>
          <a:p>
            <a:pPr marL="0" indent="0">
              <a:buNone/>
            </a:pPr>
            <a:r>
              <a:rPr lang="en-US" sz="2800" b="1" dirty="0">
                <a:solidFill>
                  <a:srgbClr val="23304A"/>
                </a:solidFill>
                <a:latin typeface="Arial" panose="020B0604020202020204" pitchFamily="34" charset="0"/>
                <a:ea typeface="Georgia" pitchFamily="34" charset="-122"/>
                <a:cs typeface="Arial" panose="020B0604020202020204" pitchFamily="34" charset="0"/>
              </a:rPr>
              <a:t>Ejemplos cualitativos</a:t>
            </a:r>
            <a:endParaRPr lang="en-US" sz="2800" dirty="0">
              <a:latin typeface="Arial" panose="020B0604020202020204" pitchFamily="34" charset="0"/>
              <a:cs typeface="Arial" panose="020B0604020202020204" pitchFamily="34" charset="0"/>
            </a:endParaRPr>
          </a:p>
        </p:txBody>
      </p:sp>
      <p:sp>
        <p:nvSpPr>
          <p:cNvPr id="3"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Arial" panose="020B0604020202020204" pitchFamily="34" charset="0"/>
                <a:ea typeface="Georgia" pitchFamily="34" charset="-122"/>
                <a:cs typeface="Arial" panose="020B0604020202020204" pitchFamily="34" charset="0"/>
              </a:rPr>
              <a:t>11</a:t>
            </a:r>
            <a:endParaRPr lang="en-US" sz="1500" dirty="0">
              <a:latin typeface="Arial" panose="020B0604020202020204" pitchFamily="34" charset="0"/>
              <a:cs typeface="Arial" panose="020B0604020202020204" pitchFamily="34" charset="0"/>
            </a:endParaRPr>
          </a:p>
        </p:txBody>
      </p:sp>
      <p:sp>
        <p:nvSpPr>
          <p:cNvPr id="32" name="Text 4">
            <a:extLst>
              <a:ext uri="{FF2B5EF4-FFF2-40B4-BE49-F238E27FC236}">
                <a16:creationId xmlns:a16="http://schemas.microsoft.com/office/drawing/2014/main" id="{4F7B8594-B680-8469-B345-B0B2C1FD9D8C}"/>
              </a:ext>
            </a:extLst>
          </p:cNvPr>
          <p:cNvSpPr/>
          <p:nvPr/>
        </p:nvSpPr>
        <p:spPr>
          <a:xfrm>
            <a:off x="670560" y="1524000"/>
            <a:ext cx="4998720" cy="341376"/>
          </a:xfrm>
          <a:prstGeom prst="rect">
            <a:avLst/>
          </a:prstGeom>
          <a:noFill/>
          <a:ln/>
        </p:spPr>
        <p:txBody>
          <a:bodyPr wrap="square" lIns="0" tIns="0" rIns="0" bIns="0" rtlCol="0" anchor="ctr"/>
          <a:lstStyle/>
          <a:p>
            <a:r>
              <a:rPr lang="en-US" sz="1733" b="1" dirty="0">
                <a:solidFill>
                  <a:srgbClr val="00B4D8"/>
                </a:solidFill>
                <a:latin typeface="Calibri" pitchFamily="34" charset="0"/>
                <a:ea typeface="Calibri" pitchFamily="34" charset="-122"/>
                <a:cs typeface="Calibri" pitchFamily="34" charset="-120"/>
              </a:rPr>
              <a:t>Caso A · mejora semántica</a:t>
            </a:r>
            <a:endParaRPr lang="en-US" sz="1733" dirty="0"/>
          </a:p>
        </p:txBody>
      </p:sp>
      <p:sp>
        <p:nvSpPr>
          <p:cNvPr id="33" name="Text 5">
            <a:extLst>
              <a:ext uri="{FF2B5EF4-FFF2-40B4-BE49-F238E27FC236}">
                <a16:creationId xmlns:a16="http://schemas.microsoft.com/office/drawing/2014/main" id="{D29ED985-D71C-BEDB-D426-FAB48D6D4DA8}"/>
              </a:ext>
            </a:extLst>
          </p:cNvPr>
          <p:cNvSpPr/>
          <p:nvPr/>
        </p:nvSpPr>
        <p:spPr>
          <a:xfrm>
            <a:off x="670560" y="1889760"/>
            <a:ext cx="4998720" cy="268224"/>
          </a:xfrm>
          <a:prstGeom prst="rect">
            <a:avLst/>
          </a:prstGeom>
          <a:noFill/>
          <a:ln/>
        </p:spPr>
        <p:txBody>
          <a:bodyPr wrap="square" lIns="0" tIns="0" rIns="0" bIns="0" rtlCol="0" anchor="ctr"/>
          <a:lstStyle/>
          <a:p>
            <a:r>
              <a:rPr lang="en-US" sz="1333" dirty="0">
                <a:solidFill>
                  <a:srgbClr val="A0A0B8"/>
                </a:solidFill>
                <a:latin typeface="Consolas" pitchFamily="34" charset="0"/>
                <a:ea typeface="Consolas" pitchFamily="34" charset="-122"/>
                <a:cs typeface="Consolas" pitchFamily="34" charset="-120"/>
              </a:rPr>
              <a:t>AMD · target 2023-06-21</a:t>
            </a:r>
            <a:endParaRPr lang="en-US" sz="1333" dirty="0"/>
          </a:p>
        </p:txBody>
      </p:sp>
      <p:sp>
        <p:nvSpPr>
          <p:cNvPr id="34" name="Text 6">
            <a:extLst>
              <a:ext uri="{FF2B5EF4-FFF2-40B4-BE49-F238E27FC236}">
                <a16:creationId xmlns:a16="http://schemas.microsoft.com/office/drawing/2014/main" id="{FEF32F99-48E0-D682-7D80-821DA307E2F6}"/>
              </a:ext>
            </a:extLst>
          </p:cNvPr>
          <p:cNvSpPr/>
          <p:nvPr/>
        </p:nvSpPr>
        <p:spPr>
          <a:xfrm>
            <a:off x="670560" y="2194560"/>
            <a:ext cx="4998720" cy="658368"/>
          </a:xfrm>
          <a:prstGeom prst="rect">
            <a:avLst/>
          </a:prstGeom>
          <a:noFill/>
          <a:ln/>
        </p:spPr>
        <p:txBody>
          <a:bodyPr wrap="square" lIns="0" tIns="0" rIns="0" bIns="0" rtlCol="0" anchor="ctr"/>
          <a:lstStyle/>
          <a:p>
            <a:r>
              <a:rPr lang="en-US" sz="1333" dirty="0">
                <a:solidFill>
                  <a:srgbClr val="A0A0B8"/>
                </a:solidFill>
              </a:rPr>
              <a:t>ROUGE-L: </a:t>
            </a:r>
            <a:r>
              <a:rPr lang="en-US" sz="1333" b="1" dirty="0">
                <a:solidFill>
                  <a:srgbClr val="48BB78"/>
                </a:solidFill>
              </a:rPr>
              <a:t>0.031 → 0.179</a:t>
            </a:r>
            <a:r>
              <a:rPr lang="en-US" sz="1333" dirty="0">
                <a:solidFill>
                  <a:srgbClr val="A0A0B8"/>
                </a:solidFill>
              </a:rPr>
              <a:t>    </a:t>
            </a:r>
          </a:p>
          <a:p>
            <a:r>
              <a:rPr lang="en-US" sz="1333" dirty="0" err="1">
                <a:solidFill>
                  <a:srgbClr val="A0A0B8"/>
                </a:solidFill>
              </a:rPr>
              <a:t>BERTScore</a:t>
            </a:r>
            <a:r>
              <a:rPr lang="en-US" sz="1333" dirty="0">
                <a:solidFill>
                  <a:srgbClr val="A0A0B8"/>
                </a:solidFill>
              </a:rPr>
              <a:t>: </a:t>
            </a:r>
            <a:r>
              <a:rPr lang="en-US" sz="1333" b="1" dirty="0">
                <a:solidFill>
                  <a:srgbClr val="48BB78"/>
                </a:solidFill>
              </a:rPr>
              <a:t>0.727 → 0.764</a:t>
            </a:r>
            <a:endParaRPr lang="en-US" sz="1333" dirty="0">
              <a:solidFill>
                <a:srgbClr val="A0A0B8"/>
              </a:solidFill>
            </a:endParaRPr>
          </a:p>
          <a:p>
            <a:r>
              <a:rPr lang="en-US" sz="1333" dirty="0" err="1">
                <a:solidFill>
                  <a:srgbClr val="A0A0B8"/>
                </a:solidFill>
              </a:rPr>
              <a:t>Sentimiento</a:t>
            </a:r>
            <a:r>
              <a:rPr lang="en-US" sz="1333" dirty="0">
                <a:solidFill>
                  <a:srgbClr val="A0A0B8"/>
                </a:solidFill>
              </a:rPr>
              <a:t>: </a:t>
            </a:r>
            <a:r>
              <a:rPr lang="en-US" sz="1333" b="1" dirty="0">
                <a:solidFill>
                  <a:srgbClr val="48BB78"/>
                </a:solidFill>
              </a:rPr>
              <a:t>base falla · fine-tuned </a:t>
            </a:r>
            <a:r>
              <a:rPr lang="en-US" sz="1333" b="1" dirty="0" err="1">
                <a:solidFill>
                  <a:srgbClr val="48BB78"/>
                </a:solidFill>
              </a:rPr>
              <a:t>acierta</a:t>
            </a:r>
            <a:endParaRPr lang="en-US" sz="1333" b="1" dirty="0">
              <a:solidFill>
                <a:srgbClr val="48BB78"/>
              </a:solidFill>
            </a:endParaRPr>
          </a:p>
        </p:txBody>
      </p:sp>
      <p:sp>
        <p:nvSpPr>
          <p:cNvPr id="35" name="Text 7">
            <a:extLst>
              <a:ext uri="{FF2B5EF4-FFF2-40B4-BE49-F238E27FC236}">
                <a16:creationId xmlns:a16="http://schemas.microsoft.com/office/drawing/2014/main" id="{1713E833-A88C-488F-AEC5-12D57A83880C}"/>
              </a:ext>
            </a:extLst>
          </p:cNvPr>
          <p:cNvSpPr/>
          <p:nvPr/>
        </p:nvSpPr>
        <p:spPr>
          <a:xfrm>
            <a:off x="670560" y="2889504"/>
            <a:ext cx="4998720" cy="219456"/>
          </a:xfrm>
          <a:prstGeom prst="rect">
            <a:avLst/>
          </a:prstGeom>
          <a:noFill/>
          <a:ln/>
        </p:spPr>
        <p:txBody>
          <a:bodyPr wrap="square" lIns="0" tIns="0" rIns="0" bIns="0" rtlCol="0" anchor="ctr"/>
          <a:lstStyle/>
          <a:p>
            <a:r>
              <a:rPr lang="en-US" sz="1200" b="1" dirty="0">
                <a:solidFill>
                  <a:srgbClr val="E0E0F0"/>
                </a:solidFill>
                <a:latin typeface="Calibri" pitchFamily="34" charset="0"/>
                <a:ea typeface="Calibri" pitchFamily="34" charset="-122"/>
                <a:cs typeface="Calibri" pitchFamily="34" charset="-120"/>
              </a:rPr>
              <a:t>Noticia real:</a:t>
            </a:r>
            <a:endParaRPr lang="en-US" sz="1200" dirty="0"/>
          </a:p>
        </p:txBody>
      </p:sp>
      <p:sp>
        <p:nvSpPr>
          <p:cNvPr id="36" name="Text 8">
            <a:extLst>
              <a:ext uri="{FF2B5EF4-FFF2-40B4-BE49-F238E27FC236}">
                <a16:creationId xmlns:a16="http://schemas.microsoft.com/office/drawing/2014/main" id="{19A95392-40FF-0D63-2A93-1395F6A340AD}"/>
              </a:ext>
            </a:extLst>
          </p:cNvPr>
          <p:cNvSpPr/>
          <p:nvPr/>
        </p:nvSpPr>
        <p:spPr>
          <a:xfrm>
            <a:off x="670560" y="3108960"/>
            <a:ext cx="4998720" cy="426720"/>
          </a:xfrm>
          <a:prstGeom prst="rect">
            <a:avLst/>
          </a:prstGeom>
          <a:noFill/>
          <a:ln/>
        </p:spPr>
        <p:txBody>
          <a:bodyPr wrap="square" lIns="0" tIns="0" rIns="0" bIns="0" rtlCol="0" anchor="ctr"/>
          <a:lstStyle/>
          <a:p>
            <a:r>
              <a:rPr lang="en-US" sz="1133" i="1" dirty="0">
                <a:solidFill>
                  <a:srgbClr val="A0A0B8"/>
                </a:solidFill>
                <a:latin typeface="Consolas" pitchFamily="34" charset="0"/>
                <a:ea typeface="Consolas" pitchFamily="34" charset="-122"/>
                <a:cs typeface="Consolas" pitchFamily="34" charset="-120"/>
              </a:rPr>
              <a:t>Noteworthy Wednesday Option Activity: SBGI, AMD, HUM</a:t>
            </a:r>
            <a:endParaRPr lang="en-US" sz="1133" dirty="0"/>
          </a:p>
          <a:p>
            <a:r>
              <a:rPr lang="en-US" sz="1133" i="1" dirty="0">
                <a:solidFill>
                  <a:srgbClr val="A0A0B8"/>
                </a:solidFill>
                <a:latin typeface="Consolas" pitchFamily="34" charset="0"/>
                <a:ea typeface="Consolas" pitchFamily="34" charset="-122"/>
                <a:cs typeface="Consolas" pitchFamily="34" charset="-120"/>
              </a:rPr>
              <a:t>Unusual Options Activity and Flow in AMD</a:t>
            </a:r>
            <a:endParaRPr lang="en-US" sz="1133" dirty="0"/>
          </a:p>
        </p:txBody>
      </p:sp>
      <p:sp>
        <p:nvSpPr>
          <p:cNvPr id="37" name="Text 9">
            <a:extLst>
              <a:ext uri="{FF2B5EF4-FFF2-40B4-BE49-F238E27FC236}">
                <a16:creationId xmlns:a16="http://schemas.microsoft.com/office/drawing/2014/main" id="{9713A06F-36EA-6416-D968-6A4573573A40}"/>
              </a:ext>
            </a:extLst>
          </p:cNvPr>
          <p:cNvSpPr/>
          <p:nvPr/>
        </p:nvSpPr>
        <p:spPr>
          <a:xfrm>
            <a:off x="670560" y="3572256"/>
            <a:ext cx="4998720" cy="219456"/>
          </a:xfrm>
          <a:prstGeom prst="rect">
            <a:avLst/>
          </a:prstGeom>
          <a:noFill/>
          <a:ln/>
        </p:spPr>
        <p:txBody>
          <a:bodyPr wrap="square" lIns="0" tIns="0" rIns="0" bIns="0" rtlCol="0" anchor="ctr"/>
          <a:lstStyle/>
          <a:p>
            <a:r>
              <a:rPr lang="en-US" sz="1200" b="1" dirty="0">
                <a:solidFill>
                  <a:srgbClr val="E94560"/>
                </a:solidFill>
                <a:latin typeface="Calibri" pitchFamily="34" charset="0"/>
                <a:ea typeface="Calibri" pitchFamily="34" charset="-122"/>
                <a:cs typeface="Calibri" pitchFamily="34" charset="-120"/>
              </a:rPr>
              <a:t>GPT-2 base:</a:t>
            </a:r>
            <a:endParaRPr lang="en-US" sz="1200" dirty="0"/>
          </a:p>
        </p:txBody>
      </p:sp>
      <p:sp>
        <p:nvSpPr>
          <p:cNvPr id="38" name="Text 10">
            <a:extLst>
              <a:ext uri="{FF2B5EF4-FFF2-40B4-BE49-F238E27FC236}">
                <a16:creationId xmlns:a16="http://schemas.microsoft.com/office/drawing/2014/main" id="{1A8EC0D8-ADE9-4396-03C2-B1D8CC165A8C}"/>
              </a:ext>
            </a:extLst>
          </p:cNvPr>
          <p:cNvSpPr/>
          <p:nvPr/>
        </p:nvSpPr>
        <p:spPr>
          <a:xfrm>
            <a:off x="670560" y="3791712"/>
            <a:ext cx="4998720" cy="426720"/>
          </a:xfrm>
          <a:prstGeom prst="rect">
            <a:avLst/>
          </a:prstGeom>
          <a:solidFill>
            <a:schemeClr val="tx1">
              <a:lumMod val="85000"/>
              <a:lumOff val="15000"/>
            </a:schemeClr>
          </a:solidFill>
          <a:ln/>
        </p:spPr>
        <p:txBody>
          <a:bodyPr wrap="square" lIns="0" tIns="0" rIns="0" bIns="0" rtlCol="0" anchor="ctr"/>
          <a:lstStyle/>
          <a:p>
            <a:r>
              <a:rPr lang="en-US" sz="1133" dirty="0">
                <a:solidFill>
                  <a:srgbClr val="E94560"/>
                </a:solidFill>
                <a:latin typeface="Consolas" pitchFamily="34" charset="0"/>
                <a:ea typeface="Consolas" pitchFamily="34" charset="-122"/>
                <a:cs typeface="Consolas" pitchFamily="34" charset="-120"/>
              </a:rPr>
              <a:t>"AMD has been in talks with Intel about their next generation of CPUs and GPUs..."</a:t>
            </a:r>
            <a:endParaRPr lang="en-US" sz="1133" dirty="0"/>
          </a:p>
        </p:txBody>
      </p:sp>
      <p:sp>
        <p:nvSpPr>
          <p:cNvPr id="39" name="Text 11">
            <a:extLst>
              <a:ext uri="{FF2B5EF4-FFF2-40B4-BE49-F238E27FC236}">
                <a16:creationId xmlns:a16="http://schemas.microsoft.com/office/drawing/2014/main" id="{EF74C563-D5C7-AD46-D3A1-102386D31963}"/>
              </a:ext>
            </a:extLst>
          </p:cNvPr>
          <p:cNvSpPr/>
          <p:nvPr/>
        </p:nvSpPr>
        <p:spPr>
          <a:xfrm>
            <a:off x="670560" y="4255008"/>
            <a:ext cx="4998720" cy="219456"/>
          </a:xfrm>
          <a:prstGeom prst="rect">
            <a:avLst/>
          </a:prstGeom>
          <a:noFill/>
          <a:ln/>
        </p:spPr>
        <p:txBody>
          <a:bodyPr wrap="square" lIns="0" tIns="0" rIns="0" bIns="0" rtlCol="0" anchor="ctr"/>
          <a:lstStyle/>
          <a:p>
            <a:r>
              <a:rPr lang="en-US" sz="1200" b="1" dirty="0">
                <a:solidFill>
                  <a:srgbClr val="00B4D8"/>
                </a:solidFill>
                <a:latin typeface="Calibri" pitchFamily="34" charset="0"/>
                <a:ea typeface="Calibri" pitchFamily="34" charset="-122"/>
                <a:cs typeface="Calibri" pitchFamily="34" charset="-120"/>
              </a:rPr>
              <a:t>Fine-tuned (NVDA+AMD):</a:t>
            </a:r>
            <a:endParaRPr lang="en-US" sz="1200" dirty="0"/>
          </a:p>
        </p:txBody>
      </p:sp>
      <p:sp>
        <p:nvSpPr>
          <p:cNvPr id="40" name="Text 12">
            <a:extLst>
              <a:ext uri="{FF2B5EF4-FFF2-40B4-BE49-F238E27FC236}">
                <a16:creationId xmlns:a16="http://schemas.microsoft.com/office/drawing/2014/main" id="{48F52457-4A8E-5ED7-7B67-87193B8F31E1}"/>
              </a:ext>
            </a:extLst>
          </p:cNvPr>
          <p:cNvSpPr/>
          <p:nvPr/>
        </p:nvSpPr>
        <p:spPr>
          <a:xfrm>
            <a:off x="670560" y="4474464"/>
            <a:ext cx="4998720" cy="426720"/>
          </a:xfrm>
          <a:prstGeom prst="rect">
            <a:avLst/>
          </a:prstGeom>
          <a:solidFill>
            <a:schemeClr val="tx1">
              <a:lumMod val="85000"/>
              <a:lumOff val="15000"/>
            </a:schemeClr>
          </a:solidFill>
          <a:ln/>
        </p:spPr>
        <p:txBody>
          <a:bodyPr wrap="square" lIns="0" tIns="0" rIns="0" bIns="0" rtlCol="0" anchor="ctr"/>
          <a:lstStyle/>
          <a:p>
            <a:r>
              <a:rPr lang="en-US" sz="1133" dirty="0">
                <a:solidFill>
                  <a:srgbClr val="00B4D8"/>
                </a:solidFill>
                <a:latin typeface="Consolas" pitchFamily="34" charset="0"/>
                <a:ea typeface="Consolas" pitchFamily="34" charset="-122"/>
                <a:cs typeface="Consolas" pitchFamily="34" charset="-120"/>
              </a:rPr>
              <a:t>"...Intel and Advanced Micro Devices (AMD) in Q1 Earnings Conference Call Transcripts..."</a:t>
            </a:r>
            <a:endParaRPr lang="en-US" sz="1133" dirty="0"/>
          </a:p>
        </p:txBody>
      </p:sp>
      <p:sp>
        <p:nvSpPr>
          <p:cNvPr id="41" name="Text 13">
            <a:extLst>
              <a:ext uri="{FF2B5EF4-FFF2-40B4-BE49-F238E27FC236}">
                <a16:creationId xmlns:a16="http://schemas.microsoft.com/office/drawing/2014/main" id="{4F0D75F3-A59E-2592-B672-FEC71F7796EB}"/>
              </a:ext>
            </a:extLst>
          </p:cNvPr>
          <p:cNvSpPr/>
          <p:nvPr/>
        </p:nvSpPr>
        <p:spPr>
          <a:xfrm>
            <a:off x="670560" y="5053584"/>
            <a:ext cx="4998720" cy="365760"/>
          </a:xfrm>
          <a:prstGeom prst="rect">
            <a:avLst/>
          </a:prstGeom>
          <a:noFill/>
          <a:ln/>
        </p:spPr>
        <p:txBody>
          <a:bodyPr wrap="square" lIns="0" tIns="0" rIns="0" bIns="0" rtlCol="0" anchor="ctr"/>
          <a:lstStyle/>
          <a:p>
            <a:r>
              <a:rPr lang="en-US" sz="1133" i="1" dirty="0">
                <a:solidFill>
                  <a:srgbClr val="E0E0F0"/>
                </a:solidFill>
                <a:latin typeface="Calibri" pitchFamily="34" charset="0"/>
                <a:ea typeface="Calibri" pitchFamily="34" charset="-122"/>
                <a:cs typeface="Calibri" pitchFamily="34" charset="-120"/>
              </a:rPr>
              <a:t>El fine-tuned se acerca más al formato de titular financiero y mejora el match semántico.</a:t>
            </a:r>
            <a:endParaRPr lang="en-US" sz="1133" dirty="0"/>
          </a:p>
        </p:txBody>
      </p:sp>
      <p:sp>
        <p:nvSpPr>
          <p:cNvPr id="42" name="Text 16">
            <a:extLst>
              <a:ext uri="{FF2B5EF4-FFF2-40B4-BE49-F238E27FC236}">
                <a16:creationId xmlns:a16="http://schemas.microsoft.com/office/drawing/2014/main" id="{A3D682D8-45D0-112F-E4C8-6022761BBABA}"/>
              </a:ext>
            </a:extLst>
          </p:cNvPr>
          <p:cNvSpPr/>
          <p:nvPr/>
        </p:nvSpPr>
        <p:spPr>
          <a:xfrm>
            <a:off x="6522720" y="1524000"/>
            <a:ext cx="4998720" cy="341376"/>
          </a:xfrm>
          <a:prstGeom prst="rect">
            <a:avLst/>
          </a:prstGeom>
          <a:noFill/>
          <a:ln/>
        </p:spPr>
        <p:txBody>
          <a:bodyPr wrap="square" lIns="0" tIns="0" rIns="0" bIns="0" rtlCol="0" anchor="ctr"/>
          <a:lstStyle/>
          <a:p>
            <a:r>
              <a:rPr lang="en-US" sz="1733" b="1" dirty="0">
                <a:solidFill>
                  <a:srgbClr val="E94560"/>
                </a:solidFill>
                <a:latin typeface="Calibri" pitchFamily="34" charset="0"/>
                <a:ea typeface="Calibri" pitchFamily="34" charset="-122"/>
                <a:cs typeface="Calibri" pitchFamily="34" charset="-120"/>
              </a:rPr>
              <a:t>Caso B · directional accuracy no alcanza</a:t>
            </a:r>
            <a:endParaRPr lang="en-US" sz="1733" dirty="0"/>
          </a:p>
        </p:txBody>
      </p:sp>
      <p:sp>
        <p:nvSpPr>
          <p:cNvPr id="43" name="Text 17">
            <a:extLst>
              <a:ext uri="{FF2B5EF4-FFF2-40B4-BE49-F238E27FC236}">
                <a16:creationId xmlns:a16="http://schemas.microsoft.com/office/drawing/2014/main" id="{F5DA1DAB-3833-8559-92C9-AD4E560067A6}"/>
              </a:ext>
            </a:extLst>
          </p:cNvPr>
          <p:cNvSpPr/>
          <p:nvPr/>
        </p:nvSpPr>
        <p:spPr>
          <a:xfrm>
            <a:off x="6522720" y="1889760"/>
            <a:ext cx="4998720" cy="268224"/>
          </a:xfrm>
          <a:prstGeom prst="rect">
            <a:avLst/>
          </a:prstGeom>
          <a:noFill/>
          <a:ln/>
        </p:spPr>
        <p:txBody>
          <a:bodyPr wrap="square" lIns="0" tIns="0" rIns="0" bIns="0" rtlCol="0" anchor="ctr"/>
          <a:lstStyle/>
          <a:p>
            <a:r>
              <a:rPr lang="en-US" sz="1333" dirty="0">
                <a:solidFill>
                  <a:srgbClr val="A0A0B8"/>
                </a:solidFill>
                <a:latin typeface="Consolas" pitchFamily="34" charset="0"/>
                <a:ea typeface="Consolas" pitchFamily="34" charset="-122"/>
                <a:cs typeface="Consolas" pitchFamily="34" charset="-120"/>
              </a:rPr>
              <a:t>AMD · target 2023-05-04</a:t>
            </a:r>
            <a:endParaRPr lang="en-US" sz="1333" dirty="0"/>
          </a:p>
        </p:txBody>
      </p:sp>
      <p:sp>
        <p:nvSpPr>
          <p:cNvPr id="44" name="Text 20">
            <a:extLst>
              <a:ext uri="{FF2B5EF4-FFF2-40B4-BE49-F238E27FC236}">
                <a16:creationId xmlns:a16="http://schemas.microsoft.com/office/drawing/2014/main" id="{A0240542-8205-354C-AAB3-FD638897CD34}"/>
              </a:ext>
            </a:extLst>
          </p:cNvPr>
          <p:cNvSpPr/>
          <p:nvPr/>
        </p:nvSpPr>
        <p:spPr>
          <a:xfrm>
            <a:off x="6522720" y="3011424"/>
            <a:ext cx="4998720" cy="219456"/>
          </a:xfrm>
          <a:prstGeom prst="rect">
            <a:avLst/>
          </a:prstGeom>
          <a:noFill/>
          <a:ln/>
        </p:spPr>
        <p:txBody>
          <a:bodyPr wrap="square" lIns="0" tIns="0" rIns="0" bIns="0" rtlCol="0" anchor="ctr"/>
          <a:lstStyle/>
          <a:p>
            <a:r>
              <a:rPr lang="en-US" sz="1200" b="1" dirty="0">
                <a:solidFill>
                  <a:srgbClr val="E0E0F0"/>
                </a:solidFill>
                <a:latin typeface="Calibri" pitchFamily="34" charset="0"/>
                <a:ea typeface="Calibri" pitchFamily="34" charset="-122"/>
                <a:cs typeface="Calibri" pitchFamily="34" charset="-120"/>
              </a:rPr>
              <a:t>Noticia real:</a:t>
            </a:r>
            <a:endParaRPr lang="en-US" sz="1200" dirty="0"/>
          </a:p>
        </p:txBody>
      </p:sp>
      <p:sp>
        <p:nvSpPr>
          <p:cNvPr id="45" name="Text 21">
            <a:extLst>
              <a:ext uri="{FF2B5EF4-FFF2-40B4-BE49-F238E27FC236}">
                <a16:creationId xmlns:a16="http://schemas.microsoft.com/office/drawing/2014/main" id="{94C4A82E-1627-8F0F-500F-ECF78C058F9C}"/>
              </a:ext>
            </a:extLst>
          </p:cNvPr>
          <p:cNvSpPr/>
          <p:nvPr/>
        </p:nvSpPr>
        <p:spPr>
          <a:xfrm>
            <a:off x="6522720" y="3230880"/>
            <a:ext cx="4998720" cy="426720"/>
          </a:xfrm>
          <a:prstGeom prst="rect">
            <a:avLst/>
          </a:prstGeom>
          <a:noFill/>
          <a:ln/>
        </p:spPr>
        <p:txBody>
          <a:bodyPr wrap="square" lIns="0" tIns="0" rIns="0" bIns="0" rtlCol="0" anchor="ctr"/>
          <a:lstStyle/>
          <a:p>
            <a:r>
              <a:rPr lang="en-US" sz="1133" i="1" dirty="0">
                <a:solidFill>
                  <a:srgbClr val="A0A0B8"/>
                </a:solidFill>
                <a:latin typeface="Consolas" pitchFamily="34" charset="0"/>
                <a:ea typeface="Consolas" pitchFamily="34" charset="-122"/>
                <a:cs typeface="Consolas" pitchFamily="34" charset="-120"/>
              </a:rPr>
              <a:t>Why AMD Stock Zoomed Higher on AI News Today</a:t>
            </a:r>
            <a:endParaRPr lang="en-US" sz="1133" dirty="0"/>
          </a:p>
          <a:p>
            <a:r>
              <a:rPr lang="en-US" sz="1133" i="1" dirty="0">
                <a:solidFill>
                  <a:srgbClr val="A0A0B8"/>
                </a:solidFill>
                <a:latin typeface="Consolas" pitchFamily="34" charset="0"/>
                <a:ea typeface="Consolas" pitchFamily="34" charset="-122"/>
                <a:cs typeface="Consolas" pitchFamily="34" charset="-120"/>
              </a:rPr>
              <a:t>Qualcomm amplifies chip gloom with 'sobering report'</a:t>
            </a:r>
            <a:endParaRPr lang="en-US" sz="1133" dirty="0"/>
          </a:p>
        </p:txBody>
      </p:sp>
      <p:sp>
        <p:nvSpPr>
          <p:cNvPr id="46" name="Text 22">
            <a:extLst>
              <a:ext uri="{FF2B5EF4-FFF2-40B4-BE49-F238E27FC236}">
                <a16:creationId xmlns:a16="http://schemas.microsoft.com/office/drawing/2014/main" id="{97DD0A18-3610-D007-6C27-F38B414E7915}"/>
              </a:ext>
            </a:extLst>
          </p:cNvPr>
          <p:cNvSpPr/>
          <p:nvPr/>
        </p:nvSpPr>
        <p:spPr>
          <a:xfrm>
            <a:off x="6522720" y="3694176"/>
            <a:ext cx="4998720" cy="219456"/>
          </a:xfrm>
          <a:prstGeom prst="rect">
            <a:avLst/>
          </a:prstGeom>
          <a:noFill/>
          <a:ln/>
        </p:spPr>
        <p:txBody>
          <a:bodyPr wrap="square" lIns="0" tIns="0" rIns="0" bIns="0" rtlCol="0" anchor="ctr"/>
          <a:lstStyle/>
          <a:p>
            <a:r>
              <a:rPr lang="en-US" sz="1200" b="1" dirty="0">
                <a:solidFill>
                  <a:srgbClr val="E94560"/>
                </a:solidFill>
                <a:latin typeface="Calibri" pitchFamily="34" charset="0"/>
                <a:ea typeface="Calibri" pitchFamily="34" charset="-122"/>
                <a:cs typeface="Calibri" pitchFamily="34" charset="-120"/>
              </a:rPr>
              <a:t>GPT-2 base:</a:t>
            </a:r>
            <a:endParaRPr lang="en-US" sz="1200" dirty="0"/>
          </a:p>
        </p:txBody>
      </p:sp>
      <p:sp>
        <p:nvSpPr>
          <p:cNvPr id="47" name="Text 23">
            <a:extLst>
              <a:ext uri="{FF2B5EF4-FFF2-40B4-BE49-F238E27FC236}">
                <a16:creationId xmlns:a16="http://schemas.microsoft.com/office/drawing/2014/main" id="{BEEAE274-3191-651C-0FC1-562021428FFE}"/>
              </a:ext>
            </a:extLst>
          </p:cNvPr>
          <p:cNvSpPr/>
          <p:nvPr/>
        </p:nvSpPr>
        <p:spPr>
          <a:xfrm>
            <a:off x="6522720" y="3913632"/>
            <a:ext cx="4998720" cy="426720"/>
          </a:xfrm>
          <a:prstGeom prst="rect">
            <a:avLst/>
          </a:prstGeom>
          <a:solidFill>
            <a:schemeClr val="tx1">
              <a:lumMod val="85000"/>
              <a:lumOff val="15000"/>
            </a:schemeClr>
          </a:solidFill>
          <a:ln/>
        </p:spPr>
        <p:txBody>
          <a:bodyPr wrap="square" lIns="0" tIns="0" rIns="0" bIns="0" rtlCol="0" anchor="ctr"/>
          <a:lstStyle/>
          <a:p>
            <a:r>
              <a:rPr lang="en-US" sz="1133" dirty="0">
                <a:solidFill>
                  <a:srgbClr val="E94560"/>
                </a:solidFill>
                <a:latin typeface="Consolas" pitchFamily="34" charset="0"/>
                <a:ea typeface="Consolas" pitchFamily="34" charset="-122"/>
                <a:cs typeface="Consolas" pitchFamily="34" charset="-120"/>
              </a:rPr>
              <a:t>"10/20 at 11 AM EDT | CNBC Newsroom – 'The Dow Jones Industrial Average has fallen...'"</a:t>
            </a:r>
            <a:endParaRPr lang="en-US" sz="1133" dirty="0"/>
          </a:p>
        </p:txBody>
      </p:sp>
      <p:sp>
        <p:nvSpPr>
          <p:cNvPr id="48" name="Text 24">
            <a:extLst>
              <a:ext uri="{FF2B5EF4-FFF2-40B4-BE49-F238E27FC236}">
                <a16:creationId xmlns:a16="http://schemas.microsoft.com/office/drawing/2014/main" id="{5749D543-863E-2E81-CC8F-AB811D1C1D41}"/>
              </a:ext>
            </a:extLst>
          </p:cNvPr>
          <p:cNvSpPr/>
          <p:nvPr/>
        </p:nvSpPr>
        <p:spPr>
          <a:xfrm>
            <a:off x="6522720" y="4376928"/>
            <a:ext cx="4998720" cy="219456"/>
          </a:xfrm>
          <a:prstGeom prst="rect">
            <a:avLst/>
          </a:prstGeom>
          <a:noFill/>
          <a:ln/>
        </p:spPr>
        <p:txBody>
          <a:bodyPr wrap="square" lIns="0" tIns="0" rIns="0" bIns="0" rtlCol="0" anchor="ctr"/>
          <a:lstStyle/>
          <a:p>
            <a:r>
              <a:rPr lang="en-US" sz="1200" b="1" dirty="0">
                <a:solidFill>
                  <a:srgbClr val="00B4D8"/>
                </a:solidFill>
                <a:latin typeface="Calibri" pitchFamily="34" charset="0"/>
                <a:ea typeface="Calibri" pitchFamily="34" charset="-122"/>
                <a:cs typeface="Calibri" pitchFamily="34" charset="-120"/>
              </a:rPr>
              <a:t>Fine-tuned (NVDA+AMD):</a:t>
            </a:r>
            <a:endParaRPr lang="en-US" sz="1200" dirty="0"/>
          </a:p>
        </p:txBody>
      </p:sp>
      <p:sp>
        <p:nvSpPr>
          <p:cNvPr id="49" name="Text 25">
            <a:extLst>
              <a:ext uri="{FF2B5EF4-FFF2-40B4-BE49-F238E27FC236}">
                <a16:creationId xmlns:a16="http://schemas.microsoft.com/office/drawing/2014/main" id="{FCF8F1B9-5A34-DB49-4470-F2485DB6A446}"/>
              </a:ext>
            </a:extLst>
          </p:cNvPr>
          <p:cNvSpPr/>
          <p:nvPr/>
        </p:nvSpPr>
        <p:spPr>
          <a:xfrm>
            <a:off x="6522720" y="4596384"/>
            <a:ext cx="4998720" cy="426720"/>
          </a:xfrm>
          <a:prstGeom prst="rect">
            <a:avLst/>
          </a:prstGeom>
          <a:solidFill>
            <a:schemeClr val="tx1">
              <a:lumMod val="85000"/>
              <a:lumOff val="15000"/>
            </a:schemeClr>
          </a:solidFill>
          <a:ln/>
        </p:spPr>
        <p:txBody>
          <a:bodyPr wrap="square" lIns="0" tIns="0" rIns="0" bIns="0" rtlCol="0" anchor="ctr"/>
          <a:lstStyle/>
          <a:p>
            <a:r>
              <a:rPr lang="en-US" sz="1133" dirty="0">
                <a:solidFill>
                  <a:srgbClr val="00B4D8"/>
                </a:solidFill>
                <a:latin typeface="Consolas" pitchFamily="34" charset="0"/>
                <a:ea typeface="Consolas" pitchFamily="34" charset="-122"/>
                <a:cs typeface="Consolas" pitchFamily="34" charset="-120"/>
              </a:rPr>
              <a:t>"Intel's New Chips Could Make It a Winner... 3 Reasons To Invest $100 In NVIDIA Today!"</a:t>
            </a:r>
            <a:endParaRPr lang="en-US" sz="1133" dirty="0"/>
          </a:p>
        </p:txBody>
      </p:sp>
      <p:sp>
        <p:nvSpPr>
          <p:cNvPr id="50" name="Text 26">
            <a:extLst>
              <a:ext uri="{FF2B5EF4-FFF2-40B4-BE49-F238E27FC236}">
                <a16:creationId xmlns:a16="http://schemas.microsoft.com/office/drawing/2014/main" id="{2F5C3D50-2AA5-7E66-4B3E-B079DDD793CE}"/>
              </a:ext>
            </a:extLst>
          </p:cNvPr>
          <p:cNvSpPr/>
          <p:nvPr/>
        </p:nvSpPr>
        <p:spPr>
          <a:xfrm>
            <a:off x="6522720" y="5059680"/>
            <a:ext cx="4998720" cy="365760"/>
          </a:xfrm>
          <a:prstGeom prst="rect">
            <a:avLst/>
          </a:prstGeom>
          <a:noFill/>
          <a:ln/>
        </p:spPr>
        <p:txBody>
          <a:bodyPr wrap="square" lIns="0" tIns="0" rIns="0" bIns="0" rtlCol="0" anchor="ctr"/>
          <a:lstStyle/>
          <a:p>
            <a:r>
              <a:rPr lang="en-US" sz="1133" i="1" dirty="0">
                <a:solidFill>
                  <a:srgbClr val="E0E0F0"/>
                </a:solidFill>
                <a:latin typeface="Calibri" pitchFamily="34" charset="0"/>
                <a:ea typeface="Calibri" pitchFamily="34" charset="-122"/>
                <a:cs typeface="Calibri" pitchFamily="34" charset="-120"/>
              </a:rPr>
              <a:t>GPT-2 base acierta la dirección, pero el texto es genérico. Directional accuracy sola no valida calidad.</a:t>
            </a:r>
            <a:endParaRPr lang="en-US" sz="1133" dirty="0"/>
          </a:p>
        </p:txBody>
      </p:sp>
      <p:sp>
        <p:nvSpPr>
          <p:cNvPr id="51" name="Text 6">
            <a:extLst>
              <a:ext uri="{FF2B5EF4-FFF2-40B4-BE49-F238E27FC236}">
                <a16:creationId xmlns:a16="http://schemas.microsoft.com/office/drawing/2014/main" id="{40FA2A8A-AD0F-8C97-EEF2-0C159896FBD0}"/>
              </a:ext>
            </a:extLst>
          </p:cNvPr>
          <p:cNvSpPr/>
          <p:nvPr/>
        </p:nvSpPr>
        <p:spPr>
          <a:xfrm>
            <a:off x="6522720" y="2246057"/>
            <a:ext cx="4998720" cy="658368"/>
          </a:xfrm>
          <a:prstGeom prst="rect">
            <a:avLst/>
          </a:prstGeom>
          <a:noFill/>
          <a:ln/>
        </p:spPr>
        <p:txBody>
          <a:bodyPr wrap="square" lIns="0" tIns="0" rIns="0" bIns="0" rtlCol="0" anchor="ctr"/>
          <a:lstStyle/>
          <a:p>
            <a:r>
              <a:rPr lang="en-US" sz="1333" dirty="0">
                <a:solidFill>
                  <a:srgbClr val="A0A0B8"/>
                </a:solidFill>
              </a:rPr>
              <a:t>ROUGE-L: </a:t>
            </a:r>
            <a:r>
              <a:rPr lang="en-US" sz="1333" b="1" dirty="0">
                <a:solidFill>
                  <a:srgbClr val="48BB78"/>
                </a:solidFill>
              </a:rPr>
              <a:t>0.000 → 0.035</a:t>
            </a:r>
            <a:r>
              <a:rPr lang="en-US" sz="1333" dirty="0">
                <a:solidFill>
                  <a:srgbClr val="A0A0B8"/>
                </a:solidFill>
              </a:rPr>
              <a:t>    </a:t>
            </a:r>
          </a:p>
          <a:p>
            <a:r>
              <a:rPr lang="en-US" sz="1333" dirty="0" err="1">
                <a:solidFill>
                  <a:srgbClr val="A0A0B8"/>
                </a:solidFill>
              </a:rPr>
              <a:t>BERTScore</a:t>
            </a:r>
            <a:r>
              <a:rPr lang="en-US" sz="1333">
                <a:solidFill>
                  <a:srgbClr val="A0A0B8"/>
                </a:solidFill>
              </a:rPr>
              <a:t>: </a:t>
            </a:r>
            <a:r>
              <a:rPr lang="en-US" sz="1333" b="1">
                <a:solidFill>
                  <a:srgbClr val="48BB78"/>
                </a:solidFill>
              </a:rPr>
              <a:t>0.727 → 0.764</a:t>
            </a:r>
            <a:endParaRPr lang="en-US" sz="1333" dirty="0">
              <a:solidFill>
                <a:srgbClr val="A0A0B8"/>
              </a:solidFill>
            </a:endParaRPr>
          </a:p>
          <a:p>
            <a:r>
              <a:rPr lang="en-US" sz="1333" dirty="0" err="1">
                <a:solidFill>
                  <a:srgbClr val="A0A0B8"/>
                </a:solidFill>
              </a:rPr>
              <a:t>Dir.correcta</a:t>
            </a:r>
            <a:r>
              <a:rPr lang="en-US" sz="1333" dirty="0">
                <a:solidFill>
                  <a:srgbClr val="A0A0B8"/>
                </a:solidFill>
              </a:rPr>
              <a:t>: </a:t>
            </a:r>
            <a:r>
              <a:rPr lang="en-US" sz="1333" b="1" dirty="0">
                <a:solidFill>
                  <a:srgbClr val="48BB78"/>
                </a:solidFill>
              </a:rPr>
              <a:t>base </a:t>
            </a:r>
            <a:r>
              <a:rPr lang="en-US" sz="1333" b="1" dirty="0" err="1">
                <a:solidFill>
                  <a:srgbClr val="48BB78"/>
                </a:solidFill>
              </a:rPr>
              <a:t>acierta</a:t>
            </a:r>
            <a:r>
              <a:rPr lang="en-US" sz="1333" b="1" dirty="0">
                <a:solidFill>
                  <a:srgbClr val="48BB78"/>
                </a:solidFill>
              </a:rPr>
              <a:t> · fine-tuned </a:t>
            </a:r>
            <a:r>
              <a:rPr lang="en-US" sz="1333" b="1" dirty="0" err="1">
                <a:solidFill>
                  <a:srgbClr val="48BB78"/>
                </a:solidFill>
              </a:rPr>
              <a:t>falla</a:t>
            </a:r>
            <a:endParaRPr lang="en-US" sz="1333" b="1" dirty="0">
              <a:solidFill>
                <a:srgbClr val="48BB78"/>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3A4E72"/>
                </a:solidFill>
                <a:latin typeface="Arial" panose="020B0604020202020204" pitchFamily="34" charset="0"/>
                <a:ea typeface="Georgia" pitchFamily="34" charset="-122"/>
                <a:cs typeface="Arial" panose="020B0604020202020204" pitchFamily="34" charset="0"/>
              </a:rPr>
              <a:t>12</a:t>
            </a:r>
            <a:endParaRPr lang="en-US" sz="1500" dirty="0">
              <a:latin typeface="Arial" panose="020B0604020202020204" pitchFamily="34" charset="0"/>
              <a:cs typeface="Arial" panose="020B0604020202020204" pitchFamily="34" charset="0"/>
            </a:endParaRPr>
          </a:p>
        </p:txBody>
      </p:sp>
      <p:sp>
        <p:nvSpPr>
          <p:cNvPr id="5" name="Shape 3"/>
          <p:cNvSpPr/>
          <p:nvPr/>
        </p:nvSpPr>
        <p:spPr>
          <a:xfrm>
            <a:off x="589280" y="1478788"/>
            <a:ext cx="5074920" cy="4334256"/>
          </a:xfrm>
          <a:prstGeom prst="rect">
            <a:avLst/>
          </a:prstGeom>
          <a:solidFill>
            <a:schemeClr val="tx1">
              <a:lumMod val="95000"/>
              <a:lumOff val="5000"/>
            </a:schemeClr>
          </a:solidFill>
          <a:ln w="12700">
            <a:solidFill>
              <a:srgbClr val="2E3C58"/>
            </a:solidFill>
            <a:prstDash val="solid"/>
          </a:ln>
        </p:spPr>
        <p:txBody>
          <a:bodyPr/>
          <a:lstStyle/>
          <a:p>
            <a:endParaRPr lang="es-AR">
              <a:latin typeface="Arial" panose="020B0604020202020204" pitchFamily="34" charset="0"/>
              <a:cs typeface="Arial" panose="020B0604020202020204" pitchFamily="34" charset="0"/>
            </a:endParaRPr>
          </a:p>
        </p:txBody>
      </p:sp>
      <p:sp>
        <p:nvSpPr>
          <p:cNvPr id="7" name="Text 4"/>
          <p:cNvSpPr/>
          <p:nvPr/>
        </p:nvSpPr>
        <p:spPr>
          <a:xfrm>
            <a:off x="900176" y="2009140"/>
            <a:ext cx="416052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anose="020B0604020202020204" pitchFamily="34" charset="0"/>
                <a:ea typeface="Georgia" pitchFamily="34" charset="-122"/>
                <a:cs typeface="Arial" panose="020B0604020202020204" pitchFamily="34" charset="0"/>
              </a:rPr>
              <a:t>Limitaciones</a:t>
            </a:r>
            <a:endParaRPr lang="en-US" sz="1600" dirty="0">
              <a:latin typeface="Arial" panose="020B0604020202020204" pitchFamily="34" charset="0"/>
              <a:cs typeface="Arial" panose="020B0604020202020204" pitchFamily="34" charset="0"/>
            </a:endParaRPr>
          </a:p>
        </p:txBody>
      </p:sp>
      <p:sp>
        <p:nvSpPr>
          <p:cNvPr id="8" name="Text 5"/>
          <p:cNvSpPr/>
          <p:nvPr/>
        </p:nvSpPr>
        <p:spPr>
          <a:xfrm>
            <a:off x="900176" y="2210308"/>
            <a:ext cx="4526280" cy="3374136"/>
          </a:xfrm>
          <a:prstGeom prst="rect">
            <a:avLst/>
          </a:prstGeom>
          <a:noFill/>
          <a:ln/>
        </p:spPr>
        <p:txBody>
          <a:bodyPr wrap="square" lIns="0" tIns="0" rIns="0" bIns="0" rtlCol="0" anchor="ctr"/>
          <a:lstStyle/>
          <a:p>
            <a:pPr marL="342900" indent="-342900">
              <a:spcAft>
                <a:spcPts val="900"/>
              </a:spcAft>
              <a:buSzPct val="100000"/>
              <a:buChar char="–"/>
            </a:pPr>
            <a:r>
              <a:rPr lang="en-US" sz="1100" dirty="0">
                <a:solidFill>
                  <a:srgbClr val="C2CEDF"/>
                </a:solidFill>
                <a:latin typeface="Arial" panose="020B0604020202020204" pitchFamily="34" charset="0"/>
                <a:ea typeface="Calibri" pitchFamily="34" charset="-122"/>
                <a:cs typeface="Arial" panose="020B0604020202020204" pitchFamily="34" charset="0"/>
              </a:rPr>
              <a:t>Dataset de test pequeño para concluir robustez.</a:t>
            </a:r>
            <a:endParaRPr lang="en-US" sz="1100" dirty="0">
              <a:latin typeface="Arial" panose="020B0604020202020204" pitchFamily="34" charset="0"/>
              <a:cs typeface="Arial" panose="020B0604020202020204" pitchFamily="34" charset="0"/>
            </a:endParaRPr>
          </a:p>
          <a:p>
            <a:pPr marL="342900" indent="-342900">
              <a:spcAft>
                <a:spcPts val="900"/>
              </a:spcAft>
              <a:buSzPct val="100000"/>
              <a:buChar char="–"/>
            </a:pPr>
            <a:r>
              <a:rPr lang="en-US" sz="1100" dirty="0">
                <a:solidFill>
                  <a:srgbClr val="C2CEDF"/>
                </a:solidFill>
                <a:latin typeface="Arial" panose="020B0604020202020204" pitchFamily="34" charset="0"/>
                <a:ea typeface="Calibri" pitchFamily="34" charset="-122"/>
                <a:cs typeface="Arial" panose="020B0604020202020204" pitchFamily="34" charset="0"/>
              </a:rPr>
              <a:t>GPT-2 small: capacidad limitada, salidas genéricas.</a:t>
            </a:r>
            <a:endParaRPr lang="en-US" sz="1100" dirty="0">
              <a:latin typeface="Arial" panose="020B0604020202020204" pitchFamily="34" charset="0"/>
              <a:cs typeface="Arial" panose="020B0604020202020204" pitchFamily="34" charset="0"/>
            </a:endParaRPr>
          </a:p>
          <a:p>
            <a:pPr marL="342900" indent="-342900">
              <a:spcAft>
                <a:spcPts val="900"/>
              </a:spcAft>
              <a:buSzPct val="100000"/>
              <a:buChar char="–"/>
            </a:pPr>
            <a:r>
              <a:rPr lang="en-US" sz="1100" dirty="0" err="1">
                <a:solidFill>
                  <a:srgbClr val="C2CEDF"/>
                </a:solidFill>
                <a:latin typeface="Arial" panose="020B0604020202020204" pitchFamily="34" charset="0"/>
                <a:ea typeface="Calibri" pitchFamily="34" charset="-122"/>
                <a:cs typeface="Arial" panose="020B0604020202020204" pitchFamily="34" charset="0"/>
              </a:rPr>
              <a:t>FinBERT</a:t>
            </a:r>
            <a:r>
              <a:rPr lang="en-US" sz="1100" dirty="0">
                <a:solidFill>
                  <a:srgbClr val="C2CEDF"/>
                </a:solidFill>
                <a:latin typeface="Arial" panose="020B0604020202020204" pitchFamily="34" charset="0"/>
                <a:ea typeface="Calibri" pitchFamily="34" charset="-122"/>
                <a:cs typeface="Arial" panose="020B0604020202020204" pitchFamily="34" charset="0"/>
              </a:rPr>
              <a:t> es </a:t>
            </a:r>
            <a:r>
              <a:rPr lang="en-US" sz="1100" dirty="0" err="1">
                <a:solidFill>
                  <a:srgbClr val="C2CEDF"/>
                </a:solidFill>
                <a:latin typeface="Arial" panose="020B0604020202020204" pitchFamily="34" charset="0"/>
                <a:ea typeface="Calibri" pitchFamily="34" charset="-122"/>
                <a:cs typeface="Arial" panose="020B0604020202020204" pitchFamily="34" charset="0"/>
              </a:rPr>
              <a:t>una</a:t>
            </a:r>
            <a:r>
              <a:rPr lang="en-US" sz="1100" dirty="0">
                <a:solidFill>
                  <a:srgbClr val="C2CEDF"/>
                </a:solidFill>
                <a:latin typeface="Arial" panose="020B0604020202020204" pitchFamily="34" charset="0"/>
                <a:ea typeface="Calibri" pitchFamily="34" charset="-122"/>
                <a:cs typeface="Arial" panose="020B0604020202020204" pitchFamily="34" charset="0"/>
              </a:rPr>
              <a:t> IA para </a:t>
            </a:r>
            <a:r>
              <a:rPr lang="en-US" sz="1100" dirty="0" err="1">
                <a:solidFill>
                  <a:srgbClr val="C2CEDF"/>
                </a:solidFill>
                <a:latin typeface="Arial" panose="020B0604020202020204" pitchFamily="34" charset="0"/>
                <a:ea typeface="Calibri" pitchFamily="34" charset="-122"/>
                <a:cs typeface="Arial" panose="020B0604020202020204" pitchFamily="34" charset="0"/>
              </a:rPr>
              <a:t>evaluar</a:t>
            </a:r>
            <a:r>
              <a:rPr lang="en-US" sz="1100" dirty="0">
                <a:solidFill>
                  <a:srgbClr val="C2CEDF"/>
                </a:solidFill>
                <a:latin typeface="Arial" panose="020B0604020202020204" pitchFamily="34" charset="0"/>
                <a:ea typeface="Calibri" pitchFamily="34" charset="-122"/>
                <a:cs typeface="Arial" panose="020B0604020202020204" pitchFamily="34" charset="0"/>
              </a:rPr>
              <a:t> IA.</a:t>
            </a:r>
            <a:endParaRPr lang="en-US" sz="1100" dirty="0">
              <a:latin typeface="Arial" panose="020B0604020202020204" pitchFamily="34" charset="0"/>
              <a:cs typeface="Arial" panose="020B0604020202020204" pitchFamily="34" charset="0"/>
            </a:endParaRPr>
          </a:p>
          <a:p>
            <a:pPr marL="342900" indent="-342900">
              <a:spcAft>
                <a:spcPts val="900"/>
              </a:spcAft>
              <a:buSzPct val="100000"/>
              <a:buChar char="–"/>
            </a:pPr>
            <a:r>
              <a:rPr lang="en-US" sz="1100" dirty="0">
                <a:solidFill>
                  <a:srgbClr val="C2CEDF"/>
                </a:solidFill>
                <a:latin typeface="Arial" panose="020B0604020202020204" pitchFamily="34" charset="0"/>
                <a:ea typeface="Calibri" pitchFamily="34" charset="-122"/>
                <a:cs typeface="Arial" panose="020B0604020202020204" pitchFamily="34" charset="0"/>
              </a:rPr>
              <a:t>La dir. accuracy depende de la distribución de clases.</a:t>
            </a:r>
            <a:endParaRPr lang="en-US" sz="1100" dirty="0">
              <a:latin typeface="Arial" panose="020B0604020202020204" pitchFamily="34" charset="0"/>
              <a:cs typeface="Arial" panose="020B0604020202020204" pitchFamily="34" charset="0"/>
            </a:endParaRPr>
          </a:p>
          <a:p>
            <a:pPr marL="342900" indent="-342900">
              <a:spcAft>
                <a:spcPts val="900"/>
              </a:spcAft>
              <a:buSzPct val="100000"/>
              <a:buChar char="–"/>
            </a:pPr>
            <a:r>
              <a:rPr lang="en-US" sz="1100" dirty="0">
                <a:solidFill>
                  <a:srgbClr val="C2CEDF"/>
                </a:solidFill>
                <a:latin typeface="Arial" panose="020B0604020202020204" pitchFamily="34" charset="0"/>
                <a:ea typeface="Calibri" pitchFamily="34" charset="-122"/>
                <a:cs typeface="Arial" panose="020B0604020202020204" pitchFamily="34" charset="0"/>
              </a:rPr>
              <a:t>Sin significancia estadística fuerte (p &lt; 0.05).</a:t>
            </a:r>
            <a:endParaRPr lang="en-US" sz="1100" dirty="0">
              <a:latin typeface="Arial" panose="020B0604020202020204" pitchFamily="34" charset="0"/>
              <a:cs typeface="Arial" panose="020B0604020202020204" pitchFamily="34" charset="0"/>
            </a:endParaRPr>
          </a:p>
        </p:txBody>
      </p:sp>
      <p:sp>
        <p:nvSpPr>
          <p:cNvPr id="9" name="Shape 6"/>
          <p:cNvSpPr/>
          <p:nvPr/>
        </p:nvSpPr>
        <p:spPr>
          <a:xfrm>
            <a:off x="5975096" y="1961388"/>
            <a:ext cx="5534863" cy="713232"/>
          </a:xfrm>
          <a:prstGeom prst="rect">
            <a:avLst/>
          </a:prstGeom>
          <a:solidFill>
            <a:schemeClr val="tx1">
              <a:lumMod val="95000"/>
              <a:lumOff val="5000"/>
            </a:schemeClr>
          </a:solidFill>
          <a:ln w="12700">
            <a:solidFill>
              <a:srgbClr val="2E3C58"/>
            </a:solidFill>
            <a:prstDash val="solid"/>
          </a:ln>
        </p:spPr>
        <p:txBody>
          <a:bodyPr/>
          <a:lstStyle/>
          <a:p>
            <a:endParaRPr lang="es-AR">
              <a:latin typeface="Arial" panose="020B0604020202020204" pitchFamily="34" charset="0"/>
              <a:cs typeface="Arial" panose="020B0604020202020204" pitchFamily="34" charset="0"/>
            </a:endParaRPr>
          </a:p>
        </p:txBody>
      </p:sp>
      <p:sp>
        <p:nvSpPr>
          <p:cNvPr id="10" name="Shape 7"/>
          <p:cNvSpPr/>
          <p:nvPr/>
        </p:nvSpPr>
        <p:spPr>
          <a:xfrm>
            <a:off x="6157976" y="2125980"/>
            <a:ext cx="384048" cy="384048"/>
          </a:xfrm>
          <a:prstGeom prst="ellipse">
            <a:avLst/>
          </a:prstGeom>
          <a:solidFill>
            <a:srgbClr val="2A7F8C"/>
          </a:solidFill>
          <a:ln w="12700">
            <a:solidFill>
              <a:srgbClr val="333333"/>
            </a:solidFill>
            <a:prstDash val="solid"/>
          </a:ln>
        </p:spPr>
        <p:txBody>
          <a:bodyPr/>
          <a:lstStyle/>
          <a:p>
            <a:endParaRPr lang="es-AR">
              <a:latin typeface="Arial" panose="020B0604020202020204" pitchFamily="34" charset="0"/>
              <a:cs typeface="Arial" panose="020B0604020202020204" pitchFamily="34" charset="0"/>
            </a:endParaRPr>
          </a:p>
        </p:txBody>
      </p:sp>
      <p:pic>
        <p:nvPicPr>
          <p:cNvPr id="11" name="Image 1" descr="icon_check_w.png"/>
          <p:cNvPicPr>
            <a:picLocks noChangeAspect="1"/>
          </p:cNvPicPr>
          <p:nvPr/>
        </p:nvPicPr>
        <p:blipFill>
          <a:blip r:embed="rId3"/>
          <a:stretch>
            <a:fillRect/>
          </a:stretch>
        </p:blipFill>
        <p:spPr>
          <a:xfrm>
            <a:off x="6249416" y="2217420"/>
            <a:ext cx="201168" cy="201168"/>
          </a:xfrm>
          <a:prstGeom prst="rect">
            <a:avLst/>
          </a:prstGeom>
        </p:spPr>
      </p:pic>
      <p:sp>
        <p:nvSpPr>
          <p:cNvPr id="12" name="Text 8"/>
          <p:cNvSpPr/>
          <p:nvPr/>
        </p:nvSpPr>
        <p:spPr>
          <a:xfrm>
            <a:off x="6724904" y="1961388"/>
            <a:ext cx="4602175" cy="713232"/>
          </a:xfrm>
          <a:prstGeom prst="rect">
            <a:avLst/>
          </a:prstGeom>
          <a:noFill/>
          <a:ln/>
        </p:spPr>
        <p:txBody>
          <a:bodyPr wrap="square" lIns="0" tIns="0" rIns="0" bIns="0" rtlCol="0" anchor="ctr"/>
          <a:lstStyle/>
          <a:p>
            <a:pPr marL="0" indent="0">
              <a:lnSpc>
                <a:spcPct val="108000"/>
              </a:lnSpc>
              <a:buNone/>
            </a:pPr>
            <a:r>
              <a:rPr lang="en-US" sz="1080" dirty="0">
                <a:solidFill>
                  <a:srgbClr val="E6ECF5"/>
                </a:solidFill>
                <a:latin typeface="Arial" panose="020B0604020202020204" pitchFamily="34" charset="0"/>
                <a:ea typeface="Calibri" pitchFamily="34" charset="-122"/>
                <a:cs typeface="Arial" panose="020B0604020202020204" pitchFamily="34" charset="0"/>
              </a:rPr>
              <a:t>GPT-2 base genera texto financiero genérico, con baja calidad semántica.</a:t>
            </a:r>
            <a:endParaRPr lang="en-US" sz="1080" dirty="0">
              <a:latin typeface="Arial" panose="020B0604020202020204" pitchFamily="34" charset="0"/>
              <a:cs typeface="Arial" panose="020B0604020202020204" pitchFamily="34" charset="0"/>
            </a:endParaRPr>
          </a:p>
        </p:txBody>
      </p:sp>
      <p:sp>
        <p:nvSpPr>
          <p:cNvPr id="13" name="Shape 9"/>
          <p:cNvSpPr/>
          <p:nvPr/>
        </p:nvSpPr>
        <p:spPr>
          <a:xfrm>
            <a:off x="5975096" y="2802636"/>
            <a:ext cx="5534863" cy="713232"/>
          </a:xfrm>
          <a:prstGeom prst="rect">
            <a:avLst/>
          </a:prstGeom>
          <a:solidFill>
            <a:schemeClr val="tx1">
              <a:lumMod val="95000"/>
              <a:lumOff val="5000"/>
            </a:schemeClr>
          </a:solidFill>
          <a:ln w="12700">
            <a:solidFill>
              <a:srgbClr val="2E3C58"/>
            </a:solidFill>
            <a:prstDash val="solid"/>
          </a:ln>
        </p:spPr>
        <p:txBody>
          <a:bodyPr/>
          <a:lstStyle/>
          <a:p>
            <a:endParaRPr lang="es-AR">
              <a:latin typeface="Arial" panose="020B0604020202020204" pitchFamily="34" charset="0"/>
              <a:cs typeface="Arial" panose="020B0604020202020204" pitchFamily="34" charset="0"/>
            </a:endParaRPr>
          </a:p>
        </p:txBody>
      </p:sp>
      <p:sp>
        <p:nvSpPr>
          <p:cNvPr id="14" name="Shape 10"/>
          <p:cNvSpPr/>
          <p:nvPr/>
        </p:nvSpPr>
        <p:spPr>
          <a:xfrm>
            <a:off x="6157976" y="2967228"/>
            <a:ext cx="384048" cy="384048"/>
          </a:xfrm>
          <a:prstGeom prst="ellipse">
            <a:avLst/>
          </a:prstGeom>
          <a:solidFill>
            <a:srgbClr val="2A7F8C"/>
          </a:solidFill>
          <a:ln w="12700">
            <a:solidFill>
              <a:srgbClr val="333333"/>
            </a:solidFill>
            <a:prstDash val="solid"/>
          </a:ln>
        </p:spPr>
        <p:txBody>
          <a:bodyPr/>
          <a:lstStyle/>
          <a:p>
            <a:endParaRPr lang="es-AR">
              <a:latin typeface="Arial" panose="020B0604020202020204" pitchFamily="34" charset="0"/>
              <a:cs typeface="Arial" panose="020B0604020202020204" pitchFamily="34" charset="0"/>
            </a:endParaRPr>
          </a:p>
        </p:txBody>
      </p:sp>
      <p:pic>
        <p:nvPicPr>
          <p:cNvPr id="15" name="Image 2" descr="icon_balance_w.png"/>
          <p:cNvPicPr>
            <a:picLocks noChangeAspect="1"/>
          </p:cNvPicPr>
          <p:nvPr/>
        </p:nvPicPr>
        <p:blipFill>
          <a:blip r:embed="rId4"/>
          <a:stretch>
            <a:fillRect/>
          </a:stretch>
        </p:blipFill>
        <p:spPr>
          <a:xfrm>
            <a:off x="6249416" y="3058668"/>
            <a:ext cx="201168" cy="201168"/>
          </a:xfrm>
          <a:prstGeom prst="rect">
            <a:avLst/>
          </a:prstGeom>
        </p:spPr>
      </p:pic>
      <p:sp>
        <p:nvSpPr>
          <p:cNvPr id="16" name="Text 11"/>
          <p:cNvSpPr/>
          <p:nvPr/>
        </p:nvSpPr>
        <p:spPr>
          <a:xfrm>
            <a:off x="6724904" y="2802636"/>
            <a:ext cx="4602175" cy="713232"/>
          </a:xfrm>
          <a:prstGeom prst="rect">
            <a:avLst/>
          </a:prstGeom>
          <a:noFill/>
          <a:ln/>
        </p:spPr>
        <p:txBody>
          <a:bodyPr wrap="square" lIns="0" tIns="0" rIns="0" bIns="0" rtlCol="0" anchor="ctr"/>
          <a:lstStyle/>
          <a:p>
            <a:pPr marL="0" indent="0">
              <a:lnSpc>
                <a:spcPct val="108000"/>
              </a:lnSpc>
              <a:buNone/>
            </a:pPr>
            <a:r>
              <a:rPr lang="en-US" sz="1080" dirty="0">
                <a:solidFill>
                  <a:srgbClr val="E6ECF5"/>
                </a:solidFill>
                <a:latin typeface="Arial" panose="020B0604020202020204" pitchFamily="34" charset="0"/>
                <a:ea typeface="Calibri" pitchFamily="34" charset="-122"/>
                <a:cs typeface="Arial" panose="020B0604020202020204" pitchFamily="34" charset="0"/>
              </a:rPr>
              <a:t>El fine-tuning </a:t>
            </a:r>
            <a:r>
              <a:rPr lang="en-US" sz="1080" dirty="0" err="1">
                <a:solidFill>
                  <a:srgbClr val="E6ECF5"/>
                </a:solidFill>
                <a:latin typeface="Arial" panose="020B0604020202020204" pitchFamily="34" charset="0"/>
                <a:ea typeface="Calibri" pitchFamily="34" charset="-122"/>
                <a:cs typeface="Arial" panose="020B0604020202020204" pitchFamily="34" charset="0"/>
              </a:rPr>
              <a:t>mejora</a:t>
            </a:r>
            <a:r>
              <a:rPr lang="en-US" sz="1080" dirty="0">
                <a:solidFill>
                  <a:srgbClr val="E6ECF5"/>
                </a:solidFill>
                <a:latin typeface="Arial" panose="020B0604020202020204" pitchFamily="34" charset="0"/>
                <a:ea typeface="Calibri" pitchFamily="34" charset="-122"/>
                <a:cs typeface="Arial" panose="020B0604020202020204" pitchFamily="34" charset="0"/>
              </a:rPr>
              <a:t> ROUGE-L, </a:t>
            </a:r>
            <a:r>
              <a:rPr lang="en-US" sz="1080" dirty="0" err="1">
                <a:solidFill>
                  <a:srgbClr val="E6ECF5"/>
                </a:solidFill>
                <a:latin typeface="Arial" panose="020B0604020202020204" pitchFamily="34" charset="0"/>
                <a:ea typeface="Calibri" pitchFamily="34" charset="-122"/>
                <a:cs typeface="Arial" panose="020B0604020202020204" pitchFamily="34" charset="0"/>
              </a:rPr>
              <a:t>BERTScore</a:t>
            </a:r>
            <a:r>
              <a:rPr lang="en-US" sz="1080" dirty="0">
                <a:solidFill>
                  <a:srgbClr val="E6ECF5"/>
                </a:solidFill>
                <a:latin typeface="Arial" panose="020B0604020202020204" pitchFamily="34" charset="0"/>
                <a:ea typeface="Calibri" pitchFamily="34" charset="-122"/>
                <a:cs typeface="Arial" panose="020B0604020202020204" pitchFamily="34" charset="0"/>
              </a:rPr>
              <a:t> y sentiment match frente al modelo base.</a:t>
            </a:r>
            <a:endParaRPr lang="en-US" sz="1080" dirty="0">
              <a:latin typeface="Arial" panose="020B0604020202020204" pitchFamily="34" charset="0"/>
              <a:cs typeface="Arial" panose="020B0604020202020204" pitchFamily="34" charset="0"/>
            </a:endParaRPr>
          </a:p>
        </p:txBody>
      </p:sp>
      <p:sp>
        <p:nvSpPr>
          <p:cNvPr id="21" name="Shape 15"/>
          <p:cNvSpPr/>
          <p:nvPr/>
        </p:nvSpPr>
        <p:spPr>
          <a:xfrm>
            <a:off x="5965952" y="3662172"/>
            <a:ext cx="5534863" cy="713232"/>
          </a:xfrm>
          <a:prstGeom prst="rect">
            <a:avLst/>
          </a:prstGeom>
          <a:solidFill>
            <a:schemeClr val="tx1">
              <a:lumMod val="95000"/>
              <a:lumOff val="5000"/>
            </a:schemeClr>
          </a:solidFill>
          <a:ln w="12700">
            <a:solidFill>
              <a:srgbClr val="2E3C58"/>
            </a:solidFill>
            <a:prstDash val="solid"/>
          </a:ln>
        </p:spPr>
        <p:txBody>
          <a:bodyPr/>
          <a:lstStyle/>
          <a:p>
            <a:endParaRPr lang="es-AR">
              <a:latin typeface="Arial" panose="020B0604020202020204" pitchFamily="34" charset="0"/>
              <a:cs typeface="Arial" panose="020B0604020202020204" pitchFamily="34" charset="0"/>
            </a:endParaRPr>
          </a:p>
        </p:txBody>
      </p:sp>
      <p:sp>
        <p:nvSpPr>
          <p:cNvPr id="22" name="Shape 16"/>
          <p:cNvSpPr/>
          <p:nvPr/>
        </p:nvSpPr>
        <p:spPr>
          <a:xfrm>
            <a:off x="6148832" y="3826764"/>
            <a:ext cx="384048" cy="384048"/>
          </a:xfrm>
          <a:prstGeom prst="ellipse">
            <a:avLst/>
          </a:prstGeom>
          <a:solidFill>
            <a:srgbClr val="2A7F8C"/>
          </a:solidFill>
          <a:ln w="12700">
            <a:solidFill>
              <a:srgbClr val="333333"/>
            </a:solidFill>
            <a:prstDash val="solid"/>
          </a:ln>
        </p:spPr>
        <p:txBody>
          <a:bodyPr/>
          <a:lstStyle/>
          <a:p>
            <a:endParaRPr lang="es-AR">
              <a:latin typeface="Arial" panose="020B0604020202020204" pitchFamily="34" charset="0"/>
              <a:cs typeface="Arial" panose="020B0604020202020204" pitchFamily="34" charset="0"/>
            </a:endParaRPr>
          </a:p>
        </p:txBody>
      </p:sp>
      <p:pic>
        <p:nvPicPr>
          <p:cNvPr id="23" name="Image 4" descr="icon_warn_w.png"/>
          <p:cNvPicPr>
            <a:picLocks noChangeAspect="1"/>
          </p:cNvPicPr>
          <p:nvPr/>
        </p:nvPicPr>
        <p:blipFill>
          <a:blip r:embed="rId5"/>
          <a:stretch>
            <a:fillRect/>
          </a:stretch>
        </p:blipFill>
        <p:spPr>
          <a:xfrm>
            <a:off x="6240272" y="3918204"/>
            <a:ext cx="201168" cy="201168"/>
          </a:xfrm>
          <a:prstGeom prst="rect">
            <a:avLst/>
          </a:prstGeom>
        </p:spPr>
      </p:pic>
      <p:sp>
        <p:nvSpPr>
          <p:cNvPr id="24" name="Text 17"/>
          <p:cNvSpPr/>
          <p:nvPr/>
        </p:nvSpPr>
        <p:spPr>
          <a:xfrm>
            <a:off x="6715760" y="3662172"/>
            <a:ext cx="4602175" cy="713232"/>
          </a:xfrm>
          <a:prstGeom prst="rect">
            <a:avLst/>
          </a:prstGeom>
          <a:noFill/>
          <a:ln/>
        </p:spPr>
        <p:txBody>
          <a:bodyPr wrap="square" lIns="0" tIns="0" rIns="0" bIns="0" rtlCol="0" anchor="ctr"/>
          <a:lstStyle/>
          <a:p>
            <a:pPr marL="0" indent="0">
              <a:lnSpc>
                <a:spcPct val="108000"/>
              </a:lnSpc>
              <a:buNone/>
            </a:pPr>
            <a:r>
              <a:rPr lang="en-US" sz="1080" dirty="0">
                <a:solidFill>
                  <a:srgbClr val="E6ECF5"/>
                </a:solidFill>
                <a:latin typeface="Arial" panose="020B0604020202020204" pitchFamily="34" charset="0"/>
                <a:ea typeface="Calibri" pitchFamily="34" charset="-122"/>
                <a:cs typeface="Arial" panose="020B0604020202020204" pitchFamily="34" charset="0"/>
              </a:rPr>
              <a:t>Directional accuracy queda como señal exploratoria, no como evidencia predictiva.</a:t>
            </a:r>
            <a:endParaRPr lang="en-US" sz="1080" dirty="0">
              <a:latin typeface="Arial" panose="020B0604020202020204" pitchFamily="34" charset="0"/>
              <a:cs typeface="Arial" panose="020B0604020202020204" pitchFamily="34" charset="0"/>
            </a:endParaRPr>
          </a:p>
        </p:txBody>
      </p:sp>
      <p:sp>
        <p:nvSpPr>
          <p:cNvPr id="25" name="Shape 18"/>
          <p:cNvSpPr/>
          <p:nvPr/>
        </p:nvSpPr>
        <p:spPr>
          <a:xfrm>
            <a:off x="5965952" y="4539996"/>
            <a:ext cx="5534863" cy="841248"/>
          </a:xfrm>
          <a:prstGeom prst="rect">
            <a:avLst/>
          </a:prstGeom>
          <a:solidFill>
            <a:schemeClr val="tx1">
              <a:lumMod val="85000"/>
              <a:lumOff val="15000"/>
            </a:schemeClr>
          </a:solidFill>
          <a:ln w="12700">
            <a:solidFill>
              <a:srgbClr val="333333"/>
            </a:solidFill>
            <a:prstDash val="solid"/>
          </a:ln>
          <a:effectLst>
            <a:outerShdw blurRad="114300" dist="38100" dir="8100000" algn="bl" rotWithShape="0">
              <a:srgbClr val="1E2A4A">
                <a:alpha val="14000"/>
              </a:srgbClr>
            </a:outerShdw>
          </a:effectLst>
        </p:spPr>
        <p:txBody>
          <a:bodyPr/>
          <a:lstStyle/>
          <a:p>
            <a:endParaRPr lang="es-AR">
              <a:latin typeface="Arial" panose="020B0604020202020204" pitchFamily="34" charset="0"/>
              <a:cs typeface="Arial" panose="020B0604020202020204" pitchFamily="34" charset="0"/>
            </a:endParaRPr>
          </a:p>
        </p:txBody>
      </p:sp>
      <p:pic>
        <p:nvPicPr>
          <p:cNvPr id="26" name="Image 5" descr="icon_bulb.png"/>
          <p:cNvPicPr>
            <a:picLocks noChangeAspect="1"/>
          </p:cNvPicPr>
          <p:nvPr/>
        </p:nvPicPr>
        <p:blipFill>
          <a:blip r:embed="rId6"/>
          <a:stretch>
            <a:fillRect/>
          </a:stretch>
        </p:blipFill>
        <p:spPr>
          <a:xfrm>
            <a:off x="6203696" y="4786884"/>
            <a:ext cx="347472" cy="347472"/>
          </a:xfrm>
          <a:prstGeom prst="rect">
            <a:avLst/>
          </a:prstGeom>
        </p:spPr>
      </p:pic>
      <p:sp>
        <p:nvSpPr>
          <p:cNvPr id="27" name="Text 19"/>
          <p:cNvSpPr/>
          <p:nvPr/>
        </p:nvSpPr>
        <p:spPr>
          <a:xfrm>
            <a:off x="6715760" y="4539996"/>
            <a:ext cx="4602175" cy="841248"/>
          </a:xfrm>
          <a:prstGeom prst="rect">
            <a:avLst/>
          </a:prstGeom>
          <a:noFill/>
          <a:ln/>
        </p:spPr>
        <p:txBody>
          <a:bodyPr wrap="square" lIns="0" tIns="0" rIns="0" bIns="0" rtlCol="0" anchor="ctr"/>
          <a:lstStyle/>
          <a:p>
            <a:pPr marL="0" indent="0">
              <a:lnSpc>
                <a:spcPct val="112000"/>
              </a:lnSpc>
              <a:buNone/>
            </a:pPr>
            <a:r>
              <a:rPr lang="en-US" sz="1100" b="1" dirty="0">
                <a:solidFill>
                  <a:srgbClr val="F7EEDD"/>
                </a:solidFill>
                <a:latin typeface="Arial" panose="020B0604020202020204" pitchFamily="34" charset="0"/>
                <a:ea typeface="Calibri" pitchFamily="34" charset="-122"/>
                <a:cs typeface="Arial" panose="020B0604020202020204" pitchFamily="34" charset="0"/>
              </a:rPr>
              <a:t>Aporte principal:  </a:t>
            </a:r>
            <a:r>
              <a:rPr lang="en-US" sz="1100" dirty="0">
                <a:solidFill>
                  <a:srgbClr val="FFFFFF"/>
                </a:solidFill>
                <a:latin typeface="Arial" panose="020B0604020202020204" pitchFamily="34" charset="0"/>
                <a:ea typeface="Calibri" pitchFamily="34" charset="-122"/>
                <a:cs typeface="Arial" panose="020B0604020202020204" pitchFamily="34" charset="0"/>
              </a:rPr>
              <a:t>un pipeline reproducible de NLP generativo con evaluación crítica multicapa.</a:t>
            </a:r>
            <a:endParaRPr lang="en-US" sz="1100" dirty="0">
              <a:latin typeface="Arial" panose="020B0604020202020204" pitchFamily="34" charset="0"/>
              <a:cs typeface="Arial" panose="020B0604020202020204" pitchFamily="34" charset="0"/>
            </a:endParaRPr>
          </a:p>
        </p:txBody>
      </p:sp>
      <p:sp>
        <p:nvSpPr>
          <p:cNvPr id="31" name="Text 1">
            <a:extLst>
              <a:ext uri="{FF2B5EF4-FFF2-40B4-BE49-F238E27FC236}">
                <a16:creationId xmlns:a16="http://schemas.microsoft.com/office/drawing/2014/main" id="{4C0C426D-E54C-77B5-7AD3-C48A124BACE6}"/>
              </a:ext>
            </a:extLst>
          </p:cNvPr>
          <p:cNvSpPr/>
          <p:nvPr/>
        </p:nvSpPr>
        <p:spPr>
          <a:xfrm>
            <a:off x="487680" y="304546"/>
            <a:ext cx="10332720" cy="749808"/>
          </a:xfrm>
          <a:prstGeom prst="rect">
            <a:avLst/>
          </a:prstGeom>
          <a:noFill/>
          <a:ln/>
        </p:spPr>
        <p:txBody>
          <a:bodyPr wrap="square" lIns="0" tIns="0" rIns="0" bIns="0" rtlCol="0" anchor="ctr"/>
          <a:lstStyle/>
          <a:p>
            <a:pPr marL="0" indent="0">
              <a:buNone/>
            </a:pPr>
            <a:r>
              <a:rPr lang="en-US" sz="2800" b="1" dirty="0" err="1">
                <a:solidFill>
                  <a:srgbClr val="23304A"/>
                </a:solidFill>
                <a:latin typeface="Arial" panose="020B0604020202020204" pitchFamily="34" charset="0"/>
                <a:ea typeface="Georgia" pitchFamily="34" charset="-122"/>
                <a:cs typeface="Arial" panose="020B0604020202020204" pitchFamily="34" charset="0"/>
              </a:rPr>
              <a:t>Conclusiones</a:t>
            </a:r>
            <a:endParaRPr lang="en-US" sz="2800" dirty="0">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2338</TotalTime>
  <Words>3298</Words>
  <Application>Microsoft Office PowerPoint</Application>
  <PresentationFormat>Panorámica</PresentationFormat>
  <Paragraphs>321</Paragraphs>
  <Slides>12</Slides>
  <Notes>12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vt:i4>
      </vt:variant>
    </vt:vector>
  </HeadingPairs>
  <TitlesOfParts>
    <vt:vector size="18" baseType="lpstr">
      <vt:lpstr>-apple-system</vt:lpstr>
      <vt:lpstr>Arial</vt:lpstr>
      <vt:lpstr>Calibri</vt:lpstr>
      <vt:lpstr>Consolas</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Fine-tuning de GPT-2 para narrativas financieras</dc:title>
  <dc:subject>PptxGenJS Presentation</dc:subject>
  <dc:creator>Proyecto NLP</dc:creator>
  <cp:lastModifiedBy>Luciano Rielo</cp:lastModifiedBy>
  <cp:revision>6</cp:revision>
  <dcterms:created xsi:type="dcterms:W3CDTF">2026-05-23T23:11:04Z</dcterms:created>
  <dcterms:modified xsi:type="dcterms:W3CDTF">2026-05-26T19:50:31Z</dcterms:modified>
</cp:coreProperties>
</file>